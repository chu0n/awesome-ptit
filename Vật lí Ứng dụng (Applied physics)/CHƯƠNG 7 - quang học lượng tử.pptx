
<file path=[Content_Types].xml><?xml version="1.0" encoding="utf-8"?>
<Types xmlns="http://schemas.openxmlformats.org/package/2006/content-types">
  <Default Extension="png" ContentType="image/png"/>
  <Default Extension="bin" ContentType="application/vnd.openxmlformats-officedocument.oleObject"/>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83" r:id="rId4"/>
    <p:sldId id="258" r:id="rId5"/>
    <p:sldId id="259" r:id="rId6"/>
    <p:sldId id="260" r:id="rId7"/>
    <p:sldId id="261" r:id="rId8"/>
    <p:sldId id="262" r:id="rId9"/>
    <p:sldId id="287" r:id="rId10"/>
    <p:sldId id="286" r:id="rId11"/>
    <p:sldId id="263" r:id="rId12"/>
    <p:sldId id="264" r:id="rId13"/>
    <p:sldId id="265" r:id="rId14"/>
    <p:sldId id="266" r:id="rId15"/>
    <p:sldId id="267" r:id="rId16"/>
    <p:sldId id="268" r:id="rId17"/>
    <p:sldId id="269" r:id="rId18"/>
    <p:sldId id="270" r:id="rId19"/>
    <p:sldId id="271" r:id="rId20"/>
    <p:sldId id="282" r:id="rId21"/>
    <p:sldId id="273" r:id="rId22"/>
    <p:sldId id="288" r:id="rId23"/>
    <p:sldId id="274" r:id="rId24"/>
    <p:sldId id="275" r:id="rId25"/>
    <p:sldId id="276" r:id="rId26"/>
    <p:sldId id="277" r:id="rId27"/>
    <p:sldId id="278" r:id="rId28"/>
    <p:sldId id="279" r:id="rId29"/>
    <p:sldId id="280" r:id="rId30"/>
    <p:sldId id="281" r:id="rId3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tableStyles" Target="tableStyles.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2" Type="http://schemas.openxmlformats.org/officeDocument/2006/relationships/image" Target="../media/image5.wmf"/><Relationship Id="rId1" Type="http://schemas.openxmlformats.org/officeDocument/2006/relationships/image" Target="../media/image4.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6.w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7.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9.w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2.wmf"/></Relationships>
</file>

<file path=ppt/drawings/_rels/vmlDrawing7.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8.vml.rels><?xml version="1.0" encoding="UTF-8" standalone="yes"?>
<Relationships xmlns="http://schemas.openxmlformats.org/package/2006/relationships"><Relationship Id="rId2" Type="http://schemas.openxmlformats.org/officeDocument/2006/relationships/image" Target="../media/image17.wmf"/><Relationship Id="rId1" Type="http://schemas.openxmlformats.org/officeDocument/2006/relationships/image" Target="../media/image16.wmf"/></Relationships>
</file>

<file path=ppt/drawings/_rels/vmlDrawing9.vml.rels><?xml version="1.0" encoding="UTF-8" standalone="yes"?>
<Relationships xmlns="http://schemas.openxmlformats.org/package/2006/relationships"><Relationship Id="rId1" Type="http://schemas.openxmlformats.org/officeDocument/2006/relationships/image" Target="../media/image18.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image" Target="../media/image20.wmf"/><Relationship Id="rId1" Type="http://schemas.openxmlformats.org/officeDocument/2006/relationships/image" Target="../media/image19.wmf"/></Relationships>
</file>

<file path=ppt/drawings/_rels/vmlDrawing11.vml.rels><?xml version="1.0" encoding="UTF-8" standalone="yes"?>
<Relationships xmlns="http://schemas.openxmlformats.org/package/2006/relationships"><Relationship Id="rId2" Type="http://schemas.openxmlformats.org/officeDocument/2006/relationships/image" Target="../media/image23.wmf"/><Relationship Id="rId1" Type="http://schemas.openxmlformats.org/officeDocument/2006/relationships/image" Target="../media/image22.png"/></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28.wmf"/><Relationship Id="rId2" Type="http://schemas.openxmlformats.org/officeDocument/2006/relationships/image" Target="../media/image27.wmf"/><Relationship Id="rId1" Type="http://schemas.openxmlformats.org/officeDocument/2006/relationships/image" Target="../media/image26.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34.wmf"/><Relationship Id="rId2" Type="http://schemas.openxmlformats.org/officeDocument/2006/relationships/image" Target="../media/image33.wmf"/><Relationship Id="rId1" Type="http://schemas.openxmlformats.org/officeDocument/2006/relationships/image" Target="../media/image32.wmf"/><Relationship Id="rId6" Type="http://schemas.openxmlformats.org/officeDocument/2006/relationships/image" Target="../media/image37.wmf"/><Relationship Id="rId5" Type="http://schemas.openxmlformats.org/officeDocument/2006/relationships/image" Target="../media/image36.wmf"/><Relationship Id="rId4" Type="http://schemas.openxmlformats.org/officeDocument/2006/relationships/image" Target="../media/image35.wmf"/></Relationships>
</file>

<file path=ppt/drawings/_rels/vmlDrawing14.vml.rels><?xml version="1.0" encoding="UTF-8" standalone="yes"?>
<Relationships xmlns="http://schemas.openxmlformats.org/package/2006/relationships"><Relationship Id="rId3" Type="http://schemas.openxmlformats.org/officeDocument/2006/relationships/image" Target="../media/image40.wmf"/><Relationship Id="rId2" Type="http://schemas.openxmlformats.org/officeDocument/2006/relationships/image" Target="../media/image39.wmf"/><Relationship Id="rId1" Type="http://schemas.openxmlformats.org/officeDocument/2006/relationships/image" Target="../media/image38.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s>
</file>

<file path=ppt/drawings/_rels/vmlDrawing15.vml.rels><?xml version="1.0" encoding="UTF-8" standalone="yes"?>
<Relationships xmlns="http://schemas.openxmlformats.org/package/2006/relationships"><Relationship Id="rId1" Type="http://schemas.openxmlformats.org/officeDocument/2006/relationships/image" Target="../media/image46.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49.wmf"/><Relationship Id="rId2" Type="http://schemas.openxmlformats.org/officeDocument/2006/relationships/image" Target="../media/image48.wmf"/><Relationship Id="rId1" Type="http://schemas.openxmlformats.org/officeDocument/2006/relationships/image" Target="../media/image47.wmf"/></Relationships>
</file>

<file path=ppt/drawings/_rels/vmlDrawing17.vml.rels><?xml version="1.0" encoding="UTF-8" standalone="yes"?>
<Relationships xmlns="http://schemas.openxmlformats.org/package/2006/relationships"><Relationship Id="rId2" Type="http://schemas.openxmlformats.org/officeDocument/2006/relationships/image" Target="../media/image51.wmf"/><Relationship Id="rId1" Type="http://schemas.openxmlformats.org/officeDocument/2006/relationships/image" Target="../media/image50.wmf"/></Relationships>
</file>

<file path=ppt/drawings/_rels/vmlDrawing18.vml.rels><?xml version="1.0" encoding="UTF-8" standalone="yes"?>
<Relationships xmlns="http://schemas.openxmlformats.org/package/2006/relationships"><Relationship Id="rId3" Type="http://schemas.openxmlformats.org/officeDocument/2006/relationships/image" Target="../media/image54.wmf"/><Relationship Id="rId2" Type="http://schemas.openxmlformats.org/officeDocument/2006/relationships/image" Target="../media/image53.wmf"/><Relationship Id="rId1" Type="http://schemas.openxmlformats.org/officeDocument/2006/relationships/image" Target="../media/image52.wmf"/><Relationship Id="rId4" Type="http://schemas.openxmlformats.org/officeDocument/2006/relationships/image" Target="../media/image55.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57.wmf"/><Relationship Id="rId1" Type="http://schemas.openxmlformats.org/officeDocument/2006/relationships/image" Target="../media/image56.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60.wmf"/><Relationship Id="rId2" Type="http://schemas.openxmlformats.org/officeDocument/2006/relationships/image" Target="../media/image59.wmf"/><Relationship Id="rId1" Type="http://schemas.openxmlformats.org/officeDocument/2006/relationships/image" Target="../media/image58.wmf"/></Relationships>
</file>

<file path=ppt/drawings/_rels/vmlDrawing21.vml.rels><?xml version="1.0" encoding="UTF-8" standalone="yes"?>
<Relationships xmlns="http://schemas.openxmlformats.org/package/2006/relationships"><Relationship Id="rId2" Type="http://schemas.openxmlformats.org/officeDocument/2006/relationships/image" Target="../media/image62.wmf"/><Relationship Id="rId1" Type="http://schemas.openxmlformats.org/officeDocument/2006/relationships/image" Target="../media/image61.wmf"/></Relationships>
</file>

<file path=ppt/drawings/_rels/vmlDrawing22.vml.rels><?xml version="1.0" encoding="UTF-8" standalone="yes"?>
<Relationships xmlns="http://schemas.openxmlformats.org/package/2006/relationships"><Relationship Id="rId2" Type="http://schemas.openxmlformats.org/officeDocument/2006/relationships/image" Target="../media/image64.wmf"/><Relationship Id="rId1" Type="http://schemas.openxmlformats.org/officeDocument/2006/relationships/image" Target="../media/image63.w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7F72BA52-ECC9-46A0-A7C5-EAC7D88D8485}"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15797488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72BA52-ECC9-46A0-A7C5-EAC7D88D8485}"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14381355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7F72BA52-ECC9-46A0-A7C5-EAC7D88D8485}"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1361124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7F72BA52-ECC9-46A0-A7C5-EAC7D88D8485}"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2107865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7F72BA52-ECC9-46A0-A7C5-EAC7D88D8485}" type="datetimeFigureOut">
              <a:rPr lang="en-US" smtClean="0"/>
              <a:t>1/22/2024</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2748132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7F72BA52-ECC9-46A0-A7C5-EAC7D88D8485}" type="datetimeFigureOut">
              <a:rPr lang="en-US" smtClean="0"/>
              <a:t>1/22/2024</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20589356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F72BA52-ECC9-46A0-A7C5-EAC7D88D8485}" type="datetimeFigureOut">
              <a:rPr lang="en-US" smtClean="0"/>
              <a:t>1/22/2024</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25847183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72BA52-ECC9-46A0-A7C5-EAC7D88D8485}"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234046301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7F72BA52-ECC9-46A0-A7C5-EAC7D88D8485}" type="datetimeFigureOut">
              <a:rPr lang="en-US" smtClean="0"/>
              <a:t>1/22/2024</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428624777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72BA52-ECC9-46A0-A7C5-EAC7D88D8485}"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36831322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7F72BA52-ECC9-46A0-A7C5-EAC7D88D8485}" type="datetimeFigureOut">
              <a:rPr lang="en-US" smtClean="0"/>
              <a:t>1/22/2024</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1C00C93-AF4C-4630-B683-06698003443B}" type="slidenum">
              <a:rPr lang="en-US" smtClean="0"/>
              <a:t>‹#›</a:t>
            </a:fld>
            <a:endParaRPr lang="en-US"/>
          </a:p>
        </p:txBody>
      </p:sp>
    </p:spTree>
    <p:extLst>
      <p:ext uri="{BB962C8B-B14F-4D97-AF65-F5344CB8AC3E}">
        <p14:creationId xmlns:p14="http://schemas.microsoft.com/office/powerpoint/2010/main" val="264021301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72BA52-ECC9-46A0-A7C5-EAC7D88D8485}" type="datetimeFigureOut">
              <a:rPr lang="en-US" smtClean="0"/>
              <a:t>1/22/2024</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C00C93-AF4C-4630-B683-06698003443B}" type="slidenum">
              <a:rPr lang="en-US" smtClean="0"/>
              <a:t>‹#›</a:t>
            </a:fld>
            <a:endParaRPr lang="en-US"/>
          </a:p>
        </p:txBody>
      </p:sp>
    </p:spTree>
    <p:extLst>
      <p:ext uri="{BB962C8B-B14F-4D97-AF65-F5344CB8AC3E}">
        <p14:creationId xmlns:p14="http://schemas.microsoft.com/office/powerpoint/2010/main" val="176205982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vmlDrawing" Target="../drawings/vmlDrawing1.vml"/><Relationship Id="rId5" Type="http://schemas.openxmlformats.org/officeDocument/2006/relationships/image" Target="../media/image2.wmf"/><Relationship Id="rId4" Type="http://schemas.openxmlformats.org/officeDocument/2006/relationships/oleObject" Target="../embeddings/oleObject1.bin"/></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2.xml"/><Relationship Id="rId1" Type="http://schemas.openxmlformats.org/officeDocument/2006/relationships/vmlDrawing" Target="../drawings/vmlDrawing2.vml"/><Relationship Id="rId6" Type="http://schemas.openxmlformats.org/officeDocument/2006/relationships/image" Target="../media/image5.wmf"/><Relationship Id="rId5" Type="http://schemas.openxmlformats.org/officeDocument/2006/relationships/oleObject" Target="../embeddings/oleObject3.bin"/><Relationship Id="rId4" Type="http://schemas.openxmlformats.org/officeDocument/2006/relationships/image" Target="../media/image4.wmf"/></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Layout" Target="../slideLayouts/slideLayout2.xml"/><Relationship Id="rId1" Type="http://schemas.openxmlformats.org/officeDocument/2006/relationships/vmlDrawing" Target="../drawings/vmlDrawing3.vml"/><Relationship Id="rId4" Type="http://schemas.openxmlformats.org/officeDocument/2006/relationships/image" Target="../media/image6.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2.xml"/><Relationship Id="rId1" Type="http://schemas.openxmlformats.org/officeDocument/2006/relationships/vmlDrawing" Target="../drawings/vmlDrawing4.vml"/><Relationship Id="rId5" Type="http://schemas.openxmlformats.org/officeDocument/2006/relationships/image" Target="../media/image8.png"/><Relationship Id="rId4" Type="http://schemas.openxmlformats.org/officeDocument/2006/relationships/image" Target="../media/image7.wmf"/></Relationships>
</file>

<file path=ppt/slides/_rels/slide8.xml.rels><?xml version="1.0" encoding="UTF-8" standalone="yes"?>
<Relationships xmlns="http://schemas.openxmlformats.org/package/2006/relationships"><Relationship Id="rId3" Type="http://schemas.openxmlformats.org/officeDocument/2006/relationships/oleObject" Target="../embeddings/oleObject6.bin"/><Relationship Id="rId2" Type="http://schemas.openxmlformats.org/officeDocument/2006/relationships/slideLayout" Target="../slideLayouts/slideLayout2.xml"/><Relationship Id="rId1" Type="http://schemas.openxmlformats.org/officeDocument/2006/relationships/vmlDrawing" Target="../drawings/vmlDrawing5.vml"/><Relationship Id="rId4" Type="http://schemas.openxmlformats.org/officeDocument/2006/relationships/image" Target="../media/image9.wmf"/></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6.vml"/><Relationship Id="rId5" Type="http://schemas.openxmlformats.org/officeDocument/2006/relationships/image" Target="../media/image13.png"/><Relationship Id="rId4" Type="http://schemas.openxmlformats.org/officeDocument/2006/relationships/image" Target="../media/image12.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2.xml"/><Relationship Id="rId1" Type="http://schemas.openxmlformats.org/officeDocument/2006/relationships/vmlDrawing" Target="../drawings/vmlDrawing7.vml"/><Relationship Id="rId6" Type="http://schemas.openxmlformats.org/officeDocument/2006/relationships/image" Target="../media/image15.wmf"/><Relationship Id="rId5" Type="http://schemas.openxmlformats.org/officeDocument/2006/relationships/oleObject" Target="../embeddings/oleObject9.bin"/><Relationship Id="rId4" Type="http://schemas.openxmlformats.org/officeDocument/2006/relationships/image" Target="../media/image14.wmf"/></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slideLayout" Target="../slideLayouts/slideLayout2.xml"/><Relationship Id="rId1" Type="http://schemas.openxmlformats.org/officeDocument/2006/relationships/vmlDrawing" Target="../drawings/vmlDrawing8.vml"/><Relationship Id="rId6" Type="http://schemas.openxmlformats.org/officeDocument/2006/relationships/image" Target="../media/image17.wmf"/><Relationship Id="rId5" Type="http://schemas.openxmlformats.org/officeDocument/2006/relationships/oleObject" Target="../embeddings/oleObject11.bin"/><Relationship Id="rId4" Type="http://schemas.openxmlformats.org/officeDocument/2006/relationships/image" Target="../media/image16.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Layout" Target="../slideLayouts/slideLayout2.xml"/><Relationship Id="rId1" Type="http://schemas.openxmlformats.org/officeDocument/2006/relationships/vmlDrawing" Target="../drawings/vmlDrawing9.vml"/><Relationship Id="rId4" Type="http://schemas.openxmlformats.org/officeDocument/2006/relationships/image" Target="../media/image18.wmf"/></Relationships>
</file>

<file path=ppt/slides/_rels/slide14.xml.rels><?xml version="1.0" encoding="UTF-8" standalone="yes"?>
<Relationships xmlns="http://schemas.openxmlformats.org/package/2006/relationships"><Relationship Id="rId8" Type="http://schemas.openxmlformats.org/officeDocument/2006/relationships/image" Target="../media/image21.wmf"/><Relationship Id="rId3" Type="http://schemas.openxmlformats.org/officeDocument/2006/relationships/oleObject" Target="../embeddings/oleObject13.bin"/><Relationship Id="rId7" Type="http://schemas.openxmlformats.org/officeDocument/2006/relationships/oleObject" Target="../embeddings/oleObject15.bin"/><Relationship Id="rId2" Type="http://schemas.openxmlformats.org/officeDocument/2006/relationships/slideLayout" Target="../slideLayouts/slideLayout2.xml"/><Relationship Id="rId1" Type="http://schemas.openxmlformats.org/officeDocument/2006/relationships/vmlDrawing" Target="../drawings/vmlDrawing10.vml"/><Relationship Id="rId6" Type="http://schemas.openxmlformats.org/officeDocument/2006/relationships/image" Target="../media/image20.wmf"/><Relationship Id="rId5" Type="http://schemas.openxmlformats.org/officeDocument/2006/relationships/oleObject" Target="../embeddings/oleObject14.bin"/><Relationship Id="rId4" Type="http://schemas.openxmlformats.org/officeDocument/2006/relationships/image" Target="../media/image19.wmf"/></Relationships>
</file>

<file path=ppt/slides/_rels/slide15.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oleObject" Target="../embeddings/oleObject16.bin"/><Relationship Id="rId7" Type="http://schemas.openxmlformats.org/officeDocument/2006/relationships/image" Target="../media/image23.wmf"/><Relationship Id="rId2" Type="http://schemas.openxmlformats.org/officeDocument/2006/relationships/slideLayout" Target="../slideLayouts/slideLayout2.xml"/><Relationship Id="rId1" Type="http://schemas.openxmlformats.org/officeDocument/2006/relationships/vmlDrawing" Target="../drawings/vmlDrawing11.vml"/><Relationship Id="rId6" Type="http://schemas.openxmlformats.org/officeDocument/2006/relationships/oleObject" Target="../embeddings/oleObject17.bin"/><Relationship Id="rId5" Type="http://schemas.openxmlformats.org/officeDocument/2006/relationships/image" Target="../media/image24.png"/><Relationship Id="rId4" Type="http://schemas.openxmlformats.org/officeDocument/2006/relationships/image" Target="../media/image22.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28.wmf"/><Relationship Id="rId3" Type="http://schemas.openxmlformats.org/officeDocument/2006/relationships/oleObject" Target="../embeddings/oleObject18.bin"/><Relationship Id="rId7" Type="http://schemas.openxmlformats.org/officeDocument/2006/relationships/oleObject" Target="../embeddings/oleObject20.bin"/><Relationship Id="rId2" Type="http://schemas.openxmlformats.org/officeDocument/2006/relationships/slideLayout" Target="../slideLayouts/slideLayout2.xml"/><Relationship Id="rId1" Type="http://schemas.openxmlformats.org/officeDocument/2006/relationships/vmlDrawing" Target="../drawings/vmlDrawing12.vml"/><Relationship Id="rId6" Type="http://schemas.openxmlformats.org/officeDocument/2006/relationships/image" Target="../media/image27.wmf"/><Relationship Id="rId5" Type="http://schemas.openxmlformats.org/officeDocument/2006/relationships/oleObject" Target="../embeddings/oleObject19.bin"/><Relationship Id="rId4" Type="http://schemas.openxmlformats.org/officeDocument/2006/relationships/image" Target="../media/image26.wmf"/><Relationship Id="rId9" Type="http://schemas.openxmlformats.org/officeDocument/2006/relationships/image" Target="../media/image25.png"/></Relationships>
</file>

<file path=ppt/slides/_rels/slide18.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8" Type="http://schemas.openxmlformats.org/officeDocument/2006/relationships/image" Target="../media/image34.wmf"/><Relationship Id="rId13" Type="http://schemas.openxmlformats.org/officeDocument/2006/relationships/oleObject" Target="../embeddings/oleObject26.bin"/><Relationship Id="rId3" Type="http://schemas.openxmlformats.org/officeDocument/2006/relationships/oleObject" Target="../embeddings/oleObject21.bin"/><Relationship Id="rId7" Type="http://schemas.openxmlformats.org/officeDocument/2006/relationships/oleObject" Target="../embeddings/oleObject23.bin"/><Relationship Id="rId12" Type="http://schemas.openxmlformats.org/officeDocument/2006/relationships/image" Target="../media/image36.wmf"/><Relationship Id="rId2" Type="http://schemas.openxmlformats.org/officeDocument/2006/relationships/slideLayout" Target="../slideLayouts/slideLayout2.xml"/><Relationship Id="rId1" Type="http://schemas.openxmlformats.org/officeDocument/2006/relationships/vmlDrawing" Target="../drawings/vmlDrawing13.vml"/><Relationship Id="rId6" Type="http://schemas.openxmlformats.org/officeDocument/2006/relationships/image" Target="../media/image33.wmf"/><Relationship Id="rId11" Type="http://schemas.openxmlformats.org/officeDocument/2006/relationships/oleObject" Target="../embeddings/oleObject25.bin"/><Relationship Id="rId5" Type="http://schemas.openxmlformats.org/officeDocument/2006/relationships/oleObject" Target="../embeddings/oleObject22.bin"/><Relationship Id="rId10" Type="http://schemas.openxmlformats.org/officeDocument/2006/relationships/image" Target="../media/image35.wmf"/><Relationship Id="rId4" Type="http://schemas.openxmlformats.org/officeDocument/2006/relationships/image" Target="../media/image32.wmf"/><Relationship Id="rId9" Type="http://schemas.openxmlformats.org/officeDocument/2006/relationships/oleObject" Target="../embeddings/oleObject24.bin"/><Relationship Id="rId14" Type="http://schemas.openxmlformats.org/officeDocument/2006/relationships/image" Target="../media/image37.wmf"/></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29.bin"/><Relationship Id="rId13" Type="http://schemas.openxmlformats.org/officeDocument/2006/relationships/image" Target="../media/image42.wmf"/><Relationship Id="rId3" Type="http://schemas.openxmlformats.org/officeDocument/2006/relationships/oleObject" Target="../embeddings/oleObject27.bin"/><Relationship Id="rId7" Type="http://schemas.openxmlformats.org/officeDocument/2006/relationships/image" Target="../media/image39.wmf"/><Relationship Id="rId12" Type="http://schemas.openxmlformats.org/officeDocument/2006/relationships/oleObject" Target="../embeddings/oleObject31.bin"/><Relationship Id="rId2" Type="http://schemas.openxmlformats.org/officeDocument/2006/relationships/slideLayout" Target="../slideLayouts/slideLayout2.xml"/><Relationship Id="rId1" Type="http://schemas.openxmlformats.org/officeDocument/2006/relationships/vmlDrawing" Target="../drawings/vmlDrawing14.vml"/><Relationship Id="rId6" Type="http://schemas.openxmlformats.org/officeDocument/2006/relationships/oleObject" Target="../embeddings/oleObject28.bin"/><Relationship Id="rId11" Type="http://schemas.openxmlformats.org/officeDocument/2006/relationships/image" Target="../media/image41.wmf"/><Relationship Id="rId5" Type="http://schemas.openxmlformats.org/officeDocument/2006/relationships/image" Target="../media/image44.png"/><Relationship Id="rId15" Type="http://schemas.openxmlformats.org/officeDocument/2006/relationships/image" Target="../media/image43.wmf"/><Relationship Id="rId10" Type="http://schemas.openxmlformats.org/officeDocument/2006/relationships/oleObject" Target="../embeddings/oleObject30.bin"/><Relationship Id="rId4" Type="http://schemas.openxmlformats.org/officeDocument/2006/relationships/image" Target="../media/image38.wmf"/><Relationship Id="rId9" Type="http://schemas.openxmlformats.org/officeDocument/2006/relationships/image" Target="../media/image40.wmf"/><Relationship Id="rId14" Type="http://schemas.openxmlformats.org/officeDocument/2006/relationships/oleObject" Target="../embeddings/oleObject32.bin"/></Relationships>
</file>

<file path=ppt/slides/_rels/slide22.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2.xml"/><Relationship Id="rId1" Type="http://schemas.openxmlformats.org/officeDocument/2006/relationships/vmlDrawing" Target="../drawings/vmlDrawing15.vml"/><Relationship Id="rId4" Type="http://schemas.openxmlformats.org/officeDocument/2006/relationships/image" Target="../media/image46.wmf"/></Relationships>
</file>

<file path=ppt/slides/_rels/slide24.xml.rels><?xml version="1.0" encoding="UTF-8" standalone="yes"?>
<Relationships xmlns="http://schemas.openxmlformats.org/package/2006/relationships"><Relationship Id="rId8" Type="http://schemas.openxmlformats.org/officeDocument/2006/relationships/image" Target="../media/image49.wmf"/><Relationship Id="rId3" Type="http://schemas.openxmlformats.org/officeDocument/2006/relationships/oleObject" Target="../embeddings/oleObject34.bin"/><Relationship Id="rId7" Type="http://schemas.openxmlformats.org/officeDocument/2006/relationships/oleObject" Target="../embeddings/oleObject36.bin"/><Relationship Id="rId2" Type="http://schemas.openxmlformats.org/officeDocument/2006/relationships/slideLayout" Target="../slideLayouts/slideLayout2.xml"/><Relationship Id="rId1" Type="http://schemas.openxmlformats.org/officeDocument/2006/relationships/vmlDrawing" Target="../drawings/vmlDrawing16.vml"/><Relationship Id="rId6" Type="http://schemas.openxmlformats.org/officeDocument/2006/relationships/image" Target="../media/image48.wmf"/><Relationship Id="rId5" Type="http://schemas.openxmlformats.org/officeDocument/2006/relationships/oleObject" Target="../embeddings/oleObject35.bin"/><Relationship Id="rId4" Type="http://schemas.openxmlformats.org/officeDocument/2006/relationships/image" Target="../media/image47.wmf"/></Relationships>
</file>

<file path=ppt/slides/_rels/slide25.xml.rels><?xml version="1.0" encoding="UTF-8" standalone="yes"?>
<Relationships xmlns="http://schemas.openxmlformats.org/package/2006/relationships"><Relationship Id="rId3" Type="http://schemas.openxmlformats.org/officeDocument/2006/relationships/oleObject" Target="../embeddings/oleObject37.bin"/><Relationship Id="rId2" Type="http://schemas.openxmlformats.org/officeDocument/2006/relationships/slideLayout" Target="../slideLayouts/slideLayout2.xml"/><Relationship Id="rId1" Type="http://schemas.openxmlformats.org/officeDocument/2006/relationships/vmlDrawing" Target="../drawings/vmlDrawing17.vml"/><Relationship Id="rId6" Type="http://schemas.openxmlformats.org/officeDocument/2006/relationships/image" Target="../media/image51.wmf"/><Relationship Id="rId5" Type="http://schemas.openxmlformats.org/officeDocument/2006/relationships/oleObject" Target="../embeddings/oleObject38.bin"/><Relationship Id="rId4" Type="http://schemas.openxmlformats.org/officeDocument/2006/relationships/image" Target="../media/image50.wmf"/></Relationships>
</file>

<file path=ppt/slides/_rels/slide26.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39.bin"/><Relationship Id="rId7" Type="http://schemas.openxmlformats.org/officeDocument/2006/relationships/oleObject" Target="../embeddings/oleObject41.bin"/><Relationship Id="rId2" Type="http://schemas.openxmlformats.org/officeDocument/2006/relationships/slideLayout" Target="../slideLayouts/slideLayout2.xml"/><Relationship Id="rId1" Type="http://schemas.openxmlformats.org/officeDocument/2006/relationships/vmlDrawing" Target="../drawings/vmlDrawing18.vml"/><Relationship Id="rId6" Type="http://schemas.openxmlformats.org/officeDocument/2006/relationships/image" Target="../media/image53.wmf"/><Relationship Id="rId5" Type="http://schemas.openxmlformats.org/officeDocument/2006/relationships/oleObject" Target="../embeddings/oleObject40.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42.bin"/></Relationships>
</file>

<file path=ppt/slides/_rels/slide27.xml.rels><?xml version="1.0" encoding="UTF-8" standalone="yes"?>
<Relationships xmlns="http://schemas.openxmlformats.org/package/2006/relationships"><Relationship Id="rId3" Type="http://schemas.openxmlformats.org/officeDocument/2006/relationships/oleObject" Target="../embeddings/oleObject43.bin"/><Relationship Id="rId2" Type="http://schemas.openxmlformats.org/officeDocument/2006/relationships/slideLayout" Target="../slideLayouts/slideLayout2.xml"/><Relationship Id="rId1" Type="http://schemas.openxmlformats.org/officeDocument/2006/relationships/vmlDrawing" Target="../drawings/vmlDrawing19.vml"/><Relationship Id="rId6" Type="http://schemas.openxmlformats.org/officeDocument/2006/relationships/image" Target="../media/image57.wmf"/><Relationship Id="rId5" Type="http://schemas.openxmlformats.org/officeDocument/2006/relationships/oleObject" Target="../embeddings/oleObject44.bin"/><Relationship Id="rId4" Type="http://schemas.openxmlformats.org/officeDocument/2006/relationships/image" Target="../media/image56.wmf"/></Relationships>
</file>

<file path=ppt/slides/_rels/slide28.xml.rels><?xml version="1.0" encoding="UTF-8" standalone="yes"?>
<Relationships xmlns="http://schemas.openxmlformats.org/package/2006/relationships"><Relationship Id="rId8" Type="http://schemas.openxmlformats.org/officeDocument/2006/relationships/image" Target="../media/image60.wmf"/><Relationship Id="rId3" Type="http://schemas.openxmlformats.org/officeDocument/2006/relationships/oleObject" Target="../embeddings/oleObject45.bin"/><Relationship Id="rId7" Type="http://schemas.openxmlformats.org/officeDocument/2006/relationships/oleObject" Target="../embeddings/oleObject47.bin"/><Relationship Id="rId2" Type="http://schemas.openxmlformats.org/officeDocument/2006/relationships/slideLayout" Target="../slideLayouts/slideLayout2.xml"/><Relationship Id="rId1" Type="http://schemas.openxmlformats.org/officeDocument/2006/relationships/vmlDrawing" Target="../drawings/vmlDrawing20.vml"/><Relationship Id="rId6" Type="http://schemas.openxmlformats.org/officeDocument/2006/relationships/image" Target="../media/image59.wmf"/><Relationship Id="rId5" Type="http://schemas.openxmlformats.org/officeDocument/2006/relationships/oleObject" Target="../embeddings/oleObject46.bin"/><Relationship Id="rId4" Type="http://schemas.openxmlformats.org/officeDocument/2006/relationships/image" Target="../media/image58.wmf"/></Relationships>
</file>

<file path=ppt/slides/_rels/slide29.xml.rels><?xml version="1.0" encoding="UTF-8" standalone="yes"?>
<Relationships xmlns="http://schemas.openxmlformats.org/package/2006/relationships"><Relationship Id="rId3" Type="http://schemas.openxmlformats.org/officeDocument/2006/relationships/oleObject" Target="../embeddings/oleObject48.bin"/><Relationship Id="rId2" Type="http://schemas.openxmlformats.org/officeDocument/2006/relationships/slideLayout" Target="../slideLayouts/slideLayout2.xml"/><Relationship Id="rId1" Type="http://schemas.openxmlformats.org/officeDocument/2006/relationships/vmlDrawing" Target="../drawings/vmlDrawing21.vml"/><Relationship Id="rId6" Type="http://schemas.openxmlformats.org/officeDocument/2006/relationships/image" Target="../media/image62.wmf"/><Relationship Id="rId5" Type="http://schemas.openxmlformats.org/officeDocument/2006/relationships/oleObject" Target="../embeddings/oleObject49.bin"/><Relationship Id="rId4" Type="http://schemas.openxmlformats.org/officeDocument/2006/relationships/image" Target="../media/image61.wmf"/></Relationships>
</file>

<file path=ppt/slides/_rels/slide30.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2.xml"/><Relationship Id="rId1" Type="http://schemas.openxmlformats.org/officeDocument/2006/relationships/vmlDrawing" Target="../drawings/vmlDrawing22.vml"/><Relationship Id="rId6" Type="http://schemas.openxmlformats.org/officeDocument/2006/relationships/image" Target="../media/image64.wmf"/><Relationship Id="rId5" Type="http://schemas.openxmlformats.org/officeDocument/2006/relationships/oleObject" Target="../embeddings/oleObject51.bin"/><Relationship Id="rId4" Type="http://schemas.openxmlformats.org/officeDocument/2006/relationships/image" Target="../media/image63.w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fontScale="90000"/>
          </a:bodyPr>
          <a:lstStyle/>
          <a:p>
            <a:pPr>
              <a:lnSpc>
                <a:spcPct val="150000"/>
              </a:lnSpc>
            </a:pPr>
            <a:r>
              <a:rPr lang="en-US" b="1" dirty="0" smtClean="0">
                <a:solidFill>
                  <a:srgbClr val="FF0000"/>
                </a:solidFill>
                <a:latin typeface="Times" pitchFamily="18" charset="0"/>
                <a:cs typeface="Times" pitchFamily="18" charset="0"/>
              </a:rPr>
              <a:t>CHƯƠNG 7</a:t>
            </a:r>
            <a:br>
              <a:rPr lang="en-US" b="1" dirty="0" smtClean="0">
                <a:solidFill>
                  <a:srgbClr val="FF0000"/>
                </a:solidFill>
                <a:latin typeface="Times" pitchFamily="18" charset="0"/>
                <a:cs typeface="Times" pitchFamily="18" charset="0"/>
              </a:rPr>
            </a:br>
            <a:r>
              <a:rPr lang="en-US" b="1" dirty="0" smtClean="0">
                <a:solidFill>
                  <a:srgbClr val="FF0000"/>
                </a:solidFill>
                <a:latin typeface="Times" pitchFamily="18" charset="0"/>
                <a:cs typeface="Times" pitchFamily="18" charset="0"/>
              </a:rPr>
              <a:t>QUANG HỌC LƯỢNG TỬ	</a:t>
            </a:r>
            <a:endParaRPr lang="en-US" b="1" dirty="0">
              <a:solidFill>
                <a:srgbClr val="FF0000"/>
              </a:solidFill>
              <a:latin typeface="Times" pitchFamily="18" charset="0"/>
              <a:cs typeface="Times" pitchFamily="18" charset="0"/>
            </a:endParaRPr>
          </a:p>
        </p:txBody>
      </p:sp>
    </p:spTree>
    <p:extLst>
      <p:ext uri="{BB962C8B-B14F-4D97-AF65-F5344CB8AC3E}">
        <p14:creationId xmlns:p14="http://schemas.microsoft.com/office/powerpoint/2010/main" val="5941791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6" name="Rectangle 5"/>
          <p:cNvSpPr/>
          <p:nvPr/>
        </p:nvSpPr>
        <p:spPr>
          <a:xfrm>
            <a:off x="0" y="614065"/>
            <a:ext cx="5861776" cy="461665"/>
          </a:xfrm>
          <a:prstGeom prst="rect">
            <a:avLst/>
          </a:prstGeom>
        </p:spPr>
        <p:txBody>
          <a:bodyPr wrap="square">
            <a:spAutoFit/>
          </a:bodyPr>
          <a:lstStyle/>
          <a:p>
            <a:pPr marL="812800" indent="-812800"/>
            <a:r>
              <a:rPr lang="en-US" sz="2400" b="1" dirty="0" smtClean="0">
                <a:solidFill>
                  <a:schemeClr val="hlink"/>
                </a:solidFill>
                <a:latin typeface="Times New Roman" pitchFamily="18" charset="0"/>
              </a:rPr>
              <a:t>I. </a:t>
            </a:r>
            <a:r>
              <a:rPr lang="en-US" sz="2400" b="1" dirty="0" err="1" smtClean="0">
                <a:solidFill>
                  <a:schemeClr val="hlink"/>
                </a:solidFill>
                <a:latin typeface="Times New Roman" pitchFamily="18" charset="0"/>
              </a:rPr>
              <a:t>Bức</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xạ</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nhiệt</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cân</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bằng</a:t>
            </a:r>
            <a:endParaRPr lang="en-US" sz="2400" b="1" dirty="0" smtClean="0">
              <a:solidFill>
                <a:schemeClr val="hlink"/>
              </a:solidFill>
              <a:latin typeface="Times New Roman" pitchFamily="18" charset="0"/>
            </a:endParaRPr>
          </a:p>
        </p:txBody>
      </p:sp>
      <p:sp>
        <p:nvSpPr>
          <p:cNvPr id="7" name="Rectangle 6"/>
          <p:cNvSpPr/>
          <p:nvPr/>
        </p:nvSpPr>
        <p:spPr>
          <a:xfrm>
            <a:off x="76200" y="1075730"/>
            <a:ext cx="8991600" cy="830997"/>
          </a:xfrm>
          <a:prstGeom prst="rect">
            <a:avLst/>
          </a:prstGeom>
        </p:spPr>
        <p:txBody>
          <a:bodyPr wrap="square">
            <a:spAutoFit/>
          </a:bodyPr>
          <a:lstStyle/>
          <a:p>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Bức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xạ</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nhiệt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là</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hiện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tượng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sóng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điện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từ</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phát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ra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từ</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những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bị</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kích</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thích</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bởi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tác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dụng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nhiệt</a:t>
            </a:r>
            <a:r>
              <a:rPr lang="en-US" sz="2400" i="1" dirty="0" smtClean="0">
                <a:solidFill>
                  <a:srgbClr val="FF0000"/>
                </a:solidFill>
                <a:latin typeface="Times New Roman" pitchFamily="18" charset="0"/>
              </a:rPr>
              <a:t>.</a:t>
            </a:r>
          </a:p>
        </p:txBody>
      </p:sp>
      <p:sp>
        <p:nvSpPr>
          <p:cNvPr id="8" name="Rectangle 7"/>
          <p:cNvSpPr/>
          <p:nvPr/>
        </p:nvSpPr>
        <p:spPr>
          <a:xfrm>
            <a:off x="76200" y="2209800"/>
            <a:ext cx="8991600" cy="830997"/>
          </a:xfrm>
          <a:prstGeom prst="rect">
            <a:avLst/>
          </a:prstGeom>
        </p:spPr>
        <p:txBody>
          <a:bodyPr wrap="square">
            <a:spAutoFit/>
          </a:bodyPr>
          <a:lstStyle/>
          <a:p>
            <a:r>
              <a:rPr lang="en-US" sz="2400" i="1" dirty="0" err="1" smtClean="0">
                <a:latin typeface="Times New Roman" pitchFamily="18" charset="0"/>
              </a:rPr>
              <a:t>Nếu</a:t>
            </a:r>
            <a:r>
              <a:rPr lang="en-US" sz="2400" i="1" dirty="0" smtClean="0">
                <a:latin typeface="Times New Roman" pitchFamily="18" charset="0"/>
              </a:rPr>
              <a:t> </a:t>
            </a:r>
            <a:r>
              <a:rPr lang="en-US" sz="2400" i="1" dirty="0" err="1" smtClean="0">
                <a:latin typeface="Times New Roman" pitchFamily="18" charset="0"/>
              </a:rPr>
              <a:t>năng</a:t>
            </a:r>
            <a:r>
              <a:rPr lang="en-US" sz="2400" i="1" dirty="0" smtClean="0">
                <a:latin typeface="Times New Roman" pitchFamily="18" charset="0"/>
              </a:rPr>
              <a:t> </a:t>
            </a:r>
            <a:r>
              <a:rPr lang="en-US" sz="2400" i="1" dirty="0" err="1" smtClean="0">
                <a:latin typeface="Times New Roman" pitchFamily="18" charset="0"/>
              </a:rPr>
              <a:t>lượng</a:t>
            </a:r>
            <a:r>
              <a:rPr lang="en-US" sz="2400" i="1" dirty="0" smtClean="0">
                <a:latin typeface="Times New Roman" pitchFamily="18" charset="0"/>
              </a:rPr>
              <a:t> </a:t>
            </a:r>
            <a:r>
              <a:rPr lang="en-US" sz="2400" i="1" dirty="0" err="1" smtClean="0">
                <a:latin typeface="Times New Roman" pitchFamily="18" charset="0"/>
              </a:rPr>
              <a:t>bị</a:t>
            </a:r>
            <a:r>
              <a:rPr lang="en-US" sz="2400" i="1" dirty="0" smtClean="0">
                <a:latin typeface="Times New Roman" pitchFamily="18" charset="0"/>
              </a:rPr>
              <a:t> </a:t>
            </a:r>
            <a:r>
              <a:rPr lang="en-US" sz="2400" i="1" dirty="0" err="1" smtClean="0">
                <a:latin typeface="Times New Roman" pitchFamily="18" charset="0"/>
              </a:rPr>
              <a:t>mất</a:t>
            </a:r>
            <a:r>
              <a:rPr lang="en-US" sz="2400" i="1" dirty="0" smtClean="0">
                <a:latin typeface="Times New Roman" pitchFamily="18" charset="0"/>
              </a:rPr>
              <a:t> </a:t>
            </a:r>
            <a:r>
              <a:rPr lang="en-US" sz="2400" i="1" dirty="0" err="1" smtClean="0">
                <a:latin typeface="Times New Roman" pitchFamily="18" charset="0"/>
              </a:rPr>
              <a:t>đi</a:t>
            </a:r>
            <a:r>
              <a:rPr lang="en-US" sz="2400" i="1" dirty="0" smtClean="0">
                <a:latin typeface="Times New Roman" pitchFamily="18" charset="0"/>
              </a:rPr>
              <a:t> do </a:t>
            </a:r>
            <a:r>
              <a:rPr lang="en-US" sz="2400" i="1" dirty="0" err="1" smtClean="0">
                <a:latin typeface="Times New Roman" pitchFamily="18" charset="0"/>
              </a:rPr>
              <a:t>phát</a:t>
            </a:r>
            <a:r>
              <a:rPr lang="en-US" sz="2400" i="1" dirty="0" smtClean="0">
                <a:latin typeface="Times New Roman" pitchFamily="18" charset="0"/>
              </a:rPr>
              <a:t> </a:t>
            </a:r>
            <a:r>
              <a:rPr lang="en-US" sz="2400" i="1" dirty="0" err="1" smtClean="0">
                <a:latin typeface="Times New Roman" pitchFamily="18" charset="0"/>
              </a:rPr>
              <a:t>xạ</a:t>
            </a:r>
            <a:r>
              <a:rPr lang="en-US" sz="2400" i="1" dirty="0" smtClean="0">
                <a:latin typeface="Times New Roman" pitchFamily="18" charset="0"/>
              </a:rPr>
              <a:t> </a:t>
            </a:r>
            <a:r>
              <a:rPr lang="en-US" sz="2400" i="1" dirty="0" err="1" smtClean="0">
                <a:latin typeface="Times New Roman" pitchFamily="18" charset="0"/>
              </a:rPr>
              <a:t>bằng</a:t>
            </a:r>
            <a:r>
              <a:rPr lang="en-US" sz="2400" i="1" dirty="0" smtClean="0">
                <a:latin typeface="Times New Roman" pitchFamily="18" charset="0"/>
              </a:rPr>
              <a:t> </a:t>
            </a:r>
            <a:r>
              <a:rPr lang="en-US" sz="2400" i="1" dirty="0" err="1" smtClean="0">
                <a:latin typeface="Times New Roman" pitchFamily="18" charset="0"/>
              </a:rPr>
              <a:t>năng</a:t>
            </a:r>
            <a:r>
              <a:rPr lang="en-US" sz="2400" i="1" dirty="0" smtClean="0">
                <a:latin typeface="Times New Roman" pitchFamily="18" charset="0"/>
              </a:rPr>
              <a:t> </a:t>
            </a:r>
            <a:r>
              <a:rPr lang="en-US" sz="2400" i="1" dirty="0" err="1" smtClean="0">
                <a:latin typeface="Times New Roman" pitchFamily="18" charset="0"/>
              </a:rPr>
              <a:t>lượng</a:t>
            </a:r>
            <a:r>
              <a:rPr lang="en-US" sz="2400" i="1" dirty="0" smtClean="0">
                <a:latin typeface="Times New Roman" pitchFamily="18" charset="0"/>
              </a:rPr>
              <a:t> </a:t>
            </a:r>
            <a:r>
              <a:rPr lang="en-US" sz="2400" i="1" dirty="0" err="1" smtClean="0">
                <a:latin typeface="Times New Roman" pitchFamily="18" charset="0"/>
              </a:rPr>
              <a:t>thu</a:t>
            </a:r>
            <a:r>
              <a:rPr lang="en-US" sz="2400" i="1" dirty="0" smtClean="0">
                <a:latin typeface="Times New Roman" pitchFamily="18" charset="0"/>
              </a:rPr>
              <a:t> </a:t>
            </a:r>
            <a:r>
              <a:rPr lang="en-US" sz="2400" i="1" dirty="0" err="1" smtClean="0">
                <a:latin typeface="Times New Roman" pitchFamily="18" charset="0"/>
              </a:rPr>
              <a:t>được</a:t>
            </a:r>
            <a:r>
              <a:rPr lang="en-US" sz="2400" i="1" dirty="0" smtClean="0">
                <a:latin typeface="Times New Roman" pitchFamily="18" charset="0"/>
              </a:rPr>
              <a:t> do </a:t>
            </a:r>
            <a:r>
              <a:rPr lang="en-US" sz="2400" i="1" dirty="0" err="1" smtClean="0">
                <a:latin typeface="Times New Roman" pitchFamily="18" charset="0"/>
              </a:rPr>
              <a:t>hấp</a:t>
            </a:r>
            <a:r>
              <a:rPr lang="en-US" sz="2400" i="1" dirty="0" smtClean="0">
                <a:latin typeface="Times New Roman" pitchFamily="18" charset="0"/>
              </a:rPr>
              <a:t> </a:t>
            </a:r>
            <a:r>
              <a:rPr lang="en-US" sz="2400" i="1" dirty="0" err="1" smtClean="0">
                <a:latin typeface="Times New Roman" pitchFamily="18" charset="0"/>
              </a:rPr>
              <a:t>thụ</a:t>
            </a:r>
            <a:r>
              <a:rPr lang="en-US" sz="2400" i="1" dirty="0" smtClean="0">
                <a:latin typeface="Times New Roman" pitchFamily="18" charset="0"/>
              </a:rPr>
              <a:t> </a:t>
            </a:r>
            <a:r>
              <a:rPr lang="en-US" sz="2400" i="1" dirty="0" err="1" smtClean="0">
                <a:latin typeface="Times New Roman" pitchFamily="18" charset="0"/>
              </a:rPr>
              <a:t>thì</a:t>
            </a:r>
            <a:r>
              <a:rPr lang="en-US" sz="2400" i="1" dirty="0" smtClean="0">
                <a:latin typeface="Times New Roman" pitchFamily="18" charset="0"/>
              </a:rPr>
              <a:t> </a:t>
            </a:r>
            <a:r>
              <a:rPr lang="en-US" sz="2400" i="1" dirty="0" err="1" smtClean="0">
                <a:latin typeface="Times New Roman" pitchFamily="18" charset="0"/>
              </a:rPr>
              <a:t>nhiệt</a:t>
            </a:r>
            <a:r>
              <a:rPr lang="en-US" sz="2400" i="1" dirty="0" smtClean="0">
                <a:latin typeface="Times New Roman" pitchFamily="18" charset="0"/>
              </a:rPr>
              <a:t> </a:t>
            </a:r>
            <a:r>
              <a:rPr lang="en-US" sz="2400" i="1" dirty="0" err="1" smtClean="0">
                <a:latin typeface="Times New Roman" pitchFamily="18" charset="0"/>
              </a:rPr>
              <a:t>độ</a:t>
            </a:r>
            <a:r>
              <a:rPr lang="en-US" sz="2400" i="1" dirty="0" smtClean="0">
                <a:latin typeface="Times New Roman" pitchFamily="18" charset="0"/>
              </a:rPr>
              <a:t> </a:t>
            </a:r>
            <a:r>
              <a:rPr lang="en-US" sz="2400" i="1" dirty="0" err="1" smtClean="0">
                <a:latin typeface="Times New Roman" pitchFamily="18" charset="0"/>
              </a:rPr>
              <a:t>của</a:t>
            </a:r>
            <a:r>
              <a:rPr lang="en-US" sz="2400" i="1" dirty="0" smtClean="0">
                <a:latin typeface="Times New Roman" pitchFamily="18" charset="0"/>
              </a:rPr>
              <a:t> </a:t>
            </a:r>
            <a:r>
              <a:rPr lang="en-US" sz="2400" i="1" dirty="0" err="1" smtClean="0">
                <a:latin typeface="Times New Roman" pitchFamily="18" charset="0"/>
              </a:rPr>
              <a:t>vật</a:t>
            </a:r>
            <a:r>
              <a:rPr lang="en-US" sz="2400" i="1" dirty="0" smtClean="0">
                <a:latin typeface="Times New Roman" pitchFamily="18" charset="0"/>
              </a:rPr>
              <a:t> </a:t>
            </a:r>
            <a:r>
              <a:rPr lang="en-US" sz="2400" i="1" dirty="0" err="1" smtClean="0">
                <a:latin typeface="Times New Roman" pitchFamily="18" charset="0"/>
              </a:rPr>
              <a:t>không</a:t>
            </a:r>
            <a:r>
              <a:rPr lang="en-US" sz="2400" i="1" dirty="0" smtClean="0">
                <a:latin typeface="Times New Roman" pitchFamily="18" charset="0"/>
              </a:rPr>
              <a:t> </a:t>
            </a:r>
            <a:r>
              <a:rPr lang="en-US" sz="2400" i="1" dirty="0" err="1" smtClean="0">
                <a:latin typeface="Times New Roman" pitchFamily="18" charset="0"/>
              </a:rPr>
              <a:t>đổi</a:t>
            </a:r>
            <a:r>
              <a:rPr lang="en-US" sz="2400" i="1" dirty="0" smtClean="0">
                <a:latin typeface="Times New Roman" pitchFamily="18" charset="0"/>
              </a:rPr>
              <a:t>, </a:t>
            </a:r>
            <a:r>
              <a:rPr lang="en-US" sz="2400" i="1" dirty="0" err="1" smtClean="0">
                <a:latin typeface="Times New Roman" pitchFamily="18" charset="0"/>
              </a:rPr>
              <a:t>gọi</a:t>
            </a:r>
            <a:r>
              <a:rPr lang="en-US" sz="2400" i="1" dirty="0" smtClean="0">
                <a:latin typeface="Times New Roman" pitchFamily="18" charset="0"/>
              </a:rPr>
              <a:t> </a:t>
            </a:r>
            <a:r>
              <a:rPr lang="en-US" sz="2400" i="1" dirty="0" err="1" smtClean="0">
                <a:latin typeface="Times New Roman" pitchFamily="18" charset="0"/>
              </a:rPr>
              <a:t>là</a:t>
            </a:r>
            <a:r>
              <a:rPr lang="en-US" sz="2400" i="1" dirty="0" smtClean="0">
                <a:latin typeface="Times New Roman" pitchFamily="18" charset="0"/>
              </a:rPr>
              <a:t> </a:t>
            </a:r>
            <a:r>
              <a:rPr lang="en-US" sz="2400" i="1" dirty="0" err="1" smtClean="0">
                <a:latin typeface="Times New Roman" pitchFamily="18" charset="0"/>
              </a:rPr>
              <a:t>bức</a:t>
            </a:r>
            <a:r>
              <a:rPr lang="en-US" sz="2400" i="1" dirty="0" smtClean="0">
                <a:latin typeface="Times New Roman" pitchFamily="18" charset="0"/>
              </a:rPr>
              <a:t> </a:t>
            </a:r>
            <a:r>
              <a:rPr lang="en-US" sz="2400" i="1" dirty="0" err="1" smtClean="0">
                <a:latin typeface="Times New Roman" pitchFamily="18" charset="0"/>
              </a:rPr>
              <a:t>xạ</a:t>
            </a:r>
            <a:r>
              <a:rPr lang="en-US" sz="2400" i="1" dirty="0" smtClean="0">
                <a:latin typeface="Times New Roman" pitchFamily="18" charset="0"/>
              </a:rPr>
              <a:t> </a:t>
            </a:r>
            <a:r>
              <a:rPr lang="en-US" sz="2400" i="1" dirty="0" err="1" smtClean="0">
                <a:latin typeface="Times New Roman" pitchFamily="18" charset="0"/>
              </a:rPr>
              <a:t>nhiệt</a:t>
            </a:r>
            <a:r>
              <a:rPr lang="en-US" sz="2400" i="1" dirty="0" smtClean="0">
                <a:latin typeface="Times New Roman" pitchFamily="18" charset="0"/>
              </a:rPr>
              <a:t> </a:t>
            </a:r>
            <a:r>
              <a:rPr lang="en-US" sz="2400" i="1" dirty="0" err="1" smtClean="0">
                <a:latin typeface="Times New Roman" pitchFamily="18" charset="0"/>
              </a:rPr>
              <a:t>cân</a:t>
            </a:r>
            <a:r>
              <a:rPr lang="en-US" sz="2400" i="1" dirty="0" smtClean="0">
                <a:latin typeface="Times New Roman" pitchFamily="18" charset="0"/>
              </a:rPr>
              <a:t> </a:t>
            </a:r>
            <a:r>
              <a:rPr lang="en-US" sz="2400" i="1" dirty="0" err="1" smtClean="0">
                <a:latin typeface="Times New Roman" pitchFamily="18" charset="0"/>
              </a:rPr>
              <a:t>bằng</a:t>
            </a:r>
            <a:r>
              <a:rPr lang="en-US" sz="2400" i="1" dirty="0" smtClean="0">
                <a:latin typeface="Times New Roman" pitchFamily="18" charset="0"/>
              </a:rPr>
              <a:t>.</a:t>
            </a:r>
          </a:p>
        </p:txBody>
      </p:sp>
    </p:spTree>
    <p:extLst>
      <p:ext uri="{BB962C8B-B14F-4D97-AF65-F5344CB8AC3E}">
        <p14:creationId xmlns:p14="http://schemas.microsoft.com/office/powerpoint/2010/main" val="37739033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additive="base">
                                        <p:cTn id="7" dur="500" fill="hold"/>
                                        <p:tgtEl>
                                          <p:spTgt spid="7"/>
                                        </p:tgtEl>
                                        <p:attrNameLst>
                                          <p:attrName>ppt_x</p:attrName>
                                        </p:attrNameLst>
                                      </p:cBhvr>
                                      <p:tavLst>
                                        <p:tav tm="0">
                                          <p:val>
                                            <p:strVal val="#ppt_x"/>
                                          </p:val>
                                        </p:tav>
                                        <p:tav tm="100000">
                                          <p:val>
                                            <p:strVal val="#ppt_x"/>
                                          </p:val>
                                        </p:tav>
                                      </p:tavLst>
                                    </p:anim>
                                    <p:anim calcmode="lin" valueType="num">
                                      <p:cBhvr additive="base">
                                        <p:cTn id="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8"/>
                                        </p:tgtEl>
                                        <p:attrNameLst>
                                          <p:attrName>style.visibility</p:attrName>
                                        </p:attrNameLst>
                                      </p:cBhvr>
                                      <p:to>
                                        <p:strVal val="visible"/>
                                      </p:to>
                                    </p:set>
                                    <p:anim calcmode="lin" valueType="num">
                                      <p:cBhvr additive="base">
                                        <p:cTn id="13" dur="500" fill="hold"/>
                                        <p:tgtEl>
                                          <p:spTgt spid="8"/>
                                        </p:tgtEl>
                                        <p:attrNameLst>
                                          <p:attrName>ppt_x</p:attrName>
                                        </p:attrNameLst>
                                      </p:cBhvr>
                                      <p:tavLst>
                                        <p:tav tm="0">
                                          <p:val>
                                            <p:strVal val="#ppt_x"/>
                                          </p:val>
                                        </p:tav>
                                        <p:tav tm="100000">
                                          <p:val>
                                            <p:strVal val="#ppt_x"/>
                                          </p:val>
                                        </p:tav>
                                      </p:tavLst>
                                    </p:anim>
                                    <p:anim calcmode="lin" valueType="num">
                                      <p:cBhvr additive="base">
                                        <p:cTn id="14"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8"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p:nvPr/>
        </p:nvPicPr>
        <p:blipFill>
          <a:blip r:embed="rId2">
            <a:extLst>
              <a:ext uri="{28A0092B-C50C-407E-A947-70E740481C1C}">
                <a14:useLocalDpi xmlns:a14="http://schemas.microsoft.com/office/drawing/2010/main" val="0"/>
              </a:ext>
            </a:extLst>
          </a:blip>
          <a:stretch>
            <a:fillRect/>
          </a:stretch>
        </p:blipFill>
        <p:spPr>
          <a:xfrm>
            <a:off x="1659281" y="381000"/>
            <a:ext cx="5760720" cy="3524250"/>
          </a:xfrm>
          <a:prstGeom prst="rect">
            <a:avLst/>
          </a:prstGeom>
        </p:spPr>
      </p:pic>
      <p:sp>
        <p:nvSpPr>
          <p:cNvPr id="5" name="TextBox 4"/>
          <p:cNvSpPr txBox="1"/>
          <p:nvPr/>
        </p:nvSpPr>
        <p:spPr>
          <a:xfrm>
            <a:off x="152400" y="4038600"/>
            <a:ext cx="8686800" cy="923330"/>
          </a:xfrm>
          <a:prstGeom prst="rect">
            <a:avLst/>
          </a:prstGeom>
          <a:noFill/>
        </p:spPr>
        <p:txBody>
          <a:bodyPr wrap="square" rtlCol="0">
            <a:spAutoFit/>
          </a:bodyPr>
          <a:lstStyle/>
          <a:p>
            <a:r>
              <a:rPr lang="en-US" dirty="0"/>
              <a:t> </a:t>
            </a:r>
            <a:r>
              <a:rPr lang="en-US" dirty="0" err="1">
                <a:latin typeface="Times New Roman" pitchFamily="18" charset="0"/>
                <a:cs typeface="Times New Roman" pitchFamily="18" charset="0"/>
              </a:rPr>
              <a:t>H</a:t>
            </a:r>
            <a:r>
              <a:rPr lang="en-US" dirty="0" err="1" smtClean="0">
                <a:latin typeface="Times New Roman" pitchFamily="18" charset="0"/>
                <a:cs typeface="Times New Roman" pitchFamily="18" charset="0"/>
              </a:rPr>
              <a:t>iệu</a:t>
            </a:r>
            <a:r>
              <a:rPr lang="en-US" dirty="0" smtClean="0">
                <a:latin typeface="Times New Roman" pitchFamily="18" charset="0"/>
                <a:cs typeface="Times New Roman" pitchFamily="18" charset="0"/>
              </a:rPr>
              <a:t> </a:t>
            </a:r>
            <a:r>
              <a:rPr lang="en-US" dirty="0" err="1">
                <a:latin typeface="Times New Roman" pitchFamily="18" charset="0"/>
                <a:cs typeface="Times New Roman" pitchFamily="18" charset="0"/>
              </a:rPr>
              <a:t>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từ</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việc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Mặt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xuyên</a:t>
            </a:r>
            <a:r>
              <a:rPr lang="en-US" dirty="0">
                <a:latin typeface="Times New Roman" pitchFamily="18" charset="0"/>
                <a:cs typeface="Times New Roman" pitchFamily="18" charset="0"/>
              </a:rPr>
              <a:t> qua </a:t>
            </a:r>
            <a:r>
              <a:rPr lang="en-US" dirty="0" err="1">
                <a:latin typeface="Times New Roman" pitchFamily="18" charset="0"/>
                <a:cs typeface="Times New Roman" pitchFamily="18" charset="0"/>
              </a:rPr>
              <a:t>tầng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xuống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mặt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Sau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hấp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thụ</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mặt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đất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nóng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lên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sóng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dài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vào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quyển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để</a:t>
            </a:r>
            <a:r>
              <a:rPr lang="en-US" dirty="0">
                <a:latin typeface="Times New Roman" pitchFamily="18" charset="0"/>
                <a:cs typeface="Times New Roman" pitchFamily="18" charset="0"/>
              </a:rPr>
              <a:t> CO</a:t>
            </a:r>
            <a:r>
              <a:rPr lang="en-US" baseline="-25000" dirty="0">
                <a:latin typeface="Times New Roman" pitchFamily="18" charset="0"/>
                <a:cs typeface="Times New Roman" pitchFamily="18" charset="0"/>
              </a:rPr>
              <a:t>2</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hấp</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khiến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độ</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khí</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tăng</a:t>
            </a:r>
            <a:endParaRPr lang="en-US" dirty="0">
              <a:latin typeface="Times New Roman" pitchFamily="18" charset="0"/>
              <a:cs typeface="Times New Roman" pitchFamily="18" charset="0"/>
            </a:endParaRPr>
          </a:p>
        </p:txBody>
      </p:sp>
      <p:sp>
        <p:nvSpPr>
          <p:cNvPr id="6" name="Rectangle 5"/>
          <p:cNvSpPr/>
          <p:nvPr/>
        </p:nvSpPr>
        <p:spPr>
          <a:xfrm>
            <a:off x="152400" y="4953000"/>
            <a:ext cx="8915400" cy="1200329"/>
          </a:xfrm>
          <a:prstGeom prst="rect">
            <a:avLst/>
          </a:prstGeom>
        </p:spPr>
        <p:txBody>
          <a:bodyPr wrap="square">
            <a:spAutoFit/>
          </a:bodyPr>
          <a:lstStyle/>
          <a:p>
            <a:pPr algn="just"/>
            <a:r>
              <a:rPr lang="en-US" dirty="0" err="1">
                <a:latin typeface="Times New Roman" pitchFamily="18" charset="0"/>
                <a:cs typeface="Times New Roman" pitchFamily="18" charset="0"/>
              </a:rPr>
              <a:t>Hiện</a:t>
            </a:r>
            <a:r>
              <a:rPr lang="en-US" dirty="0">
                <a:latin typeface="Times New Roman" pitchFamily="18" charset="0"/>
                <a:cs typeface="Times New Roman" pitchFamily="18" charset="0"/>
              </a:rPr>
              <a:t> nay </a:t>
            </a:r>
            <a:r>
              <a:rPr lang="en-US" dirty="0" err="1">
                <a:latin typeface="Times New Roman" pitchFamily="18" charset="0"/>
                <a:cs typeface="Times New Roman" pitchFamily="18" charset="0"/>
              </a:rPr>
              <a:t>bức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đang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đến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tính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phát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triển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kinh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hội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đặc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biệt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là</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lĩnh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vực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xạ</a:t>
            </a:r>
            <a:r>
              <a:rPr lang="en-US" dirty="0">
                <a:latin typeface="Times New Roman" pitchFamily="18" charset="0"/>
                <a:cs typeface="Times New Roman" pitchFamily="18" charset="0"/>
              </a:rPr>
              <a:t> hay </a:t>
            </a:r>
            <a:r>
              <a:rPr lang="en-US" dirty="0" err="1">
                <a:latin typeface="Times New Roman" pitchFamily="18" charset="0"/>
                <a:cs typeface="Times New Roman" pitchFamily="18" charset="0"/>
              </a:rPr>
              <a:t>soi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chiếu</a:t>
            </a:r>
            <a:r>
              <a:rPr lang="en-US" dirty="0">
                <a:latin typeface="Times New Roman" pitchFamily="18" charset="0"/>
                <a:cs typeface="Times New Roman" pitchFamily="18" charset="0"/>
              </a:rPr>
              <a:t> an </a:t>
            </a:r>
            <a:r>
              <a:rPr lang="en-US" dirty="0" err="1">
                <a:latin typeface="Times New Roman" pitchFamily="18" charset="0"/>
                <a:cs typeface="Times New Roman" pitchFamily="18" charset="0"/>
              </a:rPr>
              <a:t>ninh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hải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quan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đồng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thời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ứng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dụng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công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nghệ</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bức</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xạ</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hạt</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nhân</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mang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lại</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những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hiệu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quả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cao</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hỗ</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trợ</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điều</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trị</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bệnh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trong</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lĩnh</a:t>
            </a:r>
            <a:r>
              <a:rPr lang="en-US" dirty="0">
                <a:latin typeface="Times New Roman" pitchFamily="18" charset="0"/>
                <a:cs typeface="Times New Roman" pitchFamily="18" charset="0"/>
              </a:rPr>
              <a:t> </a:t>
            </a:r>
            <a:r>
              <a:rPr lang="en-US" dirty="0" err="1">
                <a:latin typeface="Times New Roman" pitchFamily="18" charset="0"/>
                <a:cs typeface="Times New Roman" pitchFamily="18" charset="0"/>
              </a:rPr>
              <a:t>vực</a:t>
            </a:r>
            <a:r>
              <a:rPr lang="en-US" dirty="0">
                <a:latin typeface="Times New Roman" pitchFamily="18" charset="0"/>
                <a:cs typeface="Times New Roman" pitchFamily="18" charset="0"/>
              </a:rPr>
              <a:t> y </a:t>
            </a:r>
            <a:r>
              <a:rPr lang="en-US" dirty="0" err="1">
                <a:latin typeface="Times New Roman" pitchFamily="18" charset="0"/>
                <a:cs typeface="Times New Roman" pitchFamily="18" charset="0"/>
              </a:rPr>
              <a:t>tế</a:t>
            </a:r>
            <a:r>
              <a:rPr lang="en-US" dirty="0">
                <a:latin typeface="Times New Roman" pitchFamily="18" charset="0"/>
                <a:cs typeface="Times New Roman" pitchFamily="18" charset="0"/>
              </a:rPr>
              <a:t>. </a:t>
            </a:r>
          </a:p>
        </p:txBody>
      </p:sp>
    </p:spTree>
    <p:extLst>
      <p:ext uri="{BB962C8B-B14F-4D97-AF65-F5344CB8AC3E}">
        <p14:creationId xmlns:p14="http://schemas.microsoft.com/office/powerpoint/2010/main" val="27247239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85801"/>
            <a:ext cx="8153400" cy="461665"/>
          </a:xfrm>
          <a:prstGeom prst="rect">
            <a:avLst/>
          </a:prstGeom>
        </p:spPr>
        <p:txBody>
          <a:bodyPr wrap="square">
            <a:spAutoFit/>
          </a:bodyPr>
          <a:lstStyle/>
          <a:p>
            <a:pPr marL="609600" indent="-609600"/>
            <a:r>
              <a:rPr lang="en-US" sz="2400" b="1" dirty="0" smtClean="0">
                <a:solidFill>
                  <a:schemeClr val="hlink"/>
                </a:solidFill>
                <a:latin typeface="Times New Roman" pitchFamily="18" charset="0"/>
              </a:rPr>
              <a:t>II. </a:t>
            </a:r>
            <a:r>
              <a:rPr lang="en-US" sz="2400" b="1" dirty="0" err="1" smtClean="0">
                <a:solidFill>
                  <a:schemeClr val="hlink"/>
                </a:solidFill>
                <a:latin typeface="Times New Roman" pitchFamily="18" charset="0"/>
              </a:rPr>
              <a:t>Các</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đại</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lượng</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đặc</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trưng</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của</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bức</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xạ</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nhiệt</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cân</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bằng</a:t>
            </a:r>
            <a:endParaRPr lang="en-US" sz="2400" b="1" dirty="0" smtClean="0">
              <a:solidFill>
                <a:schemeClr val="hlink"/>
              </a:solidFill>
              <a:latin typeface="Times New Roman" pitchFamily="18" charset="0"/>
            </a:endParaRPr>
          </a:p>
        </p:txBody>
      </p:sp>
      <p:sp>
        <p:nvSpPr>
          <p:cNvPr id="3" name="Rectangle 2"/>
          <p:cNvSpPr/>
          <p:nvPr/>
        </p:nvSpPr>
        <p:spPr>
          <a:xfrm>
            <a:off x="152400" y="1147466"/>
            <a:ext cx="6015549" cy="461665"/>
          </a:xfrm>
          <a:prstGeom prst="rect">
            <a:avLst/>
          </a:prstGeom>
        </p:spPr>
        <p:txBody>
          <a:bodyPr wrap="square">
            <a:spAutoFit/>
          </a:bodyPr>
          <a:lstStyle/>
          <a:p>
            <a:pPr marL="609600" indent="-609600"/>
            <a:r>
              <a:rPr lang="en-US" sz="2400" b="1" i="1" dirty="0" smtClean="0">
                <a:latin typeface="Times New Roman" pitchFamily="18" charset="0"/>
              </a:rPr>
              <a:t>1. </a:t>
            </a:r>
            <a:r>
              <a:rPr lang="en-US" sz="2400" b="1" i="1" dirty="0" err="1" smtClean="0">
                <a:latin typeface="Times New Roman" pitchFamily="18" charset="0"/>
              </a:rPr>
              <a:t>Năng</a:t>
            </a:r>
            <a:r>
              <a:rPr lang="en-US" sz="2400" b="1" i="1" dirty="0" smtClean="0">
                <a:latin typeface="Times New Roman" pitchFamily="18" charset="0"/>
              </a:rPr>
              <a:t> </a:t>
            </a:r>
            <a:r>
              <a:rPr lang="en-US" sz="2400" b="1" i="1" dirty="0" err="1" smtClean="0">
                <a:latin typeface="Times New Roman" pitchFamily="18" charset="0"/>
              </a:rPr>
              <a:t>suất</a:t>
            </a:r>
            <a:r>
              <a:rPr lang="en-US" sz="2400" b="1" i="1" dirty="0" smtClean="0">
                <a:latin typeface="Times New Roman" pitchFamily="18" charset="0"/>
              </a:rPr>
              <a:t> </a:t>
            </a:r>
            <a:r>
              <a:rPr lang="en-US" sz="2400" b="1" i="1" dirty="0" err="1" smtClean="0">
                <a:latin typeface="Times New Roman" pitchFamily="18" charset="0"/>
              </a:rPr>
              <a:t>phát</a:t>
            </a:r>
            <a:r>
              <a:rPr lang="en-US" sz="2400" b="1" i="1" dirty="0" smtClean="0">
                <a:latin typeface="Times New Roman" pitchFamily="18" charset="0"/>
              </a:rPr>
              <a:t> </a:t>
            </a:r>
            <a:r>
              <a:rPr lang="en-US" sz="2400" b="1" i="1" dirty="0" err="1" smtClean="0">
                <a:latin typeface="Times New Roman" pitchFamily="18" charset="0"/>
              </a:rPr>
              <a:t>xạ</a:t>
            </a:r>
            <a:r>
              <a:rPr lang="en-US" sz="2400" b="1" i="1" dirty="0" smtClean="0">
                <a:latin typeface="Times New Roman" pitchFamily="18" charset="0"/>
              </a:rPr>
              <a:t> </a:t>
            </a:r>
            <a:r>
              <a:rPr lang="en-US" sz="2400" b="1" i="1" dirty="0" err="1" smtClean="0">
                <a:latin typeface="Times New Roman" pitchFamily="18" charset="0"/>
              </a:rPr>
              <a:t>toàn</a:t>
            </a:r>
            <a:r>
              <a:rPr lang="en-US" sz="2400" b="1" i="1" dirty="0" smtClean="0">
                <a:latin typeface="Times New Roman" pitchFamily="18" charset="0"/>
              </a:rPr>
              <a:t> </a:t>
            </a:r>
            <a:r>
              <a:rPr lang="en-US" sz="2400" b="1" i="1" dirty="0" err="1" smtClean="0">
                <a:latin typeface="Times New Roman" pitchFamily="18" charset="0"/>
              </a:rPr>
              <a:t>phần</a:t>
            </a:r>
            <a:endParaRPr lang="en-US" sz="2400" b="1" i="1" dirty="0" smtClean="0">
              <a:latin typeface="Times New Roman" pitchFamily="18" charset="0"/>
            </a:endParaRPr>
          </a:p>
        </p:txBody>
      </p:sp>
      <p:pic>
        <p:nvPicPr>
          <p:cNvPr id="6" name="Picture 7" descr="hi nh 6"/>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907555" y="1597408"/>
            <a:ext cx="2236445" cy="19077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6"/>
          <p:cNvSpPr/>
          <p:nvPr/>
        </p:nvSpPr>
        <p:spPr>
          <a:xfrm>
            <a:off x="76200" y="1609131"/>
            <a:ext cx="6781800" cy="1200329"/>
          </a:xfrm>
          <a:prstGeom prst="rect">
            <a:avLst/>
          </a:prstGeom>
        </p:spPr>
        <p:txBody>
          <a:bodyPr wrap="square">
            <a:spAutoFit/>
          </a:bodyPr>
          <a:lstStyle/>
          <a:p>
            <a:r>
              <a:rPr lang="en-US" sz="2400" i="1" dirty="0" err="1" smtClean="0">
                <a:solidFill>
                  <a:srgbClr val="FF0000"/>
                </a:solidFill>
                <a:latin typeface="Times New Roman" pitchFamily="18" charset="0"/>
              </a:rPr>
              <a:t>Năng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suất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phát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xạ</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toàn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phần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 ở </a:t>
            </a:r>
            <a:r>
              <a:rPr lang="en-US" sz="2400" i="1" dirty="0" err="1" smtClean="0">
                <a:solidFill>
                  <a:srgbClr val="FF0000"/>
                </a:solidFill>
                <a:latin typeface="Times New Roman" pitchFamily="18" charset="0"/>
              </a:rPr>
              <a:t>nhiệt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độ</a:t>
            </a:r>
            <a:r>
              <a:rPr lang="en-US" sz="2400" i="1" dirty="0" smtClean="0">
                <a:solidFill>
                  <a:srgbClr val="FF0000"/>
                </a:solidFill>
                <a:latin typeface="Times New Roman" pitchFamily="18" charset="0"/>
              </a:rPr>
              <a:t> T </a:t>
            </a:r>
            <a:r>
              <a:rPr lang="en-US" sz="2400" i="1" dirty="0" err="1" smtClean="0">
                <a:solidFill>
                  <a:srgbClr val="FF0000"/>
                </a:solidFill>
                <a:latin typeface="Times New Roman" pitchFamily="18" charset="0"/>
              </a:rPr>
              <a:t>đo</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bằng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năng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lượng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bức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xạ</a:t>
            </a:r>
            <a:r>
              <a:rPr lang="en-US" sz="2400" i="1" dirty="0" smtClean="0">
                <a:solidFill>
                  <a:srgbClr val="FF0000"/>
                </a:solidFill>
                <a:latin typeface="Times New Roman" pitchFamily="18" charset="0"/>
              </a:rPr>
              <a:t> do </a:t>
            </a:r>
            <a:r>
              <a:rPr lang="en-US" sz="2400" i="1" dirty="0" err="1" smtClean="0">
                <a:solidFill>
                  <a:srgbClr val="FF0000"/>
                </a:solidFill>
                <a:latin typeface="Times New Roman" pitchFamily="18" charset="0"/>
              </a:rPr>
              <a:t>một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đơn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vị</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diện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tích</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phát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ra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trong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một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đơn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vị</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thời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gian</a:t>
            </a:r>
            <a:r>
              <a:rPr lang="en-US" sz="2400" i="1" dirty="0" smtClean="0">
                <a:solidFill>
                  <a:srgbClr val="FF0000"/>
                </a:solidFill>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2349036882"/>
              </p:ext>
            </p:extLst>
          </p:nvPr>
        </p:nvGraphicFramePr>
        <p:xfrm>
          <a:off x="2667000" y="3138487"/>
          <a:ext cx="1304925" cy="733425"/>
        </p:xfrm>
        <a:graphic>
          <a:graphicData uri="http://schemas.openxmlformats.org/presentationml/2006/ole">
            <mc:AlternateContent xmlns:mc="http://schemas.openxmlformats.org/markup-compatibility/2006">
              <mc:Choice xmlns:v="urn:schemas-microsoft-com:vml" Requires="v">
                <p:oleObj spid="_x0000_s1083" name="Equation" r:id="rId4" imgW="698197" imgH="393529" progId="Equation.3">
                  <p:embed/>
                </p:oleObj>
              </mc:Choice>
              <mc:Fallback>
                <p:oleObj name="Equation" r:id="rId4" imgW="698197" imgH="393529" progId="Equation.3">
                  <p:embed/>
                  <p:pic>
                    <p:nvPicPr>
                      <p:cNvPr id="0" name="Object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667000" y="3138487"/>
                        <a:ext cx="1304925" cy="733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228600" y="4114800"/>
            <a:ext cx="8610600" cy="830997"/>
          </a:xfrm>
          <a:prstGeom prst="rect">
            <a:avLst/>
          </a:prstGeom>
        </p:spPr>
        <p:txBody>
          <a:bodyPr wrap="square">
            <a:spAutoFit/>
          </a:bodyPr>
          <a:lstStyle/>
          <a:p>
            <a:r>
              <a:rPr lang="en-US" sz="2400" dirty="0" smtClean="0">
                <a:latin typeface="Times New Roman" pitchFamily="18" charset="0"/>
              </a:rPr>
              <a:t>d</a:t>
            </a:r>
            <a:r>
              <a:rPr lang="el-GR" sz="2400" dirty="0" smtClean="0">
                <a:latin typeface="Times New Roman" pitchFamily="18" charset="0"/>
                <a:cs typeface="Times New Roman" pitchFamily="18" charset="0"/>
              </a:rPr>
              <a:t>Φ</a:t>
            </a:r>
            <a:r>
              <a:rPr lang="en-US" sz="2400" baseline="-25000" dirty="0" smtClean="0">
                <a:latin typeface="Times New Roman" pitchFamily="18" charset="0"/>
                <a:cs typeface="Times New Roman" pitchFamily="18" charset="0"/>
              </a:rPr>
              <a:t>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là</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năng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lượng</a:t>
            </a:r>
            <a:r>
              <a:rPr lang="en-US" sz="2400" dirty="0" smtClean="0">
                <a:latin typeface="Times New Roman" pitchFamily="18" charset="0"/>
                <a:cs typeface="Times New Roman" pitchFamily="18" charset="0"/>
              </a:rPr>
              <a:t> do </a:t>
            </a:r>
            <a:r>
              <a:rPr lang="en-US" sz="2400" dirty="0" err="1" smtClean="0">
                <a:latin typeface="Times New Roman" pitchFamily="18" charset="0"/>
                <a:cs typeface="Times New Roman" pitchFamily="18" charset="0"/>
              </a:rPr>
              <a:t>diện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tích</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dS</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của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vật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phát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ra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trong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một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đơn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vị</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thời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gian</a:t>
            </a:r>
            <a:endParaRPr lang="en-US" sz="2400" dirty="0" smtClean="0">
              <a:latin typeface="Times New Roman" pitchFamily="18" charset="0"/>
              <a:cs typeface="Times New Roman" pitchFamily="18" charset="0"/>
            </a:endParaRPr>
          </a:p>
        </p:txBody>
      </p:sp>
      <p:sp>
        <p:nvSpPr>
          <p:cNvPr id="10" name="Rectangle 9"/>
          <p:cNvSpPr/>
          <p:nvPr/>
        </p:nvSpPr>
        <p:spPr>
          <a:xfrm>
            <a:off x="257908" y="5105400"/>
            <a:ext cx="1990481" cy="461665"/>
          </a:xfrm>
          <a:prstGeom prst="rect">
            <a:avLst/>
          </a:prstGeom>
        </p:spPr>
        <p:txBody>
          <a:bodyPr wrap="none">
            <a:spAutoFit/>
          </a:bodyPr>
          <a:lstStyle/>
          <a:p>
            <a:pPr marL="609600" indent="-609600"/>
            <a:r>
              <a:rPr lang="en-US" sz="2400" dirty="0" err="1" smtClean="0">
                <a:latin typeface="Times New Roman" pitchFamily="18" charset="0"/>
                <a:cs typeface="Times New Roman" pitchFamily="18" charset="0"/>
              </a:rPr>
              <a:t>Đơn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vị</a:t>
            </a:r>
            <a:r>
              <a:rPr lang="en-US" sz="2400" dirty="0" smtClean="0">
                <a:latin typeface="Times New Roman" pitchFamily="18" charset="0"/>
                <a:cs typeface="Times New Roman" pitchFamily="18" charset="0"/>
              </a:rPr>
              <a:t>:  W/m</a:t>
            </a:r>
            <a:r>
              <a:rPr lang="en-US" sz="2400" baseline="30000" dirty="0" smtClean="0">
                <a:latin typeface="Times New Roman" pitchFamily="18" charset="0"/>
                <a:cs typeface="Times New Roman" pitchFamily="18" charset="0"/>
              </a:rPr>
              <a:t>2</a:t>
            </a:r>
            <a:endParaRPr lang="el-GR" sz="2400" baseline="30000" dirty="0" smtClean="0">
              <a:latin typeface="Times New Roman" pitchFamily="18" charset="0"/>
              <a:cs typeface="Times New Roman" pitchFamily="18" charset="0"/>
            </a:endParaRPr>
          </a:p>
        </p:txBody>
      </p:sp>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wipe(down)">
                                      <p:cBhvr>
                                        <p:cTn id="2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9" grpId="0"/>
      <p:bldP spid="10"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85800"/>
            <a:ext cx="5755921" cy="461665"/>
          </a:xfrm>
          <a:prstGeom prst="rect">
            <a:avLst/>
          </a:prstGeom>
        </p:spPr>
        <p:txBody>
          <a:bodyPr wrap="square">
            <a:spAutoFit/>
          </a:bodyPr>
          <a:lstStyle/>
          <a:p>
            <a:r>
              <a:rPr lang="en-US" sz="2400" b="1" i="1" dirty="0" smtClean="0">
                <a:latin typeface="Times New Roman" pitchFamily="18" charset="0"/>
              </a:rPr>
              <a:t>2. </a:t>
            </a:r>
            <a:r>
              <a:rPr lang="en-US" sz="2400" b="1" i="1" dirty="0" err="1" smtClean="0">
                <a:latin typeface="Times New Roman" pitchFamily="18" charset="0"/>
              </a:rPr>
              <a:t>Hệ</a:t>
            </a:r>
            <a:r>
              <a:rPr lang="en-US" sz="2400" b="1" i="1" dirty="0" smtClean="0">
                <a:latin typeface="Times New Roman" pitchFamily="18" charset="0"/>
              </a:rPr>
              <a:t> </a:t>
            </a:r>
            <a:r>
              <a:rPr lang="en-US" sz="2400" b="1" i="1" dirty="0" err="1" smtClean="0">
                <a:latin typeface="Times New Roman" pitchFamily="18" charset="0"/>
              </a:rPr>
              <a:t>số</a:t>
            </a:r>
            <a:r>
              <a:rPr lang="en-US" sz="2400" b="1" i="1" dirty="0" smtClean="0">
                <a:latin typeface="Times New Roman" pitchFamily="18" charset="0"/>
              </a:rPr>
              <a:t> </a:t>
            </a:r>
            <a:r>
              <a:rPr lang="en-US" sz="2400" b="1" i="1" dirty="0" err="1" smtClean="0">
                <a:latin typeface="Times New Roman" pitchFamily="18" charset="0"/>
              </a:rPr>
              <a:t>phát</a:t>
            </a:r>
            <a:r>
              <a:rPr lang="en-US" sz="2400" b="1" i="1" dirty="0" smtClean="0">
                <a:latin typeface="Times New Roman" pitchFamily="18" charset="0"/>
              </a:rPr>
              <a:t> </a:t>
            </a:r>
            <a:r>
              <a:rPr lang="en-US" sz="2400" b="1" i="1" dirty="0" err="1" smtClean="0">
                <a:latin typeface="Times New Roman" pitchFamily="18" charset="0"/>
              </a:rPr>
              <a:t>xạ</a:t>
            </a:r>
            <a:r>
              <a:rPr lang="en-US" sz="2400" b="1" i="1" dirty="0" smtClean="0">
                <a:latin typeface="Times New Roman" pitchFamily="18" charset="0"/>
              </a:rPr>
              <a:t> </a:t>
            </a:r>
            <a:r>
              <a:rPr lang="en-US" sz="2400" b="1" i="1" dirty="0" err="1" smtClean="0">
                <a:latin typeface="Times New Roman" pitchFamily="18" charset="0"/>
              </a:rPr>
              <a:t>đơn</a:t>
            </a:r>
            <a:r>
              <a:rPr lang="en-US" sz="2400" b="1" i="1" dirty="0" smtClean="0">
                <a:latin typeface="Times New Roman" pitchFamily="18" charset="0"/>
              </a:rPr>
              <a:t> </a:t>
            </a:r>
            <a:r>
              <a:rPr lang="en-US" sz="2400" b="1" i="1" dirty="0" err="1" smtClean="0">
                <a:latin typeface="Times New Roman" pitchFamily="18" charset="0"/>
              </a:rPr>
              <a:t>sắc</a:t>
            </a:r>
            <a:endParaRPr lang="en-US" sz="2400" b="1" i="1" dirty="0" smtClean="0">
              <a:latin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3732797133"/>
              </p:ext>
            </p:extLst>
          </p:nvPr>
        </p:nvGraphicFramePr>
        <p:xfrm>
          <a:off x="2954160" y="1295400"/>
          <a:ext cx="1533525" cy="852488"/>
        </p:xfrm>
        <a:graphic>
          <a:graphicData uri="http://schemas.openxmlformats.org/presentationml/2006/ole">
            <mc:AlternateContent xmlns:mc="http://schemas.openxmlformats.org/markup-compatibility/2006">
              <mc:Choice xmlns:v="urn:schemas-microsoft-com:vml" Requires="v">
                <p:oleObj spid="_x0000_s2162" name="Equation" r:id="rId3" imgW="774364" imgH="431613" progId="Equation.3">
                  <p:embed/>
                </p:oleObj>
              </mc:Choice>
              <mc:Fallback>
                <p:oleObj name="Equation" r:id="rId3" imgW="774364" imgH="431613"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54160" y="1295400"/>
                        <a:ext cx="1533525" cy="852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6" name="Rectangle 5"/>
          <p:cNvSpPr/>
          <p:nvPr/>
        </p:nvSpPr>
        <p:spPr>
          <a:xfrm>
            <a:off x="76200" y="2286000"/>
            <a:ext cx="5963509" cy="461665"/>
          </a:xfrm>
          <a:prstGeom prst="rect">
            <a:avLst/>
          </a:prstGeom>
        </p:spPr>
        <p:txBody>
          <a:bodyPr wrap="square">
            <a:spAutoFit/>
          </a:bodyPr>
          <a:lstStyle/>
          <a:p>
            <a:r>
              <a:rPr lang="en-US" sz="2400" i="1" dirty="0" err="1" smtClean="0">
                <a:latin typeface="Times New Roman" pitchFamily="18" charset="0"/>
              </a:rPr>
              <a:t>Năng</a:t>
            </a:r>
            <a:r>
              <a:rPr lang="en-US" sz="2400" i="1" dirty="0" smtClean="0">
                <a:latin typeface="Times New Roman" pitchFamily="18" charset="0"/>
              </a:rPr>
              <a:t> </a:t>
            </a:r>
            <a:r>
              <a:rPr lang="en-US" sz="2400" i="1" dirty="0" err="1" smtClean="0">
                <a:latin typeface="Times New Roman" pitchFamily="18" charset="0"/>
              </a:rPr>
              <a:t>suất</a:t>
            </a:r>
            <a:r>
              <a:rPr lang="en-US" sz="2400" i="1" dirty="0" smtClean="0">
                <a:latin typeface="Times New Roman" pitchFamily="18" charset="0"/>
              </a:rPr>
              <a:t> </a:t>
            </a:r>
            <a:r>
              <a:rPr lang="en-US" sz="2400" i="1" dirty="0" err="1" smtClean="0">
                <a:latin typeface="Times New Roman" pitchFamily="18" charset="0"/>
              </a:rPr>
              <a:t>phát</a:t>
            </a:r>
            <a:r>
              <a:rPr lang="en-US" sz="2400" i="1" dirty="0" smtClean="0">
                <a:latin typeface="Times New Roman" pitchFamily="18" charset="0"/>
              </a:rPr>
              <a:t> </a:t>
            </a:r>
            <a:r>
              <a:rPr lang="en-US" sz="2400" i="1" dirty="0" err="1" smtClean="0">
                <a:latin typeface="Times New Roman" pitchFamily="18" charset="0"/>
              </a:rPr>
              <a:t>xạ</a:t>
            </a:r>
            <a:r>
              <a:rPr lang="en-US" sz="2400" i="1" dirty="0" smtClean="0">
                <a:latin typeface="Times New Roman" pitchFamily="18" charset="0"/>
              </a:rPr>
              <a:t> </a:t>
            </a:r>
            <a:r>
              <a:rPr lang="en-US" sz="2400" i="1" dirty="0" err="1" smtClean="0">
                <a:latin typeface="Times New Roman" pitchFamily="18" charset="0"/>
              </a:rPr>
              <a:t>toàn</a:t>
            </a:r>
            <a:r>
              <a:rPr lang="en-US" sz="2400" i="1" dirty="0" smtClean="0">
                <a:latin typeface="Times New Roman" pitchFamily="18" charset="0"/>
              </a:rPr>
              <a:t> </a:t>
            </a:r>
            <a:r>
              <a:rPr lang="en-US" sz="2400" i="1" dirty="0" err="1" smtClean="0">
                <a:latin typeface="Times New Roman" pitchFamily="18" charset="0"/>
              </a:rPr>
              <a:t>phần</a:t>
            </a:r>
            <a:r>
              <a:rPr lang="en-US" sz="2400" i="1" dirty="0" smtClean="0">
                <a:latin typeface="Times New Roman" pitchFamily="18" charset="0"/>
              </a:rPr>
              <a:t>:</a:t>
            </a:r>
          </a:p>
        </p:txBody>
      </p:sp>
      <p:graphicFrame>
        <p:nvGraphicFramePr>
          <p:cNvPr id="7" name="Object 6"/>
          <p:cNvGraphicFramePr>
            <a:graphicFrameLocks noChangeAspect="1"/>
          </p:cNvGraphicFramePr>
          <p:nvPr>
            <p:extLst>
              <p:ext uri="{D42A27DB-BD31-4B8C-83A1-F6EECF244321}">
                <p14:modId xmlns:p14="http://schemas.microsoft.com/office/powerpoint/2010/main" val="1159488939"/>
              </p:ext>
            </p:extLst>
          </p:nvPr>
        </p:nvGraphicFramePr>
        <p:xfrm>
          <a:off x="2438400" y="2971800"/>
          <a:ext cx="2886075" cy="1012825"/>
        </p:xfrm>
        <a:graphic>
          <a:graphicData uri="http://schemas.openxmlformats.org/presentationml/2006/ole">
            <mc:AlternateContent xmlns:mc="http://schemas.openxmlformats.org/markup-compatibility/2006">
              <mc:Choice xmlns:v="urn:schemas-microsoft-com:vml" Requires="v">
                <p:oleObj spid="_x0000_s2163" name="Equation" r:id="rId5" imgW="1435100" imgH="508000" progId="Equation.3">
                  <p:embed/>
                </p:oleObj>
              </mc:Choice>
              <mc:Fallback>
                <p:oleObj name="Equation" r:id="rId5" imgW="1435100" imgH="5080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8400" y="2971800"/>
                        <a:ext cx="2886075" cy="1012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arn(inVertical)">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arn(inVertic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arn(inVertical)">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762000"/>
            <a:ext cx="5768745" cy="461665"/>
          </a:xfrm>
          <a:prstGeom prst="rect">
            <a:avLst/>
          </a:prstGeom>
        </p:spPr>
        <p:txBody>
          <a:bodyPr wrap="square">
            <a:spAutoFit/>
          </a:bodyPr>
          <a:lstStyle/>
          <a:p>
            <a:r>
              <a:rPr lang="en-US" sz="2400" b="1" i="1" dirty="0">
                <a:latin typeface="Times New Roman" pitchFamily="18" charset="0"/>
              </a:rPr>
              <a:t>3</a:t>
            </a:r>
            <a:r>
              <a:rPr lang="en-US" sz="2400" b="1" i="1" smtClean="0">
                <a:latin typeface="Times New Roman" pitchFamily="18" charset="0"/>
              </a:rPr>
              <a:t>. </a:t>
            </a:r>
            <a:r>
              <a:rPr lang="en-US" sz="2400" b="1" i="1" dirty="0" err="1" smtClean="0">
                <a:latin typeface="Times New Roman" pitchFamily="18" charset="0"/>
              </a:rPr>
              <a:t>Hệ</a:t>
            </a:r>
            <a:r>
              <a:rPr lang="en-US" sz="2400" b="1" i="1" dirty="0" smtClean="0">
                <a:latin typeface="Times New Roman" pitchFamily="18" charset="0"/>
              </a:rPr>
              <a:t> </a:t>
            </a:r>
            <a:r>
              <a:rPr lang="en-US" sz="2400" b="1" i="1" dirty="0" err="1" smtClean="0">
                <a:latin typeface="Times New Roman" pitchFamily="18" charset="0"/>
              </a:rPr>
              <a:t>số</a:t>
            </a:r>
            <a:r>
              <a:rPr lang="en-US" sz="2400" b="1" i="1" dirty="0" smtClean="0">
                <a:latin typeface="Times New Roman" pitchFamily="18" charset="0"/>
              </a:rPr>
              <a:t> </a:t>
            </a:r>
            <a:r>
              <a:rPr lang="en-US" sz="2400" b="1" i="1" dirty="0" err="1" smtClean="0">
                <a:latin typeface="Times New Roman" pitchFamily="18" charset="0"/>
              </a:rPr>
              <a:t>hấp</a:t>
            </a:r>
            <a:r>
              <a:rPr lang="en-US" sz="2400" b="1" i="1" dirty="0" smtClean="0">
                <a:latin typeface="Times New Roman" pitchFamily="18" charset="0"/>
              </a:rPr>
              <a:t> </a:t>
            </a:r>
            <a:r>
              <a:rPr lang="en-US" sz="2400" b="1" i="1" dirty="0" err="1" smtClean="0">
                <a:latin typeface="Times New Roman" pitchFamily="18" charset="0"/>
              </a:rPr>
              <a:t>thụ</a:t>
            </a:r>
            <a:r>
              <a:rPr lang="en-US" sz="2400" b="1" i="1" dirty="0" smtClean="0">
                <a:latin typeface="Times New Roman" pitchFamily="18" charset="0"/>
              </a:rPr>
              <a:t> </a:t>
            </a:r>
            <a:r>
              <a:rPr lang="en-US" sz="2400" b="1" i="1" dirty="0" err="1" smtClean="0">
                <a:latin typeface="Times New Roman" pitchFamily="18" charset="0"/>
              </a:rPr>
              <a:t>đơn</a:t>
            </a:r>
            <a:r>
              <a:rPr lang="en-US" sz="2400" b="1" i="1" dirty="0" smtClean="0">
                <a:latin typeface="Times New Roman" pitchFamily="18" charset="0"/>
              </a:rPr>
              <a:t> </a:t>
            </a:r>
            <a:r>
              <a:rPr lang="en-US" sz="2400" b="1" i="1" dirty="0" err="1" smtClean="0">
                <a:latin typeface="Times New Roman" pitchFamily="18" charset="0"/>
              </a:rPr>
              <a:t>sắc</a:t>
            </a:r>
            <a:endParaRPr lang="en-US" sz="2400" b="1" i="1" dirty="0" smtClean="0">
              <a:latin typeface="Times New Roman" pitchFamily="18" charset="0"/>
            </a:endParaRPr>
          </a:p>
        </p:txBody>
      </p:sp>
      <p:sp>
        <p:nvSpPr>
          <p:cNvPr id="3" name="Rectangle 2"/>
          <p:cNvSpPr/>
          <p:nvPr/>
        </p:nvSpPr>
        <p:spPr>
          <a:xfrm>
            <a:off x="76200" y="1223665"/>
            <a:ext cx="9067800" cy="830997"/>
          </a:xfrm>
          <a:prstGeom prst="rect">
            <a:avLst/>
          </a:prstGeom>
        </p:spPr>
        <p:txBody>
          <a:bodyPr wrap="square">
            <a:spAutoFit/>
          </a:bodyPr>
          <a:lstStyle/>
          <a:p>
            <a:pPr algn="just"/>
            <a:r>
              <a:rPr lang="en-US" sz="2400" dirty="0">
                <a:latin typeface="+mj-lt"/>
              </a:rPr>
              <a:t>T</a:t>
            </a:r>
            <a:r>
              <a:rPr lang="vi-VN" sz="2400" dirty="0" smtClean="0">
                <a:latin typeface="+mj-lt"/>
              </a:rPr>
              <a:t>rong một đơn vị thời gian, chùm bức xạ đơn sắc gửi tới </a:t>
            </a:r>
            <a:r>
              <a:rPr lang="en-US" sz="2400" dirty="0" smtClean="0">
                <a:latin typeface="+mj-lt"/>
              </a:rPr>
              <a:t>1 </a:t>
            </a:r>
            <a:r>
              <a:rPr lang="vi-VN" sz="2400" dirty="0" smtClean="0">
                <a:latin typeface="+mj-lt"/>
              </a:rPr>
              <a:t>đơn vị diện tích của vậ</a:t>
            </a:r>
            <a:r>
              <a:rPr lang="en-US" sz="2400" dirty="0" smtClean="0">
                <a:latin typeface="+mj-lt"/>
              </a:rPr>
              <a:t>t</a:t>
            </a:r>
            <a:r>
              <a:rPr lang="vi-VN" sz="2400" dirty="0" smtClean="0">
                <a:latin typeface="+mj-lt"/>
              </a:rPr>
              <a:t> năng l</a:t>
            </a:r>
            <a:r>
              <a:rPr lang="en-US" sz="2400" dirty="0">
                <a:latin typeface="+mj-lt"/>
              </a:rPr>
              <a:t>ư</a:t>
            </a:r>
            <a:r>
              <a:rPr lang="vi-VN" sz="2400" dirty="0" smtClean="0">
                <a:latin typeface="+mj-lt"/>
              </a:rPr>
              <a:t>ợng </a:t>
            </a:r>
            <a:r>
              <a:rPr lang="en-US" sz="2400" dirty="0" smtClean="0">
                <a:latin typeface="Times New Roman" pitchFamily="18" charset="0"/>
                <a:cs typeface="Times New Roman" pitchFamily="18" charset="0"/>
              </a:rPr>
              <a:t>d</a:t>
            </a:r>
            <a:r>
              <a:rPr lang="el-GR" sz="2400" dirty="0">
                <a:latin typeface="Times New Roman" pitchFamily="18" charset="0"/>
                <a:cs typeface="Times New Roman" pitchFamily="18" charset="0"/>
              </a:rPr>
              <a:t>ϕ</a:t>
            </a:r>
            <a:r>
              <a:rPr lang="en-US" sz="2400" baseline="-25000" dirty="0" err="1" smtClean="0">
                <a:latin typeface="Times New Roman" pitchFamily="18" charset="0"/>
                <a:cs typeface="Times New Roman" pitchFamily="18" charset="0"/>
              </a:rPr>
              <a:t>λ,T</a:t>
            </a:r>
            <a:r>
              <a:rPr lang="en-US" sz="2400" dirty="0" smtClean="0">
                <a:latin typeface="Times New Roman" pitchFamily="18" charset="0"/>
                <a:cs typeface="Times New Roman" pitchFamily="18" charset="0"/>
              </a:rPr>
              <a:t> </a:t>
            </a:r>
            <a:r>
              <a:rPr lang="vi-VN" sz="2400" dirty="0" smtClean="0">
                <a:latin typeface="+mj-lt"/>
              </a:rPr>
              <a:t>nh</a:t>
            </a:r>
            <a:r>
              <a:rPr lang="en-US" sz="2400" dirty="0">
                <a:latin typeface="+mj-lt"/>
              </a:rPr>
              <a:t>ư</a:t>
            </a:r>
            <a:r>
              <a:rPr lang="vi-VN" sz="2400" dirty="0" smtClean="0">
                <a:latin typeface="+mj-lt"/>
              </a:rPr>
              <a:t>ng vật</a:t>
            </a:r>
            <a:r>
              <a:rPr lang="en-US" sz="2400" dirty="0" smtClean="0">
                <a:latin typeface="+mj-lt"/>
              </a:rPr>
              <a:t> </a:t>
            </a:r>
            <a:r>
              <a:rPr lang="vi-VN" sz="2400" dirty="0" smtClean="0">
                <a:latin typeface="+mj-lt"/>
              </a:rPr>
              <a:t>hấp thụ năng l</a:t>
            </a:r>
            <a:r>
              <a:rPr lang="en-US" sz="2400" dirty="0">
                <a:latin typeface="+mj-lt"/>
              </a:rPr>
              <a:t>ư</a:t>
            </a:r>
            <a:r>
              <a:rPr lang="vi-VN" sz="2400" dirty="0" smtClean="0">
                <a:latin typeface="+mj-lt"/>
              </a:rPr>
              <a:t>ợng </a:t>
            </a:r>
            <a:r>
              <a:rPr lang="en-US" sz="2400" dirty="0" smtClean="0">
                <a:latin typeface="+mj-lt"/>
              </a:rPr>
              <a:t>d</a:t>
            </a:r>
            <a:r>
              <a:rPr lang="el-GR" sz="2400" dirty="0" smtClean="0">
                <a:latin typeface="+mj-lt"/>
              </a:rPr>
              <a:t>φ</a:t>
            </a:r>
            <a:r>
              <a:rPr lang="vi-VN" sz="2400" dirty="0" smtClean="0">
                <a:latin typeface="+mj-lt"/>
              </a:rPr>
              <a:t>'</a:t>
            </a:r>
            <a:r>
              <a:rPr lang="el-GR" sz="2400" baseline="-25000" dirty="0" smtClean="0">
                <a:latin typeface="+mj-lt"/>
              </a:rPr>
              <a:t>λ</a:t>
            </a:r>
            <a:r>
              <a:rPr lang="en-US" sz="2400" baseline="-25000" dirty="0" smtClean="0">
                <a:latin typeface="+mj-lt"/>
              </a:rPr>
              <a:t>,T</a:t>
            </a:r>
            <a:r>
              <a:rPr lang="vi-VN" sz="2400" dirty="0" smtClean="0">
                <a:latin typeface="+mj-lt"/>
              </a:rPr>
              <a:t> </a:t>
            </a:r>
            <a:endParaRPr lang="en-US" sz="2400" dirty="0">
              <a:latin typeface="+mj-lt"/>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3658891315"/>
              </p:ext>
            </p:extLst>
          </p:nvPr>
        </p:nvGraphicFramePr>
        <p:xfrm>
          <a:off x="3352800" y="3352800"/>
          <a:ext cx="1549402" cy="914401"/>
        </p:xfrm>
        <a:graphic>
          <a:graphicData uri="http://schemas.openxmlformats.org/presentationml/2006/ole">
            <mc:AlternateContent xmlns:mc="http://schemas.openxmlformats.org/markup-compatibility/2006">
              <mc:Choice xmlns:v="urn:schemas-microsoft-com:vml" Requires="v">
                <p:oleObj spid="_x0000_s4154" name="Equation" r:id="rId3" imgW="774360" imgH="457200" progId="Equation.3">
                  <p:embed/>
                </p:oleObj>
              </mc:Choice>
              <mc:Fallback>
                <p:oleObj name="Equation" r:id="rId3" imgW="774360" imgH="457200" progId="Equation.3">
                  <p:embed/>
                  <p:pic>
                    <p:nvPicPr>
                      <p:cNvPr id="0" name=""/>
                      <p:cNvPicPr/>
                      <p:nvPr/>
                    </p:nvPicPr>
                    <p:blipFill>
                      <a:blip r:embed="rId4"/>
                      <a:stretch>
                        <a:fillRect/>
                      </a:stretch>
                    </p:blipFill>
                    <p:spPr>
                      <a:xfrm>
                        <a:off x="3352800" y="3352800"/>
                        <a:ext cx="1549402" cy="914401"/>
                      </a:xfrm>
                      <a:prstGeom prst="rect">
                        <a:avLst/>
                      </a:prstGeom>
                    </p:spPr>
                  </p:pic>
                </p:oleObj>
              </mc:Fallback>
            </mc:AlternateContent>
          </a:graphicData>
        </a:graphic>
      </p:graphicFrame>
      <p:sp>
        <p:nvSpPr>
          <p:cNvPr id="7" name="Rectangle 6"/>
          <p:cNvSpPr/>
          <p:nvPr/>
        </p:nvSpPr>
        <p:spPr>
          <a:xfrm>
            <a:off x="76200" y="4419600"/>
            <a:ext cx="8915400" cy="830997"/>
          </a:xfrm>
          <a:prstGeom prst="rect">
            <a:avLst/>
          </a:prstGeom>
        </p:spPr>
        <p:txBody>
          <a:bodyPr wrap="square">
            <a:spAutoFit/>
          </a:bodyPr>
          <a:lstStyle/>
          <a:p>
            <a:r>
              <a:rPr lang="en-US" sz="2400" i="1" dirty="0" err="1" smtClean="0">
                <a:solidFill>
                  <a:srgbClr val="FF0000"/>
                </a:solidFill>
                <a:latin typeface="Times New Roman" pitchFamily="18" charset="0"/>
                <a:cs typeface="Times New Roman" pitchFamily="18" charset="0"/>
              </a:rPr>
              <a:t>Thông</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thường</a:t>
            </a:r>
            <a:r>
              <a:rPr lang="en-US" sz="2400" i="1" dirty="0" smtClean="0">
                <a:solidFill>
                  <a:srgbClr val="FF0000"/>
                </a:solidFill>
                <a:latin typeface="Times New Roman" pitchFamily="18" charset="0"/>
                <a:cs typeface="Times New Roman" pitchFamily="18" charset="0"/>
              </a:rPr>
              <a:t> a</a:t>
            </a:r>
            <a:r>
              <a:rPr lang="el-GR" sz="2400" i="1" baseline="-25000" dirty="0" smtClean="0">
                <a:solidFill>
                  <a:srgbClr val="FF0000"/>
                </a:solidFill>
                <a:latin typeface="Times New Roman" pitchFamily="18" charset="0"/>
                <a:cs typeface="Times New Roman" pitchFamily="18" charset="0"/>
              </a:rPr>
              <a:t>λ</a:t>
            </a:r>
            <a:r>
              <a:rPr lang="en-US" sz="2400" i="1" baseline="-25000" dirty="0" smtClean="0">
                <a:solidFill>
                  <a:srgbClr val="FF0000"/>
                </a:solidFill>
                <a:latin typeface="Times New Roman" pitchFamily="18" charset="0"/>
                <a:cs typeface="Times New Roman" pitchFamily="18" charset="0"/>
              </a:rPr>
              <a:t>,T</a:t>
            </a:r>
            <a:r>
              <a:rPr lang="en-US" sz="2400" i="1" dirty="0" smtClean="0">
                <a:solidFill>
                  <a:srgbClr val="FF0000"/>
                </a:solidFill>
                <a:latin typeface="Times New Roman" pitchFamily="18" charset="0"/>
                <a:cs typeface="Times New Roman" pitchFamily="18" charset="0"/>
              </a:rPr>
              <a:t> &lt; 1, </a:t>
            </a:r>
            <a:r>
              <a:rPr lang="en-US" sz="2400" i="1" dirty="0" err="1" smtClean="0">
                <a:solidFill>
                  <a:srgbClr val="FF0000"/>
                </a:solidFill>
                <a:latin typeface="Times New Roman" pitchFamily="18" charset="0"/>
                <a:cs typeface="Times New Roman" pitchFamily="18" charset="0"/>
              </a:rPr>
              <a:t>nếu</a:t>
            </a:r>
            <a:r>
              <a:rPr lang="en-US" sz="2400" i="1" dirty="0" smtClean="0">
                <a:solidFill>
                  <a:srgbClr val="FF0000"/>
                </a:solidFill>
                <a:latin typeface="Times New Roman" pitchFamily="18" charset="0"/>
                <a:cs typeface="Times New Roman" pitchFamily="18" charset="0"/>
              </a:rPr>
              <a:t> a</a:t>
            </a:r>
            <a:r>
              <a:rPr lang="el-GR" sz="2400" i="1" baseline="-25000" dirty="0" smtClean="0">
                <a:solidFill>
                  <a:srgbClr val="FF0000"/>
                </a:solidFill>
                <a:latin typeface="Times New Roman" pitchFamily="18" charset="0"/>
                <a:cs typeface="Times New Roman" pitchFamily="18" charset="0"/>
              </a:rPr>
              <a:t>λ</a:t>
            </a:r>
            <a:r>
              <a:rPr lang="en-US" sz="2400" i="1" baseline="-25000" dirty="0" smtClean="0">
                <a:solidFill>
                  <a:srgbClr val="FF0000"/>
                </a:solidFill>
                <a:latin typeface="Times New Roman" pitchFamily="18" charset="0"/>
                <a:cs typeface="Times New Roman" pitchFamily="18" charset="0"/>
              </a:rPr>
              <a:t>,T</a:t>
            </a:r>
            <a:r>
              <a:rPr lang="en-US" sz="2400" i="1" dirty="0" smtClean="0">
                <a:solidFill>
                  <a:srgbClr val="FF0000"/>
                </a:solidFill>
                <a:latin typeface="Times New Roman" pitchFamily="18" charset="0"/>
                <a:cs typeface="Times New Roman" pitchFamily="18" charset="0"/>
              </a:rPr>
              <a:t> =1 </a:t>
            </a:r>
            <a:r>
              <a:rPr lang="en-US" sz="2400" i="1" dirty="0" err="1" smtClean="0">
                <a:solidFill>
                  <a:srgbClr val="FF0000"/>
                </a:solidFill>
                <a:latin typeface="Times New Roman" pitchFamily="18" charset="0"/>
                <a:cs typeface="Times New Roman" pitchFamily="18" charset="0"/>
              </a:rPr>
              <a:t>với</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mọi</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nhiệt</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độ</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và</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mọi</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bước</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sóng</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thì</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vật</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đó</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gọi</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là</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vật</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đen</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tuyệt</a:t>
            </a:r>
            <a:r>
              <a:rPr lang="en-US" sz="2400" i="1" dirty="0" smtClean="0">
                <a:solidFill>
                  <a:srgbClr val="0070C0"/>
                </a:solidFill>
                <a:latin typeface="Times New Roman" pitchFamily="18" charset="0"/>
                <a:cs typeface="Times New Roman" pitchFamily="18" charset="0"/>
              </a:rPr>
              <a:t> </a:t>
            </a:r>
            <a:r>
              <a:rPr lang="en-US" sz="2400" i="1" dirty="0" err="1" smtClean="0">
                <a:solidFill>
                  <a:srgbClr val="0070C0"/>
                </a:solidFill>
                <a:latin typeface="Times New Roman" pitchFamily="18" charset="0"/>
                <a:cs typeface="Times New Roman" pitchFamily="18" charset="0"/>
              </a:rPr>
              <a:t>đối</a:t>
            </a:r>
            <a:endParaRPr lang="el-GR" sz="2400" i="1" dirty="0" smtClean="0">
              <a:solidFill>
                <a:srgbClr val="0070C0"/>
              </a:solidFill>
              <a:latin typeface="Times New Roman" pitchFamily="18" charset="0"/>
              <a:cs typeface="Times New Roman" pitchFamily="18" charset="0"/>
            </a:endParaRPr>
          </a:p>
        </p:txBody>
      </p:sp>
      <p:sp>
        <p:nvSpPr>
          <p:cNvPr id="8" name="TextBox 7"/>
          <p:cNvSpPr txBox="1"/>
          <p:nvPr/>
        </p:nvSpPr>
        <p:spPr>
          <a:xfrm>
            <a:off x="228600" y="2793325"/>
            <a:ext cx="3048000" cy="461665"/>
          </a:xfrm>
          <a:prstGeom prst="rect">
            <a:avLst/>
          </a:prstGeom>
          <a:noFill/>
        </p:spPr>
        <p:txBody>
          <a:bodyPr wrap="square" rtlCol="0">
            <a:spAutoFit/>
          </a:bodyPr>
          <a:lstStyle/>
          <a:p>
            <a:r>
              <a:rPr lang="en-US" sz="2400" dirty="0" err="1" smtClean="0">
                <a:latin typeface="Times New Roman" pitchFamily="18" charset="0"/>
                <a:cs typeface="Times New Roman" pitchFamily="18" charset="0"/>
              </a:rPr>
              <a:t>Hệ</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số</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hấp</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thụ</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đơn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sắc</a:t>
            </a:r>
            <a:r>
              <a:rPr lang="en-US" sz="2400" dirty="0" smtClean="0">
                <a:latin typeface="Times New Roman" pitchFamily="18" charset="0"/>
                <a:cs typeface="Times New Roman" pitchFamily="18" charset="0"/>
              </a:rPr>
              <a:t>:</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down)">
                                      <p:cBhvr>
                                        <p:cTn id="22"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8"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14065"/>
            <a:ext cx="5609759" cy="461665"/>
          </a:xfrm>
          <a:prstGeom prst="rect">
            <a:avLst/>
          </a:prstGeom>
        </p:spPr>
        <p:txBody>
          <a:bodyPr wrap="square">
            <a:spAutoFit/>
          </a:bodyPr>
          <a:lstStyle/>
          <a:p>
            <a:r>
              <a:rPr lang="en-US" sz="2400" b="1" i="1" dirty="0">
                <a:solidFill>
                  <a:srgbClr val="00B050"/>
                </a:solidFill>
                <a:latin typeface="Times New Roman" pitchFamily="18" charset="0"/>
              </a:rPr>
              <a:t>4</a:t>
            </a:r>
            <a:r>
              <a:rPr lang="en-US" sz="2400" b="1" i="1" smtClean="0">
                <a:solidFill>
                  <a:srgbClr val="00B050"/>
                </a:solidFill>
                <a:latin typeface="Times New Roman" pitchFamily="18" charset="0"/>
              </a:rPr>
              <a:t>. </a:t>
            </a:r>
            <a:r>
              <a:rPr lang="en-US" sz="2400" b="1" i="1" dirty="0" err="1" smtClean="0">
                <a:solidFill>
                  <a:srgbClr val="00B050"/>
                </a:solidFill>
                <a:latin typeface="Times New Roman" pitchFamily="18" charset="0"/>
              </a:rPr>
              <a:t>Định</a:t>
            </a:r>
            <a:r>
              <a:rPr lang="en-US" sz="2400" b="1" i="1" dirty="0" smtClean="0">
                <a:solidFill>
                  <a:srgbClr val="00B050"/>
                </a:solidFill>
                <a:latin typeface="Times New Roman" pitchFamily="18" charset="0"/>
              </a:rPr>
              <a:t> </a:t>
            </a:r>
            <a:r>
              <a:rPr lang="en-US" sz="2400" b="1" i="1" dirty="0" err="1" smtClean="0">
                <a:solidFill>
                  <a:srgbClr val="00B050"/>
                </a:solidFill>
                <a:latin typeface="Times New Roman" pitchFamily="18" charset="0"/>
              </a:rPr>
              <a:t>luật</a:t>
            </a:r>
            <a:r>
              <a:rPr lang="en-US" sz="2400" b="1" i="1" dirty="0" smtClean="0">
                <a:solidFill>
                  <a:srgbClr val="00B050"/>
                </a:solidFill>
                <a:latin typeface="Times New Roman" pitchFamily="18" charset="0"/>
              </a:rPr>
              <a:t> Kirchhoff</a:t>
            </a:r>
          </a:p>
        </p:txBody>
      </p:sp>
      <p:sp>
        <p:nvSpPr>
          <p:cNvPr id="3" name="Rectangle 2"/>
          <p:cNvSpPr/>
          <p:nvPr/>
        </p:nvSpPr>
        <p:spPr>
          <a:xfrm>
            <a:off x="114300" y="2971800"/>
            <a:ext cx="8915400" cy="1569660"/>
          </a:xfrm>
          <a:prstGeom prst="rect">
            <a:avLst/>
          </a:prstGeom>
        </p:spPr>
        <p:txBody>
          <a:bodyPr wrap="square">
            <a:spAutoFit/>
          </a:bodyPr>
          <a:lstStyle/>
          <a:p>
            <a:r>
              <a:rPr lang="en-US" sz="2400" i="1" dirty="0" err="1" smtClean="0">
                <a:solidFill>
                  <a:srgbClr val="FF0000"/>
                </a:solidFill>
                <a:latin typeface="Times New Roman" pitchFamily="18" charset="0"/>
              </a:rPr>
              <a:t>Tỉ</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số</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giữa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hệ</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số</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phát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xạ</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đơn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sắc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và</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hệ</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số</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hấp</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thụ</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đơn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sắc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một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 ở </a:t>
            </a:r>
            <a:r>
              <a:rPr lang="en-US" sz="2400" i="1" dirty="0" err="1" smtClean="0">
                <a:solidFill>
                  <a:srgbClr val="FF0000"/>
                </a:solidFill>
                <a:latin typeface="Times New Roman" pitchFamily="18" charset="0"/>
              </a:rPr>
              <a:t>trạng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thái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cân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bằng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nhiệt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không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phụ</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thuộc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vào</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bản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chất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mà</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chỉ</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phụ</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thuộc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vào</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nhiệt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độ</a:t>
            </a:r>
            <a:r>
              <a:rPr lang="en-US" sz="2400" i="1" dirty="0" smtClean="0">
                <a:solidFill>
                  <a:srgbClr val="FF0000"/>
                </a:solidFill>
                <a:latin typeface="Times New Roman" pitchFamily="18" charset="0"/>
              </a:rPr>
              <a:t> 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và</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bước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sóng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chùm</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bức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xạ</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đơn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sắc</a:t>
            </a:r>
            <a:endParaRPr lang="en-US" sz="2400" i="1" dirty="0" smtClean="0">
              <a:solidFill>
                <a:srgbClr val="FF0000"/>
              </a:solidFill>
              <a:latin typeface="Times New Roman"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2611847932"/>
              </p:ext>
            </p:extLst>
          </p:nvPr>
        </p:nvGraphicFramePr>
        <p:xfrm>
          <a:off x="2114316" y="4800600"/>
          <a:ext cx="1762125" cy="1109663"/>
        </p:xfrm>
        <a:graphic>
          <a:graphicData uri="http://schemas.openxmlformats.org/presentationml/2006/ole">
            <mc:AlternateContent xmlns:mc="http://schemas.openxmlformats.org/markup-compatibility/2006">
              <mc:Choice xmlns:v="urn:schemas-microsoft-com:vml" Requires="v">
                <p:oleObj spid="_x0000_s3130" name="Equation" r:id="rId3" imgW="774364" imgH="482391" progId="Equation.3">
                  <p:embed/>
                </p:oleObj>
              </mc:Choice>
              <mc:Fallback>
                <p:oleObj name="Equation" r:id="rId3" imgW="774364" imgH="482391" progId="Equation.3">
                  <p:embed/>
                  <p:pic>
                    <p:nvPicPr>
                      <p:cNvPr id="0" name="Object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14316" y="4800600"/>
                        <a:ext cx="1762125" cy="1109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304800" y="6172200"/>
            <a:ext cx="5381159" cy="461665"/>
          </a:xfrm>
          <a:prstGeom prst="rect">
            <a:avLst/>
          </a:prstGeom>
        </p:spPr>
        <p:txBody>
          <a:bodyPr wrap="square">
            <a:spAutoFit/>
          </a:bodyPr>
          <a:lstStyle/>
          <a:p>
            <a:r>
              <a:rPr lang="en-US" sz="2400" dirty="0" smtClean="0">
                <a:latin typeface="Times New Roman" pitchFamily="18" charset="0"/>
              </a:rPr>
              <a:t>f</a:t>
            </a:r>
            <a:r>
              <a:rPr lang="el-GR" sz="2400" baseline="-25000" dirty="0" smtClean="0">
                <a:latin typeface="Times New Roman" pitchFamily="18" charset="0"/>
                <a:cs typeface="Times New Roman" pitchFamily="18" charset="0"/>
              </a:rPr>
              <a:t>λ</a:t>
            </a:r>
            <a:r>
              <a:rPr lang="en-US" sz="2400" baseline="-25000" dirty="0" smtClean="0">
                <a:latin typeface="Times New Roman" pitchFamily="18" charset="0"/>
                <a:cs typeface="Times New Roman" pitchFamily="18" charset="0"/>
              </a:rPr>
              <a:t>,T</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là</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hàm</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phổ</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biến</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chung</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cho</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mọi</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vật</a:t>
            </a:r>
            <a:endParaRPr lang="en-US" sz="2400" dirty="0"/>
          </a:p>
        </p:txBody>
      </p:sp>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573745" y="4235904"/>
            <a:ext cx="3445564" cy="2622096"/>
          </a:xfrm>
          <a:prstGeom prst="rect">
            <a:avLst/>
          </a:prstGeom>
        </p:spPr>
      </p:pic>
      <p:sp>
        <p:nvSpPr>
          <p:cNvPr id="7" name="Oval 6"/>
          <p:cNvSpPr/>
          <p:nvPr/>
        </p:nvSpPr>
        <p:spPr>
          <a:xfrm>
            <a:off x="5581273" y="844897"/>
            <a:ext cx="2267327" cy="1974503"/>
          </a:xfrm>
          <a:prstGeom prst="ellipse">
            <a:avLst/>
          </a:prstGeom>
          <a:ln w="38100"/>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10" name="Rectangle 9"/>
          <p:cNvSpPr/>
          <p:nvPr/>
        </p:nvSpPr>
        <p:spPr>
          <a:xfrm>
            <a:off x="6096000" y="1219200"/>
            <a:ext cx="228600" cy="381000"/>
          </a:xfrm>
          <a:prstGeom prst="rect">
            <a:avLst/>
          </a:prstGeom>
        </p:spPr>
        <p:style>
          <a:lnRef idx="2">
            <a:schemeClr val="accent1"/>
          </a:lnRef>
          <a:fillRef idx="1">
            <a:schemeClr val="lt1"/>
          </a:fillRef>
          <a:effectRef idx="0">
            <a:schemeClr val="accent1"/>
          </a:effectRef>
          <a:fontRef idx="minor">
            <a:schemeClr val="dk1"/>
          </a:fontRef>
        </p:style>
        <p:txBody>
          <a:bodyPr rtlCol="0" anchor="ctr"/>
          <a:lstStyle/>
          <a:p>
            <a:pPr algn="ctr"/>
            <a:endParaRPr lang="en-US"/>
          </a:p>
        </p:txBody>
      </p:sp>
      <p:sp>
        <p:nvSpPr>
          <p:cNvPr id="11" name="TextBox 10"/>
          <p:cNvSpPr txBox="1"/>
          <p:nvPr/>
        </p:nvSpPr>
        <p:spPr>
          <a:xfrm>
            <a:off x="6096000" y="1219200"/>
            <a:ext cx="114300" cy="381000"/>
          </a:xfrm>
          <a:prstGeom prst="rect">
            <a:avLst/>
          </a:prstGeom>
          <a:noFill/>
        </p:spPr>
        <p:txBody>
          <a:bodyPr wrap="square" rtlCol="0">
            <a:spAutoFit/>
          </a:bodyPr>
          <a:lstStyle/>
          <a:p>
            <a:r>
              <a:rPr lang="en-US" smtClean="0"/>
              <a:t>A</a:t>
            </a:r>
            <a:endParaRPr lang="en-US"/>
          </a:p>
        </p:txBody>
      </p:sp>
      <p:sp>
        <p:nvSpPr>
          <p:cNvPr id="12" name="Isosceles Triangle 11"/>
          <p:cNvSpPr/>
          <p:nvPr/>
        </p:nvSpPr>
        <p:spPr>
          <a:xfrm>
            <a:off x="6324600" y="1832148"/>
            <a:ext cx="390336" cy="453852"/>
          </a:xfrm>
          <a:prstGeom prst="triangle">
            <a:avLst/>
          </a:prstGeom>
        </p:spPr>
        <p:style>
          <a:lnRef idx="2">
            <a:schemeClr val="accent2"/>
          </a:lnRef>
          <a:fillRef idx="1">
            <a:schemeClr val="lt1"/>
          </a:fillRef>
          <a:effectRef idx="0">
            <a:schemeClr val="accent2"/>
          </a:effectRef>
          <a:fontRef idx="minor">
            <a:schemeClr val="dk1"/>
          </a:fontRef>
        </p:style>
        <p:txBody>
          <a:bodyPr rtlCol="0" anchor="ctr"/>
          <a:lstStyle/>
          <a:p>
            <a:pPr algn="ctr"/>
            <a:endParaRPr lang="en-US"/>
          </a:p>
        </p:txBody>
      </p:sp>
      <p:sp>
        <p:nvSpPr>
          <p:cNvPr id="13" name="TextBox 12"/>
          <p:cNvSpPr txBox="1"/>
          <p:nvPr/>
        </p:nvSpPr>
        <p:spPr>
          <a:xfrm>
            <a:off x="6366165" y="1981200"/>
            <a:ext cx="390336" cy="369332"/>
          </a:xfrm>
          <a:prstGeom prst="rect">
            <a:avLst/>
          </a:prstGeom>
          <a:noFill/>
        </p:spPr>
        <p:txBody>
          <a:bodyPr wrap="square" rtlCol="0">
            <a:spAutoFit/>
          </a:bodyPr>
          <a:lstStyle/>
          <a:p>
            <a:r>
              <a:rPr lang="en-US" smtClean="0"/>
              <a:t>B</a:t>
            </a:r>
            <a:endParaRPr lang="en-US"/>
          </a:p>
        </p:txBody>
      </p:sp>
      <p:sp>
        <p:nvSpPr>
          <p:cNvPr id="14" name="Rounded Rectangle 13"/>
          <p:cNvSpPr/>
          <p:nvPr/>
        </p:nvSpPr>
        <p:spPr>
          <a:xfrm>
            <a:off x="7010400" y="1219200"/>
            <a:ext cx="381000" cy="457200"/>
          </a:xfrm>
          <a:prstGeom prst="roundRect">
            <a:avLst/>
          </a:prstGeom>
        </p:spPr>
        <p:style>
          <a:lnRef idx="2">
            <a:schemeClr val="accent3"/>
          </a:lnRef>
          <a:fillRef idx="1">
            <a:schemeClr val="lt1"/>
          </a:fillRef>
          <a:effectRef idx="0">
            <a:schemeClr val="accent3"/>
          </a:effectRef>
          <a:fontRef idx="minor">
            <a:schemeClr val="dk1"/>
          </a:fontRef>
        </p:style>
        <p:txBody>
          <a:bodyPr rtlCol="0" anchor="ctr"/>
          <a:lstStyle/>
          <a:p>
            <a:pPr algn="ctr"/>
            <a:endParaRPr lang="en-US"/>
          </a:p>
        </p:txBody>
      </p:sp>
      <p:sp>
        <p:nvSpPr>
          <p:cNvPr id="15" name="TextBox 14"/>
          <p:cNvSpPr txBox="1"/>
          <p:nvPr/>
        </p:nvSpPr>
        <p:spPr>
          <a:xfrm>
            <a:off x="7048500" y="1219200"/>
            <a:ext cx="190500" cy="381000"/>
          </a:xfrm>
          <a:prstGeom prst="rect">
            <a:avLst/>
          </a:prstGeom>
          <a:noFill/>
        </p:spPr>
        <p:txBody>
          <a:bodyPr wrap="square" rtlCol="0">
            <a:spAutoFit/>
          </a:bodyPr>
          <a:lstStyle/>
          <a:p>
            <a:r>
              <a:rPr lang="en-US" smtClean="0"/>
              <a:t>C</a:t>
            </a:r>
            <a:endParaRPr lang="en-US"/>
          </a:p>
        </p:txBody>
      </p:sp>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wipe(down)">
                                      <p:cBhvr>
                                        <p:cTn id="27" dur="500"/>
                                        <p:tgtEl>
                                          <p:spTgt spid="13"/>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wipe(down)">
                                      <p:cBhvr>
                                        <p:cTn id="32" dur="500"/>
                                        <p:tgtEl>
                                          <p:spTgt spid="14"/>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wipe(down)">
                                      <p:cBhvr>
                                        <p:cTn id="37" dur="500"/>
                                        <p:tgtEl>
                                          <p:spTgt spid="15"/>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grpId="0"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down)">
                                      <p:cBhvr>
                                        <p:cTn id="42" dur="500"/>
                                        <p:tgtEl>
                                          <p:spTgt spid="3"/>
                                        </p:tgtEl>
                                      </p:cBhvr>
                                    </p:animEffect>
                                  </p:childTnLst>
                                </p:cTn>
                              </p:par>
                            </p:childTnLst>
                          </p:cTn>
                        </p:par>
                      </p:childTnLst>
                    </p:cTn>
                  </p:par>
                  <p:par>
                    <p:cTn id="43" fill="hold">
                      <p:stCondLst>
                        <p:cond delay="indefinite"/>
                      </p:stCondLst>
                      <p:childTnLst>
                        <p:par>
                          <p:cTn id="44" fill="hold">
                            <p:stCondLst>
                              <p:cond delay="0"/>
                            </p:stCondLst>
                            <p:childTnLst>
                              <p:par>
                                <p:cTn id="45" presetID="22" presetClass="entr" presetSubtype="4" fill="hold" nodeType="clickEffect">
                                  <p:stCondLst>
                                    <p:cond delay="0"/>
                                  </p:stCondLst>
                                  <p:childTnLst>
                                    <p:set>
                                      <p:cBhvr>
                                        <p:cTn id="46" dur="1" fill="hold">
                                          <p:stCondLst>
                                            <p:cond delay="0"/>
                                          </p:stCondLst>
                                        </p:cTn>
                                        <p:tgtEl>
                                          <p:spTgt spid="6"/>
                                        </p:tgtEl>
                                        <p:attrNameLst>
                                          <p:attrName>style.visibility</p:attrName>
                                        </p:attrNameLst>
                                      </p:cBhvr>
                                      <p:to>
                                        <p:strVal val="visible"/>
                                      </p:to>
                                    </p:set>
                                    <p:animEffect transition="in" filter="wipe(down)">
                                      <p:cBhvr>
                                        <p:cTn id="47" dur="500"/>
                                        <p:tgtEl>
                                          <p:spTgt spid="6"/>
                                        </p:tgtEl>
                                      </p:cBhvr>
                                    </p:animEffect>
                                  </p:childTnLst>
                                </p:cTn>
                              </p:par>
                            </p:childTnLst>
                          </p:cTn>
                        </p:par>
                      </p:childTnLst>
                    </p:cTn>
                  </p:par>
                  <p:par>
                    <p:cTn id="48" fill="hold">
                      <p:stCondLst>
                        <p:cond delay="indefinite"/>
                      </p:stCondLst>
                      <p:childTnLst>
                        <p:par>
                          <p:cTn id="49" fill="hold">
                            <p:stCondLst>
                              <p:cond delay="0"/>
                            </p:stCondLst>
                            <p:childTnLst>
                              <p:par>
                                <p:cTn id="50" presetID="22" presetClass="entr" presetSubtype="4" fill="hold" nodeType="clickEffect">
                                  <p:stCondLst>
                                    <p:cond delay="0"/>
                                  </p:stCondLst>
                                  <p:childTnLst>
                                    <p:set>
                                      <p:cBhvr>
                                        <p:cTn id="51" dur="1" fill="hold">
                                          <p:stCondLst>
                                            <p:cond delay="0"/>
                                          </p:stCondLst>
                                        </p:cTn>
                                        <p:tgtEl>
                                          <p:spTgt spid="8"/>
                                        </p:tgtEl>
                                        <p:attrNameLst>
                                          <p:attrName>style.visibility</p:attrName>
                                        </p:attrNameLst>
                                      </p:cBhvr>
                                      <p:to>
                                        <p:strVal val="visible"/>
                                      </p:to>
                                    </p:set>
                                    <p:animEffect transition="in" filter="wipe(down)">
                                      <p:cBhvr>
                                        <p:cTn id="52" dur="500"/>
                                        <p:tgtEl>
                                          <p:spTgt spid="8"/>
                                        </p:tgtEl>
                                      </p:cBhvr>
                                    </p:animEffect>
                                  </p:childTnLst>
                                </p:cTn>
                              </p:par>
                            </p:childTnLst>
                          </p:cTn>
                        </p:par>
                      </p:childTnLst>
                    </p:cTn>
                  </p:par>
                  <p:par>
                    <p:cTn id="53" fill="hold">
                      <p:stCondLst>
                        <p:cond delay="indefinite"/>
                      </p:stCondLst>
                      <p:childTnLst>
                        <p:par>
                          <p:cTn id="54" fill="hold">
                            <p:stCondLst>
                              <p:cond delay="0"/>
                            </p:stCondLst>
                            <p:childTnLst>
                              <p:par>
                                <p:cTn id="55" presetID="22" presetClass="entr" presetSubtype="4" fill="hold" grpId="0" nodeType="clickEffect">
                                  <p:stCondLst>
                                    <p:cond delay="0"/>
                                  </p:stCondLst>
                                  <p:childTnLst>
                                    <p:set>
                                      <p:cBhvr>
                                        <p:cTn id="56" dur="1" fill="hold">
                                          <p:stCondLst>
                                            <p:cond delay="0"/>
                                          </p:stCondLst>
                                        </p:cTn>
                                        <p:tgtEl>
                                          <p:spTgt spid="9"/>
                                        </p:tgtEl>
                                        <p:attrNameLst>
                                          <p:attrName>style.visibility</p:attrName>
                                        </p:attrNameLst>
                                      </p:cBhvr>
                                      <p:to>
                                        <p:strVal val="visible"/>
                                      </p:to>
                                    </p:set>
                                    <p:animEffect transition="in" filter="wipe(down)">
                                      <p:cBhvr>
                                        <p:cTn id="5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9" grpId="0"/>
      <p:bldP spid="7" grpId="0" animBg="1"/>
      <p:bldP spid="10" grpId="0" animBg="1"/>
      <p:bldP spid="11" grpId="0"/>
      <p:bldP spid="12" grpId="0" animBg="1"/>
      <p:bldP spid="13" grpId="0"/>
      <p:bldP spid="14" grpId="0" animBg="1"/>
      <p:bldP spid="1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14065"/>
            <a:ext cx="6781800" cy="461665"/>
          </a:xfrm>
          <a:prstGeom prst="rect">
            <a:avLst/>
          </a:prstGeom>
        </p:spPr>
        <p:txBody>
          <a:bodyPr wrap="square">
            <a:spAutoFit/>
          </a:bodyPr>
          <a:lstStyle/>
          <a:p>
            <a:pPr marL="609600" indent="-609600"/>
            <a:r>
              <a:rPr lang="en-US" sz="2400" b="1" dirty="0" smtClean="0">
                <a:solidFill>
                  <a:schemeClr val="hlink"/>
                </a:solidFill>
                <a:latin typeface="Times New Roman" pitchFamily="18" charset="0"/>
              </a:rPr>
              <a:t>III. </a:t>
            </a:r>
            <a:r>
              <a:rPr lang="en-US" sz="2400" b="1" dirty="0" err="1" smtClean="0">
                <a:solidFill>
                  <a:schemeClr val="hlink"/>
                </a:solidFill>
                <a:latin typeface="Times New Roman" pitchFamily="18" charset="0"/>
              </a:rPr>
              <a:t>Các</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định</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luật</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phát</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xạ</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của</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vật</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đen</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tuyệt</a:t>
            </a:r>
            <a:r>
              <a:rPr lang="en-US" sz="2400" b="1" dirty="0" smtClean="0">
                <a:solidFill>
                  <a:schemeClr val="hlink"/>
                </a:solidFill>
                <a:latin typeface="Times New Roman" pitchFamily="18" charset="0"/>
              </a:rPr>
              <a:t> </a:t>
            </a:r>
            <a:r>
              <a:rPr lang="en-US" sz="2400" b="1" dirty="0" err="1" smtClean="0">
                <a:solidFill>
                  <a:schemeClr val="hlink"/>
                </a:solidFill>
                <a:latin typeface="Times New Roman" pitchFamily="18" charset="0"/>
              </a:rPr>
              <a:t>đối</a:t>
            </a:r>
            <a:endParaRPr lang="en-US" sz="2400" b="1" dirty="0" smtClean="0">
              <a:solidFill>
                <a:schemeClr val="hlink"/>
              </a:solidFill>
              <a:latin typeface="Times New Roman" pitchFamily="18" charset="0"/>
            </a:endParaRPr>
          </a:p>
        </p:txBody>
      </p:sp>
      <p:sp>
        <p:nvSpPr>
          <p:cNvPr id="3" name="Rectangle 2"/>
          <p:cNvSpPr/>
          <p:nvPr/>
        </p:nvSpPr>
        <p:spPr>
          <a:xfrm>
            <a:off x="76200" y="1075730"/>
            <a:ext cx="6216784" cy="461665"/>
          </a:xfrm>
          <a:prstGeom prst="rect">
            <a:avLst/>
          </a:prstGeom>
        </p:spPr>
        <p:txBody>
          <a:bodyPr wrap="square">
            <a:spAutoFit/>
          </a:bodyPr>
          <a:lstStyle/>
          <a:p>
            <a:pPr marL="609600" indent="-609600"/>
            <a:r>
              <a:rPr lang="en-US" sz="2400" b="1" i="1" dirty="0" smtClean="0">
                <a:latin typeface="Times New Roman" pitchFamily="18" charset="0"/>
              </a:rPr>
              <a:t>1. </a:t>
            </a:r>
            <a:r>
              <a:rPr lang="en-US" sz="2400" b="1" i="1" dirty="0" err="1" smtClean="0">
                <a:latin typeface="Times New Roman" pitchFamily="18" charset="0"/>
              </a:rPr>
              <a:t>Định</a:t>
            </a:r>
            <a:r>
              <a:rPr lang="en-US" sz="2400" b="1" i="1" dirty="0" smtClean="0">
                <a:latin typeface="Times New Roman" pitchFamily="18" charset="0"/>
              </a:rPr>
              <a:t> </a:t>
            </a:r>
            <a:r>
              <a:rPr lang="en-US" sz="2400" b="1" i="1" err="1" smtClean="0">
                <a:latin typeface="Times New Roman" pitchFamily="18" charset="0"/>
              </a:rPr>
              <a:t>luật</a:t>
            </a:r>
            <a:r>
              <a:rPr lang="en-US" sz="2400" b="1" i="1" smtClean="0">
                <a:latin typeface="Times New Roman" pitchFamily="18" charset="0"/>
              </a:rPr>
              <a:t> Stefan </a:t>
            </a:r>
            <a:r>
              <a:rPr lang="en-US" sz="2400" b="1" i="1" dirty="0" smtClean="0">
                <a:latin typeface="Times New Roman" pitchFamily="18" charset="0"/>
              </a:rPr>
              <a:t>– Boltzmann</a:t>
            </a:r>
          </a:p>
        </p:txBody>
      </p:sp>
      <p:sp>
        <p:nvSpPr>
          <p:cNvPr id="6" name="Rectangle 5"/>
          <p:cNvSpPr/>
          <p:nvPr/>
        </p:nvSpPr>
        <p:spPr>
          <a:xfrm>
            <a:off x="152400" y="1537396"/>
            <a:ext cx="8915400" cy="830997"/>
          </a:xfrm>
          <a:prstGeom prst="rect">
            <a:avLst/>
          </a:prstGeom>
        </p:spPr>
        <p:txBody>
          <a:bodyPr wrap="square">
            <a:spAutoFit/>
          </a:bodyPr>
          <a:lstStyle/>
          <a:p>
            <a:r>
              <a:rPr lang="en-US" sz="2400" i="1" dirty="0" err="1" smtClean="0">
                <a:solidFill>
                  <a:srgbClr val="FF0000"/>
                </a:solidFill>
                <a:latin typeface="Times New Roman" pitchFamily="18" charset="0"/>
              </a:rPr>
              <a:t>Năng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suất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phát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xạ</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toàn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phần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latin typeface="Times New Roman" pitchFamily="18" charset="0"/>
              </a:rPr>
              <a:t>vật</a:t>
            </a:r>
            <a:r>
              <a:rPr lang="en-US" sz="2400" i="1" dirty="0" smtClean="0">
                <a:latin typeface="Times New Roman" pitchFamily="18" charset="0"/>
              </a:rPr>
              <a:t> </a:t>
            </a:r>
            <a:r>
              <a:rPr lang="en-US" sz="2400" i="1" dirty="0" err="1" smtClean="0">
                <a:latin typeface="Times New Roman" pitchFamily="18" charset="0"/>
              </a:rPr>
              <a:t>đen</a:t>
            </a:r>
            <a:r>
              <a:rPr lang="en-US" sz="2400" i="1" dirty="0" smtClean="0">
                <a:latin typeface="Times New Roman" pitchFamily="18" charset="0"/>
              </a:rPr>
              <a:t> </a:t>
            </a:r>
            <a:r>
              <a:rPr lang="en-US" sz="2400" i="1" dirty="0" err="1" smtClean="0">
                <a:latin typeface="Times New Roman" pitchFamily="18" charset="0"/>
              </a:rPr>
              <a:t>tuyệt</a:t>
            </a:r>
            <a:r>
              <a:rPr lang="en-US" sz="2400" i="1" dirty="0" smtClean="0">
                <a:latin typeface="Times New Roman" pitchFamily="18" charset="0"/>
              </a:rPr>
              <a:t> </a:t>
            </a:r>
            <a:r>
              <a:rPr lang="en-US" sz="2400" i="1" dirty="0" err="1" smtClean="0">
                <a:latin typeface="Times New Roman" pitchFamily="18" charset="0"/>
              </a:rPr>
              <a:t>đối</a:t>
            </a:r>
            <a:r>
              <a:rPr lang="en-US" sz="2400" i="1" dirty="0" smtClean="0">
                <a:latin typeface="Times New Roman" pitchFamily="18" charset="0"/>
              </a:rPr>
              <a:t> </a:t>
            </a:r>
            <a:r>
              <a:rPr lang="en-US" sz="2400" i="1" dirty="0" err="1" smtClean="0">
                <a:solidFill>
                  <a:srgbClr val="FF0000"/>
                </a:solidFill>
                <a:latin typeface="Times New Roman" pitchFamily="18" charset="0"/>
              </a:rPr>
              <a:t>tỉ</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lệ</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thuận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với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lũy</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thừa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bậc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bốn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nhiệt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độ</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tuyệt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đối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a:t>
            </a:r>
          </a:p>
        </p:txBody>
      </p:sp>
      <p:graphicFrame>
        <p:nvGraphicFramePr>
          <p:cNvPr id="7" name="Object 6"/>
          <p:cNvGraphicFramePr>
            <a:graphicFrameLocks noChangeAspect="1"/>
          </p:cNvGraphicFramePr>
          <p:nvPr>
            <p:extLst>
              <p:ext uri="{D42A27DB-BD31-4B8C-83A1-F6EECF244321}">
                <p14:modId xmlns:p14="http://schemas.microsoft.com/office/powerpoint/2010/main" val="2737422390"/>
              </p:ext>
            </p:extLst>
          </p:nvPr>
        </p:nvGraphicFramePr>
        <p:xfrm>
          <a:off x="3467100" y="2514600"/>
          <a:ext cx="1485900" cy="557213"/>
        </p:xfrm>
        <a:graphic>
          <a:graphicData uri="http://schemas.openxmlformats.org/presentationml/2006/ole">
            <mc:AlternateContent xmlns:mc="http://schemas.openxmlformats.org/markup-compatibility/2006">
              <mc:Choice xmlns:v="urn:schemas-microsoft-com:vml" Requires="v">
                <p:oleObj spid="_x0000_s5237" name="Equation" r:id="rId3" imgW="609600" imgH="228600" progId="Equation.3">
                  <p:embed/>
                </p:oleObj>
              </mc:Choice>
              <mc:Fallback>
                <p:oleObj name="Equation" r:id="rId3" imgW="609600" imgH="2286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67100" y="2514600"/>
                        <a:ext cx="1485900" cy="557213"/>
                      </a:xfrm>
                      <a:prstGeom prst="rect">
                        <a:avLst/>
                      </a:prstGeom>
                      <a:noFill/>
                      <a:ln>
                        <a:noFill/>
                      </a:ln>
                    </p:spPr>
                  </p:pic>
                </p:oleObj>
              </mc:Fallback>
            </mc:AlternateContent>
          </a:graphicData>
        </a:graphic>
      </p:graphicFrame>
      <p:sp>
        <p:nvSpPr>
          <p:cNvPr id="8" name="Rectangle 7"/>
          <p:cNvSpPr/>
          <p:nvPr/>
        </p:nvSpPr>
        <p:spPr>
          <a:xfrm>
            <a:off x="152399" y="3124200"/>
            <a:ext cx="5498581" cy="461665"/>
          </a:xfrm>
          <a:prstGeom prst="rect">
            <a:avLst/>
          </a:prstGeom>
        </p:spPr>
        <p:txBody>
          <a:bodyPr wrap="square">
            <a:spAutoFit/>
          </a:bodyPr>
          <a:lstStyle/>
          <a:p>
            <a:pPr marL="609600" indent="-609600"/>
            <a:r>
              <a:rPr lang="el-GR" sz="2400" dirty="0" smtClean="0">
                <a:latin typeface="Times New Roman" pitchFamily="18" charset="0"/>
                <a:cs typeface="Times New Roman" pitchFamily="18" charset="0"/>
              </a:rPr>
              <a:t>σ</a:t>
            </a:r>
            <a:r>
              <a:rPr lang="en-US" sz="2400" dirty="0" smtClean="0">
                <a:latin typeface="Times New Roman" pitchFamily="18" charset="0"/>
                <a:cs typeface="Times New Roman" pitchFamily="18" charset="0"/>
              </a:rPr>
              <a:t> = 5,67.10</a:t>
            </a:r>
            <a:r>
              <a:rPr lang="en-US" sz="2400" baseline="30000" dirty="0" smtClean="0">
                <a:latin typeface="Times New Roman" pitchFamily="18" charset="0"/>
                <a:cs typeface="Times New Roman" pitchFamily="18" charset="0"/>
              </a:rPr>
              <a:t>-8</a:t>
            </a:r>
            <a:r>
              <a:rPr lang="en-US" sz="2400" dirty="0" smtClean="0">
                <a:latin typeface="Times New Roman" pitchFamily="18" charset="0"/>
                <a:cs typeface="Times New Roman" pitchFamily="18" charset="0"/>
              </a:rPr>
              <a:t>W/m</a:t>
            </a:r>
            <a:r>
              <a:rPr lang="en-US" sz="2400" baseline="30000" dirty="0" smtClean="0">
                <a:latin typeface="Times New Roman" pitchFamily="18" charset="0"/>
                <a:cs typeface="Times New Roman" pitchFamily="18" charset="0"/>
              </a:rPr>
              <a:t>2</a:t>
            </a:r>
            <a:r>
              <a:rPr lang="en-US" sz="2400" dirty="0" smtClean="0">
                <a:latin typeface="Times New Roman" pitchFamily="18" charset="0"/>
                <a:cs typeface="Times New Roman" pitchFamily="18" charset="0"/>
              </a:rPr>
              <a:t>K</a:t>
            </a:r>
            <a:r>
              <a:rPr lang="en-US" sz="2400" baseline="30000" dirty="0" smtClean="0">
                <a:latin typeface="Times New Roman" pitchFamily="18" charset="0"/>
                <a:cs typeface="Times New Roman" pitchFamily="18" charset="0"/>
              </a:rPr>
              <a:t>4</a:t>
            </a:r>
            <a:endParaRPr lang="el-GR" sz="2400" baseline="30000" dirty="0" smtClean="0">
              <a:latin typeface="Times New Roman" pitchFamily="18" charset="0"/>
              <a:cs typeface="Times New Roman" pitchFamily="18" charset="0"/>
            </a:endParaRPr>
          </a:p>
        </p:txBody>
      </p:sp>
      <p:sp>
        <p:nvSpPr>
          <p:cNvPr id="15" name="Rectangle 47"/>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17" name="Rectangle 49"/>
          <p:cNvSpPr>
            <a:spLocks noChangeArrowheads="1"/>
          </p:cNvSpPr>
          <p:nvPr/>
        </p:nvSpPr>
        <p:spPr bwMode="auto">
          <a:xfrm>
            <a:off x="0" y="0"/>
            <a:ext cx="9144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4400" y="228600"/>
            <a:ext cx="3400900" cy="4153480"/>
          </a:xfrm>
          <a:prstGeom prst="rect">
            <a:avLst/>
          </a:prstGeom>
        </p:spPr>
      </p:pic>
      <p:sp>
        <p:nvSpPr>
          <p:cNvPr id="5" name="TextBox 4"/>
          <p:cNvSpPr txBox="1"/>
          <p:nvPr/>
        </p:nvSpPr>
        <p:spPr>
          <a:xfrm>
            <a:off x="914400" y="4419600"/>
            <a:ext cx="3581400" cy="769441"/>
          </a:xfrm>
          <a:prstGeom prst="rect">
            <a:avLst/>
          </a:prstGeom>
          <a:noFill/>
        </p:spPr>
        <p:txBody>
          <a:bodyPr wrap="square" rtlCol="0">
            <a:spAutoFit/>
          </a:bodyPr>
          <a:lstStyle/>
          <a:p>
            <a:pPr algn="ctr"/>
            <a:r>
              <a:rPr lang="en-US" sz="2200">
                <a:latin typeface="Times" pitchFamily="18" charset="0"/>
              </a:rPr>
              <a:t>Josef Stefan </a:t>
            </a:r>
            <a:endParaRPr lang="en-US" sz="2200" smtClean="0">
              <a:latin typeface="Times" pitchFamily="18" charset="0"/>
            </a:endParaRPr>
          </a:p>
          <a:p>
            <a:pPr algn="ctr"/>
            <a:r>
              <a:rPr lang="en-US" sz="2200" smtClean="0">
                <a:latin typeface="Times" pitchFamily="18" charset="0"/>
              </a:rPr>
              <a:t>1835 – 1893 (Áo)</a:t>
            </a:r>
            <a:endParaRPr lang="en-US" sz="2200">
              <a:latin typeface="Times" pitchFamily="18"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38800" y="228600"/>
            <a:ext cx="2971800" cy="4153953"/>
          </a:xfrm>
          <a:prstGeom prst="rect">
            <a:avLst/>
          </a:prstGeom>
        </p:spPr>
      </p:pic>
      <p:sp>
        <p:nvSpPr>
          <p:cNvPr id="7" name="TextBox 6"/>
          <p:cNvSpPr txBox="1"/>
          <p:nvPr/>
        </p:nvSpPr>
        <p:spPr>
          <a:xfrm>
            <a:off x="5410200" y="4419600"/>
            <a:ext cx="3429000" cy="769441"/>
          </a:xfrm>
          <a:prstGeom prst="rect">
            <a:avLst/>
          </a:prstGeom>
          <a:noFill/>
        </p:spPr>
        <p:txBody>
          <a:bodyPr wrap="square" rtlCol="0">
            <a:spAutoFit/>
          </a:bodyPr>
          <a:lstStyle/>
          <a:p>
            <a:pPr algn="ctr"/>
            <a:r>
              <a:rPr lang="en-US" sz="2200">
                <a:latin typeface="Times" pitchFamily="18" charset="0"/>
              </a:rPr>
              <a:t>Ludwig Eduard Boltzmann</a:t>
            </a:r>
            <a:endParaRPr lang="en-US" sz="2200" smtClean="0">
              <a:latin typeface="Times" pitchFamily="18" charset="0"/>
            </a:endParaRPr>
          </a:p>
          <a:p>
            <a:pPr algn="ctr"/>
            <a:r>
              <a:rPr lang="en-US" sz="2200" smtClean="0">
                <a:latin typeface="Times" pitchFamily="18" charset="0"/>
              </a:rPr>
              <a:t>1844 – 1906 (Áo)</a:t>
            </a:r>
            <a:endParaRPr lang="en-US" sz="2200">
              <a:latin typeface="Times" pitchFamily="18" charset="0"/>
            </a:endParaRPr>
          </a:p>
        </p:txBody>
      </p:sp>
      <p:sp>
        <p:nvSpPr>
          <p:cNvPr id="10" name="TextBox 9"/>
          <p:cNvSpPr txBox="1"/>
          <p:nvPr/>
        </p:nvSpPr>
        <p:spPr>
          <a:xfrm>
            <a:off x="152400" y="5216604"/>
            <a:ext cx="8839200" cy="1107996"/>
          </a:xfrm>
          <a:prstGeom prst="rect">
            <a:avLst/>
          </a:prstGeom>
          <a:noFill/>
        </p:spPr>
        <p:txBody>
          <a:bodyPr wrap="square" rtlCol="0">
            <a:spAutoFit/>
          </a:bodyPr>
          <a:lstStyle/>
          <a:p>
            <a:pPr algn="just"/>
            <a:r>
              <a:rPr lang="vi-VN" sz="2200">
                <a:latin typeface="+mj-lt"/>
              </a:rPr>
              <a:t>Định luật được nhà vật </a:t>
            </a:r>
            <a:r>
              <a:rPr lang="vi-VN" sz="2200" smtClean="0">
                <a:latin typeface="+mj-lt"/>
              </a:rPr>
              <a:t>lý</a:t>
            </a:r>
            <a:r>
              <a:rPr lang="en-US" sz="2200" smtClean="0">
                <a:latin typeface="+mj-lt"/>
              </a:rPr>
              <a:t> Stefan </a:t>
            </a:r>
            <a:r>
              <a:rPr lang="vi-VN" sz="2200" smtClean="0">
                <a:latin typeface="+mj-lt"/>
              </a:rPr>
              <a:t>đề </a:t>
            </a:r>
            <a:r>
              <a:rPr lang="vi-VN" sz="2200">
                <a:latin typeface="+mj-lt"/>
              </a:rPr>
              <a:t>cập đến lần đầu tiên vào năm 1879 dựa trên các đo đạc thực </a:t>
            </a:r>
            <a:r>
              <a:rPr lang="vi-VN" sz="2200" smtClean="0">
                <a:latin typeface="+mj-lt"/>
              </a:rPr>
              <a:t>nghiệm</a:t>
            </a:r>
            <a:r>
              <a:rPr lang="vi-VN" sz="2200">
                <a:latin typeface="+mj-lt"/>
              </a:rPr>
              <a:t> và </a:t>
            </a:r>
            <a:r>
              <a:rPr lang="vi-VN" sz="2200" smtClean="0">
                <a:latin typeface="+mj-lt"/>
              </a:rPr>
              <a:t>được</a:t>
            </a:r>
            <a:r>
              <a:rPr lang="en-US" sz="2200" smtClean="0">
                <a:latin typeface="+mj-lt"/>
              </a:rPr>
              <a:t> Boltzmann</a:t>
            </a:r>
            <a:r>
              <a:rPr lang="vi-VN" sz="2200" smtClean="0">
                <a:latin typeface="+mj-lt"/>
              </a:rPr>
              <a:t> </a:t>
            </a:r>
            <a:r>
              <a:rPr lang="vi-VN" sz="2200">
                <a:latin typeface="+mj-lt"/>
              </a:rPr>
              <a:t>suy luận ra bằng các tính toán lý thuyết vào năm 1884 sử </a:t>
            </a:r>
            <a:r>
              <a:rPr lang="vi-VN" sz="2200" smtClean="0">
                <a:latin typeface="+mj-lt"/>
              </a:rPr>
              <a:t>dụng</a:t>
            </a:r>
            <a:r>
              <a:rPr lang="en-US" sz="2200" smtClean="0">
                <a:latin typeface="+mj-lt"/>
              </a:rPr>
              <a:t> nhiệt động lực học.</a:t>
            </a:r>
            <a:endParaRPr lang="en-US" sz="2200">
              <a:latin typeface="+mj-lt"/>
            </a:endParaRPr>
          </a:p>
        </p:txBody>
      </p:sp>
    </p:spTree>
    <p:extLst>
      <p:ext uri="{BB962C8B-B14F-4D97-AF65-F5344CB8AC3E}">
        <p14:creationId xmlns:p14="http://schemas.microsoft.com/office/powerpoint/2010/main" val="829586457"/>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9" name="Rectangle 8"/>
          <p:cNvSpPr/>
          <p:nvPr/>
        </p:nvSpPr>
        <p:spPr>
          <a:xfrm>
            <a:off x="152400" y="914400"/>
            <a:ext cx="2442335" cy="461665"/>
          </a:xfrm>
          <a:prstGeom prst="rect">
            <a:avLst/>
          </a:prstGeom>
        </p:spPr>
        <p:txBody>
          <a:bodyPr wrap="none">
            <a:spAutoFit/>
          </a:bodyPr>
          <a:lstStyle/>
          <a:p>
            <a:pPr marL="609600" indent="-609600"/>
            <a:r>
              <a:rPr lang="en-US" sz="2400" b="1" i="1" dirty="0" smtClean="0">
                <a:latin typeface="Times New Roman" pitchFamily="18" charset="0"/>
              </a:rPr>
              <a:t>2. </a:t>
            </a:r>
            <a:r>
              <a:rPr lang="en-US" sz="2400" b="1" i="1" dirty="0" err="1" smtClean="0">
                <a:latin typeface="Times New Roman" pitchFamily="18" charset="0"/>
              </a:rPr>
              <a:t>Định</a:t>
            </a:r>
            <a:r>
              <a:rPr lang="en-US" sz="2400" b="1" i="1" dirty="0" smtClean="0">
                <a:latin typeface="Times New Roman" pitchFamily="18" charset="0"/>
              </a:rPr>
              <a:t> </a:t>
            </a:r>
            <a:r>
              <a:rPr lang="en-US" sz="2400" b="1" i="1" dirty="0" err="1" smtClean="0">
                <a:latin typeface="Times New Roman" pitchFamily="18" charset="0"/>
              </a:rPr>
              <a:t>luật</a:t>
            </a:r>
            <a:r>
              <a:rPr lang="en-US" sz="2400" b="1" i="1" dirty="0" smtClean="0">
                <a:latin typeface="Times New Roman" pitchFamily="18" charset="0"/>
              </a:rPr>
              <a:t> Wien</a:t>
            </a:r>
          </a:p>
        </p:txBody>
      </p:sp>
      <p:sp>
        <p:nvSpPr>
          <p:cNvPr id="10" name="Rectangle 9"/>
          <p:cNvSpPr/>
          <p:nvPr/>
        </p:nvSpPr>
        <p:spPr>
          <a:xfrm>
            <a:off x="114300" y="1752600"/>
            <a:ext cx="8915399" cy="830997"/>
          </a:xfrm>
          <a:prstGeom prst="rect">
            <a:avLst/>
          </a:prstGeom>
        </p:spPr>
        <p:txBody>
          <a:bodyPr wrap="square">
            <a:spAutoFit/>
          </a:bodyPr>
          <a:lstStyle/>
          <a:p>
            <a:r>
              <a:rPr lang="en-US" sz="2400" i="1" dirty="0" err="1" smtClean="0">
                <a:solidFill>
                  <a:srgbClr val="FF0000"/>
                </a:solidFill>
                <a:latin typeface="Times New Roman" pitchFamily="18" charset="0"/>
              </a:rPr>
              <a:t>Đối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với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đen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tuyệt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đối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bước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sóng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chùm</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bức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xạ</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đơn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sắc</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mang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nhiều</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năng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lượng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nhất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tỉ</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lệ</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nghịch</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với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nhiệt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độ</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tuyệt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đối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của</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đó</a:t>
            </a:r>
            <a:r>
              <a:rPr lang="en-US" sz="2400" i="1" dirty="0" smtClean="0">
                <a:solidFill>
                  <a:srgbClr val="FF0000"/>
                </a:solidFill>
                <a:latin typeface="Times New Roman" pitchFamily="18" charset="0"/>
              </a:rPr>
              <a:t>.</a:t>
            </a:r>
          </a:p>
        </p:txBody>
      </p:sp>
      <p:graphicFrame>
        <p:nvGraphicFramePr>
          <p:cNvPr id="11" name="Object 10"/>
          <p:cNvGraphicFramePr>
            <a:graphicFrameLocks noChangeAspect="1"/>
          </p:cNvGraphicFramePr>
          <p:nvPr>
            <p:extLst>
              <p:ext uri="{D42A27DB-BD31-4B8C-83A1-F6EECF244321}">
                <p14:modId xmlns:p14="http://schemas.microsoft.com/office/powerpoint/2010/main" val="2487234916"/>
              </p:ext>
            </p:extLst>
          </p:nvPr>
        </p:nvGraphicFramePr>
        <p:xfrm>
          <a:off x="3135313" y="2590800"/>
          <a:ext cx="1120775" cy="769938"/>
        </p:xfrm>
        <a:graphic>
          <a:graphicData uri="http://schemas.openxmlformats.org/presentationml/2006/ole">
            <mc:AlternateContent xmlns:mc="http://schemas.openxmlformats.org/markup-compatibility/2006">
              <mc:Choice xmlns:v="urn:schemas-microsoft-com:vml" Requires="v">
                <p:oleObj spid="_x0000_s23587" name="Equation" r:id="rId3" imgW="571320" imgH="393480" progId="Equation.3">
                  <p:embed/>
                </p:oleObj>
              </mc:Choice>
              <mc:Fallback>
                <p:oleObj name="Equation" r:id="rId3" imgW="571320" imgH="393480" progId="Equation.3">
                  <p:embed/>
                  <p:pic>
                    <p:nvPicPr>
                      <p:cNvPr id="0" name=""/>
                      <p:cNvPicPr>
                        <a:picLocks noChangeAspect="1" noChangeArrowheads="1"/>
                      </p:cNvPicPr>
                      <p:nvPr/>
                    </p:nvPicPr>
                    <p:blipFill>
                      <a:blip r:embed="rId4"/>
                      <a:srcRect/>
                      <a:stretch>
                        <a:fillRect/>
                      </a:stretch>
                    </p:blipFill>
                    <p:spPr bwMode="auto">
                      <a:xfrm>
                        <a:off x="3135313" y="2590800"/>
                        <a:ext cx="1120775" cy="769938"/>
                      </a:xfrm>
                      <a:prstGeom prst="rect">
                        <a:avLst/>
                      </a:prstGeom>
                      <a:noFill/>
                      <a:ln>
                        <a:noFill/>
                      </a:ln>
                    </p:spPr>
                  </p:pic>
                </p:oleObj>
              </mc:Fallback>
            </mc:AlternateContent>
          </a:graphicData>
        </a:graphic>
      </p:graphicFrame>
      <p:sp>
        <p:nvSpPr>
          <p:cNvPr id="12" name="Rectangle 11"/>
          <p:cNvSpPr/>
          <p:nvPr/>
        </p:nvSpPr>
        <p:spPr>
          <a:xfrm>
            <a:off x="308735" y="3422072"/>
            <a:ext cx="4572000" cy="461665"/>
          </a:xfrm>
          <a:prstGeom prst="rect">
            <a:avLst/>
          </a:prstGeom>
        </p:spPr>
        <p:txBody>
          <a:bodyPr>
            <a:spAutoFit/>
          </a:bodyPr>
          <a:lstStyle/>
          <a:p>
            <a:pPr marL="609600" indent="-609600"/>
            <a:r>
              <a:rPr lang="en-US" sz="2400" dirty="0" smtClean="0">
                <a:latin typeface="Times New Roman" pitchFamily="18" charset="0"/>
              </a:rPr>
              <a:t>b = 2,898.10</a:t>
            </a:r>
            <a:r>
              <a:rPr lang="en-US" sz="2400" baseline="30000" dirty="0" smtClean="0">
                <a:latin typeface="Times New Roman" pitchFamily="18" charset="0"/>
              </a:rPr>
              <a:t>-3</a:t>
            </a:r>
            <a:r>
              <a:rPr lang="en-US" sz="2400" dirty="0" smtClean="0">
                <a:latin typeface="Times New Roman" pitchFamily="18" charset="0"/>
              </a:rPr>
              <a:t>mK</a:t>
            </a:r>
          </a:p>
        </p:txBody>
      </p:sp>
      <p:pic>
        <p:nvPicPr>
          <p:cNvPr id="2" name="Picture 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10100" y="3352800"/>
            <a:ext cx="2343477" cy="2762636"/>
          </a:xfrm>
          <a:prstGeom prst="rect">
            <a:avLst/>
          </a:prstGeom>
        </p:spPr>
      </p:pic>
      <p:sp>
        <p:nvSpPr>
          <p:cNvPr id="3" name="TextBox 2"/>
          <p:cNvSpPr txBox="1"/>
          <p:nvPr/>
        </p:nvSpPr>
        <p:spPr>
          <a:xfrm>
            <a:off x="3352800" y="6096000"/>
            <a:ext cx="5029200" cy="707886"/>
          </a:xfrm>
          <a:prstGeom prst="rect">
            <a:avLst/>
          </a:prstGeom>
          <a:noFill/>
        </p:spPr>
        <p:txBody>
          <a:bodyPr wrap="square" rtlCol="0">
            <a:spAutoFit/>
          </a:bodyPr>
          <a:lstStyle/>
          <a:p>
            <a:pPr algn="ctr"/>
            <a:r>
              <a:rPr lang="vi-VN" sz="2000">
                <a:latin typeface="+mj-lt"/>
              </a:rPr>
              <a:t>Wilhelm Carl Werner Otto Fritz Franz </a:t>
            </a:r>
            <a:r>
              <a:rPr lang="vi-VN" sz="2000" smtClean="0">
                <a:latin typeface="+mj-lt"/>
              </a:rPr>
              <a:t>Wien</a:t>
            </a:r>
            <a:r>
              <a:rPr lang="en-US" sz="2000" smtClean="0">
                <a:latin typeface="+mj-lt"/>
              </a:rPr>
              <a:t> 1864 – 1928 (Đức)</a:t>
            </a:r>
            <a:endParaRPr lang="en-US" sz="2000">
              <a:latin typeface="+mj-lt"/>
            </a:endParaRPr>
          </a:p>
        </p:txBody>
      </p:sp>
    </p:spTree>
    <p:extLst>
      <p:ext uri="{BB962C8B-B14F-4D97-AF65-F5344CB8AC3E}">
        <p14:creationId xmlns:p14="http://schemas.microsoft.com/office/powerpoint/2010/main" val="41833093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down)">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down)">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11"/>
                                        </p:tgtEl>
                                        <p:attrNameLst>
                                          <p:attrName>style.visibility</p:attrName>
                                        </p:attrNameLst>
                                      </p:cBhvr>
                                      <p:to>
                                        <p:strVal val="visible"/>
                                      </p:to>
                                    </p:set>
                                    <p:animEffect transition="in" filter="wipe(down)">
                                      <p:cBhvr>
                                        <p:cTn id="17" dur="500"/>
                                        <p:tgtEl>
                                          <p:spTgt spid="11"/>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3"/>
                                        </p:tgtEl>
                                        <p:attrNameLst>
                                          <p:attrName>style.visibility</p:attrName>
                                        </p:attrNameLst>
                                      </p:cBhvr>
                                      <p:to>
                                        <p:strVal val="visible"/>
                                      </p:to>
                                    </p:set>
                                    <p:animEffect transition="in" filter="wipe(down)">
                                      <p:cBhvr>
                                        <p:cTn id="2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P spid="3"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6" name="Rectangle 3"/>
          <p:cNvSpPr txBox="1">
            <a:spLocks noChangeArrowheads="1"/>
          </p:cNvSpPr>
          <p:nvPr/>
        </p:nvSpPr>
        <p:spPr>
          <a:xfrm>
            <a:off x="228600" y="685800"/>
            <a:ext cx="8763000" cy="6477000"/>
          </a:xfrm>
          <a:prstGeom prst="rect">
            <a:avLst/>
          </a:prstGeom>
        </p:spPr>
        <p:txBody>
          <a:bodyPr vert="horz" lIns="91440" tIns="45720" rIns="91440" bIns="45720" rtlCol="0">
            <a:normAutofit/>
          </a:bodyPr>
          <a:lst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a:buFontTx/>
              <a:buNone/>
            </a:pPr>
            <a:r>
              <a:rPr lang="en-US" sz="2800" b="1" i="1" dirty="0" smtClean="0">
                <a:latin typeface="Times New Roman" pitchFamily="18" charset="0"/>
              </a:rPr>
              <a:t>3.Sự </a:t>
            </a:r>
            <a:r>
              <a:rPr lang="en-US" sz="2800" b="1" i="1" dirty="0" err="1" smtClean="0">
                <a:latin typeface="Times New Roman" pitchFamily="18" charset="0"/>
              </a:rPr>
              <a:t>khủng</a:t>
            </a:r>
            <a:r>
              <a:rPr lang="en-US" sz="2800" b="1" i="1" dirty="0" smtClean="0">
                <a:latin typeface="Times New Roman" pitchFamily="18" charset="0"/>
              </a:rPr>
              <a:t> </a:t>
            </a:r>
            <a:r>
              <a:rPr lang="en-US" sz="2800" b="1" i="1" dirty="0" err="1" smtClean="0">
                <a:latin typeface="Times New Roman" pitchFamily="18" charset="0"/>
              </a:rPr>
              <a:t>hoảng</a:t>
            </a:r>
            <a:r>
              <a:rPr lang="en-US" sz="2800" b="1" i="1" dirty="0" smtClean="0">
                <a:latin typeface="Times New Roman" pitchFamily="18" charset="0"/>
              </a:rPr>
              <a:t> ở </a:t>
            </a:r>
            <a:r>
              <a:rPr lang="en-US" sz="2800" b="1" i="1" dirty="0" err="1" smtClean="0">
                <a:latin typeface="Times New Roman" pitchFamily="18" charset="0"/>
              </a:rPr>
              <a:t>vùng</a:t>
            </a:r>
            <a:r>
              <a:rPr lang="en-US" sz="2800" b="1" i="1" dirty="0" smtClean="0">
                <a:latin typeface="Times New Roman" pitchFamily="18" charset="0"/>
              </a:rPr>
              <a:t> </a:t>
            </a:r>
            <a:r>
              <a:rPr lang="en-US" sz="2800" b="1" i="1" dirty="0" err="1" smtClean="0">
                <a:latin typeface="Times New Roman" pitchFamily="18" charset="0"/>
              </a:rPr>
              <a:t>tử</a:t>
            </a:r>
            <a:r>
              <a:rPr lang="en-US" sz="2800" b="1" i="1" dirty="0" smtClean="0">
                <a:latin typeface="Times New Roman" pitchFamily="18" charset="0"/>
              </a:rPr>
              <a:t> </a:t>
            </a:r>
            <a:r>
              <a:rPr lang="en-US" sz="2800" b="1" i="1" dirty="0" err="1" smtClean="0">
                <a:latin typeface="Times New Roman" pitchFamily="18" charset="0"/>
              </a:rPr>
              <a:t>ngoại</a:t>
            </a:r>
            <a:endParaRPr lang="en-US" sz="2800" b="1" i="1" dirty="0" smtClean="0">
              <a:latin typeface="Times New Roman" pitchFamily="18" charset="0"/>
            </a:endParaRPr>
          </a:p>
          <a:p>
            <a:pPr>
              <a:buFontTx/>
              <a:buNone/>
            </a:pPr>
            <a:r>
              <a:rPr lang="en-US" sz="2800" dirty="0" smtClean="0">
                <a:latin typeface="Times New Roman" pitchFamily="18" charset="0"/>
              </a:rPr>
              <a:t>Theo </a:t>
            </a:r>
            <a:r>
              <a:rPr lang="en-US" sz="2800" dirty="0" err="1" smtClean="0">
                <a:latin typeface="Times New Roman" pitchFamily="18" charset="0"/>
              </a:rPr>
              <a:t>quan</a:t>
            </a:r>
            <a:r>
              <a:rPr lang="en-US" sz="2800" dirty="0" smtClean="0">
                <a:latin typeface="Times New Roman" pitchFamily="18" charset="0"/>
              </a:rPr>
              <a:t> </a:t>
            </a:r>
            <a:r>
              <a:rPr lang="en-US" sz="2800" dirty="0" err="1" smtClean="0">
                <a:latin typeface="Times New Roman" pitchFamily="18" charset="0"/>
              </a:rPr>
              <a:t>điểm</a:t>
            </a:r>
            <a:r>
              <a:rPr lang="en-US" sz="2800" dirty="0" smtClean="0">
                <a:latin typeface="Times New Roman" pitchFamily="18" charset="0"/>
              </a:rPr>
              <a:t> </a:t>
            </a:r>
            <a:r>
              <a:rPr lang="en-US" sz="2800" dirty="0" err="1" smtClean="0">
                <a:latin typeface="Times New Roman" pitchFamily="18" charset="0"/>
              </a:rPr>
              <a:t>cổ</a:t>
            </a:r>
            <a:r>
              <a:rPr lang="en-US" sz="2800" dirty="0" smtClean="0">
                <a:latin typeface="Times New Roman" pitchFamily="18" charset="0"/>
              </a:rPr>
              <a:t> </a:t>
            </a:r>
            <a:r>
              <a:rPr lang="en-US" sz="2800" dirty="0" err="1" smtClean="0">
                <a:latin typeface="Times New Roman" pitchFamily="18" charset="0"/>
              </a:rPr>
              <a:t>điển</a:t>
            </a:r>
            <a:r>
              <a:rPr lang="en-US" sz="2800" dirty="0" smtClean="0">
                <a:latin typeface="Times New Roman" pitchFamily="18" charset="0"/>
              </a:rPr>
              <a:t> </a:t>
            </a:r>
            <a:r>
              <a:rPr lang="en-US" sz="2800" dirty="0" err="1" smtClean="0">
                <a:latin typeface="Times New Roman" pitchFamily="18" charset="0"/>
              </a:rPr>
              <a:t>nếu</a:t>
            </a:r>
            <a:r>
              <a:rPr lang="en-US" sz="2800" dirty="0" smtClean="0">
                <a:latin typeface="Times New Roman" pitchFamily="18" charset="0"/>
              </a:rPr>
              <a:t> </a:t>
            </a:r>
            <a:r>
              <a:rPr lang="en-US" sz="2800" dirty="0" err="1" smtClean="0">
                <a:latin typeface="Times New Roman" pitchFamily="18" charset="0"/>
              </a:rPr>
              <a:t>coi</a:t>
            </a:r>
            <a:r>
              <a:rPr lang="en-US" sz="2800" dirty="0" smtClean="0">
                <a:latin typeface="Times New Roman" pitchFamily="18" charset="0"/>
              </a:rPr>
              <a:t> </a:t>
            </a:r>
            <a:r>
              <a:rPr lang="en-US" sz="2800" dirty="0" err="1" smtClean="0">
                <a:latin typeface="Times New Roman" pitchFamily="18" charset="0"/>
              </a:rPr>
              <a:t>ánh</a:t>
            </a:r>
            <a:r>
              <a:rPr lang="en-US" sz="2800" dirty="0" smtClean="0">
                <a:latin typeface="Times New Roman" pitchFamily="18" charset="0"/>
              </a:rPr>
              <a:t> </a:t>
            </a:r>
            <a:r>
              <a:rPr lang="en-US" sz="2800" dirty="0" err="1" smtClean="0">
                <a:latin typeface="Times New Roman" pitchFamily="18" charset="0"/>
              </a:rPr>
              <a:t>sáng</a:t>
            </a:r>
            <a:r>
              <a:rPr lang="en-US" sz="2800" dirty="0" smtClean="0">
                <a:latin typeface="Times New Roman" pitchFamily="18" charset="0"/>
              </a:rPr>
              <a:t> </a:t>
            </a:r>
            <a:r>
              <a:rPr lang="en-US" sz="2800" dirty="0" err="1" smtClean="0">
                <a:latin typeface="Times New Roman" pitchFamily="18" charset="0"/>
              </a:rPr>
              <a:t>là</a:t>
            </a:r>
            <a:r>
              <a:rPr lang="en-US" sz="2800" dirty="0" smtClean="0">
                <a:latin typeface="Times New Roman" pitchFamily="18" charset="0"/>
              </a:rPr>
              <a:t> </a:t>
            </a:r>
            <a:r>
              <a:rPr lang="en-US" sz="2800" dirty="0" err="1" smtClean="0">
                <a:latin typeface="Times New Roman" pitchFamily="18" charset="0"/>
              </a:rPr>
              <a:t>sóng</a:t>
            </a:r>
            <a:r>
              <a:rPr lang="en-US" sz="2800" dirty="0" smtClean="0">
                <a:latin typeface="Times New Roman" pitchFamily="18" charset="0"/>
              </a:rPr>
              <a:t> </a:t>
            </a:r>
            <a:r>
              <a:rPr lang="en-US" sz="2800" dirty="0" err="1" smtClean="0">
                <a:latin typeface="Times New Roman" pitchFamily="18" charset="0"/>
              </a:rPr>
              <a:t>thì</a:t>
            </a:r>
            <a:r>
              <a:rPr lang="en-US" sz="2800" dirty="0" smtClean="0">
                <a:latin typeface="Times New Roman" pitchFamily="18" charset="0"/>
              </a:rPr>
              <a:t> </a:t>
            </a:r>
          </a:p>
          <a:p>
            <a:pPr>
              <a:buFontTx/>
              <a:buNone/>
            </a:pPr>
            <a:r>
              <a:rPr lang="en-US" sz="2800" dirty="0" smtClean="0">
                <a:latin typeface="Times New Roman" pitchFamily="18" charset="0"/>
              </a:rPr>
              <a:t>Rayleigh – Jeans </a:t>
            </a:r>
            <a:r>
              <a:rPr lang="en-US" sz="2800" dirty="0" err="1" smtClean="0">
                <a:latin typeface="Times New Roman" pitchFamily="18" charset="0"/>
              </a:rPr>
              <a:t>tìm</a:t>
            </a:r>
            <a:r>
              <a:rPr lang="en-US" sz="2800" dirty="0" smtClean="0">
                <a:latin typeface="Times New Roman" pitchFamily="18" charset="0"/>
              </a:rPr>
              <a:t> </a:t>
            </a:r>
            <a:r>
              <a:rPr lang="en-US" sz="2800" dirty="0" err="1" smtClean="0">
                <a:latin typeface="Times New Roman" pitchFamily="18" charset="0"/>
              </a:rPr>
              <a:t>được</a:t>
            </a:r>
            <a:r>
              <a:rPr lang="en-US" sz="2800" dirty="0" smtClean="0">
                <a:latin typeface="Times New Roman" pitchFamily="18" charset="0"/>
              </a:rPr>
              <a:t>:</a:t>
            </a:r>
          </a:p>
          <a:p>
            <a:pPr>
              <a:buFontTx/>
              <a:buNone/>
            </a:pPr>
            <a:endParaRPr lang="en-US" sz="2800" dirty="0" smtClean="0">
              <a:latin typeface="Times New Roman" pitchFamily="18" charset="0"/>
            </a:endParaRPr>
          </a:p>
          <a:p>
            <a:pPr>
              <a:buFontTx/>
              <a:buNone/>
            </a:pPr>
            <a:endParaRPr lang="en-US" sz="2800" dirty="0" smtClean="0">
              <a:latin typeface="Times New Roman" pitchFamily="18" charset="0"/>
            </a:endParaRPr>
          </a:p>
          <a:p>
            <a:pPr>
              <a:buFontTx/>
              <a:buNone/>
            </a:pPr>
            <a:r>
              <a:rPr lang="en-US" sz="2800" dirty="0" err="1" smtClean="0">
                <a:latin typeface="Times New Roman" pitchFamily="18" charset="0"/>
              </a:rPr>
              <a:t>Công</a:t>
            </a:r>
            <a:r>
              <a:rPr lang="en-US" sz="2800" dirty="0" smtClean="0">
                <a:latin typeface="Times New Roman" pitchFamily="18" charset="0"/>
              </a:rPr>
              <a:t> </a:t>
            </a:r>
            <a:r>
              <a:rPr lang="en-US" sz="2800" dirty="0" err="1" smtClean="0">
                <a:latin typeface="Times New Roman" pitchFamily="18" charset="0"/>
              </a:rPr>
              <a:t>thức</a:t>
            </a:r>
            <a:r>
              <a:rPr lang="en-US" sz="2800" dirty="0" smtClean="0">
                <a:latin typeface="Times New Roman" pitchFamily="18" charset="0"/>
              </a:rPr>
              <a:t> </a:t>
            </a:r>
            <a:r>
              <a:rPr lang="en-US" sz="2800" dirty="0" err="1" smtClean="0">
                <a:latin typeface="Times New Roman" pitchFamily="18" charset="0"/>
              </a:rPr>
              <a:t>này</a:t>
            </a:r>
            <a:r>
              <a:rPr lang="en-US" sz="2800" dirty="0" smtClean="0">
                <a:latin typeface="Times New Roman" pitchFamily="18" charset="0"/>
              </a:rPr>
              <a:t> </a:t>
            </a:r>
            <a:r>
              <a:rPr lang="en-US" sz="2800" dirty="0" err="1" smtClean="0">
                <a:latin typeface="Times New Roman" pitchFamily="18" charset="0"/>
              </a:rPr>
              <a:t>chỉ</a:t>
            </a:r>
            <a:r>
              <a:rPr lang="en-US" sz="2800" dirty="0" smtClean="0">
                <a:latin typeface="Times New Roman" pitchFamily="18" charset="0"/>
              </a:rPr>
              <a:t> </a:t>
            </a:r>
            <a:r>
              <a:rPr lang="en-US" sz="2800" dirty="0" err="1" smtClean="0">
                <a:latin typeface="Times New Roman" pitchFamily="18" charset="0"/>
              </a:rPr>
              <a:t>đúng</a:t>
            </a:r>
            <a:r>
              <a:rPr lang="en-US" sz="2800" dirty="0" smtClean="0">
                <a:latin typeface="Times New Roman" pitchFamily="18" charset="0"/>
              </a:rPr>
              <a:t> </a:t>
            </a:r>
            <a:r>
              <a:rPr lang="en-US" sz="2800" dirty="0" err="1" smtClean="0">
                <a:latin typeface="Times New Roman" pitchFamily="18" charset="0"/>
              </a:rPr>
              <a:t>với</a:t>
            </a:r>
            <a:r>
              <a:rPr lang="en-US" sz="2800" dirty="0" smtClean="0">
                <a:latin typeface="Times New Roman" pitchFamily="18" charset="0"/>
              </a:rPr>
              <a:t> </a:t>
            </a:r>
            <a:r>
              <a:rPr lang="en-US" sz="2800" dirty="0" err="1" smtClean="0">
                <a:latin typeface="Times New Roman" pitchFamily="18" charset="0"/>
              </a:rPr>
              <a:t>thực</a:t>
            </a:r>
            <a:r>
              <a:rPr lang="en-US" sz="2800" dirty="0" smtClean="0">
                <a:latin typeface="Times New Roman" pitchFamily="18" charset="0"/>
              </a:rPr>
              <a:t> </a:t>
            </a:r>
            <a:r>
              <a:rPr lang="en-US" sz="2800" dirty="0" err="1" smtClean="0">
                <a:latin typeface="Times New Roman" pitchFamily="18" charset="0"/>
              </a:rPr>
              <a:t>nghiệm</a:t>
            </a:r>
            <a:r>
              <a:rPr lang="en-US" sz="2800" dirty="0" smtClean="0">
                <a:latin typeface="Times New Roman" pitchFamily="18" charset="0"/>
              </a:rPr>
              <a:t> ở </a:t>
            </a:r>
            <a:r>
              <a:rPr lang="en-US" sz="2800" dirty="0" err="1" smtClean="0">
                <a:latin typeface="Times New Roman" pitchFamily="18" charset="0"/>
              </a:rPr>
              <a:t>vùng</a:t>
            </a:r>
            <a:r>
              <a:rPr lang="en-US" sz="2800" dirty="0" smtClean="0">
                <a:latin typeface="Times New Roman" pitchFamily="18" charset="0"/>
              </a:rPr>
              <a:t> </a:t>
            </a:r>
            <a:r>
              <a:rPr lang="en-US" sz="2800" dirty="0" err="1" smtClean="0">
                <a:latin typeface="Times New Roman" pitchFamily="18" charset="0"/>
              </a:rPr>
              <a:t>tần</a:t>
            </a:r>
            <a:r>
              <a:rPr lang="en-US" sz="2800" dirty="0" smtClean="0">
                <a:latin typeface="Times New Roman" pitchFamily="18" charset="0"/>
              </a:rPr>
              <a:t> </a:t>
            </a:r>
            <a:r>
              <a:rPr lang="en-US" sz="2800" dirty="0" err="1" smtClean="0">
                <a:latin typeface="Times New Roman" pitchFamily="18" charset="0"/>
              </a:rPr>
              <a:t>số</a:t>
            </a:r>
            <a:r>
              <a:rPr lang="en-US" sz="2800" dirty="0" smtClean="0">
                <a:latin typeface="Times New Roman" pitchFamily="18" charset="0"/>
              </a:rPr>
              <a:t> </a:t>
            </a:r>
            <a:r>
              <a:rPr lang="en-US" sz="2800" dirty="0" err="1" smtClean="0">
                <a:latin typeface="Times New Roman" pitchFamily="18" charset="0"/>
              </a:rPr>
              <a:t>nhỏ</a:t>
            </a:r>
            <a:r>
              <a:rPr lang="en-US" sz="2800" dirty="0" smtClean="0">
                <a:latin typeface="Times New Roman" pitchFamily="18" charset="0"/>
              </a:rPr>
              <a:t> </a:t>
            </a:r>
          </a:p>
          <a:p>
            <a:pPr>
              <a:buFontTx/>
              <a:buNone/>
            </a:pPr>
            <a:r>
              <a:rPr lang="en-US" sz="2800" dirty="0" err="1" smtClean="0">
                <a:latin typeface="Times New Roman" pitchFamily="18" charset="0"/>
              </a:rPr>
              <a:t>còn</a:t>
            </a:r>
            <a:r>
              <a:rPr lang="en-US" sz="2800" dirty="0" smtClean="0">
                <a:latin typeface="Times New Roman" pitchFamily="18" charset="0"/>
              </a:rPr>
              <a:t> </a:t>
            </a:r>
            <a:r>
              <a:rPr lang="en-US" sz="2800" dirty="0" err="1" smtClean="0">
                <a:latin typeface="Times New Roman" pitchFamily="18" charset="0"/>
              </a:rPr>
              <a:t>vùng</a:t>
            </a:r>
            <a:r>
              <a:rPr lang="en-US" sz="2800" dirty="0" smtClean="0">
                <a:latin typeface="Times New Roman" pitchFamily="18" charset="0"/>
              </a:rPr>
              <a:t> </a:t>
            </a:r>
            <a:r>
              <a:rPr lang="en-US" sz="2800" dirty="0" err="1" smtClean="0">
                <a:latin typeface="Times New Roman" pitchFamily="18" charset="0"/>
              </a:rPr>
              <a:t>tần</a:t>
            </a:r>
            <a:r>
              <a:rPr lang="en-US" sz="2800" dirty="0" smtClean="0">
                <a:latin typeface="Times New Roman" pitchFamily="18" charset="0"/>
              </a:rPr>
              <a:t> </a:t>
            </a:r>
            <a:r>
              <a:rPr lang="en-US" sz="2800" dirty="0" err="1" smtClean="0">
                <a:latin typeface="Times New Roman" pitchFamily="18" charset="0"/>
              </a:rPr>
              <a:t>số</a:t>
            </a:r>
            <a:r>
              <a:rPr lang="en-US" sz="2800" dirty="0" smtClean="0">
                <a:latin typeface="Times New Roman" pitchFamily="18" charset="0"/>
              </a:rPr>
              <a:t> </a:t>
            </a:r>
            <a:r>
              <a:rPr lang="en-US" sz="2800" dirty="0" err="1" smtClean="0">
                <a:latin typeface="Times New Roman" pitchFamily="18" charset="0"/>
              </a:rPr>
              <a:t>lớn</a:t>
            </a:r>
            <a:r>
              <a:rPr lang="en-US" sz="2800" dirty="0" smtClean="0">
                <a:latin typeface="Times New Roman" pitchFamily="18" charset="0"/>
              </a:rPr>
              <a:t> </a:t>
            </a:r>
            <a:r>
              <a:rPr lang="en-US" sz="2800" dirty="0" err="1" smtClean="0">
                <a:latin typeface="Times New Roman" pitchFamily="18" charset="0"/>
              </a:rPr>
              <a:t>hoàn</a:t>
            </a:r>
            <a:r>
              <a:rPr lang="en-US" sz="2800" dirty="0" smtClean="0">
                <a:latin typeface="Times New Roman" pitchFamily="18" charset="0"/>
              </a:rPr>
              <a:t> </a:t>
            </a:r>
            <a:r>
              <a:rPr lang="en-US" sz="2800" dirty="0" err="1" smtClean="0">
                <a:latin typeface="Times New Roman" pitchFamily="18" charset="0"/>
              </a:rPr>
              <a:t>toàn</a:t>
            </a:r>
            <a:r>
              <a:rPr lang="en-US" sz="2800" dirty="0" smtClean="0">
                <a:latin typeface="Times New Roman" pitchFamily="18" charset="0"/>
              </a:rPr>
              <a:t> </a:t>
            </a:r>
            <a:r>
              <a:rPr lang="en-US" sz="2800" dirty="0" err="1" smtClean="0">
                <a:latin typeface="Times New Roman" pitchFamily="18" charset="0"/>
              </a:rPr>
              <a:t>không</a:t>
            </a:r>
            <a:r>
              <a:rPr lang="en-US" sz="2800" dirty="0" smtClean="0">
                <a:latin typeface="Times New Roman" pitchFamily="18" charset="0"/>
              </a:rPr>
              <a:t> </a:t>
            </a:r>
            <a:r>
              <a:rPr lang="en-US" sz="2800" dirty="0" err="1" smtClean="0">
                <a:latin typeface="Times New Roman" pitchFamily="18" charset="0"/>
              </a:rPr>
              <a:t>đúng</a:t>
            </a:r>
            <a:r>
              <a:rPr lang="en-US" sz="2800" dirty="0" smtClean="0">
                <a:latin typeface="Times New Roman" pitchFamily="18" charset="0"/>
              </a:rPr>
              <a:t>.</a:t>
            </a:r>
          </a:p>
          <a:p>
            <a:pPr>
              <a:buFontTx/>
              <a:buNone/>
            </a:pPr>
            <a:r>
              <a:rPr lang="en-US" sz="2800" dirty="0" err="1" smtClean="0">
                <a:latin typeface="Times New Roman" pitchFamily="18" charset="0"/>
              </a:rPr>
              <a:t>Từ</a:t>
            </a:r>
            <a:r>
              <a:rPr lang="en-US" sz="2800" dirty="0" smtClean="0">
                <a:latin typeface="Times New Roman" pitchFamily="18" charset="0"/>
              </a:rPr>
              <a:t> </a:t>
            </a:r>
            <a:r>
              <a:rPr lang="en-US" sz="2800" dirty="0" err="1" smtClean="0">
                <a:latin typeface="Times New Roman" pitchFamily="18" charset="0"/>
              </a:rPr>
              <a:t>đó</a:t>
            </a:r>
            <a:r>
              <a:rPr lang="en-US" sz="2800" dirty="0" smtClean="0">
                <a:latin typeface="Times New Roman" pitchFamily="18" charset="0"/>
              </a:rPr>
              <a:t> </a:t>
            </a:r>
            <a:r>
              <a:rPr lang="en-US" sz="2800" dirty="0" err="1" smtClean="0">
                <a:latin typeface="Times New Roman" pitchFamily="18" charset="0"/>
              </a:rPr>
              <a:t>tính</a:t>
            </a:r>
            <a:r>
              <a:rPr lang="en-US" sz="2800" dirty="0" smtClean="0">
                <a:latin typeface="Times New Roman" pitchFamily="18" charset="0"/>
              </a:rPr>
              <a:t> </a:t>
            </a:r>
            <a:r>
              <a:rPr lang="en-US" sz="2800" dirty="0" err="1" smtClean="0">
                <a:latin typeface="Times New Roman" pitchFamily="18" charset="0"/>
              </a:rPr>
              <a:t>được</a:t>
            </a:r>
            <a:r>
              <a:rPr lang="en-US" sz="2800" dirty="0" smtClean="0">
                <a:latin typeface="Times New Roman" pitchFamily="18" charset="0"/>
              </a:rPr>
              <a:t> </a:t>
            </a:r>
            <a:r>
              <a:rPr lang="en-US" sz="2800" dirty="0" err="1" smtClean="0">
                <a:latin typeface="Times New Roman" pitchFamily="18" charset="0"/>
              </a:rPr>
              <a:t>năng</a:t>
            </a:r>
            <a:r>
              <a:rPr lang="en-US" sz="2800" dirty="0" smtClean="0">
                <a:latin typeface="Times New Roman" pitchFamily="18" charset="0"/>
              </a:rPr>
              <a:t> </a:t>
            </a:r>
            <a:r>
              <a:rPr lang="en-US" sz="2800" dirty="0" err="1" smtClean="0">
                <a:latin typeface="Times New Roman" pitchFamily="18" charset="0"/>
              </a:rPr>
              <a:t>suất</a:t>
            </a:r>
            <a:r>
              <a:rPr lang="en-US" sz="2800" dirty="0" smtClean="0">
                <a:latin typeface="Times New Roman" pitchFamily="18" charset="0"/>
              </a:rPr>
              <a:t> </a:t>
            </a:r>
            <a:r>
              <a:rPr lang="en-US" sz="2800" dirty="0" err="1" smtClean="0">
                <a:latin typeface="Times New Roman" pitchFamily="18" charset="0"/>
              </a:rPr>
              <a:t>phát</a:t>
            </a:r>
            <a:r>
              <a:rPr lang="en-US" sz="2800" dirty="0" smtClean="0">
                <a:latin typeface="Times New Roman" pitchFamily="18" charset="0"/>
              </a:rPr>
              <a:t> </a:t>
            </a:r>
            <a:r>
              <a:rPr lang="en-US" sz="2800" dirty="0" err="1" smtClean="0">
                <a:latin typeface="Times New Roman" pitchFamily="18" charset="0"/>
              </a:rPr>
              <a:t>xạ</a:t>
            </a:r>
            <a:r>
              <a:rPr lang="en-US" sz="2800" dirty="0" smtClean="0">
                <a:latin typeface="Times New Roman" pitchFamily="18" charset="0"/>
              </a:rPr>
              <a:t> </a:t>
            </a:r>
            <a:r>
              <a:rPr lang="en-US" sz="2800" dirty="0" err="1" smtClean="0">
                <a:latin typeface="Times New Roman" pitchFamily="18" charset="0"/>
              </a:rPr>
              <a:t>toàn</a:t>
            </a:r>
            <a:r>
              <a:rPr lang="en-US" sz="2800" dirty="0" smtClean="0">
                <a:latin typeface="Times New Roman" pitchFamily="18" charset="0"/>
              </a:rPr>
              <a:t> </a:t>
            </a:r>
            <a:r>
              <a:rPr lang="en-US" sz="2800" dirty="0" err="1" smtClean="0">
                <a:latin typeface="Times New Roman" pitchFamily="18" charset="0"/>
              </a:rPr>
              <a:t>phần</a:t>
            </a:r>
            <a:r>
              <a:rPr lang="en-US" sz="2800" dirty="0" smtClean="0">
                <a:latin typeface="Times New Roman" pitchFamily="18" charset="0"/>
              </a:rPr>
              <a:t> </a:t>
            </a:r>
            <a:r>
              <a:rPr lang="en-US" sz="2800" dirty="0" err="1" smtClean="0">
                <a:latin typeface="Times New Roman" pitchFamily="18" charset="0"/>
              </a:rPr>
              <a:t>của</a:t>
            </a:r>
            <a:r>
              <a:rPr lang="en-US" sz="2800" dirty="0" smtClean="0">
                <a:latin typeface="Times New Roman" pitchFamily="18" charset="0"/>
              </a:rPr>
              <a:t> </a:t>
            </a:r>
            <a:r>
              <a:rPr lang="en-US" sz="2800" dirty="0" err="1" smtClean="0">
                <a:latin typeface="Times New Roman" pitchFamily="18" charset="0"/>
              </a:rPr>
              <a:t>vật</a:t>
            </a:r>
            <a:r>
              <a:rPr lang="en-US" sz="2800" dirty="0" smtClean="0">
                <a:latin typeface="Times New Roman" pitchFamily="18" charset="0"/>
              </a:rPr>
              <a:t> </a:t>
            </a:r>
            <a:r>
              <a:rPr lang="en-US" sz="2800" dirty="0" err="1" smtClean="0">
                <a:latin typeface="Times New Roman" pitchFamily="18" charset="0"/>
              </a:rPr>
              <a:t>đen</a:t>
            </a:r>
            <a:endParaRPr lang="en-US" sz="2800" dirty="0" smtClean="0">
              <a:latin typeface="Times New Roman" pitchFamily="18" charset="0"/>
            </a:endParaRPr>
          </a:p>
          <a:p>
            <a:pPr>
              <a:buFontTx/>
              <a:buNone/>
            </a:pPr>
            <a:r>
              <a:rPr lang="en-US" sz="2800" dirty="0" smtClean="0">
                <a:latin typeface="Times New Roman" pitchFamily="18" charset="0"/>
              </a:rPr>
              <a:t> </a:t>
            </a:r>
            <a:r>
              <a:rPr lang="en-US" sz="2800" dirty="0" err="1" smtClean="0">
                <a:latin typeface="Times New Roman" pitchFamily="18" charset="0"/>
              </a:rPr>
              <a:t>tuyệt</a:t>
            </a:r>
            <a:r>
              <a:rPr lang="en-US" sz="2800" dirty="0" smtClean="0">
                <a:latin typeface="Times New Roman" pitchFamily="18" charset="0"/>
              </a:rPr>
              <a:t> </a:t>
            </a:r>
            <a:r>
              <a:rPr lang="en-US" sz="2800" dirty="0" err="1" smtClean="0">
                <a:latin typeface="Times New Roman" pitchFamily="18" charset="0"/>
              </a:rPr>
              <a:t>đối</a:t>
            </a:r>
            <a:r>
              <a:rPr lang="en-US" sz="2800" dirty="0" smtClean="0">
                <a:latin typeface="Times New Roman" pitchFamily="18" charset="0"/>
              </a:rPr>
              <a:t>:</a:t>
            </a:r>
          </a:p>
        </p:txBody>
      </p:sp>
      <p:graphicFrame>
        <p:nvGraphicFramePr>
          <p:cNvPr id="2" name="Object 1"/>
          <p:cNvGraphicFramePr>
            <a:graphicFrameLocks noChangeAspect="1"/>
          </p:cNvGraphicFramePr>
          <p:nvPr>
            <p:extLst>
              <p:ext uri="{D42A27DB-BD31-4B8C-83A1-F6EECF244321}">
                <p14:modId xmlns:p14="http://schemas.microsoft.com/office/powerpoint/2010/main" val="1439497415"/>
              </p:ext>
            </p:extLst>
          </p:nvPr>
        </p:nvGraphicFramePr>
        <p:xfrm>
          <a:off x="2971800" y="2362200"/>
          <a:ext cx="2009775" cy="920750"/>
        </p:xfrm>
        <a:graphic>
          <a:graphicData uri="http://schemas.openxmlformats.org/presentationml/2006/ole">
            <mc:AlternateContent xmlns:mc="http://schemas.openxmlformats.org/markup-compatibility/2006">
              <mc:Choice xmlns:v="urn:schemas-microsoft-com:vml" Requires="v">
                <p:oleObj spid="_x0000_s6254" name="Equation" r:id="rId3" imgW="1016000" imgH="469900" progId="Equation.3">
                  <p:embed/>
                </p:oleObj>
              </mc:Choice>
              <mc:Fallback>
                <p:oleObj name="Equation" r:id="rId3" imgW="1016000" imgH="469900"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2362200"/>
                        <a:ext cx="2009775" cy="92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3" name="Object 2"/>
          <p:cNvGraphicFramePr>
            <a:graphicFrameLocks noChangeAspect="1"/>
          </p:cNvGraphicFramePr>
          <p:nvPr>
            <p:extLst>
              <p:ext uri="{D42A27DB-BD31-4B8C-83A1-F6EECF244321}">
                <p14:modId xmlns:p14="http://schemas.microsoft.com/office/powerpoint/2010/main" val="118601235"/>
              </p:ext>
            </p:extLst>
          </p:nvPr>
        </p:nvGraphicFramePr>
        <p:xfrm>
          <a:off x="2324100" y="5235575"/>
          <a:ext cx="4686300" cy="1089025"/>
        </p:xfrm>
        <a:graphic>
          <a:graphicData uri="http://schemas.openxmlformats.org/presentationml/2006/ole">
            <mc:AlternateContent xmlns:mc="http://schemas.openxmlformats.org/markup-compatibility/2006">
              <mc:Choice xmlns:v="urn:schemas-microsoft-com:vml" Requires="v">
                <p:oleObj spid="_x0000_s6255" name="Equation" r:id="rId5" imgW="2171700" imgH="508000" progId="Equation.3">
                  <p:embed/>
                </p:oleObj>
              </mc:Choice>
              <mc:Fallback>
                <p:oleObj name="Equation" r:id="rId5" imgW="2171700" imgH="5080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24100" y="5235575"/>
                        <a:ext cx="4686300" cy="1089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1655143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762000"/>
            <a:ext cx="5930520" cy="461665"/>
          </a:xfrm>
          <a:prstGeom prst="rect">
            <a:avLst/>
          </a:prstGeom>
        </p:spPr>
        <p:txBody>
          <a:bodyPr wrap="square">
            <a:spAutoFit/>
          </a:bodyPr>
          <a:lstStyle/>
          <a:p>
            <a:r>
              <a:rPr lang="en-US" sz="2400" b="1" dirty="0">
                <a:solidFill>
                  <a:schemeClr val="hlink"/>
                </a:solidFill>
                <a:latin typeface="Times New Roman" pitchFamily="18" charset="0"/>
              </a:rPr>
              <a:t>IV. </a:t>
            </a:r>
            <a:r>
              <a:rPr lang="en-US" sz="2400" b="1" dirty="0" err="1">
                <a:solidFill>
                  <a:schemeClr val="hlink"/>
                </a:solidFill>
                <a:latin typeface="Times New Roman" pitchFamily="18" charset="0"/>
              </a:rPr>
              <a:t>Thuyết</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lượng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tử</a:t>
            </a:r>
            <a:r>
              <a:rPr lang="en-US" sz="2400" b="1" dirty="0">
                <a:solidFill>
                  <a:schemeClr val="hlink"/>
                </a:solidFill>
                <a:latin typeface="Times New Roman" pitchFamily="18" charset="0"/>
              </a:rPr>
              <a:t> Planck</a:t>
            </a:r>
          </a:p>
        </p:txBody>
      </p:sp>
      <p:sp>
        <p:nvSpPr>
          <p:cNvPr id="6" name="Rectangle 5"/>
          <p:cNvSpPr/>
          <p:nvPr/>
        </p:nvSpPr>
        <p:spPr>
          <a:xfrm>
            <a:off x="152401" y="1981200"/>
            <a:ext cx="6467596" cy="461665"/>
          </a:xfrm>
          <a:prstGeom prst="rect">
            <a:avLst/>
          </a:prstGeom>
        </p:spPr>
        <p:txBody>
          <a:bodyPr wrap="square">
            <a:spAutoFit/>
          </a:bodyPr>
          <a:lstStyle/>
          <a:p>
            <a:r>
              <a:rPr lang="en-US" sz="2400" dirty="0" smtClean="0">
                <a:solidFill>
                  <a:srgbClr val="FF0000"/>
                </a:solidFill>
                <a:latin typeface="Times New Roman" pitchFamily="18" charset="0"/>
              </a:rPr>
              <a:t>- </a:t>
            </a:r>
            <a:r>
              <a:rPr lang="en-US" sz="2400" i="1" dirty="0" err="1" smtClean="0">
                <a:solidFill>
                  <a:srgbClr val="FF0000"/>
                </a:solidFill>
                <a:latin typeface="Times New Roman" pitchFamily="18" charset="0"/>
              </a:rPr>
              <a:t>Năng</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tử</a:t>
            </a:r>
            <a:r>
              <a:rPr lang="en-US" sz="2400" i="1" dirty="0" smtClean="0">
                <a:solidFill>
                  <a:srgbClr val="FF0000"/>
                </a:solidFill>
                <a:latin typeface="Times New Roman" pitchFamily="18" charset="0"/>
              </a:rPr>
              <a:t>:</a:t>
            </a:r>
            <a:endParaRPr lang="en-US" sz="2400" i="1" dirty="0">
              <a:solidFill>
                <a:srgbClr val="FF0000"/>
              </a:solidFill>
              <a:latin typeface="Times New Roman" pitchFamily="18"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1809787458"/>
              </p:ext>
            </p:extLst>
          </p:nvPr>
        </p:nvGraphicFramePr>
        <p:xfrm>
          <a:off x="3657600" y="2667000"/>
          <a:ext cx="1447800" cy="769938"/>
        </p:xfrm>
        <a:graphic>
          <a:graphicData uri="http://schemas.openxmlformats.org/presentationml/2006/ole">
            <mc:AlternateContent xmlns:mc="http://schemas.openxmlformats.org/markup-compatibility/2006">
              <mc:Choice xmlns:v="urn:schemas-microsoft-com:vml" Requires="v">
                <p:oleObj spid="_x0000_s7280" name="Equation" r:id="rId3" imgW="748975" imgH="393529" progId="Equation.3">
                  <p:embed/>
                </p:oleObj>
              </mc:Choice>
              <mc:Fallback>
                <p:oleObj name="Equation" r:id="rId3" imgW="748975" imgH="393529" progId="Equation.3">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657600" y="2667000"/>
                        <a:ext cx="1447800" cy="769938"/>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p:nvPr/>
        </p:nvSpPr>
        <p:spPr>
          <a:xfrm>
            <a:off x="227434" y="4114800"/>
            <a:ext cx="2012089" cy="461665"/>
          </a:xfrm>
          <a:prstGeom prst="rect">
            <a:avLst/>
          </a:prstGeom>
        </p:spPr>
        <p:txBody>
          <a:bodyPr wrap="none">
            <a:spAutoFit/>
          </a:bodyPr>
          <a:lstStyle/>
          <a:p>
            <a:r>
              <a:rPr lang="en-US" sz="2400" dirty="0" err="1">
                <a:latin typeface="Times New Roman" pitchFamily="18" charset="0"/>
              </a:rPr>
              <a:t>Hàm</a:t>
            </a:r>
            <a:r>
              <a:rPr lang="en-US" sz="2400" dirty="0">
                <a:latin typeface="Times New Roman" pitchFamily="18" charset="0"/>
              </a:rPr>
              <a:t> </a:t>
            </a:r>
            <a:r>
              <a:rPr lang="en-US" sz="2400" dirty="0" err="1">
                <a:latin typeface="Times New Roman" pitchFamily="18" charset="0"/>
              </a:rPr>
              <a:t>phổ</a:t>
            </a:r>
            <a:r>
              <a:rPr lang="en-US" sz="2400" dirty="0">
                <a:latin typeface="Times New Roman" pitchFamily="18" charset="0"/>
              </a:rPr>
              <a:t> </a:t>
            </a:r>
            <a:r>
              <a:rPr lang="en-US" sz="2400" dirty="0" err="1">
                <a:latin typeface="Times New Roman" pitchFamily="18" charset="0"/>
              </a:rPr>
              <a:t>biến</a:t>
            </a:r>
            <a:r>
              <a:rPr lang="en-US" sz="2400" dirty="0">
                <a:latin typeface="Times New Roman" pitchFamily="18" charset="0"/>
              </a:rPr>
              <a:t>:</a:t>
            </a:r>
          </a:p>
        </p:txBody>
      </p:sp>
      <p:graphicFrame>
        <p:nvGraphicFramePr>
          <p:cNvPr id="9" name="Object 8"/>
          <p:cNvGraphicFramePr>
            <a:graphicFrameLocks noChangeAspect="1"/>
          </p:cNvGraphicFramePr>
          <p:nvPr>
            <p:extLst>
              <p:ext uri="{D42A27DB-BD31-4B8C-83A1-F6EECF244321}">
                <p14:modId xmlns:p14="http://schemas.microsoft.com/office/powerpoint/2010/main" val="2705396734"/>
              </p:ext>
            </p:extLst>
          </p:nvPr>
        </p:nvGraphicFramePr>
        <p:xfrm>
          <a:off x="2667000" y="4131965"/>
          <a:ext cx="2886075" cy="889000"/>
        </p:xfrm>
        <a:graphic>
          <a:graphicData uri="http://schemas.openxmlformats.org/presentationml/2006/ole">
            <mc:AlternateContent xmlns:mc="http://schemas.openxmlformats.org/markup-compatibility/2006">
              <mc:Choice xmlns:v="urn:schemas-microsoft-com:vml" Requires="v">
                <p:oleObj spid="_x0000_s7281" name="Equation" r:id="rId5" imgW="1511300" imgH="469900" progId="Equation.3">
                  <p:embed/>
                </p:oleObj>
              </mc:Choice>
              <mc:Fallback>
                <p:oleObj name="Equation" r:id="rId5" imgW="1511300" imgH="469900" progId="Equation.3">
                  <p:embed/>
                  <p:pic>
                    <p:nvPicPr>
                      <p:cNvPr id="0" name="Object 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67000" y="4131965"/>
                        <a:ext cx="2886075" cy="889000"/>
                      </a:xfrm>
                      <a:prstGeom prst="rect">
                        <a:avLst/>
                      </a:prstGeom>
                      <a:noFill/>
                      <a:ln w="9525">
                        <a:solidFill>
                          <a:schemeClr val="folHlink"/>
                        </a:solidFill>
                        <a:miter lim="800000"/>
                        <a:headEnd/>
                        <a:tailEnd/>
                      </a:ln>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Rectangle 9"/>
          <p:cNvSpPr/>
          <p:nvPr/>
        </p:nvSpPr>
        <p:spPr>
          <a:xfrm>
            <a:off x="76200" y="5181600"/>
            <a:ext cx="9067800" cy="1569660"/>
          </a:xfrm>
          <a:prstGeom prst="rect">
            <a:avLst/>
          </a:prstGeom>
        </p:spPr>
        <p:txBody>
          <a:bodyPr wrap="square">
            <a:spAutoFit/>
          </a:bodyPr>
          <a:lstStyle/>
          <a:p>
            <a:pPr>
              <a:buFontTx/>
              <a:buChar char="-"/>
            </a:pPr>
            <a:r>
              <a:rPr lang="en-US" sz="2400" dirty="0" err="1">
                <a:latin typeface="Times New Roman" pitchFamily="18" charset="0"/>
              </a:rPr>
              <a:t>Vẽ</a:t>
            </a:r>
            <a:r>
              <a:rPr lang="en-US" sz="2400" dirty="0">
                <a:latin typeface="Times New Roman" pitchFamily="18" charset="0"/>
              </a:rPr>
              <a:t> </a:t>
            </a:r>
            <a:r>
              <a:rPr lang="en-US" sz="2400" dirty="0" err="1">
                <a:latin typeface="Times New Roman" pitchFamily="18" charset="0"/>
              </a:rPr>
              <a:t>được</a:t>
            </a:r>
            <a:r>
              <a:rPr lang="en-US" sz="2400" dirty="0">
                <a:latin typeface="Times New Roman" pitchFamily="18" charset="0"/>
              </a:rPr>
              <a:t> </a:t>
            </a:r>
            <a:r>
              <a:rPr lang="en-US" sz="2400" dirty="0" err="1">
                <a:latin typeface="Times New Roman" pitchFamily="18" charset="0"/>
              </a:rPr>
              <a:t>đường</a:t>
            </a:r>
            <a:r>
              <a:rPr lang="en-US" sz="2400" dirty="0">
                <a:latin typeface="Times New Roman" pitchFamily="18" charset="0"/>
              </a:rPr>
              <a:t> </a:t>
            </a:r>
            <a:r>
              <a:rPr lang="en-US" sz="2400" dirty="0" err="1">
                <a:latin typeface="Times New Roman" pitchFamily="18" charset="0"/>
              </a:rPr>
              <a:t>đặc</a:t>
            </a:r>
            <a:r>
              <a:rPr lang="en-US" sz="2400" dirty="0">
                <a:latin typeface="Times New Roman" pitchFamily="18" charset="0"/>
              </a:rPr>
              <a:t> </a:t>
            </a:r>
            <a:r>
              <a:rPr lang="en-US" sz="2400" dirty="0" err="1">
                <a:latin typeface="Times New Roman" pitchFamily="18" charset="0"/>
              </a:rPr>
              <a:t>trưng</a:t>
            </a:r>
            <a:r>
              <a:rPr lang="en-US" sz="2400" dirty="0">
                <a:latin typeface="Times New Roman" pitchFamily="18" charset="0"/>
              </a:rPr>
              <a:t> </a:t>
            </a:r>
            <a:r>
              <a:rPr lang="en-US" sz="2400" dirty="0" err="1">
                <a:latin typeface="Times New Roman" pitchFamily="18" charset="0"/>
              </a:rPr>
              <a:t>phổ</a:t>
            </a:r>
            <a:r>
              <a:rPr lang="en-US" sz="2400" dirty="0">
                <a:latin typeface="Times New Roman" pitchFamily="18" charset="0"/>
              </a:rPr>
              <a:t> </a:t>
            </a:r>
            <a:r>
              <a:rPr lang="en-US" sz="2400" dirty="0" err="1">
                <a:latin typeface="Times New Roman" pitchFamily="18" charset="0"/>
              </a:rPr>
              <a:t>phát</a:t>
            </a:r>
            <a:r>
              <a:rPr lang="en-US" sz="2400" dirty="0">
                <a:latin typeface="Times New Roman" pitchFamily="18" charset="0"/>
              </a:rPr>
              <a:t> </a:t>
            </a:r>
            <a:r>
              <a:rPr lang="en-US" sz="2400" dirty="0" err="1">
                <a:latin typeface="Times New Roman" pitchFamily="18" charset="0"/>
              </a:rPr>
              <a:t>xạ</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VĐTĐ </a:t>
            </a:r>
            <a:r>
              <a:rPr lang="en-US" sz="2400" dirty="0" err="1" smtClean="0">
                <a:latin typeface="Times New Roman" pitchFamily="18" charset="0"/>
              </a:rPr>
              <a:t>phù</a:t>
            </a:r>
            <a:r>
              <a:rPr lang="en-US" sz="2400" dirty="0" smtClean="0">
                <a:latin typeface="Times New Roman" pitchFamily="18" charset="0"/>
              </a:rPr>
              <a:t> </a:t>
            </a:r>
            <a:r>
              <a:rPr lang="en-US" sz="2400" dirty="0" err="1" smtClean="0">
                <a:latin typeface="Times New Roman" pitchFamily="18" charset="0"/>
              </a:rPr>
              <a:t>hợp</a:t>
            </a:r>
            <a:r>
              <a:rPr lang="en-US" sz="2400" dirty="0" smtClean="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thực</a:t>
            </a:r>
            <a:r>
              <a:rPr lang="en-US" sz="2400" dirty="0">
                <a:latin typeface="Times New Roman" pitchFamily="18" charset="0"/>
              </a:rPr>
              <a:t> </a:t>
            </a:r>
            <a:r>
              <a:rPr lang="en-US" sz="2400" dirty="0" err="1" smtClean="0">
                <a:latin typeface="Times New Roman" pitchFamily="18" charset="0"/>
              </a:rPr>
              <a:t>nghiệm</a:t>
            </a:r>
            <a:r>
              <a:rPr lang="en-US" sz="2400" dirty="0" smtClean="0">
                <a:latin typeface="Times New Roman" pitchFamily="18" charset="0"/>
              </a:rPr>
              <a:t>.</a:t>
            </a:r>
            <a:endParaRPr lang="en-US" sz="2400" dirty="0">
              <a:latin typeface="Times New Roman" pitchFamily="18" charset="0"/>
            </a:endParaRPr>
          </a:p>
          <a:p>
            <a:pPr>
              <a:buFontTx/>
              <a:buChar char="-"/>
            </a:pP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thể</a:t>
            </a:r>
            <a:r>
              <a:rPr lang="en-US" sz="2400" dirty="0">
                <a:latin typeface="Times New Roman" pitchFamily="18" charset="0"/>
              </a:rPr>
              <a:t> </a:t>
            </a:r>
            <a:r>
              <a:rPr lang="en-US" sz="2400" dirty="0" err="1">
                <a:latin typeface="Times New Roman" pitchFamily="18" charset="0"/>
              </a:rPr>
              <a:t>suy</a:t>
            </a:r>
            <a:r>
              <a:rPr lang="en-US" sz="2400" dirty="0">
                <a:latin typeface="Times New Roman" pitchFamily="18" charset="0"/>
              </a:rPr>
              <a:t> </a:t>
            </a:r>
            <a:r>
              <a:rPr lang="en-US" sz="2400" dirty="0" err="1">
                <a:latin typeface="Times New Roman" pitchFamily="18" charset="0"/>
              </a:rPr>
              <a:t>ra</a:t>
            </a:r>
            <a:r>
              <a:rPr lang="en-US" sz="2400" dirty="0">
                <a:latin typeface="Times New Roman" pitchFamily="18" charset="0"/>
              </a:rPr>
              <a:t> </a:t>
            </a:r>
            <a:r>
              <a:rPr lang="en-US" sz="2400" dirty="0" err="1">
                <a:latin typeface="Times New Roman" pitchFamily="18" charset="0"/>
              </a:rPr>
              <a:t>được</a:t>
            </a:r>
            <a:r>
              <a:rPr lang="en-US" sz="2400" dirty="0">
                <a:latin typeface="Times New Roman" pitchFamily="18" charset="0"/>
              </a:rPr>
              <a:t> </a:t>
            </a:r>
            <a:r>
              <a:rPr lang="en-US" sz="2400" dirty="0" err="1">
                <a:latin typeface="Times New Roman" pitchFamily="18" charset="0"/>
              </a:rPr>
              <a:t>công</a:t>
            </a:r>
            <a:r>
              <a:rPr lang="en-US" sz="2400" dirty="0">
                <a:latin typeface="Times New Roman" pitchFamily="18" charset="0"/>
              </a:rPr>
              <a:t> </a:t>
            </a:r>
            <a:r>
              <a:rPr lang="en-US" sz="2400" dirty="0" err="1">
                <a:latin typeface="Times New Roman" pitchFamily="18" charset="0"/>
              </a:rPr>
              <a:t>thức</a:t>
            </a:r>
            <a:r>
              <a:rPr lang="en-US" sz="2400" dirty="0">
                <a:latin typeface="Times New Roman" pitchFamily="18" charset="0"/>
              </a:rPr>
              <a:t> Rayleigh – Jeans</a:t>
            </a:r>
          </a:p>
          <a:p>
            <a:r>
              <a:rPr lang="en-US" sz="2400" dirty="0">
                <a:latin typeface="Times New Roman" pitchFamily="18" charset="0"/>
              </a:rPr>
              <a:t>- </a:t>
            </a:r>
            <a:r>
              <a:rPr lang="en-US" sz="2400" dirty="0" err="1">
                <a:latin typeface="Times New Roman" pitchFamily="18" charset="0"/>
              </a:rPr>
              <a:t>Giải</a:t>
            </a:r>
            <a:r>
              <a:rPr lang="en-US" sz="2400" dirty="0">
                <a:latin typeface="Times New Roman" pitchFamily="18" charset="0"/>
              </a:rPr>
              <a:t> </a:t>
            </a:r>
            <a:r>
              <a:rPr lang="en-US" sz="2400" dirty="0" err="1">
                <a:latin typeface="Times New Roman" pitchFamily="18" charset="0"/>
              </a:rPr>
              <a:t>thích</a:t>
            </a:r>
            <a:r>
              <a:rPr lang="en-US" sz="2400" dirty="0">
                <a:latin typeface="Times New Roman" pitchFamily="18" charset="0"/>
              </a:rPr>
              <a:t> </a:t>
            </a:r>
            <a:r>
              <a:rPr lang="en-US" sz="2400" dirty="0" err="1">
                <a:latin typeface="Times New Roman" pitchFamily="18" charset="0"/>
              </a:rPr>
              <a:t>được</a:t>
            </a:r>
            <a:r>
              <a:rPr lang="en-US" sz="2400" dirty="0">
                <a:latin typeface="Times New Roman" pitchFamily="18" charset="0"/>
              </a:rPr>
              <a:t> </a:t>
            </a:r>
            <a:r>
              <a:rPr lang="en-US" sz="2400" dirty="0" err="1">
                <a:latin typeface="Times New Roman" pitchFamily="18" charset="0"/>
              </a:rPr>
              <a:t>định</a:t>
            </a:r>
            <a:r>
              <a:rPr lang="en-US" sz="2400" dirty="0">
                <a:latin typeface="Times New Roman" pitchFamily="18" charset="0"/>
              </a:rPr>
              <a:t> </a:t>
            </a:r>
            <a:r>
              <a:rPr lang="en-US" sz="2400" dirty="0" err="1">
                <a:latin typeface="Times New Roman" pitchFamily="18" charset="0"/>
              </a:rPr>
              <a:t>luật</a:t>
            </a:r>
            <a:r>
              <a:rPr lang="en-US" sz="2400" dirty="0">
                <a:latin typeface="Times New Roman" pitchFamily="18" charset="0"/>
              </a:rPr>
              <a:t> </a:t>
            </a:r>
            <a:r>
              <a:rPr lang="en-US" sz="2400" dirty="0" err="1">
                <a:latin typeface="Times New Roman" pitchFamily="18" charset="0"/>
              </a:rPr>
              <a:t>stephan</a:t>
            </a:r>
            <a:r>
              <a:rPr lang="en-US" sz="2400" dirty="0">
                <a:latin typeface="Times New Roman" pitchFamily="18" charset="0"/>
              </a:rPr>
              <a:t> - </a:t>
            </a:r>
            <a:r>
              <a:rPr lang="en-US" sz="2400" dirty="0" err="1">
                <a:latin typeface="Times New Roman" pitchFamily="18" charset="0"/>
              </a:rPr>
              <a:t>Bolzmann</a:t>
            </a:r>
            <a:endParaRPr lang="en-US" sz="2400" dirty="0">
              <a:latin typeface="Times New Roman" pitchFamily="18" charset="0"/>
            </a:endParaRPr>
          </a:p>
        </p:txBody>
      </p:sp>
      <p:sp>
        <p:nvSpPr>
          <p:cNvPr id="11" name="Rectangle 10"/>
          <p:cNvSpPr/>
          <p:nvPr/>
        </p:nvSpPr>
        <p:spPr>
          <a:xfrm>
            <a:off x="76200" y="1371600"/>
            <a:ext cx="9067800" cy="461665"/>
          </a:xfrm>
          <a:prstGeom prst="rect">
            <a:avLst/>
          </a:prstGeom>
        </p:spPr>
        <p:txBody>
          <a:bodyPr wrap="square">
            <a:spAutoFit/>
          </a:bodyPr>
          <a:lstStyle/>
          <a:p>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từ</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gồm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vô</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số</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hạt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nhỏ</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gọi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tử</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ánh</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hay </a:t>
            </a:r>
            <a:r>
              <a:rPr lang="en-US" sz="2400" i="1" dirty="0" err="1">
                <a:solidFill>
                  <a:srgbClr val="FF0000"/>
                </a:solidFill>
                <a:latin typeface="Times New Roman" pitchFamily="18" charset="0"/>
              </a:rPr>
              <a:t>phôtôn</a:t>
            </a:r>
            <a:endParaRPr lang="en-US" sz="2400" i="1" dirty="0">
              <a:solidFill>
                <a:srgbClr val="FF0000"/>
              </a:solidFill>
              <a:latin typeface="Times New Roman" pitchFamily="18" charset="0"/>
            </a:endParaRPr>
          </a:p>
        </p:txBody>
      </p:sp>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wipe(down)">
                                      <p:cBhvr>
                                        <p:cTn id="7" dur="500"/>
                                        <p:tgtEl>
                                          <p:spTgt spid="11"/>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8" grpId="0"/>
      <p:bldP spid="10" grpId="0"/>
      <p:bldP spid="11"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14065"/>
            <a:ext cx="6074790" cy="461665"/>
          </a:xfrm>
          <a:prstGeom prst="rect">
            <a:avLst/>
          </a:prstGeom>
        </p:spPr>
        <p:txBody>
          <a:bodyPr wrap="square">
            <a:spAutoFit/>
          </a:bodyPr>
          <a:lstStyle/>
          <a:p>
            <a:r>
              <a:rPr lang="en-US" sz="2400" b="1" dirty="0">
                <a:solidFill>
                  <a:schemeClr val="hlink"/>
                </a:solidFill>
                <a:latin typeface="Times New Roman" pitchFamily="18" charset="0"/>
              </a:rPr>
              <a:t>V. </a:t>
            </a:r>
            <a:r>
              <a:rPr lang="en-US" sz="2400" b="1" dirty="0" err="1">
                <a:solidFill>
                  <a:schemeClr val="hlink"/>
                </a:solidFill>
                <a:latin typeface="Times New Roman" pitchFamily="18" charset="0"/>
              </a:rPr>
              <a:t>Thuyết</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phôtôn</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của</a:t>
            </a:r>
            <a:r>
              <a:rPr lang="en-US" sz="2400" b="1" dirty="0">
                <a:solidFill>
                  <a:schemeClr val="hlink"/>
                </a:solidFill>
                <a:latin typeface="Times New Roman" pitchFamily="18" charset="0"/>
              </a:rPr>
              <a:t> Einstein</a:t>
            </a:r>
            <a:endParaRPr lang="en-US" sz="2400" dirty="0"/>
          </a:p>
        </p:txBody>
      </p:sp>
      <p:sp>
        <p:nvSpPr>
          <p:cNvPr id="3" name="Rectangle 2"/>
          <p:cNvSpPr/>
          <p:nvPr/>
        </p:nvSpPr>
        <p:spPr>
          <a:xfrm>
            <a:off x="76200" y="1075730"/>
            <a:ext cx="5149184" cy="461665"/>
          </a:xfrm>
          <a:prstGeom prst="rect">
            <a:avLst/>
          </a:prstGeom>
        </p:spPr>
        <p:txBody>
          <a:bodyPr wrap="square">
            <a:spAutoFit/>
          </a:bodyPr>
          <a:lstStyle/>
          <a:p>
            <a:pPr marL="609600" indent="-609600"/>
            <a:r>
              <a:rPr lang="en-US" sz="2400" b="1" i="1" dirty="0">
                <a:latin typeface="Times New Roman" pitchFamily="18" charset="0"/>
              </a:rPr>
              <a:t>1. </a:t>
            </a:r>
            <a:r>
              <a:rPr lang="en-US" sz="2400" b="1" i="1" dirty="0" err="1">
                <a:latin typeface="Times New Roman" pitchFamily="18" charset="0"/>
              </a:rPr>
              <a:t>Nội</a:t>
            </a:r>
            <a:r>
              <a:rPr lang="en-US" sz="2400" b="1" i="1" dirty="0">
                <a:latin typeface="Times New Roman" pitchFamily="18" charset="0"/>
              </a:rPr>
              <a:t> dung</a:t>
            </a:r>
          </a:p>
        </p:txBody>
      </p:sp>
      <p:sp>
        <p:nvSpPr>
          <p:cNvPr id="6" name="Rectangle 5"/>
          <p:cNvSpPr/>
          <p:nvPr/>
        </p:nvSpPr>
        <p:spPr>
          <a:xfrm>
            <a:off x="76200" y="1537395"/>
            <a:ext cx="9067800" cy="461665"/>
          </a:xfrm>
          <a:prstGeom prst="rect">
            <a:avLst/>
          </a:prstGeom>
        </p:spPr>
        <p:txBody>
          <a:bodyPr wrap="square">
            <a:spAutoFit/>
          </a:bodyPr>
          <a:lstStyle/>
          <a:p>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từ</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gồm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vô</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số</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hạt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nhỏ</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gọi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tử</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ánh</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hay </a:t>
            </a:r>
            <a:r>
              <a:rPr lang="en-US" sz="2400" i="1" dirty="0" err="1">
                <a:solidFill>
                  <a:srgbClr val="FF0000"/>
                </a:solidFill>
                <a:latin typeface="Times New Roman" pitchFamily="18" charset="0"/>
              </a:rPr>
              <a:t>phôtôn</a:t>
            </a:r>
            <a:endParaRPr lang="en-US" sz="2400" i="1" dirty="0">
              <a:solidFill>
                <a:srgbClr val="FF0000"/>
              </a:solidFill>
              <a:latin typeface="Times New Roman" pitchFamily="18" charset="0"/>
            </a:endParaRPr>
          </a:p>
        </p:txBody>
      </p:sp>
      <p:sp>
        <p:nvSpPr>
          <p:cNvPr id="7" name="Rectangle 6"/>
          <p:cNvSpPr/>
          <p:nvPr/>
        </p:nvSpPr>
        <p:spPr>
          <a:xfrm>
            <a:off x="152400" y="1999060"/>
            <a:ext cx="8839200" cy="461665"/>
          </a:xfrm>
          <a:prstGeom prst="rect">
            <a:avLst/>
          </a:prstGeom>
        </p:spPr>
        <p:txBody>
          <a:bodyPr wrap="square">
            <a:spAutoFit/>
          </a:bodyPr>
          <a:lstStyle/>
          <a:p>
            <a:r>
              <a:rPr lang="en-US" i="1" dirty="0" smtClean="0">
                <a:solidFill>
                  <a:srgbClr val="FF0000"/>
                </a:solidFill>
                <a:latin typeface="Times New Roman" pitchFamily="18" charset="0"/>
              </a:rPr>
              <a:t>- </a:t>
            </a:r>
            <a:r>
              <a:rPr lang="en-US" sz="2400" i="1" dirty="0" err="1">
                <a:solidFill>
                  <a:srgbClr val="FF0000"/>
                </a:solidFill>
                <a:latin typeface="Times New Roman" pitchFamily="18" charset="0"/>
              </a:rPr>
              <a:t>M</a:t>
            </a:r>
            <a:r>
              <a:rPr lang="en-US" sz="2400" i="1" dirty="0" err="1" smtClean="0">
                <a:solidFill>
                  <a:srgbClr val="FF0000"/>
                </a:solidFill>
                <a:latin typeface="Times New Roman" pitchFamily="18" charset="0"/>
              </a:rPr>
              <a:t>ỗi</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phôtôn</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mang</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năng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a:t>
            </a:r>
          </a:p>
        </p:txBody>
      </p:sp>
      <p:graphicFrame>
        <p:nvGraphicFramePr>
          <p:cNvPr id="8" name="Object 7"/>
          <p:cNvGraphicFramePr>
            <a:graphicFrameLocks noChangeAspect="1"/>
          </p:cNvGraphicFramePr>
          <p:nvPr>
            <p:extLst>
              <p:ext uri="{D42A27DB-BD31-4B8C-83A1-F6EECF244321}">
                <p14:modId xmlns:p14="http://schemas.microsoft.com/office/powerpoint/2010/main" val="590230446"/>
              </p:ext>
            </p:extLst>
          </p:nvPr>
        </p:nvGraphicFramePr>
        <p:xfrm>
          <a:off x="3276600" y="2743200"/>
          <a:ext cx="1527175" cy="772587"/>
        </p:xfrm>
        <a:graphic>
          <a:graphicData uri="http://schemas.openxmlformats.org/presentationml/2006/ole">
            <mc:AlternateContent xmlns:mc="http://schemas.openxmlformats.org/markup-compatibility/2006">
              <mc:Choice xmlns:v="urn:schemas-microsoft-com:vml" Requires="v">
                <p:oleObj spid="_x0000_s8249" name="Equation" r:id="rId3" imgW="787320" imgH="393480" progId="Equation.3">
                  <p:embed/>
                </p:oleObj>
              </mc:Choice>
              <mc:Fallback>
                <p:oleObj name="Equation" r:id="rId3" imgW="787320" imgH="393480" progId="Equation.3">
                  <p:embed/>
                  <p:pic>
                    <p:nvPicPr>
                      <p:cNvPr id="0" name="Object 4"/>
                      <p:cNvPicPr>
                        <a:picLocks noChangeAspect="1" noChangeArrowheads="1"/>
                      </p:cNvPicPr>
                      <p:nvPr/>
                    </p:nvPicPr>
                    <p:blipFill>
                      <a:blip r:embed="rId4"/>
                      <a:srcRect/>
                      <a:stretch>
                        <a:fillRect/>
                      </a:stretch>
                    </p:blipFill>
                    <p:spPr bwMode="auto">
                      <a:xfrm>
                        <a:off x="3276600" y="2743200"/>
                        <a:ext cx="1527175" cy="772587"/>
                      </a:xfrm>
                      <a:prstGeom prst="rect">
                        <a:avLst/>
                      </a:prstGeom>
                      <a:noFill/>
                      <a:ln>
                        <a:noFill/>
                      </a:ln>
                    </p:spPr>
                  </p:pic>
                </p:oleObj>
              </mc:Fallback>
            </mc:AlternateContent>
          </a:graphicData>
        </a:graphic>
      </p:graphicFrame>
      <p:sp>
        <p:nvSpPr>
          <p:cNvPr id="9" name="Rectangle 8"/>
          <p:cNvSpPr/>
          <p:nvPr/>
        </p:nvSpPr>
        <p:spPr>
          <a:xfrm>
            <a:off x="152400" y="3741003"/>
            <a:ext cx="8839200" cy="461665"/>
          </a:xfrm>
          <a:prstGeom prst="rect">
            <a:avLst/>
          </a:prstGeom>
        </p:spPr>
        <p:txBody>
          <a:bodyPr wrap="square">
            <a:spAutoFit/>
          </a:bodyPr>
          <a:lstStyle/>
          <a:p>
            <a:r>
              <a:rPr lang="en-US" sz="2400" i="1" dirty="0">
                <a:solidFill>
                  <a:schemeClr val="tx2"/>
                </a:solidFill>
                <a:latin typeface="Times New Roman" pitchFamily="18" charset="0"/>
              </a:rPr>
              <a:t>- </a:t>
            </a:r>
            <a:r>
              <a:rPr lang="en-US" sz="2400" i="1" dirty="0" err="1">
                <a:solidFill>
                  <a:srgbClr val="FF0000"/>
                </a:solidFill>
                <a:latin typeface="Times New Roman" pitchFamily="18" charset="0"/>
              </a:rPr>
              <a:t>Trong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mọi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môi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phôtôn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được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truyền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cùng</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vận</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tốc</a:t>
            </a:r>
            <a:endParaRPr lang="en-US" sz="2400" i="1" dirty="0">
              <a:solidFill>
                <a:srgbClr val="FF0000"/>
              </a:solidFill>
              <a:latin typeface="Times New Roman" pitchFamily="18" charset="0"/>
            </a:endParaRPr>
          </a:p>
        </p:txBody>
      </p:sp>
      <p:sp>
        <p:nvSpPr>
          <p:cNvPr id="10" name="Rectangle 9"/>
          <p:cNvSpPr/>
          <p:nvPr/>
        </p:nvSpPr>
        <p:spPr>
          <a:xfrm>
            <a:off x="76200" y="4227511"/>
            <a:ext cx="8915400" cy="830997"/>
          </a:xfrm>
          <a:prstGeom prst="rect">
            <a:avLst/>
          </a:prstGeom>
        </p:spPr>
        <p:txBody>
          <a:bodyPr wrap="square">
            <a:spAutoFit/>
          </a:bodyPr>
          <a:lstStyle/>
          <a:p>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vật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phát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hay </a:t>
            </a:r>
            <a:r>
              <a:rPr lang="en-US" sz="2400" i="1" dirty="0" err="1">
                <a:solidFill>
                  <a:srgbClr val="FF0000"/>
                </a:solidFill>
                <a:latin typeface="Times New Roman" pitchFamily="18" charset="0"/>
              </a:rPr>
              <a:t>hấp</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thụ</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từ</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phát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smtClean="0">
                <a:solidFill>
                  <a:srgbClr val="FF0000"/>
                </a:solidFill>
                <a:latin typeface="Times New Roman" pitchFamily="18" charset="0"/>
              </a:rPr>
              <a:t>hay </a:t>
            </a:r>
            <a:r>
              <a:rPr lang="en-US" sz="2400" i="1" dirty="0" err="1">
                <a:solidFill>
                  <a:srgbClr val="FF0000"/>
                </a:solidFill>
                <a:latin typeface="Times New Roman" pitchFamily="18" charset="0"/>
              </a:rPr>
              <a:t>hấp</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thụ</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phôtôn</a:t>
            </a:r>
            <a:r>
              <a:rPr lang="en-US" sz="2400" i="1" dirty="0">
                <a:solidFill>
                  <a:srgbClr val="FF0000"/>
                </a:solidFill>
                <a:latin typeface="Times New Roman" pitchFamily="18" charset="0"/>
              </a:rPr>
              <a:t>.</a:t>
            </a:r>
          </a:p>
        </p:txBody>
      </p:sp>
      <p:sp>
        <p:nvSpPr>
          <p:cNvPr id="11" name="Rectangle 10"/>
          <p:cNvSpPr/>
          <p:nvPr/>
        </p:nvSpPr>
        <p:spPr>
          <a:xfrm>
            <a:off x="152400" y="5095074"/>
            <a:ext cx="8991600" cy="830997"/>
          </a:xfrm>
          <a:prstGeom prst="rect">
            <a:avLst/>
          </a:prstGeom>
        </p:spPr>
        <p:txBody>
          <a:bodyPr wrap="square">
            <a:spAutoFit/>
          </a:bodyPr>
          <a:lstStyle/>
          <a:p>
            <a:r>
              <a:rPr lang="en-US" sz="2400" i="1" dirty="0">
                <a:solidFill>
                  <a:schemeClr val="tx2"/>
                </a:solidFill>
                <a:latin typeface="Times New Roman" pitchFamily="18" charset="0"/>
              </a:rPr>
              <a:t>- </a:t>
            </a:r>
            <a:r>
              <a:rPr lang="en-US" sz="2400" i="1" dirty="0" err="1">
                <a:solidFill>
                  <a:srgbClr val="FF0000"/>
                </a:solidFill>
                <a:latin typeface="Times New Roman" pitchFamily="18" charset="0"/>
              </a:rPr>
              <a:t>Cường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chùm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từ</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tỉ</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lệ</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số</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phôtôn</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phát</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ra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từ</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nguồn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trong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đơn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vị</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thời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gian</a:t>
            </a:r>
            <a:endParaRPr lang="en-US" sz="2400" i="1" dirty="0">
              <a:solidFill>
                <a:srgbClr val="FF0000"/>
              </a:solidFill>
              <a:latin typeface="Times New Roman" pitchFamily="18" charset="0"/>
            </a:endParaRPr>
          </a:p>
        </p:txBody>
      </p:sp>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10" grpId="0"/>
      <p:bldP spid="11"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1. BỨC XẠ NHIỆT</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14065"/>
            <a:ext cx="5711838" cy="461665"/>
          </a:xfrm>
          <a:prstGeom prst="rect">
            <a:avLst/>
          </a:prstGeom>
        </p:spPr>
        <p:txBody>
          <a:bodyPr wrap="square">
            <a:spAutoFit/>
          </a:bodyPr>
          <a:lstStyle/>
          <a:p>
            <a:r>
              <a:rPr lang="en-US" sz="2400" b="1" i="1" dirty="0">
                <a:latin typeface="Times New Roman" pitchFamily="18" charset="0"/>
              </a:rPr>
              <a:t>2. </a:t>
            </a:r>
            <a:r>
              <a:rPr lang="en-US" sz="2400" b="1" i="1" dirty="0" err="1">
                <a:latin typeface="Times New Roman" pitchFamily="18" charset="0"/>
              </a:rPr>
              <a:t>Động</a:t>
            </a:r>
            <a:r>
              <a:rPr lang="en-US" sz="2400" b="1" i="1" dirty="0">
                <a:latin typeface="Times New Roman" pitchFamily="18" charset="0"/>
              </a:rPr>
              <a:t> </a:t>
            </a:r>
            <a:r>
              <a:rPr lang="en-US" sz="2400" b="1" i="1" dirty="0" err="1">
                <a:latin typeface="Times New Roman" pitchFamily="18" charset="0"/>
              </a:rPr>
              <a:t>lực</a:t>
            </a:r>
            <a:r>
              <a:rPr lang="en-US" sz="2400" b="1" i="1" dirty="0">
                <a:latin typeface="Times New Roman" pitchFamily="18" charset="0"/>
              </a:rPr>
              <a:t> </a:t>
            </a:r>
            <a:r>
              <a:rPr lang="en-US" sz="2400" b="1" i="1" dirty="0" err="1">
                <a:latin typeface="Times New Roman" pitchFamily="18" charset="0"/>
              </a:rPr>
              <a:t>học</a:t>
            </a:r>
            <a:r>
              <a:rPr lang="en-US" sz="2400" b="1" i="1" dirty="0">
                <a:latin typeface="Times New Roman" pitchFamily="18" charset="0"/>
              </a:rPr>
              <a:t> </a:t>
            </a:r>
            <a:r>
              <a:rPr lang="en-US" sz="2400" b="1" i="1" dirty="0" err="1">
                <a:latin typeface="Times New Roman" pitchFamily="18" charset="0"/>
              </a:rPr>
              <a:t>phôtôn</a:t>
            </a:r>
            <a:endParaRPr lang="en-US" sz="2400" b="1" i="1" dirty="0">
              <a:latin typeface="Times New Roman" pitchFamily="18" charset="0"/>
            </a:endParaRPr>
          </a:p>
        </p:txBody>
      </p:sp>
      <p:sp>
        <p:nvSpPr>
          <p:cNvPr id="3" name="Rectangle 2"/>
          <p:cNvSpPr/>
          <p:nvPr/>
        </p:nvSpPr>
        <p:spPr>
          <a:xfrm>
            <a:off x="152400" y="1075730"/>
            <a:ext cx="5646859" cy="461665"/>
          </a:xfrm>
          <a:prstGeom prst="rect">
            <a:avLst/>
          </a:prstGeom>
        </p:spPr>
        <p:txBody>
          <a:bodyPr wrap="square">
            <a:spAutoFit/>
          </a:bodyPr>
          <a:lstStyle/>
          <a:p>
            <a:pPr>
              <a:buFontTx/>
              <a:buChar char="-"/>
            </a:pPr>
            <a:r>
              <a:rPr lang="en-US" sz="2400" i="1" dirty="0" err="1">
                <a:solidFill>
                  <a:srgbClr val="FF0000"/>
                </a:solidFill>
                <a:latin typeface="Times New Roman" pitchFamily="18" charset="0"/>
              </a:rPr>
              <a:t>Năng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phôtôn</a:t>
            </a:r>
            <a:endParaRPr lang="en-US" sz="2400" i="1" dirty="0">
              <a:solidFill>
                <a:srgbClr val="FF0000"/>
              </a:solidFill>
              <a:latin typeface="Times New Roman"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4257029030"/>
              </p:ext>
            </p:extLst>
          </p:nvPr>
        </p:nvGraphicFramePr>
        <p:xfrm>
          <a:off x="2916238" y="1592263"/>
          <a:ext cx="1590675" cy="846137"/>
        </p:xfrm>
        <a:graphic>
          <a:graphicData uri="http://schemas.openxmlformats.org/presentationml/2006/ole">
            <mc:AlternateContent xmlns:mc="http://schemas.openxmlformats.org/markup-compatibility/2006">
              <mc:Choice xmlns:v="urn:schemas-microsoft-com:vml" Requires="v">
                <p:oleObj spid="_x0000_s9380" name="Equation" r:id="rId3" imgW="749160" imgH="393480" progId="Equation.3">
                  <p:embed/>
                </p:oleObj>
              </mc:Choice>
              <mc:Fallback>
                <p:oleObj name="Equation" r:id="rId3" imgW="749160" imgH="393480" progId="Equation.3">
                  <p:embed/>
                  <p:pic>
                    <p:nvPicPr>
                      <p:cNvPr id="0" name="Object 4"/>
                      <p:cNvPicPr>
                        <a:picLocks noChangeAspect="1" noChangeArrowheads="1"/>
                      </p:cNvPicPr>
                      <p:nvPr/>
                    </p:nvPicPr>
                    <p:blipFill>
                      <a:blip r:embed="rId4"/>
                      <a:srcRect/>
                      <a:stretch>
                        <a:fillRect/>
                      </a:stretch>
                    </p:blipFill>
                    <p:spPr bwMode="auto">
                      <a:xfrm>
                        <a:off x="2916238" y="1592263"/>
                        <a:ext cx="1590675" cy="8461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p:nvPr/>
        </p:nvSpPr>
        <p:spPr>
          <a:xfrm>
            <a:off x="152400" y="2438400"/>
            <a:ext cx="5621211" cy="461665"/>
          </a:xfrm>
          <a:prstGeom prst="rect">
            <a:avLst/>
          </a:prstGeom>
        </p:spPr>
        <p:txBody>
          <a:bodyPr wrap="square">
            <a:spAutoFit/>
          </a:bodyPr>
          <a:lstStyle/>
          <a:p>
            <a:pPr>
              <a:buFontTx/>
              <a:buChar char="-"/>
            </a:pPr>
            <a:r>
              <a:rPr lang="en-US" sz="2400" i="1" dirty="0" err="1">
                <a:solidFill>
                  <a:srgbClr val="FF0000"/>
                </a:solidFill>
                <a:latin typeface="Times New Roman" pitchFamily="18" charset="0"/>
              </a:rPr>
              <a:t>Khối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phôtôn</a:t>
            </a:r>
            <a:endParaRPr lang="en-US" sz="2400" i="1" dirty="0">
              <a:solidFill>
                <a:srgbClr val="FF0000"/>
              </a:solidFill>
              <a:latin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50353290"/>
              </p:ext>
            </p:extLst>
          </p:nvPr>
        </p:nvGraphicFramePr>
        <p:xfrm>
          <a:off x="2619375" y="3048000"/>
          <a:ext cx="2571750" cy="887413"/>
        </p:xfrm>
        <a:graphic>
          <a:graphicData uri="http://schemas.openxmlformats.org/presentationml/2006/ole">
            <mc:AlternateContent xmlns:mc="http://schemas.openxmlformats.org/markup-compatibility/2006">
              <mc:Choice xmlns:v="urn:schemas-microsoft-com:vml" Requires="v">
                <p:oleObj spid="_x0000_s9381" name="Equation" r:id="rId5" imgW="1143000" imgH="393480" progId="Equation.3">
                  <p:embed/>
                </p:oleObj>
              </mc:Choice>
              <mc:Fallback>
                <p:oleObj name="Equation" r:id="rId5" imgW="1143000" imgH="393480" progId="Equation.3">
                  <p:embed/>
                  <p:pic>
                    <p:nvPicPr>
                      <p:cNvPr id="0" name="Object 7"/>
                      <p:cNvPicPr>
                        <a:picLocks noChangeAspect="1" noChangeArrowheads="1"/>
                      </p:cNvPicPr>
                      <p:nvPr/>
                    </p:nvPicPr>
                    <p:blipFill>
                      <a:blip r:embed="rId6"/>
                      <a:srcRect/>
                      <a:stretch>
                        <a:fillRect/>
                      </a:stretch>
                    </p:blipFill>
                    <p:spPr bwMode="auto">
                      <a:xfrm>
                        <a:off x="2619375" y="3048000"/>
                        <a:ext cx="2571750" cy="887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9" name="Rectangle 8"/>
          <p:cNvSpPr/>
          <p:nvPr/>
        </p:nvSpPr>
        <p:spPr>
          <a:xfrm>
            <a:off x="187569" y="4191000"/>
            <a:ext cx="3225563" cy="461665"/>
          </a:xfrm>
          <a:prstGeom prst="rect">
            <a:avLst/>
          </a:prstGeom>
        </p:spPr>
        <p:txBody>
          <a:bodyPr wrap="none">
            <a:spAutoFit/>
          </a:bodyPr>
          <a:lstStyle/>
          <a:p>
            <a:pPr>
              <a:buFontTx/>
              <a:buChar char="-"/>
            </a:pPr>
            <a:r>
              <a:rPr lang="en-US" sz="2400" i="1" dirty="0" err="1">
                <a:solidFill>
                  <a:srgbClr val="FF0000"/>
                </a:solidFill>
                <a:latin typeface="Times New Roman" pitchFamily="18" charset="0"/>
              </a:rPr>
              <a:t>Động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phôtôn</a:t>
            </a:r>
            <a:endParaRPr lang="en-US" sz="2400" i="1" dirty="0">
              <a:solidFill>
                <a:srgbClr val="FF0000"/>
              </a:solidFill>
              <a:latin typeface="Times New Roman" pitchFamily="18" charset="0"/>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142074952"/>
              </p:ext>
            </p:extLst>
          </p:nvPr>
        </p:nvGraphicFramePr>
        <p:xfrm>
          <a:off x="2782888" y="4800600"/>
          <a:ext cx="2252662" cy="830263"/>
        </p:xfrm>
        <a:graphic>
          <a:graphicData uri="http://schemas.openxmlformats.org/presentationml/2006/ole">
            <mc:AlternateContent xmlns:mc="http://schemas.openxmlformats.org/markup-compatibility/2006">
              <mc:Choice xmlns:v="urn:schemas-microsoft-com:vml" Requires="v">
                <p:oleObj spid="_x0000_s9382" name="Equation" r:id="rId7" imgW="1066680" imgH="393480" progId="Equation.3">
                  <p:embed/>
                </p:oleObj>
              </mc:Choice>
              <mc:Fallback>
                <p:oleObj name="Equation" r:id="rId7" imgW="1066680" imgH="393480" progId="Equation.3">
                  <p:embed/>
                  <p:pic>
                    <p:nvPicPr>
                      <p:cNvPr id="0" name="Object 10"/>
                      <p:cNvPicPr>
                        <a:picLocks noChangeAspect="1" noChangeArrowheads="1"/>
                      </p:cNvPicPr>
                      <p:nvPr/>
                    </p:nvPicPr>
                    <p:blipFill>
                      <a:blip r:embed="rId8"/>
                      <a:srcRect/>
                      <a:stretch>
                        <a:fillRect/>
                      </a:stretch>
                    </p:blipFill>
                    <p:spPr bwMode="auto">
                      <a:xfrm>
                        <a:off x="2782888" y="4800600"/>
                        <a:ext cx="2252662" cy="830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down)">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2. HIỆN TƯỢNG QUANG ĐIỆN VÀ HIỆU ỨNG COMPTON</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85800"/>
            <a:ext cx="5820842" cy="461665"/>
          </a:xfrm>
          <a:prstGeom prst="rect">
            <a:avLst/>
          </a:prstGeom>
        </p:spPr>
        <p:txBody>
          <a:bodyPr wrap="square">
            <a:spAutoFit/>
          </a:bodyPr>
          <a:lstStyle/>
          <a:p>
            <a:pPr marL="812800" indent="-812800"/>
            <a:r>
              <a:rPr lang="en-US" dirty="0">
                <a:latin typeface="Times New Roman" pitchFamily="18" charset="0"/>
              </a:rPr>
              <a:t>I</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Hiện</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tượng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quang</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điện</a:t>
            </a:r>
            <a:endParaRPr lang="en-US" sz="2400" b="1" dirty="0">
              <a:solidFill>
                <a:schemeClr val="hlink"/>
              </a:solidFill>
              <a:latin typeface="Times New Roman" pitchFamily="18" charset="0"/>
            </a:endParaRPr>
          </a:p>
        </p:txBody>
      </p:sp>
      <p:sp>
        <p:nvSpPr>
          <p:cNvPr id="3" name="Rectangle 2"/>
          <p:cNvSpPr/>
          <p:nvPr/>
        </p:nvSpPr>
        <p:spPr>
          <a:xfrm>
            <a:off x="76200" y="1143000"/>
            <a:ext cx="5638800" cy="1200329"/>
          </a:xfrm>
          <a:prstGeom prst="rect">
            <a:avLst/>
          </a:prstGeom>
        </p:spPr>
        <p:txBody>
          <a:bodyPr wrap="square">
            <a:spAutoFit/>
          </a:bodyPr>
          <a:lstStyle/>
          <a:p>
            <a:r>
              <a:rPr lang="en-US" sz="2400" i="1" dirty="0" err="1">
                <a:solidFill>
                  <a:srgbClr val="FF0000"/>
                </a:solidFill>
                <a:latin typeface="Times New Roman" pitchFamily="18" charset="0"/>
              </a:rPr>
              <a:t>Là</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tượng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các</a:t>
            </a:r>
            <a:r>
              <a:rPr lang="en-US" sz="2400" i="1" dirty="0">
                <a:solidFill>
                  <a:srgbClr val="FF0000"/>
                </a:solidFill>
                <a:latin typeface="Times New Roman" pitchFamily="18" charset="0"/>
              </a:rPr>
              <a:t> electron </a:t>
            </a:r>
            <a:r>
              <a:rPr lang="en-US" sz="2400" i="1" dirty="0" err="1">
                <a:solidFill>
                  <a:srgbClr val="FF0000"/>
                </a:solidFill>
                <a:latin typeface="Times New Roman" pitchFamily="18" charset="0"/>
              </a:rPr>
              <a:t>từ</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tấm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kim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loại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bắn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ra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rọi</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vào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tấm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kim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loại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từ</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bước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sóng</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thích</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hợp</a:t>
            </a:r>
            <a:r>
              <a:rPr lang="en-US" sz="2400" i="1" dirty="0">
                <a:solidFill>
                  <a:srgbClr val="FF0000"/>
                </a:solidFill>
                <a:latin typeface="Times New Roman" pitchFamily="18" charset="0"/>
              </a:rPr>
              <a:t>.</a:t>
            </a:r>
          </a:p>
        </p:txBody>
      </p:sp>
      <p:graphicFrame>
        <p:nvGraphicFramePr>
          <p:cNvPr id="6" name="Object 5"/>
          <p:cNvGraphicFramePr>
            <a:graphicFrameLocks noChangeAspect="1"/>
          </p:cNvGraphicFramePr>
          <p:nvPr>
            <p:extLst>
              <p:ext uri="{D42A27DB-BD31-4B8C-83A1-F6EECF244321}">
                <p14:modId xmlns:p14="http://schemas.microsoft.com/office/powerpoint/2010/main" val="3481861672"/>
              </p:ext>
            </p:extLst>
          </p:nvPr>
        </p:nvGraphicFramePr>
        <p:xfrm>
          <a:off x="733153" y="2895600"/>
          <a:ext cx="3181350" cy="2630056"/>
        </p:xfrm>
        <a:graphic>
          <a:graphicData uri="http://schemas.openxmlformats.org/presentationml/2006/ole">
            <mc:AlternateContent xmlns:mc="http://schemas.openxmlformats.org/markup-compatibility/2006">
              <mc:Choice xmlns:v="urn:schemas-microsoft-com:vml" Requires="v">
                <p:oleObj spid="_x0000_s10354" name="Bitmap Image" r:id="rId3" imgW="3067478" imgH="2534004" progId="PBrush">
                  <p:embed/>
                </p:oleObj>
              </mc:Choice>
              <mc:Fallback>
                <p:oleObj name="Bitmap Image" r:id="rId3" imgW="3067478" imgH="2534004" progId="PBrush">
                  <p:embed/>
                  <p:pic>
                    <p:nvPicPr>
                      <p:cNvPr id="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33153" y="2895600"/>
                        <a:ext cx="3181350" cy="2630056"/>
                      </a:xfrm>
                      <a:prstGeom prst="rect">
                        <a:avLst/>
                      </a:prstGeom>
                      <a:noFill/>
                      <a:ln>
                        <a:noFill/>
                      </a:ln>
                    </p:spPr>
                  </p:pic>
                </p:oleObj>
              </mc:Fallback>
            </mc:AlternateContent>
          </a:graphicData>
        </a:graphic>
      </p:graphicFrame>
      <p:sp>
        <p:nvSpPr>
          <p:cNvPr id="7" name="Rectangle 6"/>
          <p:cNvSpPr/>
          <p:nvPr/>
        </p:nvSpPr>
        <p:spPr>
          <a:xfrm>
            <a:off x="157718" y="2512138"/>
            <a:ext cx="4342856" cy="461665"/>
          </a:xfrm>
          <a:prstGeom prst="rect">
            <a:avLst/>
          </a:prstGeom>
        </p:spPr>
        <p:txBody>
          <a:bodyPr wrap="none">
            <a:spAutoFit/>
          </a:bodyPr>
          <a:lstStyle/>
          <a:p>
            <a:pPr marL="812800" indent="-812800"/>
            <a:r>
              <a:rPr lang="en-US" sz="2400" dirty="0" err="1">
                <a:latin typeface="Times New Roman" pitchFamily="18" charset="0"/>
              </a:rPr>
              <a:t>Thí</a:t>
            </a:r>
            <a:r>
              <a:rPr lang="en-US" sz="2400" dirty="0">
                <a:latin typeface="Times New Roman" pitchFamily="18" charset="0"/>
              </a:rPr>
              <a:t> </a:t>
            </a:r>
            <a:r>
              <a:rPr lang="en-US" sz="2400" dirty="0" err="1">
                <a:latin typeface="Times New Roman" pitchFamily="18" charset="0"/>
              </a:rPr>
              <a:t>nghiệm</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tế</a:t>
            </a:r>
            <a:r>
              <a:rPr lang="en-US" sz="2400" dirty="0">
                <a:latin typeface="Times New Roman" pitchFamily="18" charset="0"/>
              </a:rPr>
              <a:t> </a:t>
            </a:r>
            <a:r>
              <a:rPr lang="en-US" sz="2400" dirty="0" err="1">
                <a:latin typeface="Times New Roman" pitchFamily="18" charset="0"/>
              </a:rPr>
              <a:t>bào</a:t>
            </a:r>
            <a:r>
              <a:rPr lang="en-US" sz="2400" dirty="0">
                <a:latin typeface="Times New Roman" pitchFamily="18" charset="0"/>
              </a:rPr>
              <a:t> </a:t>
            </a:r>
            <a:r>
              <a:rPr lang="en-US" sz="2400" dirty="0" err="1">
                <a:latin typeface="Times New Roman" pitchFamily="18" charset="0"/>
              </a:rPr>
              <a:t>quang</a:t>
            </a:r>
            <a:r>
              <a:rPr lang="en-US" sz="2400" dirty="0">
                <a:latin typeface="Times New Roman" pitchFamily="18" charset="0"/>
              </a:rPr>
              <a:t> </a:t>
            </a:r>
            <a:r>
              <a:rPr lang="en-US" sz="2400" dirty="0" err="1">
                <a:latin typeface="Times New Roman" pitchFamily="18" charset="0"/>
              </a:rPr>
              <a:t>điện</a:t>
            </a:r>
            <a:endParaRPr lang="en-US" sz="2400" dirty="0">
              <a:latin typeface="Times New Roman" pitchFamily="18" charset="0"/>
            </a:endParaRPr>
          </a:p>
        </p:txBody>
      </p:sp>
      <p:pic>
        <p:nvPicPr>
          <p:cNvPr id="8" name="Picture 9" descr="hinh6-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10200" y="3204865"/>
            <a:ext cx="3061047" cy="235773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Rectangle 8"/>
          <p:cNvSpPr/>
          <p:nvPr/>
        </p:nvSpPr>
        <p:spPr>
          <a:xfrm>
            <a:off x="157718" y="5562600"/>
            <a:ext cx="5252482" cy="1200329"/>
          </a:xfrm>
          <a:prstGeom prst="rect">
            <a:avLst/>
          </a:prstGeom>
        </p:spPr>
        <p:txBody>
          <a:bodyPr wrap="square">
            <a:spAutoFit/>
          </a:bodyPr>
          <a:lstStyle/>
          <a:p>
            <a:pPr marL="812800" indent="-812800"/>
            <a:r>
              <a:rPr lang="en-US" sz="2400" dirty="0">
                <a:latin typeface="Times New Roman" pitchFamily="18" charset="0"/>
              </a:rPr>
              <a:t>- </a:t>
            </a:r>
            <a:r>
              <a:rPr lang="en-US" sz="2400" dirty="0" err="1">
                <a:latin typeface="Times New Roman" pitchFamily="18" charset="0"/>
              </a:rPr>
              <a:t>Khi</a:t>
            </a:r>
            <a:r>
              <a:rPr lang="en-US" sz="2400" dirty="0">
                <a:latin typeface="Times New Roman" pitchFamily="18" charset="0"/>
              </a:rPr>
              <a:t> U</a:t>
            </a:r>
            <a:r>
              <a:rPr lang="en-US" sz="2400" baseline="-25000" dirty="0">
                <a:latin typeface="Times New Roman" pitchFamily="18" charset="0"/>
              </a:rPr>
              <a:t>AK</a:t>
            </a:r>
            <a:r>
              <a:rPr lang="en-US" sz="2400" dirty="0">
                <a:latin typeface="Times New Roman" pitchFamily="18" charset="0"/>
              </a:rPr>
              <a:t> </a:t>
            </a:r>
            <a:r>
              <a:rPr lang="en-US" sz="2400" dirty="0" err="1">
                <a:latin typeface="Times New Roman" pitchFamily="18" charset="0"/>
              </a:rPr>
              <a:t>tăng</a:t>
            </a:r>
            <a:r>
              <a:rPr lang="en-US" sz="2400" dirty="0">
                <a:latin typeface="Times New Roman" pitchFamily="18" charset="0"/>
              </a:rPr>
              <a:t> </a:t>
            </a:r>
            <a:r>
              <a:rPr lang="en-US" sz="2400" dirty="0" err="1">
                <a:latin typeface="Times New Roman" pitchFamily="18" charset="0"/>
              </a:rPr>
              <a:t>thì</a:t>
            </a:r>
            <a:r>
              <a:rPr lang="en-US" sz="2400" dirty="0">
                <a:latin typeface="Times New Roman" pitchFamily="18" charset="0"/>
              </a:rPr>
              <a:t> I </a:t>
            </a:r>
            <a:r>
              <a:rPr lang="en-US" sz="2400" dirty="0" err="1">
                <a:latin typeface="Times New Roman" pitchFamily="18" charset="0"/>
              </a:rPr>
              <a:t>tăng</a:t>
            </a:r>
            <a:endParaRPr lang="en-US" sz="2400" dirty="0">
              <a:latin typeface="Times New Roman" pitchFamily="18" charset="0"/>
            </a:endParaRPr>
          </a:p>
          <a:p>
            <a:pPr marL="812800" indent="-812800"/>
            <a:r>
              <a:rPr lang="en-US" sz="2400" dirty="0">
                <a:latin typeface="Times New Roman" pitchFamily="18" charset="0"/>
              </a:rPr>
              <a:t>- U</a:t>
            </a:r>
            <a:r>
              <a:rPr lang="en-US" sz="2400" baseline="-25000" dirty="0">
                <a:latin typeface="Times New Roman" pitchFamily="18" charset="0"/>
              </a:rPr>
              <a:t>AK</a:t>
            </a:r>
            <a:r>
              <a:rPr lang="en-US" sz="2400" dirty="0">
                <a:latin typeface="Times New Roman" pitchFamily="18" charset="0"/>
              </a:rPr>
              <a:t> = 0 </a:t>
            </a:r>
            <a:r>
              <a:rPr lang="en-US" sz="2400" dirty="0" err="1">
                <a:latin typeface="Times New Roman" pitchFamily="18" charset="0"/>
              </a:rPr>
              <a:t>thì</a:t>
            </a:r>
            <a:r>
              <a:rPr lang="en-US" sz="2400" dirty="0">
                <a:latin typeface="Times New Roman" pitchFamily="18" charset="0"/>
              </a:rPr>
              <a:t> I </a:t>
            </a:r>
            <a:r>
              <a:rPr lang="en-US" sz="2400" dirty="0">
                <a:latin typeface="Times New Roman" pitchFamily="18" charset="0"/>
                <a:cs typeface="Times New Roman" pitchFamily="18" charset="0"/>
              </a:rPr>
              <a:t>≠ 0</a:t>
            </a:r>
          </a:p>
          <a:p>
            <a:pPr marL="812800" indent="-812800"/>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Để</a:t>
            </a:r>
            <a:r>
              <a:rPr lang="en-US" sz="2400" dirty="0">
                <a:latin typeface="Times New Roman" pitchFamily="18" charset="0"/>
                <a:cs typeface="Times New Roman" pitchFamily="18" charset="0"/>
              </a:rPr>
              <a:t> I = 0 </a:t>
            </a:r>
            <a:r>
              <a:rPr lang="en-US" sz="2400" dirty="0" err="1">
                <a:latin typeface="Times New Roman" pitchFamily="18" charset="0"/>
                <a:cs typeface="Times New Roman" pitchFamily="18" charset="0"/>
              </a:rPr>
              <a:t>thì</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đặt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một</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hiệu</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thế</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hãm</a:t>
            </a:r>
            <a:endParaRPr lang="en-US" sz="2400" dirty="0">
              <a:latin typeface="Times New Roman" pitchFamily="18" charset="0"/>
              <a:cs typeface="Times New Roman" pitchFamily="18" charset="0"/>
            </a:endParaRPr>
          </a:p>
        </p:txBody>
      </p:sp>
      <p:graphicFrame>
        <p:nvGraphicFramePr>
          <p:cNvPr id="10" name="Object 9"/>
          <p:cNvGraphicFramePr>
            <a:graphicFrameLocks noChangeAspect="1"/>
          </p:cNvGraphicFramePr>
          <p:nvPr>
            <p:extLst>
              <p:ext uri="{D42A27DB-BD31-4B8C-83A1-F6EECF244321}">
                <p14:modId xmlns:p14="http://schemas.microsoft.com/office/powerpoint/2010/main" val="3454326800"/>
              </p:ext>
            </p:extLst>
          </p:nvPr>
        </p:nvGraphicFramePr>
        <p:xfrm>
          <a:off x="5811838" y="6103938"/>
          <a:ext cx="1652587" cy="474662"/>
        </p:xfrm>
        <a:graphic>
          <a:graphicData uri="http://schemas.openxmlformats.org/presentationml/2006/ole">
            <mc:AlternateContent xmlns:mc="http://schemas.openxmlformats.org/markup-compatibility/2006">
              <mc:Choice xmlns:v="urn:schemas-microsoft-com:vml" Requires="v">
                <p:oleObj spid="_x0000_s10355" name="Equation" r:id="rId6" imgW="838080" imgH="241200" progId="Equation.3">
                  <p:embed/>
                </p:oleObj>
              </mc:Choice>
              <mc:Fallback>
                <p:oleObj name="Equation" r:id="rId6" imgW="838080" imgH="241200" progId="Equation.3">
                  <p:embed/>
                  <p:pic>
                    <p:nvPicPr>
                      <p:cNvPr id="0" name="Object 6"/>
                      <p:cNvPicPr>
                        <a:picLocks noChangeAspect="1" noChangeArrowheads="1"/>
                      </p:cNvPicPr>
                      <p:nvPr/>
                    </p:nvPicPr>
                    <p:blipFill>
                      <a:blip r:embed="rId7"/>
                      <a:srcRect/>
                      <a:stretch>
                        <a:fillRect/>
                      </a:stretch>
                    </p:blipFill>
                    <p:spPr bwMode="auto">
                      <a:xfrm>
                        <a:off x="5811838" y="6103938"/>
                        <a:ext cx="1652587" cy="4746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pic>
        <p:nvPicPr>
          <p:cNvPr id="11" name="Picture 10"/>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993453" y="730723"/>
            <a:ext cx="2969887" cy="2243079"/>
          </a:xfrm>
          <a:prstGeom prst="rect">
            <a:avLst/>
          </a:prstGeom>
        </p:spPr>
      </p:pic>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wipe(dow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down)">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down)">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0"/>
                                        </p:tgtEl>
                                        <p:attrNameLst>
                                          <p:attrName>style.visibility</p:attrName>
                                        </p:attrNameLst>
                                      </p:cBhvr>
                                      <p:to>
                                        <p:strVal val="visible"/>
                                      </p:to>
                                    </p:set>
                                    <p:animEffect transition="in" filter="wipe(down)">
                                      <p:cBhvr>
                                        <p:cTn id="32"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2. HIỆN TƯỢNG QUANG ĐIỆN VÀ HIỆU ỨNG COMPTON</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85800"/>
            <a:ext cx="5748707" cy="461665"/>
          </a:xfrm>
          <a:prstGeom prst="rect">
            <a:avLst/>
          </a:prstGeom>
        </p:spPr>
        <p:txBody>
          <a:bodyPr wrap="square">
            <a:spAutoFit/>
          </a:bodyPr>
          <a:lstStyle/>
          <a:p>
            <a:pPr marL="609600" indent="-609600"/>
            <a:r>
              <a:rPr lang="en-US" sz="2400" b="1" i="1" dirty="0">
                <a:latin typeface="Times New Roman" pitchFamily="18" charset="0"/>
              </a:rPr>
              <a:t>Ba </a:t>
            </a:r>
            <a:r>
              <a:rPr lang="en-US" sz="2400" b="1" i="1" dirty="0" err="1">
                <a:latin typeface="Times New Roman" pitchFamily="18" charset="0"/>
              </a:rPr>
              <a:t>định</a:t>
            </a:r>
            <a:r>
              <a:rPr lang="en-US" sz="2400" b="1" i="1" dirty="0">
                <a:latin typeface="Times New Roman" pitchFamily="18" charset="0"/>
              </a:rPr>
              <a:t> </a:t>
            </a:r>
            <a:r>
              <a:rPr lang="en-US" sz="2400" b="1" i="1" dirty="0" err="1">
                <a:latin typeface="Times New Roman" pitchFamily="18" charset="0"/>
              </a:rPr>
              <a:t>luật</a:t>
            </a:r>
            <a:r>
              <a:rPr lang="en-US" sz="2400" b="1" i="1" dirty="0">
                <a:latin typeface="Times New Roman" pitchFamily="18" charset="0"/>
              </a:rPr>
              <a:t> </a:t>
            </a:r>
            <a:r>
              <a:rPr lang="en-US" sz="2400" b="1" i="1" dirty="0" err="1">
                <a:latin typeface="Times New Roman" pitchFamily="18" charset="0"/>
              </a:rPr>
              <a:t>quang</a:t>
            </a:r>
            <a:r>
              <a:rPr lang="en-US" sz="2400" b="1" i="1" dirty="0">
                <a:latin typeface="Times New Roman" pitchFamily="18" charset="0"/>
              </a:rPr>
              <a:t> </a:t>
            </a:r>
            <a:r>
              <a:rPr lang="en-US" sz="2400" b="1" i="1" dirty="0" err="1">
                <a:latin typeface="Times New Roman" pitchFamily="18" charset="0"/>
              </a:rPr>
              <a:t>điện</a:t>
            </a:r>
            <a:endParaRPr lang="en-US" sz="2400" b="1" i="1" dirty="0">
              <a:latin typeface="Times New Roman" pitchFamily="18" charset="0"/>
            </a:endParaRPr>
          </a:p>
        </p:txBody>
      </p:sp>
      <p:sp>
        <p:nvSpPr>
          <p:cNvPr id="3" name="Rectangle 2"/>
          <p:cNvSpPr/>
          <p:nvPr/>
        </p:nvSpPr>
        <p:spPr>
          <a:xfrm>
            <a:off x="76200" y="1147465"/>
            <a:ext cx="8991600" cy="830997"/>
          </a:xfrm>
          <a:prstGeom prst="rect">
            <a:avLst/>
          </a:prstGeom>
        </p:spPr>
        <p:txBody>
          <a:bodyPr wrap="square">
            <a:spAutoFit/>
          </a:bodyPr>
          <a:lstStyle/>
          <a:p>
            <a:r>
              <a:rPr lang="en-US" sz="2400" i="1" dirty="0" err="1" smtClean="0">
                <a:solidFill>
                  <a:srgbClr val="FF0000"/>
                </a:solidFill>
                <a:latin typeface="Times New Roman" pitchFamily="18" charset="0"/>
              </a:rPr>
              <a:t>a.Định</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luật</a:t>
            </a:r>
            <a:r>
              <a:rPr lang="en-US" sz="2400" i="1" dirty="0">
                <a:solidFill>
                  <a:srgbClr val="FF0000"/>
                </a:solidFill>
                <a:latin typeface="Times New Roman" pitchFamily="18" charset="0"/>
              </a:rPr>
              <a:t> 1: </a:t>
            </a:r>
            <a:r>
              <a:rPr lang="en-US" sz="2400" i="1" dirty="0" err="1">
                <a:solidFill>
                  <a:srgbClr val="FF0000"/>
                </a:solidFill>
                <a:latin typeface="Times New Roman" pitchFamily="18" charset="0"/>
              </a:rPr>
              <a:t>Đối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với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mỗi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kim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loại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hiện</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tượng</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quang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chỉ</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ra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khi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bước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sóng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ánh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sáng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chiếu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tới</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nhỏ</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hơn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giá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trị</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định</a:t>
            </a:r>
            <a:r>
              <a:rPr lang="en-US" sz="2400" i="1" dirty="0">
                <a:solidFill>
                  <a:schemeClr val="tx2"/>
                </a:solidFill>
                <a:latin typeface="Times New Roman" pitchFamily="18" charset="0"/>
              </a:rPr>
              <a:t>.</a:t>
            </a:r>
          </a:p>
        </p:txBody>
      </p:sp>
      <p:sp>
        <p:nvSpPr>
          <p:cNvPr id="8" name="Rectangle 7"/>
          <p:cNvSpPr/>
          <p:nvPr/>
        </p:nvSpPr>
        <p:spPr>
          <a:xfrm>
            <a:off x="76200" y="2209800"/>
            <a:ext cx="8991600" cy="830997"/>
          </a:xfrm>
          <a:prstGeom prst="rect">
            <a:avLst/>
          </a:prstGeom>
        </p:spPr>
        <p:txBody>
          <a:bodyPr wrap="square">
            <a:spAutoFit/>
          </a:bodyPr>
          <a:lstStyle/>
          <a:p>
            <a:r>
              <a:rPr lang="en-US" sz="2400" i="1" dirty="0">
                <a:solidFill>
                  <a:srgbClr val="FF0000"/>
                </a:solidFill>
                <a:latin typeface="Times New Roman" pitchFamily="18" charset="0"/>
              </a:rPr>
              <a:t>b. </a:t>
            </a:r>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luật</a:t>
            </a:r>
            <a:r>
              <a:rPr lang="en-US" sz="2400" i="1" dirty="0">
                <a:solidFill>
                  <a:srgbClr val="FF0000"/>
                </a:solidFill>
                <a:latin typeface="Times New Roman" pitchFamily="18" charset="0"/>
              </a:rPr>
              <a:t> 2: </a:t>
            </a:r>
            <a:r>
              <a:rPr lang="en-US" sz="2400" i="1" dirty="0" err="1">
                <a:solidFill>
                  <a:srgbClr val="FF0000"/>
                </a:solidFill>
                <a:latin typeface="Times New Roman" pitchFamily="18" charset="0"/>
              </a:rPr>
              <a:t>Cường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dòng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quang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điện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bão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hòa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tỉ</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lệ</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với</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cường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chùm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rọi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tới</a:t>
            </a:r>
            <a:r>
              <a:rPr lang="en-US" sz="2400" i="1" dirty="0">
                <a:solidFill>
                  <a:srgbClr val="FF0000"/>
                </a:solidFill>
                <a:latin typeface="Times New Roman" pitchFamily="18" charset="0"/>
              </a:rPr>
              <a:t>.</a:t>
            </a:r>
          </a:p>
        </p:txBody>
      </p:sp>
      <p:sp>
        <p:nvSpPr>
          <p:cNvPr id="9" name="Rectangle 8"/>
          <p:cNvSpPr/>
          <p:nvPr/>
        </p:nvSpPr>
        <p:spPr>
          <a:xfrm>
            <a:off x="152400" y="3200400"/>
            <a:ext cx="8839200" cy="830997"/>
          </a:xfrm>
          <a:prstGeom prst="rect">
            <a:avLst/>
          </a:prstGeom>
        </p:spPr>
        <p:txBody>
          <a:bodyPr wrap="square">
            <a:spAutoFit/>
          </a:bodyPr>
          <a:lstStyle/>
          <a:p>
            <a:r>
              <a:rPr lang="en-US" sz="2400" i="1" dirty="0">
                <a:solidFill>
                  <a:srgbClr val="FF0000"/>
                </a:solidFill>
                <a:latin typeface="Times New Roman" pitchFamily="18" charset="0"/>
              </a:rPr>
              <a:t>c. </a:t>
            </a:r>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luật</a:t>
            </a:r>
            <a:r>
              <a:rPr lang="en-US" sz="2400" i="1" dirty="0">
                <a:solidFill>
                  <a:srgbClr val="FF0000"/>
                </a:solidFill>
                <a:latin typeface="Times New Roman" pitchFamily="18" charset="0"/>
              </a:rPr>
              <a:t> 3: </a:t>
            </a:r>
            <a:r>
              <a:rPr lang="en-US" sz="2400" i="1" dirty="0" err="1">
                <a:solidFill>
                  <a:srgbClr val="FF0000"/>
                </a:solidFill>
                <a:latin typeface="Times New Roman" pitchFamily="18" charset="0"/>
              </a:rPr>
              <a:t>Động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năng</a:t>
            </a:r>
            <a:r>
              <a:rPr lang="en-US" sz="2400" i="1" dirty="0">
                <a:solidFill>
                  <a:srgbClr val="FF0000"/>
                </a:solidFill>
                <a:latin typeface="Times New Roman" pitchFamily="18" charset="0"/>
              </a:rPr>
              <a:t> ban </a:t>
            </a:r>
            <a:r>
              <a:rPr lang="en-US" sz="2400" i="1" dirty="0" err="1">
                <a:solidFill>
                  <a:srgbClr val="FF0000"/>
                </a:solidFill>
                <a:latin typeface="Times New Roman" pitchFamily="18" charset="0"/>
              </a:rPr>
              <a:t>đầu</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cực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đại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các</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quang</a:t>
            </a:r>
            <a:r>
              <a:rPr lang="en-US" sz="2400" i="1" dirty="0" smtClean="0">
                <a:solidFill>
                  <a:srgbClr val="FF0000"/>
                </a:solidFill>
                <a:latin typeface="Times New Roman" pitchFamily="18" charset="0"/>
              </a:rPr>
              <a:t> </a:t>
            </a:r>
            <a:r>
              <a:rPr lang="en-US" sz="2400" i="1" dirty="0">
                <a:solidFill>
                  <a:srgbClr val="FF0000"/>
                </a:solidFill>
                <a:latin typeface="Times New Roman" pitchFamily="18" charset="0"/>
              </a:rPr>
              <a:t>electron </a:t>
            </a:r>
            <a:r>
              <a:rPr lang="en-US" sz="2400" i="1" dirty="0" err="1" smtClean="0">
                <a:solidFill>
                  <a:srgbClr val="FF0000"/>
                </a:solidFill>
                <a:latin typeface="Times New Roman" pitchFamily="18" charset="0"/>
              </a:rPr>
              <a:t>chỉ</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phụ</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thuộc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vào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tần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số</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chùm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bức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đó</a:t>
            </a:r>
            <a:r>
              <a:rPr lang="en-US" sz="2400" i="1" dirty="0">
                <a:solidFill>
                  <a:srgbClr val="FF0000"/>
                </a:solidFill>
                <a:latin typeface="Times New Roman" pitchFamily="18" charset="0"/>
              </a:rPr>
              <a:t>.</a:t>
            </a:r>
          </a:p>
        </p:txBody>
      </p:sp>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down)">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9"/>
                                        </p:tgtEl>
                                        <p:attrNameLst>
                                          <p:attrName>style.visibility</p:attrName>
                                        </p:attrNameLst>
                                      </p:cBhvr>
                                      <p:to>
                                        <p:strVal val="visible"/>
                                      </p:to>
                                    </p:set>
                                    <p:animEffect transition="in" filter="wipe(down)">
                                      <p:cBhvr>
                                        <p:cTn id="17"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2. HIỆN TƯỢNG QUANG ĐIỆN VÀ HIỆU ỨNG COMPTON</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85800"/>
            <a:ext cx="6236020" cy="461665"/>
          </a:xfrm>
          <a:prstGeom prst="rect">
            <a:avLst/>
          </a:prstGeom>
        </p:spPr>
        <p:txBody>
          <a:bodyPr wrap="square">
            <a:spAutoFit/>
          </a:bodyPr>
          <a:lstStyle/>
          <a:p>
            <a:r>
              <a:rPr lang="en-US" sz="2400" b="1" i="1" dirty="0" err="1">
                <a:latin typeface="Times New Roman" pitchFamily="18" charset="0"/>
              </a:rPr>
              <a:t>Giải</a:t>
            </a:r>
            <a:r>
              <a:rPr lang="en-US" sz="2400" b="1" i="1" dirty="0">
                <a:latin typeface="Times New Roman" pitchFamily="18" charset="0"/>
              </a:rPr>
              <a:t> </a:t>
            </a:r>
            <a:r>
              <a:rPr lang="en-US" sz="2400" b="1" i="1" dirty="0" err="1">
                <a:latin typeface="Times New Roman" pitchFamily="18" charset="0"/>
              </a:rPr>
              <a:t>thích</a:t>
            </a:r>
            <a:r>
              <a:rPr lang="en-US" sz="2400" b="1" i="1" dirty="0">
                <a:latin typeface="Times New Roman" pitchFamily="18" charset="0"/>
              </a:rPr>
              <a:t> </a:t>
            </a:r>
            <a:r>
              <a:rPr lang="en-US" sz="2400" b="1" i="1" dirty="0" err="1">
                <a:latin typeface="Times New Roman" pitchFamily="18" charset="0"/>
              </a:rPr>
              <a:t>ba</a:t>
            </a:r>
            <a:r>
              <a:rPr lang="en-US" sz="2400" b="1" i="1" dirty="0">
                <a:latin typeface="Times New Roman" pitchFamily="18" charset="0"/>
              </a:rPr>
              <a:t> </a:t>
            </a:r>
            <a:r>
              <a:rPr lang="en-US" sz="2400" b="1" i="1" dirty="0" err="1">
                <a:latin typeface="Times New Roman" pitchFamily="18" charset="0"/>
              </a:rPr>
              <a:t>định</a:t>
            </a:r>
            <a:r>
              <a:rPr lang="en-US" sz="2400" b="1" i="1" dirty="0">
                <a:latin typeface="Times New Roman" pitchFamily="18" charset="0"/>
              </a:rPr>
              <a:t> </a:t>
            </a:r>
            <a:r>
              <a:rPr lang="en-US" sz="2400" b="1" i="1" dirty="0" err="1">
                <a:latin typeface="Times New Roman" pitchFamily="18" charset="0"/>
              </a:rPr>
              <a:t>luật</a:t>
            </a:r>
            <a:r>
              <a:rPr lang="en-US" sz="2400" b="1" i="1" dirty="0">
                <a:latin typeface="Times New Roman" pitchFamily="18" charset="0"/>
              </a:rPr>
              <a:t> </a:t>
            </a:r>
            <a:r>
              <a:rPr lang="en-US" sz="2400" b="1" i="1" dirty="0" err="1">
                <a:latin typeface="Times New Roman" pitchFamily="18" charset="0"/>
              </a:rPr>
              <a:t>quang</a:t>
            </a:r>
            <a:r>
              <a:rPr lang="en-US" sz="2400" b="1" i="1" dirty="0">
                <a:latin typeface="Times New Roman" pitchFamily="18" charset="0"/>
              </a:rPr>
              <a:t> </a:t>
            </a:r>
            <a:r>
              <a:rPr lang="en-US" sz="2400" b="1" i="1" dirty="0" err="1">
                <a:latin typeface="Times New Roman" pitchFamily="18" charset="0"/>
              </a:rPr>
              <a:t>điện</a:t>
            </a:r>
            <a:endParaRPr lang="en-US" sz="2400" b="1" i="1" dirty="0">
              <a:latin typeface="Times New Roman" pitchFamily="18" charset="0"/>
            </a:endParaRPr>
          </a:p>
        </p:txBody>
      </p:sp>
      <p:sp>
        <p:nvSpPr>
          <p:cNvPr id="3" name="Rectangle 2"/>
          <p:cNvSpPr/>
          <p:nvPr/>
        </p:nvSpPr>
        <p:spPr>
          <a:xfrm>
            <a:off x="76200" y="1147465"/>
            <a:ext cx="8991600" cy="1569660"/>
          </a:xfrm>
          <a:prstGeom prst="rect">
            <a:avLst/>
          </a:prstGeom>
        </p:spPr>
        <p:txBody>
          <a:bodyPr wrap="square">
            <a:spAutoFit/>
          </a:bodyPr>
          <a:lstStyle/>
          <a:p>
            <a:r>
              <a:rPr lang="en-US" sz="2400" dirty="0" err="1">
                <a:latin typeface="Times New Roman" pitchFamily="18" charset="0"/>
              </a:rPr>
              <a:t>Khi</a:t>
            </a:r>
            <a:r>
              <a:rPr lang="en-US" sz="2400" dirty="0">
                <a:latin typeface="Times New Roman" pitchFamily="18" charset="0"/>
              </a:rPr>
              <a:t> </a:t>
            </a:r>
            <a:r>
              <a:rPr lang="en-US" sz="2400" dirty="0" err="1">
                <a:latin typeface="Times New Roman" pitchFamily="18" charset="0"/>
              </a:rPr>
              <a:t>có</a:t>
            </a:r>
            <a:r>
              <a:rPr lang="en-US" sz="2400" dirty="0">
                <a:latin typeface="Times New Roman" pitchFamily="18" charset="0"/>
              </a:rPr>
              <a:t> </a:t>
            </a:r>
            <a:r>
              <a:rPr lang="en-US" sz="2400" dirty="0" err="1">
                <a:latin typeface="Times New Roman" pitchFamily="18" charset="0"/>
              </a:rPr>
              <a:t>một</a:t>
            </a:r>
            <a:r>
              <a:rPr lang="en-US" sz="2400" dirty="0">
                <a:latin typeface="Times New Roman" pitchFamily="18" charset="0"/>
              </a:rPr>
              <a:t> </a:t>
            </a:r>
            <a:r>
              <a:rPr lang="en-US" sz="2400" dirty="0" err="1">
                <a:latin typeface="Times New Roman" pitchFamily="18" charset="0"/>
              </a:rPr>
              <a:t>chùm</a:t>
            </a:r>
            <a:r>
              <a:rPr lang="en-US" sz="2400" dirty="0">
                <a:latin typeface="Times New Roman" pitchFamily="18" charset="0"/>
              </a:rPr>
              <a:t> </a:t>
            </a:r>
            <a:r>
              <a:rPr lang="en-US" sz="2400" dirty="0" err="1">
                <a:latin typeface="Times New Roman" pitchFamily="18" charset="0"/>
              </a:rPr>
              <a:t>ánh</a:t>
            </a:r>
            <a:r>
              <a:rPr lang="en-US" sz="2400" dirty="0">
                <a:latin typeface="Times New Roman" pitchFamily="18" charset="0"/>
              </a:rPr>
              <a:t> </a:t>
            </a:r>
            <a:r>
              <a:rPr lang="en-US" sz="2400" dirty="0" err="1">
                <a:latin typeface="Times New Roman" pitchFamily="18" charset="0"/>
              </a:rPr>
              <a:t>sáng</a:t>
            </a:r>
            <a:r>
              <a:rPr lang="en-US" sz="2400" dirty="0">
                <a:latin typeface="Times New Roman" pitchFamily="18" charset="0"/>
              </a:rPr>
              <a:t> </a:t>
            </a:r>
            <a:r>
              <a:rPr lang="en-US" sz="2400" dirty="0" err="1">
                <a:latin typeface="Times New Roman" pitchFamily="18" charset="0"/>
              </a:rPr>
              <a:t>thích</a:t>
            </a:r>
            <a:r>
              <a:rPr lang="en-US" sz="2400" dirty="0">
                <a:latin typeface="Times New Roman" pitchFamily="18" charset="0"/>
              </a:rPr>
              <a:t> </a:t>
            </a:r>
            <a:r>
              <a:rPr lang="en-US" sz="2400" dirty="0" err="1">
                <a:latin typeface="Times New Roman" pitchFamily="18" charset="0"/>
              </a:rPr>
              <a:t>hợp</a:t>
            </a:r>
            <a:r>
              <a:rPr lang="en-US" sz="2400" dirty="0">
                <a:latin typeface="Times New Roman" pitchFamily="18" charset="0"/>
              </a:rPr>
              <a:t> </a:t>
            </a:r>
            <a:r>
              <a:rPr lang="en-US" sz="2400" dirty="0" err="1">
                <a:latin typeface="Times New Roman" pitchFamily="18" charset="0"/>
              </a:rPr>
              <a:t>chiếu</a:t>
            </a:r>
            <a:r>
              <a:rPr lang="en-US" sz="2400" dirty="0">
                <a:latin typeface="Times New Roman" pitchFamily="18" charset="0"/>
              </a:rPr>
              <a:t> </a:t>
            </a:r>
            <a:r>
              <a:rPr lang="en-US" sz="2400" dirty="0" err="1">
                <a:latin typeface="Times New Roman" pitchFamily="18" charset="0"/>
              </a:rPr>
              <a:t>tới</a:t>
            </a:r>
            <a:r>
              <a:rPr lang="en-US" sz="2400" dirty="0">
                <a:latin typeface="Times New Roman" pitchFamily="18" charset="0"/>
              </a:rPr>
              <a:t> </a:t>
            </a:r>
            <a:r>
              <a:rPr lang="en-US" sz="2400" dirty="0" err="1" smtClean="0">
                <a:latin typeface="Times New Roman" pitchFamily="18" charset="0"/>
              </a:rPr>
              <a:t>catôt</a:t>
            </a:r>
            <a:r>
              <a:rPr lang="en-US" sz="2400" dirty="0" smtClean="0">
                <a:latin typeface="Times New Roman" pitchFamily="18" charset="0"/>
              </a:rPr>
              <a:t>, </a:t>
            </a:r>
            <a:r>
              <a:rPr lang="en-US" sz="2400" dirty="0" err="1" smtClean="0">
                <a:latin typeface="Times New Roman" pitchFamily="18" charset="0"/>
              </a:rPr>
              <a:t>mỗi</a:t>
            </a:r>
            <a:r>
              <a:rPr lang="en-US" sz="2400" dirty="0" smtClean="0">
                <a:latin typeface="Times New Roman" pitchFamily="18" charset="0"/>
              </a:rPr>
              <a:t> </a:t>
            </a:r>
            <a:r>
              <a:rPr lang="en-US" sz="2400" dirty="0">
                <a:latin typeface="Times New Roman" pitchFamily="18" charset="0"/>
              </a:rPr>
              <a:t>e </a:t>
            </a:r>
            <a:r>
              <a:rPr lang="en-US" sz="2400" dirty="0" err="1">
                <a:latin typeface="Times New Roman" pitchFamily="18" charset="0"/>
              </a:rPr>
              <a:t>hấp</a:t>
            </a:r>
            <a:r>
              <a:rPr lang="en-US" sz="2400" dirty="0">
                <a:latin typeface="Times New Roman" pitchFamily="18" charset="0"/>
              </a:rPr>
              <a:t> </a:t>
            </a:r>
            <a:r>
              <a:rPr lang="en-US" sz="2400" dirty="0" err="1">
                <a:latin typeface="Times New Roman" pitchFamily="18" charset="0"/>
              </a:rPr>
              <a:t>thụ</a:t>
            </a:r>
            <a:r>
              <a:rPr lang="en-US" sz="2400" dirty="0">
                <a:latin typeface="Times New Roman" pitchFamily="18" charset="0"/>
              </a:rPr>
              <a:t> 1 </a:t>
            </a:r>
            <a:r>
              <a:rPr lang="en-US" sz="2400" dirty="0" err="1">
                <a:latin typeface="Times New Roman" pitchFamily="18" charset="0"/>
              </a:rPr>
              <a:t>phôtôn</a:t>
            </a:r>
            <a:r>
              <a:rPr lang="en-US" sz="2400" dirty="0">
                <a:latin typeface="Times New Roman" pitchFamily="18" charset="0"/>
              </a:rPr>
              <a:t> </a:t>
            </a:r>
            <a:r>
              <a:rPr lang="en-US" sz="2400" dirty="0" err="1">
                <a:latin typeface="Times New Roman" pitchFamily="18" charset="0"/>
              </a:rPr>
              <a:t>và</a:t>
            </a:r>
            <a:r>
              <a:rPr lang="en-US" sz="2400" dirty="0">
                <a:latin typeface="Times New Roman" pitchFamily="18" charset="0"/>
              </a:rPr>
              <a:t> </a:t>
            </a:r>
            <a:r>
              <a:rPr lang="en-US" sz="2400" dirty="0" err="1" smtClean="0">
                <a:latin typeface="Times New Roman" pitchFamily="18" charset="0"/>
              </a:rPr>
              <a:t>năng</a:t>
            </a:r>
            <a:r>
              <a:rPr lang="en-US" sz="2400" dirty="0" smtClean="0">
                <a:latin typeface="Times New Roman" pitchFamily="18" charset="0"/>
              </a:rPr>
              <a:t> </a:t>
            </a:r>
            <a:r>
              <a:rPr lang="en-US" sz="2400" dirty="0" err="1">
                <a:latin typeface="Times New Roman" pitchFamily="18" charset="0"/>
              </a:rPr>
              <a:t>lượng</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a:t>
            </a:r>
            <a:r>
              <a:rPr lang="en-US" sz="2400" dirty="0" err="1">
                <a:latin typeface="Times New Roman" pitchFamily="18" charset="0"/>
              </a:rPr>
              <a:t>phôtôn</a:t>
            </a:r>
            <a:r>
              <a:rPr lang="en-US" sz="2400" dirty="0">
                <a:latin typeface="Times New Roman" pitchFamily="18" charset="0"/>
              </a:rPr>
              <a:t> </a:t>
            </a:r>
            <a:r>
              <a:rPr lang="en-US" sz="2400" dirty="0" err="1">
                <a:latin typeface="Times New Roman" pitchFamily="18" charset="0"/>
              </a:rPr>
              <a:t>chuyển</a:t>
            </a:r>
            <a:r>
              <a:rPr lang="en-US" sz="2400" dirty="0">
                <a:latin typeface="Times New Roman" pitchFamily="18" charset="0"/>
              </a:rPr>
              <a:t> </a:t>
            </a:r>
            <a:r>
              <a:rPr lang="en-US" sz="2400" dirty="0" err="1">
                <a:latin typeface="Times New Roman" pitchFamily="18" charset="0"/>
              </a:rPr>
              <a:t>thành</a:t>
            </a:r>
            <a:r>
              <a:rPr lang="en-US" sz="2400" dirty="0">
                <a:latin typeface="Times New Roman" pitchFamily="18" charset="0"/>
              </a:rPr>
              <a:t> </a:t>
            </a:r>
            <a:r>
              <a:rPr lang="en-US" sz="2400" dirty="0" err="1">
                <a:latin typeface="Times New Roman" pitchFamily="18" charset="0"/>
              </a:rPr>
              <a:t>công</a:t>
            </a:r>
            <a:r>
              <a:rPr lang="en-US" sz="2400" dirty="0">
                <a:latin typeface="Times New Roman" pitchFamily="18" charset="0"/>
              </a:rPr>
              <a:t> </a:t>
            </a:r>
            <a:r>
              <a:rPr lang="en-US" sz="2400" dirty="0" err="1">
                <a:latin typeface="Times New Roman" pitchFamily="18" charset="0"/>
              </a:rPr>
              <a:t>thoát</a:t>
            </a:r>
            <a:r>
              <a:rPr lang="en-US" sz="2400" dirty="0">
                <a:latin typeface="Times New Roman" pitchFamily="18" charset="0"/>
              </a:rPr>
              <a:t> A </a:t>
            </a:r>
            <a:r>
              <a:rPr lang="en-US" sz="2400" dirty="0" err="1" smtClean="0">
                <a:latin typeface="Times New Roman" pitchFamily="18" charset="0"/>
              </a:rPr>
              <a:t>phần</a:t>
            </a:r>
            <a:r>
              <a:rPr lang="en-US" sz="2400" dirty="0" smtClean="0">
                <a:latin typeface="Times New Roman" pitchFamily="18" charset="0"/>
              </a:rPr>
              <a:t> </a:t>
            </a:r>
            <a:r>
              <a:rPr lang="en-US" sz="2400" dirty="0" err="1" smtClean="0">
                <a:latin typeface="Times New Roman" pitchFamily="18" charset="0"/>
              </a:rPr>
              <a:t>còn</a:t>
            </a:r>
            <a:r>
              <a:rPr lang="en-US" sz="2400" dirty="0" smtClean="0">
                <a:latin typeface="Times New Roman" pitchFamily="18" charset="0"/>
              </a:rPr>
              <a:t> </a:t>
            </a:r>
            <a:r>
              <a:rPr lang="en-US" sz="2400" dirty="0" err="1">
                <a:latin typeface="Times New Roman" pitchFamily="18" charset="0"/>
              </a:rPr>
              <a:t>lại</a:t>
            </a:r>
            <a:r>
              <a:rPr lang="en-US" sz="2400" dirty="0">
                <a:latin typeface="Times New Roman" pitchFamily="18" charset="0"/>
              </a:rPr>
              <a:t> </a:t>
            </a:r>
            <a:r>
              <a:rPr lang="en-US" sz="2400" dirty="0" err="1">
                <a:latin typeface="Times New Roman" pitchFamily="18" charset="0"/>
              </a:rPr>
              <a:t>biến</a:t>
            </a:r>
            <a:r>
              <a:rPr lang="en-US" sz="2400" dirty="0">
                <a:latin typeface="Times New Roman" pitchFamily="18" charset="0"/>
              </a:rPr>
              <a:t> </a:t>
            </a:r>
            <a:r>
              <a:rPr lang="en-US" sz="2400" dirty="0" err="1">
                <a:latin typeface="Times New Roman" pitchFamily="18" charset="0"/>
              </a:rPr>
              <a:t>thành</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năng</a:t>
            </a:r>
            <a:r>
              <a:rPr lang="en-US" sz="2400" dirty="0">
                <a:latin typeface="Times New Roman" pitchFamily="18" charset="0"/>
              </a:rPr>
              <a:t> ban </a:t>
            </a:r>
            <a:r>
              <a:rPr lang="en-US" sz="2400" dirty="0" err="1">
                <a:latin typeface="Times New Roman" pitchFamily="18" charset="0"/>
              </a:rPr>
              <a:t>đầu</a:t>
            </a:r>
            <a:r>
              <a:rPr lang="en-US" sz="2400" dirty="0">
                <a:latin typeface="Times New Roman" pitchFamily="18" charset="0"/>
              </a:rPr>
              <a:t> </a:t>
            </a:r>
            <a:r>
              <a:rPr lang="en-US" sz="2400" dirty="0" err="1">
                <a:latin typeface="Times New Roman" pitchFamily="18" charset="0"/>
              </a:rPr>
              <a:t>của</a:t>
            </a:r>
            <a:r>
              <a:rPr lang="en-US" sz="2400" dirty="0">
                <a:latin typeface="Times New Roman" pitchFamily="18" charset="0"/>
              </a:rPr>
              <a:t> e, </a:t>
            </a:r>
            <a:r>
              <a:rPr lang="en-US" sz="2400" dirty="0" err="1">
                <a:latin typeface="Times New Roman" pitchFamily="18" charset="0"/>
              </a:rPr>
              <a:t>đối</a:t>
            </a:r>
            <a:r>
              <a:rPr lang="en-US" sz="2400" dirty="0">
                <a:latin typeface="Times New Roman" pitchFamily="18" charset="0"/>
              </a:rPr>
              <a:t> </a:t>
            </a:r>
            <a:r>
              <a:rPr lang="en-US" sz="2400" dirty="0" err="1">
                <a:latin typeface="Times New Roman" pitchFamily="18" charset="0"/>
              </a:rPr>
              <a:t>với</a:t>
            </a:r>
            <a:r>
              <a:rPr lang="en-US" sz="2400" dirty="0">
                <a:latin typeface="Times New Roman" pitchFamily="18" charset="0"/>
              </a:rPr>
              <a:t> </a:t>
            </a:r>
            <a:r>
              <a:rPr lang="en-US" sz="2400" dirty="0" err="1">
                <a:latin typeface="Times New Roman" pitchFamily="18" charset="0"/>
              </a:rPr>
              <a:t>các</a:t>
            </a:r>
            <a:r>
              <a:rPr lang="en-US" sz="2400" dirty="0">
                <a:latin typeface="Times New Roman" pitchFamily="18" charset="0"/>
              </a:rPr>
              <a:t> e ở </a:t>
            </a:r>
            <a:r>
              <a:rPr lang="en-US" sz="2400" dirty="0" err="1" smtClean="0">
                <a:latin typeface="Times New Roman" pitchFamily="18" charset="0"/>
              </a:rPr>
              <a:t>sát</a:t>
            </a:r>
            <a:r>
              <a:rPr lang="en-US" sz="2400" dirty="0" smtClean="0">
                <a:latin typeface="Times New Roman" pitchFamily="18" charset="0"/>
              </a:rPr>
              <a:t> </a:t>
            </a:r>
            <a:r>
              <a:rPr lang="en-US" sz="2400" dirty="0" err="1">
                <a:latin typeface="Times New Roman" pitchFamily="18" charset="0"/>
              </a:rPr>
              <a:t>bề</a:t>
            </a:r>
            <a:r>
              <a:rPr lang="en-US" sz="2400" dirty="0">
                <a:latin typeface="Times New Roman" pitchFamily="18" charset="0"/>
              </a:rPr>
              <a:t> </a:t>
            </a:r>
            <a:r>
              <a:rPr lang="en-US" sz="2400" dirty="0" err="1">
                <a:latin typeface="Times New Roman" pitchFamily="18" charset="0"/>
              </a:rPr>
              <a:t>mặt</a:t>
            </a:r>
            <a:r>
              <a:rPr lang="en-US" sz="2400" dirty="0">
                <a:latin typeface="Times New Roman" pitchFamily="18" charset="0"/>
              </a:rPr>
              <a:t> </a:t>
            </a:r>
            <a:r>
              <a:rPr lang="en-US" sz="2400" dirty="0" err="1">
                <a:latin typeface="Times New Roman" pitchFamily="18" charset="0"/>
              </a:rPr>
              <a:t>kim</a:t>
            </a:r>
            <a:r>
              <a:rPr lang="en-US" sz="2400" dirty="0">
                <a:latin typeface="Times New Roman" pitchFamily="18" charset="0"/>
              </a:rPr>
              <a:t> </a:t>
            </a:r>
            <a:r>
              <a:rPr lang="en-US" sz="2400" dirty="0" err="1">
                <a:latin typeface="Times New Roman" pitchFamily="18" charset="0"/>
              </a:rPr>
              <a:t>loại</a:t>
            </a:r>
            <a:r>
              <a:rPr lang="en-US" sz="2400" dirty="0">
                <a:latin typeface="Times New Roman" pitchFamily="18" charset="0"/>
              </a:rPr>
              <a:t> </a:t>
            </a:r>
            <a:r>
              <a:rPr lang="en-US" sz="2400" dirty="0" err="1">
                <a:latin typeface="Times New Roman" pitchFamily="18" charset="0"/>
              </a:rPr>
              <a:t>thì</a:t>
            </a:r>
            <a:r>
              <a:rPr lang="en-US" sz="2400" dirty="0">
                <a:latin typeface="Times New Roman" pitchFamily="18" charset="0"/>
              </a:rPr>
              <a:t> </a:t>
            </a:r>
            <a:r>
              <a:rPr lang="en-US" sz="2400" dirty="0" err="1">
                <a:latin typeface="Times New Roman" pitchFamily="18" charset="0"/>
              </a:rPr>
              <a:t>động</a:t>
            </a:r>
            <a:r>
              <a:rPr lang="en-US" sz="2400" dirty="0">
                <a:latin typeface="Times New Roman" pitchFamily="18" charset="0"/>
              </a:rPr>
              <a:t> </a:t>
            </a:r>
            <a:r>
              <a:rPr lang="en-US" sz="2400" dirty="0" err="1">
                <a:latin typeface="Times New Roman" pitchFamily="18" charset="0"/>
              </a:rPr>
              <a:t>năng</a:t>
            </a:r>
            <a:r>
              <a:rPr lang="en-US" sz="2400" dirty="0">
                <a:latin typeface="Times New Roman" pitchFamily="18" charset="0"/>
              </a:rPr>
              <a:t> </a:t>
            </a:r>
            <a:r>
              <a:rPr lang="en-US" sz="2400" dirty="0" err="1">
                <a:latin typeface="Times New Roman" pitchFamily="18" charset="0"/>
              </a:rPr>
              <a:t>này</a:t>
            </a:r>
            <a:r>
              <a:rPr lang="en-US" sz="2400" dirty="0">
                <a:latin typeface="Times New Roman" pitchFamily="18" charset="0"/>
              </a:rPr>
              <a:t> </a:t>
            </a:r>
            <a:r>
              <a:rPr lang="en-US" sz="2400" dirty="0" err="1">
                <a:latin typeface="Times New Roman" pitchFamily="18" charset="0"/>
              </a:rPr>
              <a:t>là</a:t>
            </a:r>
            <a:r>
              <a:rPr lang="en-US" sz="2400" dirty="0">
                <a:latin typeface="Times New Roman" pitchFamily="18" charset="0"/>
              </a:rPr>
              <a:t> </a:t>
            </a:r>
            <a:r>
              <a:rPr lang="en-US" sz="2400" dirty="0" err="1">
                <a:latin typeface="Times New Roman" pitchFamily="18" charset="0"/>
              </a:rPr>
              <a:t>lớn</a:t>
            </a:r>
            <a:r>
              <a:rPr lang="en-US" sz="2400" dirty="0">
                <a:latin typeface="Times New Roman" pitchFamily="18" charset="0"/>
              </a:rPr>
              <a:t> </a:t>
            </a:r>
            <a:r>
              <a:rPr lang="en-US" sz="2400" dirty="0" err="1">
                <a:latin typeface="Times New Roman" pitchFamily="18" charset="0"/>
              </a:rPr>
              <a:t>nhất</a:t>
            </a:r>
            <a:endParaRPr lang="en-US" sz="2400" dirty="0">
              <a:latin typeface="Times New Roman" pitchFamily="18"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291014975"/>
              </p:ext>
            </p:extLst>
          </p:nvPr>
        </p:nvGraphicFramePr>
        <p:xfrm>
          <a:off x="2992438" y="2846388"/>
          <a:ext cx="2676525" cy="792162"/>
        </p:xfrm>
        <a:graphic>
          <a:graphicData uri="http://schemas.openxmlformats.org/presentationml/2006/ole">
            <mc:AlternateContent xmlns:mc="http://schemas.openxmlformats.org/markup-compatibility/2006">
              <mc:Choice xmlns:v="urn:schemas-microsoft-com:vml" Requires="v">
                <p:oleObj spid="_x0000_s11437" name="Equation" r:id="rId3" imgW="1307880" imgH="393480" progId="Equation.3">
                  <p:embed/>
                </p:oleObj>
              </mc:Choice>
              <mc:Fallback>
                <p:oleObj name="Equation" r:id="rId3" imgW="1307880" imgH="393480" progId="Equation.3">
                  <p:embed/>
                  <p:pic>
                    <p:nvPicPr>
                      <p:cNvPr id="0" name="Object 4"/>
                      <p:cNvPicPr>
                        <a:picLocks noChangeAspect="1" noChangeArrowheads="1"/>
                      </p:cNvPicPr>
                      <p:nvPr/>
                    </p:nvPicPr>
                    <p:blipFill>
                      <a:blip r:embed="rId4"/>
                      <a:srcRect/>
                      <a:stretch>
                        <a:fillRect/>
                      </a:stretch>
                    </p:blipFill>
                    <p:spPr bwMode="auto">
                      <a:xfrm>
                        <a:off x="2992438" y="2846388"/>
                        <a:ext cx="2676525" cy="792162"/>
                      </a:xfrm>
                      <a:prstGeom prst="rect">
                        <a:avLst/>
                      </a:prstGeom>
                      <a:noFill/>
                      <a:ln>
                        <a:noFill/>
                      </a:ln>
                    </p:spPr>
                  </p:pic>
                </p:oleObj>
              </mc:Fallback>
            </mc:AlternateContent>
          </a:graphicData>
        </a:graphic>
      </p:graphicFrame>
      <p:sp>
        <p:nvSpPr>
          <p:cNvPr id="8" name="Rectangle 7"/>
          <p:cNvSpPr/>
          <p:nvPr/>
        </p:nvSpPr>
        <p:spPr>
          <a:xfrm>
            <a:off x="0" y="3505200"/>
            <a:ext cx="2757486" cy="430887"/>
          </a:xfrm>
          <a:prstGeom prst="rect">
            <a:avLst/>
          </a:prstGeom>
        </p:spPr>
        <p:txBody>
          <a:bodyPr wrap="none">
            <a:spAutoFit/>
          </a:bodyPr>
          <a:lstStyle/>
          <a:p>
            <a:r>
              <a:rPr lang="en-US" sz="2200" b="1" i="1" dirty="0" err="1">
                <a:latin typeface="Times New Roman" pitchFamily="18" charset="0"/>
              </a:rPr>
              <a:t>Giải</a:t>
            </a:r>
            <a:r>
              <a:rPr lang="en-US" sz="2200" b="1" i="1" dirty="0">
                <a:latin typeface="Times New Roman" pitchFamily="18" charset="0"/>
              </a:rPr>
              <a:t> </a:t>
            </a:r>
            <a:r>
              <a:rPr lang="en-US" sz="2200" b="1" i="1" dirty="0" err="1">
                <a:latin typeface="Times New Roman" pitchFamily="18" charset="0"/>
              </a:rPr>
              <a:t>thích</a:t>
            </a:r>
            <a:r>
              <a:rPr lang="en-US" sz="2200" b="1" i="1" dirty="0">
                <a:latin typeface="Times New Roman" pitchFamily="18" charset="0"/>
              </a:rPr>
              <a:t> </a:t>
            </a:r>
            <a:r>
              <a:rPr lang="en-US" sz="2200" b="1" i="1" dirty="0" err="1">
                <a:latin typeface="Times New Roman" pitchFamily="18" charset="0"/>
              </a:rPr>
              <a:t>định</a:t>
            </a:r>
            <a:r>
              <a:rPr lang="en-US" sz="2200" b="1" i="1" dirty="0">
                <a:latin typeface="Times New Roman" pitchFamily="18" charset="0"/>
              </a:rPr>
              <a:t> </a:t>
            </a:r>
            <a:r>
              <a:rPr lang="en-US" sz="2200" b="1" i="1" dirty="0" err="1">
                <a:latin typeface="Times New Roman" pitchFamily="18" charset="0"/>
              </a:rPr>
              <a:t>luật</a:t>
            </a:r>
            <a:r>
              <a:rPr lang="en-US" sz="2200" b="1" i="1" dirty="0">
                <a:latin typeface="Times New Roman" pitchFamily="18" charset="0"/>
              </a:rPr>
              <a:t> I:</a:t>
            </a:r>
          </a:p>
        </p:txBody>
      </p:sp>
      <p:graphicFrame>
        <p:nvGraphicFramePr>
          <p:cNvPr id="9" name="Object 8"/>
          <p:cNvGraphicFramePr>
            <a:graphicFrameLocks noChangeAspect="1"/>
          </p:cNvGraphicFramePr>
          <p:nvPr>
            <p:extLst>
              <p:ext uri="{D42A27DB-BD31-4B8C-83A1-F6EECF244321}">
                <p14:modId xmlns:p14="http://schemas.microsoft.com/office/powerpoint/2010/main" val="712889315"/>
              </p:ext>
            </p:extLst>
          </p:nvPr>
        </p:nvGraphicFramePr>
        <p:xfrm>
          <a:off x="2071688" y="3935413"/>
          <a:ext cx="4138612" cy="706437"/>
        </p:xfrm>
        <a:graphic>
          <a:graphicData uri="http://schemas.openxmlformats.org/presentationml/2006/ole">
            <mc:AlternateContent xmlns:mc="http://schemas.openxmlformats.org/markup-compatibility/2006">
              <mc:Choice xmlns:v="urn:schemas-microsoft-com:vml" Requires="v">
                <p:oleObj spid="_x0000_s11438" name="Equation" r:id="rId5" imgW="2286000" imgH="393480" progId="Equation.3">
                  <p:embed/>
                </p:oleObj>
              </mc:Choice>
              <mc:Fallback>
                <p:oleObj name="Equation" r:id="rId5" imgW="2286000" imgH="393480" progId="Equation.3">
                  <p:embed/>
                  <p:pic>
                    <p:nvPicPr>
                      <p:cNvPr id="0" name="Object 4"/>
                      <p:cNvPicPr>
                        <a:picLocks noChangeAspect="1" noChangeArrowheads="1"/>
                      </p:cNvPicPr>
                      <p:nvPr/>
                    </p:nvPicPr>
                    <p:blipFill>
                      <a:blip r:embed="rId6"/>
                      <a:srcRect/>
                      <a:stretch>
                        <a:fillRect/>
                      </a:stretch>
                    </p:blipFill>
                    <p:spPr bwMode="auto">
                      <a:xfrm>
                        <a:off x="2071688" y="3935413"/>
                        <a:ext cx="4138612" cy="706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0" name="Rectangle 9"/>
          <p:cNvSpPr/>
          <p:nvPr/>
        </p:nvSpPr>
        <p:spPr>
          <a:xfrm>
            <a:off x="38100" y="4572000"/>
            <a:ext cx="9029700" cy="769441"/>
          </a:xfrm>
          <a:prstGeom prst="rect">
            <a:avLst/>
          </a:prstGeom>
        </p:spPr>
        <p:txBody>
          <a:bodyPr wrap="square">
            <a:spAutoFit/>
          </a:bodyPr>
          <a:lstStyle/>
          <a:p>
            <a:r>
              <a:rPr lang="en-US" sz="2200" b="1" i="1" dirty="0" err="1">
                <a:latin typeface="Times New Roman" pitchFamily="18" charset="0"/>
              </a:rPr>
              <a:t>Giải</a:t>
            </a:r>
            <a:r>
              <a:rPr lang="en-US" sz="2200" b="1" i="1" dirty="0">
                <a:latin typeface="Times New Roman" pitchFamily="18" charset="0"/>
              </a:rPr>
              <a:t> </a:t>
            </a:r>
            <a:r>
              <a:rPr lang="en-US" sz="2200" b="1" i="1" dirty="0" err="1">
                <a:latin typeface="Times New Roman" pitchFamily="18" charset="0"/>
              </a:rPr>
              <a:t>thích</a:t>
            </a:r>
            <a:r>
              <a:rPr lang="en-US" sz="2200" b="1" i="1" dirty="0">
                <a:latin typeface="Times New Roman" pitchFamily="18" charset="0"/>
              </a:rPr>
              <a:t> </a:t>
            </a:r>
            <a:r>
              <a:rPr lang="en-US" sz="2200" b="1" i="1" dirty="0" err="1">
                <a:latin typeface="Times New Roman" pitchFamily="18" charset="0"/>
              </a:rPr>
              <a:t>định</a:t>
            </a:r>
            <a:r>
              <a:rPr lang="en-US" sz="2200" b="1" i="1" dirty="0">
                <a:latin typeface="Times New Roman" pitchFamily="18" charset="0"/>
              </a:rPr>
              <a:t> </a:t>
            </a:r>
            <a:r>
              <a:rPr lang="en-US" sz="2200" b="1" i="1" dirty="0" err="1">
                <a:latin typeface="Times New Roman" pitchFamily="18" charset="0"/>
              </a:rPr>
              <a:t>luật</a:t>
            </a:r>
            <a:r>
              <a:rPr lang="en-US" sz="2200" b="1" i="1" dirty="0">
                <a:latin typeface="Times New Roman" pitchFamily="18" charset="0"/>
              </a:rPr>
              <a:t> II</a:t>
            </a:r>
            <a:r>
              <a:rPr lang="en-US" sz="2200" dirty="0">
                <a:latin typeface="Times New Roman" pitchFamily="18" charset="0"/>
              </a:rPr>
              <a:t>: </a:t>
            </a:r>
            <a:r>
              <a:rPr lang="en-US" sz="2200" dirty="0" err="1">
                <a:latin typeface="Times New Roman" pitchFamily="18" charset="0"/>
              </a:rPr>
              <a:t>số</a:t>
            </a:r>
            <a:r>
              <a:rPr lang="en-US" sz="2200" dirty="0">
                <a:latin typeface="Times New Roman" pitchFamily="18" charset="0"/>
              </a:rPr>
              <a:t> </a:t>
            </a:r>
            <a:r>
              <a:rPr lang="en-US" sz="2200" dirty="0" err="1">
                <a:latin typeface="Times New Roman" pitchFamily="18" charset="0"/>
              </a:rPr>
              <a:t>quang</a:t>
            </a:r>
            <a:r>
              <a:rPr lang="en-US" sz="2200" dirty="0">
                <a:latin typeface="Times New Roman" pitchFamily="18" charset="0"/>
              </a:rPr>
              <a:t> e </a:t>
            </a:r>
            <a:r>
              <a:rPr lang="en-US" sz="2200" dirty="0" err="1">
                <a:latin typeface="Times New Roman" pitchFamily="18" charset="0"/>
              </a:rPr>
              <a:t>thoát</a:t>
            </a:r>
            <a:r>
              <a:rPr lang="en-US" sz="2200" dirty="0">
                <a:latin typeface="Times New Roman" pitchFamily="18" charset="0"/>
              </a:rPr>
              <a:t> </a:t>
            </a:r>
            <a:r>
              <a:rPr lang="en-US" sz="2200" dirty="0" err="1">
                <a:latin typeface="Times New Roman" pitchFamily="18" charset="0"/>
              </a:rPr>
              <a:t>ra</a:t>
            </a:r>
            <a:r>
              <a:rPr lang="en-US" sz="2200" dirty="0">
                <a:latin typeface="Times New Roman" pitchFamily="18" charset="0"/>
              </a:rPr>
              <a:t> </a:t>
            </a:r>
            <a:r>
              <a:rPr lang="en-US" sz="2200" dirty="0" err="1">
                <a:latin typeface="Times New Roman" pitchFamily="18" charset="0"/>
              </a:rPr>
              <a:t>khỏi</a:t>
            </a:r>
            <a:r>
              <a:rPr lang="en-US" sz="2200" dirty="0">
                <a:latin typeface="Times New Roman" pitchFamily="18" charset="0"/>
              </a:rPr>
              <a:t> </a:t>
            </a:r>
            <a:r>
              <a:rPr lang="en-US" sz="2200" dirty="0" err="1">
                <a:latin typeface="Times New Roman" pitchFamily="18" charset="0"/>
              </a:rPr>
              <a:t>katôt</a:t>
            </a:r>
            <a:r>
              <a:rPr lang="en-US" sz="2200" dirty="0">
                <a:latin typeface="Times New Roman" pitchFamily="18" charset="0"/>
              </a:rPr>
              <a:t> </a:t>
            </a:r>
            <a:r>
              <a:rPr lang="en-US" sz="2200" dirty="0" err="1">
                <a:latin typeface="Times New Roman" pitchFamily="18" charset="0"/>
              </a:rPr>
              <a:t>tỉ</a:t>
            </a:r>
            <a:r>
              <a:rPr lang="en-US" sz="2200" dirty="0">
                <a:latin typeface="Times New Roman" pitchFamily="18" charset="0"/>
              </a:rPr>
              <a:t> </a:t>
            </a:r>
            <a:r>
              <a:rPr lang="en-US" sz="2200" dirty="0" err="1" smtClean="0">
                <a:latin typeface="Times New Roman" pitchFamily="18" charset="0"/>
              </a:rPr>
              <a:t>lệ</a:t>
            </a:r>
            <a:r>
              <a:rPr lang="en-US" sz="2200" dirty="0" smtClean="0">
                <a:latin typeface="Times New Roman" pitchFamily="18" charset="0"/>
              </a:rPr>
              <a:t> </a:t>
            </a:r>
            <a:r>
              <a:rPr lang="en-US" sz="2200" dirty="0" err="1">
                <a:latin typeface="Times New Roman" pitchFamily="18" charset="0"/>
              </a:rPr>
              <a:t>với</a:t>
            </a:r>
            <a:r>
              <a:rPr lang="en-US" sz="2200" dirty="0">
                <a:latin typeface="Times New Roman" pitchFamily="18" charset="0"/>
              </a:rPr>
              <a:t> </a:t>
            </a:r>
            <a:r>
              <a:rPr lang="en-US" sz="2200" dirty="0" err="1">
                <a:latin typeface="Times New Roman" pitchFamily="18" charset="0"/>
              </a:rPr>
              <a:t>số</a:t>
            </a:r>
            <a:r>
              <a:rPr lang="en-US" sz="2200" dirty="0">
                <a:latin typeface="Times New Roman" pitchFamily="18" charset="0"/>
              </a:rPr>
              <a:t> </a:t>
            </a:r>
            <a:r>
              <a:rPr lang="en-US" sz="2200" dirty="0" err="1">
                <a:latin typeface="Times New Roman" pitchFamily="18" charset="0"/>
              </a:rPr>
              <a:t>phôtôn</a:t>
            </a:r>
            <a:r>
              <a:rPr lang="en-US" sz="2200" dirty="0">
                <a:latin typeface="Times New Roman" pitchFamily="18" charset="0"/>
              </a:rPr>
              <a:t> </a:t>
            </a:r>
            <a:r>
              <a:rPr lang="en-US" sz="2200" dirty="0" err="1">
                <a:latin typeface="Times New Roman" pitchFamily="18" charset="0"/>
              </a:rPr>
              <a:t>bị</a:t>
            </a:r>
            <a:r>
              <a:rPr lang="en-US" sz="2200" dirty="0">
                <a:latin typeface="Times New Roman" pitchFamily="18" charset="0"/>
              </a:rPr>
              <a:t> </a:t>
            </a:r>
            <a:r>
              <a:rPr lang="en-US" sz="2200" dirty="0" err="1">
                <a:latin typeface="Times New Roman" pitchFamily="18" charset="0"/>
              </a:rPr>
              <a:t>hấp</a:t>
            </a:r>
            <a:r>
              <a:rPr lang="en-US" sz="2200" dirty="0">
                <a:latin typeface="Times New Roman" pitchFamily="18" charset="0"/>
              </a:rPr>
              <a:t> </a:t>
            </a:r>
            <a:r>
              <a:rPr lang="en-US" sz="2200" dirty="0" err="1">
                <a:latin typeface="Times New Roman" pitchFamily="18" charset="0"/>
              </a:rPr>
              <a:t>thụ</a:t>
            </a:r>
            <a:r>
              <a:rPr lang="en-US" sz="2200" dirty="0">
                <a:latin typeface="Times New Roman" pitchFamily="18" charset="0"/>
              </a:rPr>
              <a:t>; </a:t>
            </a:r>
            <a:r>
              <a:rPr lang="en-US" sz="2200" dirty="0" err="1">
                <a:latin typeface="Times New Roman" pitchFamily="18" charset="0"/>
              </a:rPr>
              <a:t>số</a:t>
            </a:r>
            <a:r>
              <a:rPr lang="en-US" sz="2200" dirty="0">
                <a:latin typeface="Times New Roman" pitchFamily="18" charset="0"/>
              </a:rPr>
              <a:t> </a:t>
            </a:r>
            <a:r>
              <a:rPr lang="en-US" sz="2200" dirty="0" err="1">
                <a:latin typeface="Times New Roman" pitchFamily="18" charset="0"/>
              </a:rPr>
              <a:t>phôtôn</a:t>
            </a:r>
            <a:r>
              <a:rPr lang="en-US" sz="2200" dirty="0">
                <a:latin typeface="Times New Roman" pitchFamily="18" charset="0"/>
              </a:rPr>
              <a:t> </a:t>
            </a:r>
            <a:r>
              <a:rPr lang="en-US" sz="2200" dirty="0" err="1">
                <a:latin typeface="Times New Roman" pitchFamily="18" charset="0"/>
              </a:rPr>
              <a:t>này</a:t>
            </a:r>
            <a:r>
              <a:rPr lang="en-US" sz="2200" dirty="0">
                <a:latin typeface="Times New Roman" pitchFamily="18" charset="0"/>
              </a:rPr>
              <a:t> </a:t>
            </a:r>
            <a:r>
              <a:rPr lang="en-US" sz="2200" dirty="0" err="1">
                <a:latin typeface="Times New Roman" pitchFamily="18" charset="0"/>
              </a:rPr>
              <a:t>lại</a:t>
            </a:r>
            <a:r>
              <a:rPr lang="en-US" sz="2200" dirty="0">
                <a:latin typeface="Times New Roman" pitchFamily="18" charset="0"/>
              </a:rPr>
              <a:t> </a:t>
            </a:r>
            <a:r>
              <a:rPr lang="en-US" sz="2200" dirty="0" err="1">
                <a:latin typeface="Times New Roman" pitchFamily="18" charset="0"/>
              </a:rPr>
              <a:t>tỷ</a:t>
            </a:r>
            <a:r>
              <a:rPr lang="en-US" sz="2200" dirty="0">
                <a:latin typeface="Times New Roman" pitchFamily="18" charset="0"/>
              </a:rPr>
              <a:t> </a:t>
            </a:r>
            <a:r>
              <a:rPr lang="en-US" sz="2200" dirty="0" err="1">
                <a:latin typeface="Times New Roman" pitchFamily="18" charset="0"/>
              </a:rPr>
              <a:t>lệ</a:t>
            </a:r>
            <a:r>
              <a:rPr lang="en-US" sz="2200" dirty="0">
                <a:latin typeface="Times New Roman" pitchFamily="18" charset="0"/>
              </a:rPr>
              <a:t> </a:t>
            </a:r>
            <a:r>
              <a:rPr lang="en-US" sz="2200" dirty="0" err="1">
                <a:latin typeface="Times New Roman" pitchFamily="18" charset="0"/>
              </a:rPr>
              <a:t>với</a:t>
            </a:r>
            <a:r>
              <a:rPr lang="en-US" sz="2200" dirty="0">
                <a:latin typeface="Times New Roman" pitchFamily="18" charset="0"/>
              </a:rPr>
              <a:t> </a:t>
            </a:r>
            <a:r>
              <a:rPr lang="en-US" sz="2200" dirty="0" err="1" smtClean="0">
                <a:latin typeface="Times New Roman" pitchFamily="18" charset="0"/>
              </a:rPr>
              <a:t>cường</a:t>
            </a:r>
            <a:r>
              <a:rPr lang="en-US" sz="2200" dirty="0" smtClean="0">
                <a:latin typeface="Times New Roman" pitchFamily="18" charset="0"/>
              </a:rPr>
              <a:t> </a:t>
            </a:r>
            <a:r>
              <a:rPr lang="en-US" sz="2200" dirty="0" err="1" smtClean="0">
                <a:latin typeface="Times New Roman" pitchFamily="18" charset="0"/>
              </a:rPr>
              <a:t>độ</a:t>
            </a:r>
            <a:r>
              <a:rPr lang="en-US" sz="2200" dirty="0" smtClean="0">
                <a:latin typeface="Times New Roman" pitchFamily="18" charset="0"/>
              </a:rPr>
              <a:t> </a:t>
            </a:r>
            <a:r>
              <a:rPr lang="en-US" sz="2200" dirty="0" err="1">
                <a:latin typeface="Times New Roman" pitchFamily="18" charset="0"/>
              </a:rPr>
              <a:t>chùm</a:t>
            </a:r>
            <a:r>
              <a:rPr lang="en-US" sz="2200" dirty="0">
                <a:latin typeface="Times New Roman" pitchFamily="18" charset="0"/>
              </a:rPr>
              <a:t> </a:t>
            </a:r>
            <a:r>
              <a:rPr lang="en-US" sz="2200" dirty="0" err="1">
                <a:latin typeface="Times New Roman" pitchFamily="18" charset="0"/>
              </a:rPr>
              <a:t>bức</a:t>
            </a:r>
            <a:r>
              <a:rPr lang="en-US" sz="2200" dirty="0">
                <a:latin typeface="Times New Roman" pitchFamily="18" charset="0"/>
              </a:rPr>
              <a:t> </a:t>
            </a:r>
            <a:r>
              <a:rPr lang="en-US" sz="2200" dirty="0" err="1" smtClean="0">
                <a:latin typeface="Times New Roman" pitchFamily="18" charset="0"/>
              </a:rPr>
              <a:t>xạ</a:t>
            </a:r>
            <a:r>
              <a:rPr lang="en-US" sz="2200" dirty="0">
                <a:latin typeface="Times New Roman" pitchFamily="18" charset="0"/>
              </a:rPr>
              <a:t>.</a:t>
            </a:r>
          </a:p>
        </p:txBody>
      </p:sp>
      <p:sp>
        <p:nvSpPr>
          <p:cNvPr id="11" name="Rectangle 10"/>
          <p:cNvSpPr/>
          <p:nvPr/>
        </p:nvSpPr>
        <p:spPr>
          <a:xfrm>
            <a:off x="76200" y="5410200"/>
            <a:ext cx="2975495" cy="430887"/>
          </a:xfrm>
          <a:prstGeom prst="rect">
            <a:avLst/>
          </a:prstGeom>
        </p:spPr>
        <p:txBody>
          <a:bodyPr wrap="none">
            <a:spAutoFit/>
          </a:bodyPr>
          <a:lstStyle/>
          <a:p>
            <a:r>
              <a:rPr lang="en-US" sz="2200" b="1" i="1" dirty="0" err="1">
                <a:latin typeface="Times New Roman" pitchFamily="18" charset="0"/>
              </a:rPr>
              <a:t>Giải</a:t>
            </a:r>
            <a:r>
              <a:rPr lang="en-US" sz="2200" b="1" i="1" dirty="0">
                <a:latin typeface="Times New Roman" pitchFamily="18" charset="0"/>
              </a:rPr>
              <a:t> </a:t>
            </a:r>
            <a:r>
              <a:rPr lang="en-US" sz="2200" b="1" i="1" dirty="0" err="1">
                <a:latin typeface="Times New Roman" pitchFamily="18" charset="0"/>
              </a:rPr>
              <a:t>thích</a:t>
            </a:r>
            <a:r>
              <a:rPr lang="en-US" sz="2200" b="1" i="1" dirty="0">
                <a:latin typeface="Times New Roman" pitchFamily="18" charset="0"/>
              </a:rPr>
              <a:t> </a:t>
            </a:r>
            <a:r>
              <a:rPr lang="en-US" sz="2200" b="1" i="1" dirty="0" err="1">
                <a:latin typeface="Times New Roman" pitchFamily="18" charset="0"/>
              </a:rPr>
              <a:t>định</a:t>
            </a:r>
            <a:r>
              <a:rPr lang="en-US" sz="2200" b="1" i="1" dirty="0">
                <a:latin typeface="Times New Roman" pitchFamily="18" charset="0"/>
              </a:rPr>
              <a:t> </a:t>
            </a:r>
            <a:r>
              <a:rPr lang="en-US" sz="2200" b="1" i="1" dirty="0" err="1">
                <a:latin typeface="Times New Roman" pitchFamily="18" charset="0"/>
              </a:rPr>
              <a:t>luật</a:t>
            </a:r>
            <a:r>
              <a:rPr lang="en-US" sz="2200" b="1" i="1" dirty="0">
                <a:latin typeface="Times New Roman" pitchFamily="18" charset="0"/>
              </a:rPr>
              <a:t> </a:t>
            </a:r>
            <a:r>
              <a:rPr lang="en-US" sz="2200" b="1" i="1" dirty="0" smtClean="0">
                <a:latin typeface="Times New Roman" pitchFamily="18" charset="0"/>
              </a:rPr>
              <a:t>III:</a:t>
            </a:r>
            <a:endParaRPr lang="en-US" sz="2200" dirty="0"/>
          </a:p>
        </p:txBody>
      </p:sp>
      <p:graphicFrame>
        <p:nvGraphicFramePr>
          <p:cNvPr id="12" name="Object 11"/>
          <p:cNvGraphicFramePr>
            <a:graphicFrameLocks noChangeAspect="1"/>
          </p:cNvGraphicFramePr>
          <p:nvPr>
            <p:extLst>
              <p:ext uri="{D42A27DB-BD31-4B8C-83A1-F6EECF244321}">
                <p14:modId xmlns:p14="http://schemas.microsoft.com/office/powerpoint/2010/main" val="2517377248"/>
              </p:ext>
            </p:extLst>
          </p:nvPr>
        </p:nvGraphicFramePr>
        <p:xfrm>
          <a:off x="3671888" y="5845175"/>
          <a:ext cx="2184400" cy="841375"/>
        </p:xfrm>
        <a:graphic>
          <a:graphicData uri="http://schemas.openxmlformats.org/presentationml/2006/ole">
            <mc:AlternateContent xmlns:mc="http://schemas.openxmlformats.org/markup-compatibility/2006">
              <mc:Choice xmlns:v="urn:schemas-microsoft-com:vml" Requires="v">
                <p:oleObj spid="_x0000_s11439" name="Equation" r:id="rId7" imgW="1015920" imgH="393480" progId="Equation.3">
                  <p:embed/>
                </p:oleObj>
              </mc:Choice>
              <mc:Fallback>
                <p:oleObj name="Equation" r:id="rId7" imgW="1015920" imgH="393480" progId="Equation.3">
                  <p:embed/>
                  <p:pic>
                    <p:nvPicPr>
                      <p:cNvPr id="0" name="Object 10"/>
                      <p:cNvPicPr>
                        <a:picLocks noChangeAspect="1" noChangeArrowheads="1"/>
                      </p:cNvPicPr>
                      <p:nvPr/>
                    </p:nvPicPr>
                    <p:blipFill>
                      <a:blip r:embed="rId8"/>
                      <a:srcRect/>
                      <a:stretch>
                        <a:fillRect/>
                      </a:stretch>
                    </p:blipFill>
                    <p:spPr bwMode="auto">
                      <a:xfrm>
                        <a:off x="3671888" y="5845175"/>
                        <a:ext cx="2184400" cy="841375"/>
                      </a:xfrm>
                      <a:prstGeom prst="rect">
                        <a:avLst/>
                      </a:prstGeom>
                      <a:noFill/>
                      <a:ln>
                        <a:noFill/>
                      </a:ln>
                    </p:spPr>
                  </p:pic>
                </p:oleObj>
              </mc:Fallback>
            </mc:AlternateContent>
          </a:graphicData>
        </a:graphic>
      </p:graphicFrame>
      <p:pic>
        <p:nvPicPr>
          <p:cNvPr id="13" name="Picture 12"/>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6312220" y="2336788"/>
            <a:ext cx="2590800" cy="1956764"/>
          </a:xfrm>
          <a:prstGeom prst="rect">
            <a:avLst/>
          </a:prstGeom>
        </p:spPr>
      </p:pic>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11"/>
                                        </p:tgtEl>
                                        <p:attrNameLst>
                                          <p:attrName>style.visibility</p:attrName>
                                        </p:attrNameLst>
                                      </p:cBhvr>
                                      <p:to>
                                        <p:strVal val="visible"/>
                                      </p:to>
                                    </p:set>
                                    <p:animEffect transition="in" filter="wipe(down)">
                                      <p:cBhvr>
                                        <p:cTn id="32" dur="500"/>
                                        <p:tgtEl>
                                          <p:spTgt spid="11"/>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wipe(down)">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8" grpId="0"/>
      <p:bldP spid="10" grpId="0"/>
      <p:bldP spid="11"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2. HIỆN TƯỢNG QUANG ĐIỆN VÀ HIỆU ỨNG COMPTON</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14065"/>
            <a:ext cx="5682984" cy="461665"/>
          </a:xfrm>
          <a:prstGeom prst="rect">
            <a:avLst/>
          </a:prstGeom>
        </p:spPr>
        <p:txBody>
          <a:bodyPr wrap="square">
            <a:spAutoFit/>
          </a:bodyPr>
          <a:lstStyle/>
          <a:p>
            <a:pPr marL="609600" indent="-609600"/>
            <a:r>
              <a:rPr lang="en-US" sz="2400" b="1" dirty="0">
                <a:solidFill>
                  <a:schemeClr val="hlink"/>
                </a:solidFill>
                <a:latin typeface="Times New Roman" pitchFamily="18" charset="0"/>
              </a:rPr>
              <a:t>II. </a:t>
            </a:r>
            <a:r>
              <a:rPr lang="en-US" sz="2400" b="1" dirty="0" err="1">
                <a:solidFill>
                  <a:schemeClr val="hlink"/>
                </a:solidFill>
                <a:latin typeface="Times New Roman" pitchFamily="18" charset="0"/>
              </a:rPr>
              <a:t>Hiệu</a:t>
            </a:r>
            <a:r>
              <a:rPr lang="en-US" sz="2400" b="1" dirty="0">
                <a:solidFill>
                  <a:schemeClr val="hlink"/>
                </a:solidFill>
                <a:latin typeface="Times New Roman" pitchFamily="18" charset="0"/>
              </a:rPr>
              <a:t> </a:t>
            </a:r>
            <a:r>
              <a:rPr lang="en-US" sz="2400" b="1" dirty="0" err="1">
                <a:solidFill>
                  <a:schemeClr val="hlink"/>
                </a:solidFill>
                <a:latin typeface="Times New Roman" pitchFamily="18" charset="0"/>
              </a:rPr>
              <a:t>ứng</a:t>
            </a:r>
            <a:r>
              <a:rPr lang="en-US" sz="2400" b="1" dirty="0">
                <a:solidFill>
                  <a:schemeClr val="hlink"/>
                </a:solidFill>
                <a:latin typeface="Times New Roman" pitchFamily="18" charset="0"/>
              </a:rPr>
              <a:t> Compton</a:t>
            </a:r>
          </a:p>
        </p:txBody>
      </p:sp>
      <p:pic>
        <p:nvPicPr>
          <p:cNvPr id="7" name="Picture 4" descr="compdat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5001" y="1322932"/>
            <a:ext cx="4398186" cy="34014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123824" y="4895671"/>
            <a:ext cx="9020176" cy="1200329"/>
          </a:xfrm>
          <a:prstGeom prst="rect">
            <a:avLst/>
          </a:prstGeom>
        </p:spPr>
        <p:txBody>
          <a:bodyPr wrap="square">
            <a:spAutoFit/>
          </a:bodyPr>
          <a:lstStyle/>
          <a:p>
            <a:r>
              <a:rPr lang="en-US" sz="2400" i="1" dirty="0" smtClean="0">
                <a:solidFill>
                  <a:srgbClr val="FF0000"/>
                </a:solidFill>
                <a:latin typeface="Times New Roman" pitchFamily="18" charset="0"/>
              </a:rPr>
              <a:t>Cho </a:t>
            </a:r>
            <a:r>
              <a:rPr lang="en-US" sz="2400" i="1" dirty="0" err="1">
                <a:solidFill>
                  <a:srgbClr val="FF0000"/>
                </a:solidFill>
                <a:latin typeface="Times New Roman" pitchFamily="18" charset="0"/>
              </a:rPr>
              <a:t>chùm</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a:t>
            </a:r>
            <a:r>
              <a:rPr lang="en-US" sz="2400" i="1" dirty="0">
                <a:solidFill>
                  <a:srgbClr val="0070C0"/>
                </a:solidFill>
                <a:latin typeface="Times New Roman" pitchFamily="18" charset="0"/>
              </a:rPr>
              <a:t>X </a:t>
            </a:r>
            <a:r>
              <a:rPr lang="en-US" sz="2400" i="1" dirty="0" err="1">
                <a:solidFill>
                  <a:srgbClr val="FF0000"/>
                </a:solidFill>
                <a:latin typeface="Times New Roman" pitchFamily="18" charset="0"/>
              </a:rPr>
              <a:t>bước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sóng</a:t>
            </a:r>
            <a:r>
              <a:rPr lang="en-US" sz="2400" i="1" dirty="0">
                <a:solidFill>
                  <a:srgbClr val="FF0000"/>
                </a:solidFill>
                <a:latin typeface="Times New Roman" pitchFamily="18" charset="0"/>
              </a:rPr>
              <a:t> </a:t>
            </a:r>
            <a:r>
              <a:rPr lang="el-GR" sz="2400" i="1" dirty="0">
                <a:solidFill>
                  <a:srgbClr val="FF0000"/>
                </a:solidFill>
                <a:latin typeface="Times New Roman" pitchFamily="18" charset="0"/>
                <a:cs typeface="Times New Roman" pitchFamily="18" charset="0"/>
              </a:rPr>
              <a:t>λ</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rPr>
              <a:t>tán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lên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một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số</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chất</a:t>
            </a:r>
            <a:r>
              <a:rPr lang="en-US" sz="2400" i="1" dirty="0" smtClean="0">
                <a:solidFill>
                  <a:srgbClr val="FF0000"/>
                </a:solidFill>
                <a:latin typeface="Times New Roman" pitchFamily="18" charset="0"/>
              </a:rPr>
              <a:t> </a:t>
            </a:r>
            <a:r>
              <a:rPr lang="en-US" sz="2400" i="1" dirty="0" err="1" smtClean="0">
                <a:solidFill>
                  <a:srgbClr val="FF0000"/>
                </a:solidFill>
                <a:latin typeface="Times New Roman" pitchFamily="18" charset="0"/>
              </a:rPr>
              <a:t>graphit</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paraphin</a:t>
            </a:r>
            <a:r>
              <a:rPr lang="en-US" sz="2400" i="1" dirty="0">
                <a:solidFill>
                  <a:srgbClr val="FF0000"/>
                </a:solidFill>
                <a:latin typeface="Times New Roman" pitchFamily="18" charset="0"/>
              </a:rPr>
              <a:t>,.. . </a:t>
            </a:r>
            <a:r>
              <a:rPr lang="en-US" sz="2400" i="1" dirty="0" err="1">
                <a:solidFill>
                  <a:srgbClr val="FF0000"/>
                </a:solidFill>
                <a:latin typeface="Times New Roman" pitchFamily="18" charset="0"/>
              </a:rPr>
              <a:t>trong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phổ</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tán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xạ</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của</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tia</a:t>
            </a:r>
            <a:r>
              <a:rPr lang="en-US" sz="2400" i="1" dirty="0">
                <a:solidFill>
                  <a:srgbClr val="FF0000"/>
                </a:solidFill>
                <a:latin typeface="Times New Roman" pitchFamily="18" charset="0"/>
              </a:rPr>
              <a:t> X </a:t>
            </a:r>
            <a:r>
              <a:rPr lang="en-US" sz="2400" i="1" dirty="0" err="1">
                <a:solidFill>
                  <a:srgbClr val="FF0000"/>
                </a:solidFill>
                <a:latin typeface="Times New Roman" pitchFamily="18" charset="0"/>
              </a:rPr>
              <a:t>ngoài</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các</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vạch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có</a:t>
            </a:r>
            <a:r>
              <a:rPr lang="en-US" sz="2400" i="1" dirty="0">
                <a:solidFill>
                  <a:srgbClr val="FF0000"/>
                </a:solidFill>
                <a:latin typeface="Times New Roman" pitchFamily="18" charset="0"/>
              </a:rPr>
              <a:t> </a:t>
            </a:r>
            <a:r>
              <a:rPr lang="en-US" sz="2400" i="1" dirty="0" err="1" smtClean="0">
                <a:solidFill>
                  <a:srgbClr val="FF0000"/>
                </a:solidFill>
                <a:latin typeface="Times New Roman" pitchFamily="18" charset="0"/>
              </a:rPr>
              <a:t>bước</a:t>
            </a:r>
            <a:r>
              <a:rPr lang="en-US" sz="2400" i="1" dirty="0" smtClean="0">
                <a:solidFill>
                  <a:srgbClr val="FF0000"/>
                </a:solidFill>
                <a:latin typeface="Times New Roman" pitchFamily="18" charset="0"/>
              </a:rPr>
              <a:t> </a:t>
            </a:r>
            <a:r>
              <a:rPr lang="en-US" sz="2400" i="1" dirty="0" err="1">
                <a:solidFill>
                  <a:srgbClr val="FF0000"/>
                </a:solidFill>
                <a:latin typeface="Times New Roman" pitchFamily="18" charset="0"/>
              </a:rPr>
              <a:t>sóng</a:t>
            </a:r>
            <a:r>
              <a:rPr lang="en-US" sz="2400" i="1" dirty="0">
                <a:solidFill>
                  <a:srgbClr val="FF0000"/>
                </a:solidFill>
                <a:latin typeface="Times New Roman" pitchFamily="18" charset="0"/>
              </a:rPr>
              <a:t> </a:t>
            </a:r>
            <a:r>
              <a:rPr lang="el-GR" sz="2400" i="1" dirty="0">
                <a:solidFill>
                  <a:srgbClr val="FF0000"/>
                </a:solidFill>
                <a:latin typeface="Times New Roman" pitchFamily="18" charset="0"/>
                <a:cs typeface="Times New Roman" pitchFamily="18" charset="0"/>
              </a:rPr>
              <a:t>λ</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còn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có</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những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vạch</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bước</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sóng</a:t>
            </a:r>
            <a:r>
              <a:rPr lang="en-US" sz="2400" i="1" dirty="0">
                <a:solidFill>
                  <a:srgbClr val="FF0000"/>
                </a:solidFill>
                <a:latin typeface="Times New Roman" pitchFamily="18" charset="0"/>
                <a:cs typeface="Times New Roman" pitchFamily="18" charset="0"/>
              </a:rPr>
              <a:t> </a:t>
            </a:r>
            <a:r>
              <a:rPr lang="el-GR" sz="2400" i="1" dirty="0">
                <a:solidFill>
                  <a:srgbClr val="FF0000"/>
                </a:solidFill>
                <a:latin typeface="Times New Roman" pitchFamily="18" charset="0"/>
                <a:cs typeface="Times New Roman" pitchFamily="18" charset="0"/>
              </a:rPr>
              <a:t>λ</a:t>
            </a:r>
            <a:r>
              <a:rPr lang="en-US" sz="2400" i="1" dirty="0">
                <a:solidFill>
                  <a:srgbClr val="FF0000"/>
                </a:solidFill>
                <a:latin typeface="Times New Roman" pitchFamily="18" charset="0"/>
                <a:cs typeface="Times New Roman" pitchFamily="18" charset="0"/>
              </a:rPr>
              <a:t>’ &gt;  </a:t>
            </a:r>
            <a:r>
              <a:rPr lang="el-GR" sz="2400" i="1" dirty="0">
                <a:solidFill>
                  <a:srgbClr val="FF0000"/>
                </a:solidFill>
                <a:latin typeface="Times New Roman" pitchFamily="18" charset="0"/>
                <a:cs typeface="Times New Roman" pitchFamily="18" charset="0"/>
              </a:rPr>
              <a:t>λ</a:t>
            </a:r>
            <a:r>
              <a:rPr lang="en-US" sz="2400" i="1" dirty="0">
                <a:solidFill>
                  <a:srgbClr val="FF0000"/>
                </a:solidFill>
                <a:latin typeface="Times New Roman" pitchFamily="18" charset="0"/>
                <a:cs typeface="Times New Roman" pitchFamily="18" charset="0"/>
              </a:rPr>
              <a:t>.</a:t>
            </a:r>
          </a:p>
        </p:txBody>
      </p:sp>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 calcmode="lin" valueType="num">
                                      <p:cBhvr additive="base">
                                        <p:cTn id="7" dur="500" fill="hold"/>
                                        <p:tgtEl>
                                          <p:spTgt spid="3"/>
                                        </p:tgtEl>
                                        <p:attrNameLst>
                                          <p:attrName>ppt_x</p:attrName>
                                        </p:attrNameLst>
                                      </p:cBhvr>
                                      <p:tavLst>
                                        <p:tav tm="0">
                                          <p:val>
                                            <p:strVal val="#ppt_x"/>
                                          </p:val>
                                        </p:tav>
                                        <p:tav tm="100000">
                                          <p:val>
                                            <p:strVal val="#ppt_x"/>
                                          </p:val>
                                        </p:tav>
                                      </p:tavLst>
                                    </p:anim>
                                    <p:anim calcmode="lin" valueType="num">
                                      <p:cBhvr additive="base">
                                        <p:cTn id="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2. HIỆN TƯỢNG QUANG ĐIỆN VÀ HIỆU ỨNG COMPTON</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09600"/>
            <a:ext cx="5181244" cy="461665"/>
          </a:xfrm>
          <a:prstGeom prst="rect">
            <a:avLst/>
          </a:prstGeom>
        </p:spPr>
        <p:txBody>
          <a:bodyPr wrap="square">
            <a:spAutoFit/>
          </a:bodyPr>
          <a:lstStyle/>
          <a:p>
            <a:r>
              <a:rPr lang="en-US" sz="2400" b="1" i="1" dirty="0">
                <a:latin typeface="Times New Roman" pitchFamily="18" charset="0"/>
                <a:cs typeface="Times New Roman" pitchFamily="18" charset="0"/>
              </a:rPr>
              <a:t>2. </a:t>
            </a:r>
            <a:r>
              <a:rPr lang="en-US" sz="2400" b="1" i="1" dirty="0" err="1">
                <a:latin typeface="Times New Roman" pitchFamily="18" charset="0"/>
                <a:cs typeface="Times New Roman" pitchFamily="18" charset="0"/>
              </a:rPr>
              <a:t>Giải</a:t>
            </a:r>
            <a:r>
              <a:rPr lang="en-US" sz="2400" b="1" i="1" dirty="0">
                <a:latin typeface="Times New Roman" pitchFamily="18" charset="0"/>
                <a:cs typeface="Times New Roman" pitchFamily="18" charset="0"/>
              </a:rPr>
              <a:t> </a:t>
            </a:r>
            <a:r>
              <a:rPr lang="en-US" sz="2400" b="1" i="1" dirty="0" err="1">
                <a:latin typeface="Times New Roman" pitchFamily="18" charset="0"/>
                <a:cs typeface="Times New Roman" pitchFamily="18" charset="0"/>
              </a:rPr>
              <a:t>thích</a:t>
            </a:r>
            <a:endParaRPr lang="en-US" sz="2400" b="1" i="1" dirty="0">
              <a:latin typeface="Times New Roman" pitchFamily="18" charset="0"/>
              <a:cs typeface="Times New Roman" pitchFamily="18" charset="0"/>
            </a:endParaRPr>
          </a:p>
        </p:txBody>
      </p:sp>
      <p:pic>
        <p:nvPicPr>
          <p:cNvPr id="7" name="Picture 4" descr="compton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74323" y="822847"/>
            <a:ext cx="3276600" cy="253374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Rectangle 2"/>
          <p:cNvSpPr/>
          <p:nvPr/>
        </p:nvSpPr>
        <p:spPr>
          <a:xfrm>
            <a:off x="152400" y="1143000"/>
            <a:ext cx="4572000" cy="830997"/>
          </a:xfrm>
          <a:prstGeom prst="rect">
            <a:avLst/>
          </a:prstGeom>
        </p:spPr>
        <p:txBody>
          <a:bodyPr wrap="square">
            <a:spAutoFit/>
          </a:bodyPr>
          <a:lstStyle/>
          <a:p>
            <a:r>
              <a:rPr lang="en-US" sz="2400" dirty="0" err="1">
                <a:latin typeface="Times New Roman" pitchFamily="18" charset="0"/>
                <a:cs typeface="Times New Roman" pitchFamily="18" charset="0"/>
              </a:rPr>
              <a:t>Coi</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hiện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tượng</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tán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xạ</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tia</a:t>
            </a:r>
            <a:r>
              <a:rPr lang="en-US" sz="2400" dirty="0">
                <a:latin typeface="Times New Roman" pitchFamily="18" charset="0"/>
                <a:cs typeface="Times New Roman" pitchFamily="18" charset="0"/>
              </a:rPr>
              <a:t> X </a:t>
            </a:r>
            <a:r>
              <a:rPr lang="en-US" sz="2400" dirty="0" err="1">
                <a:latin typeface="Times New Roman" pitchFamily="18" charset="0"/>
                <a:cs typeface="Times New Roman" pitchFamily="18" charset="0"/>
              </a:rPr>
              <a:t>như</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sự</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va</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chạm</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đàn</a:t>
            </a:r>
            <a:r>
              <a:rPr lang="en-US" sz="2400" dirty="0">
                <a:latin typeface="Times New Roman" pitchFamily="18" charset="0"/>
                <a:cs typeface="Times New Roman" pitchFamily="18" charset="0"/>
              </a:rPr>
              <a:t> </a:t>
            </a:r>
            <a:r>
              <a:rPr lang="en-US" sz="2400" dirty="0" err="1">
                <a:latin typeface="Times New Roman" pitchFamily="18" charset="0"/>
                <a:cs typeface="Times New Roman" pitchFamily="18" charset="0"/>
              </a:rPr>
              <a:t>hồi</a:t>
            </a:r>
            <a:r>
              <a:rPr lang="en-US" sz="2400" dirty="0">
                <a:latin typeface="Times New Roman" pitchFamily="18" charset="0"/>
                <a:cs typeface="Times New Roman" pitchFamily="18" charset="0"/>
              </a:rPr>
              <a:t> </a:t>
            </a:r>
            <a:r>
              <a:rPr lang="en-US" sz="2400" dirty="0" err="1" smtClean="0">
                <a:latin typeface="Times New Roman" pitchFamily="18" charset="0"/>
                <a:cs typeface="Times New Roman" pitchFamily="18" charset="0"/>
              </a:rPr>
              <a:t>của</a:t>
            </a:r>
            <a:r>
              <a:rPr lang="en-US" sz="2400" dirty="0" smtClean="0">
                <a:latin typeface="Times New Roman" pitchFamily="18" charset="0"/>
                <a:cs typeface="Times New Roman" pitchFamily="18" charset="0"/>
              </a:rPr>
              <a:t> </a:t>
            </a:r>
            <a:r>
              <a:rPr lang="en-US" sz="2400" dirty="0" err="1" smtClean="0">
                <a:latin typeface="Times New Roman" pitchFamily="18" charset="0"/>
                <a:cs typeface="Times New Roman" pitchFamily="18" charset="0"/>
              </a:rPr>
              <a:t>phôtôn</a:t>
            </a:r>
            <a:r>
              <a:rPr lang="en-US" sz="2400" dirty="0" smtClean="0">
                <a:latin typeface="Times New Roman" pitchFamily="18" charset="0"/>
                <a:cs typeface="Times New Roman" pitchFamily="18" charset="0"/>
              </a:rPr>
              <a:t> </a:t>
            </a:r>
            <a:r>
              <a:rPr lang="en-US" sz="2400" dirty="0" err="1">
                <a:latin typeface="Times New Roman" pitchFamily="18" charset="0"/>
                <a:cs typeface="Times New Roman" pitchFamily="18" charset="0"/>
              </a:rPr>
              <a:t>lên</a:t>
            </a:r>
            <a:r>
              <a:rPr lang="en-US" sz="2400" dirty="0">
                <a:latin typeface="Times New Roman" pitchFamily="18" charset="0"/>
                <a:cs typeface="Times New Roman" pitchFamily="18" charset="0"/>
              </a:rPr>
              <a:t> e</a:t>
            </a:r>
          </a:p>
        </p:txBody>
      </p:sp>
      <p:sp>
        <p:nvSpPr>
          <p:cNvPr id="8" name="Rectangle 7"/>
          <p:cNvSpPr/>
          <p:nvPr/>
        </p:nvSpPr>
        <p:spPr>
          <a:xfrm>
            <a:off x="152400" y="2849940"/>
            <a:ext cx="6172200" cy="1200329"/>
          </a:xfrm>
          <a:prstGeom prst="rect">
            <a:avLst/>
          </a:prstGeom>
        </p:spPr>
        <p:txBody>
          <a:bodyPr wrap="square">
            <a:spAutoFit/>
          </a:bodyPr>
          <a:lstStyle/>
          <a:p>
            <a:r>
              <a:rPr lang="en-US" sz="2400"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Đối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với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những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vạch</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có</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bước</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sóng</a:t>
            </a:r>
            <a:r>
              <a:rPr lang="en-US" sz="2400" i="1" dirty="0">
                <a:solidFill>
                  <a:srgbClr val="FF0000"/>
                </a:solidFill>
                <a:latin typeface="Times New Roman" pitchFamily="18" charset="0"/>
                <a:cs typeface="Times New Roman" pitchFamily="18" charset="0"/>
              </a:rPr>
              <a:t> </a:t>
            </a:r>
            <a:r>
              <a:rPr lang="el-GR" sz="2400" i="1" dirty="0">
                <a:solidFill>
                  <a:srgbClr val="FF0000"/>
                </a:solidFill>
                <a:latin typeface="Times New Roman" pitchFamily="18" charset="0"/>
                <a:cs typeface="Times New Roman" pitchFamily="18" charset="0"/>
              </a:rPr>
              <a:t>λ</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tương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ứng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với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sự</a:t>
            </a:r>
            <a:r>
              <a:rPr lang="en-US" sz="2400" i="1" dirty="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tán</a:t>
            </a:r>
            <a:r>
              <a:rPr lang="en-US" sz="2400" i="1" dirty="0" smtClean="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xạ</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của</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phôtôn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lên</a:t>
            </a:r>
            <a:r>
              <a:rPr lang="en-US" sz="2400" i="1" dirty="0">
                <a:solidFill>
                  <a:srgbClr val="FF0000"/>
                </a:solidFill>
                <a:latin typeface="Times New Roman" pitchFamily="18" charset="0"/>
                <a:cs typeface="Times New Roman" pitchFamily="18" charset="0"/>
              </a:rPr>
              <a:t> e </a:t>
            </a:r>
            <a:r>
              <a:rPr lang="en-US" sz="2400" i="1" dirty="0" err="1">
                <a:solidFill>
                  <a:srgbClr val="FF0000"/>
                </a:solidFill>
                <a:latin typeface="Times New Roman" pitchFamily="18" charset="0"/>
                <a:cs typeface="Times New Roman" pitchFamily="18" charset="0"/>
              </a:rPr>
              <a:t>nằm</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sâu</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trong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nguyên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tử</a:t>
            </a:r>
            <a:r>
              <a:rPr lang="en-US" i="1" dirty="0">
                <a:latin typeface="Times New Roman" pitchFamily="18" charset="0"/>
                <a:cs typeface="Times New Roman" pitchFamily="18" charset="0"/>
              </a:rPr>
              <a:t>.</a:t>
            </a:r>
          </a:p>
        </p:txBody>
      </p:sp>
      <p:sp>
        <p:nvSpPr>
          <p:cNvPr id="9" name="Rectangle 8"/>
          <p:cNvSpPr/>
          <p:nvPr/>
        </p:nvSpPr>
        <p:spPr>
          <a:xfrm>
            <a:off x="152400" y="4069140"/>
            <a:ext cx="6172200" cy="1569660"/>
          </a:xfrm>
          <a:prstGeom prst="rect">
            <a:avLst/>
          </a:prstGeom>
        </p:spPr>
        <p:txBody>
          <a:bodyPr wrap="square">
            <a:spAutoFit/>
          </a:bodyPr>
          <a:lstStyle/>
          <a:p>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Đối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với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những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vạch</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có</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bước</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sóng</a:t>
            </a:r>
            <a:r>
              <a:rPr lang="en-US" sz="2400" i="1" dirty="0">
                <a:solidFill>
                  <a:srgbClr val="FF0000"/>
                </a:solidFill>
                <a:latin typeface="Times New Roman" pitchFamily="18" charset="0"/>
                <a:cs typeface="Times New Roman" pitchFamily="18" charset="0"/>
              </a:rPr>
              <a:t> </a:t>
            </a:r>
            <a:r>
              <a:rPr lang="el-GR" sz="2400" i="1" dirty="0">
                <a:solidFill>
                  <a:srgbClr val="FF0000"/>
                </a:solidFill>
                <a:latin typeface="Times New Roman" pitchFamily="18" charset="0"/>
                <a:cs typeface="Times New Roman" pitchFamily="18" charset="0"/>
              </a:rPr>
              <a:t>λ</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tương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ứng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với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sự</a:t>
            </a:r>
            <a:r>
              <a:rPr lang="en-US" sz="2400" i="1" dirty="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tán</a:t>
            </a:r>
            <a:r>
              <a:rPr lang="en-US" sz="2400" i="1" dirty="0" smtClean="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xạ</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của</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phôtôn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lên</a:t>
            </a:r>
            <a:r>
              <a:rPr lang="en-US" sz="2400" i="1" dirty="0">
                <a:solidFill>
                  <a:srgbClr val="FF0000"/>
                </a:solidFill>
                <a:latin typeface="Times New Roman" pitchFamily="18" charset="0"/>
                <a:cs typeface="Times New Roman" pitchFamily="18" charset="0"/>
              </a:rPr>
              <a:t> e ở </a:t>
            </a:r>
            <a:r>
              <a:rPr lang="en-US" sz="2400" i="1" dirty="0" err="1">
                <a:solidFill>
                  <a:srgbClr val="FF0000"/>
                </a:solidFill>
                <a:latin typeface="Times New Roman" pitchFamily="18" charset="0"/>
                <a:cs typeface="Times New Roman" pitchFamily="18" charset="0"/>
              </a:rPr>
              <a:t>lớp</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ngoài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cùng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liên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kết</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yếu</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với</a:t>
            </a:r>
            <a:r>
              <a:rPr lang="en-US" sz="2400" i="1" dirty="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hạt</a:t>
            </a:r>
            <a:r>
              <a:rPr lang="en-US" sz="2400" i="1" dirty="0" smtClean="0">
                <a:solidFill>
                  <a:srgbClr val="FF0000"/>
                </a:solidFill>
                <a:latin typeface="Times New Roman" pitchFamily="18" charset="0"/>
                <a:cs typeface="Times New Roman" pitchFamily="18" charset="0"/>
              </a:rPr>
              <a:t> </a:t>
            </a:r>
            <a:r>
              <a:rPr lang="en-US" sz="2400" i="1" dirty="0" err="1" smtClean="0">
                <a:solidFill>
                  <a:srgbClr val="FF0000"/>
                </a:solidFill>
                <a:latin typeface="Times New Roman" pitchFamily="18" charset="0"/>
                <a:cs typeface="Times New Roman" pitchFamily="18" charset="0"/>
              </a:rPr>
              <a:t>nhân</a:t>
            </a:r>
            <a:r>
              <a:rPr lang="en-US" sz="2400" i="1" dirty="0" smtClean="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và</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coi</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gần</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đúng</a:t>
            </a:r>
            <a:r>
              <a:rPr lang="en-US" sz="2400" i="1" dirty="0">
                <a:solidFill>
                  <a:srgbClr val="FF0000"/>
                </a:solidFill>
                <a:latin typeface="Times New Roman" pitchFamily="18" charset="0"/>
                <a:cs typeface="Times New Roman" pitchFamily="18" charset="0"/>
              </a:rPr>
              <a:t> </a:t>
            </a:r>
            <a:r>
              <a:rPr lang="en-US" sz="2400" i="1" dirty="0" err="1">
                <a:solidFill>
                  <a:srgbClr val="FF0000"/>
                </a:solidFill>
                <a:latin typeface="Times New Roman" pitchFamily="18" charset="0"/>
                <a:cs typeface="Times New Roman" pitchFamily="18" charset="0"/>
              </a:rPr>
              <a:t>là</a:t>
            </a:r>
            <a:r>
              <a:rPr lang="en-US" sz="2400" i="1" dirty="0">
                <a:solidFill>
                  <a:srgbClr val="FF0000"/>
                </a:solidFill>
                <a:latin typeface="Times New Roman" pitchFamily="18" charset="0"/>
                <a:cs typeface="Times New Roman" pitchFamily="18" charset="0"/>
              </a:rPr>
              <a:t> e </a:t>
            </a:r>
            <a:r>
              <a:rPr lang="en-US" sz="2400" i="1" dirty="0" err="1">
                <a:solidFill>
                  <a:srgbClr val="FF0000"/>
                </a:solidFill>
                <a:latin typeface="Times New Roman" pitchFamily="18" charset="0"/>
                <a:cs typeface="Times New Roman" pitchFamily="18" charset="0"/>
              </a:rPr>
              <a:t>tự</a:t>
            </a:r>
            <a:r>
              <a:rPr lang="en-US" sz="2400" i="1" dirty="0">
                <a:solidFill>
                  <a:srgbClr val="FF0000"/>
                </a:solidFill>
                <a:latin typeface="Times New Roman" pitchFamily="18" charset="0"/>
                <a:cs typeface="Times New Roman" pitchFamily="18" charset="0"/>
              </a:rPr>
              <a:t> do </a:t>
            </a:r>
            <a:endParaRPr lang="el-GR" sz="2400" i="1" dirty="0">
              <a:solidFill>
                <a:srgbClr val="FF0000"/>
              </a:solidFill>
              <a:latin typeface="Times New Roman" pitchFamily="18" charset="0"/>
              <a:cs typeface="Times New Roman" pitchFamily="18" charset="0"/>
            </a:endParaRPr>
          </a:p>
        </p:txBody>
      </p:sp>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44225" y="3629163"/>
            <a:ext cx="2899775" cy="2196029"/>
          </a:xfrm>
          <a:prstGeom prst="rect">
            <a:avLst/>
          </a:prstGeom>
        </p:spPr>
      </p:pic>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Table 4"/>
          <p:cNvGraphicFramePr>
            <a:graphicFrameLocks noGrp="1"/>
          </p:cNvGraphicFramePr>
          <p:nvPr>
            <p:extLst>
              <p:ext uri="{D42A27DB-BD31-4B8C-83A1-F6EECF244321}">
                <p14:modId xmlns:p14="http://schemas.microsoft.com/office/powerpoint/2010/main" val="1331627957"/>
              </p:ext>
            </p:extLst>
          </p:nvPr>
        </p:nvGraphicFramePr>
        <p:xfrm>
          <a:off x="914400" y="1371600"/>
          <a:ext cx="7696200" cy="3291840"/>
        </p:xfrm>
        <a:graphic>
          <a:graphicData uri="http://schemas.openxmlformats.org/drawingml/2006/table">
            <a:tbl>
              <a:tblPr firstRow="1" bandRow="1">
                <a:tableStyleId>{5C22544A-7EE6-4342-B048-85BDC9FD1C3A}</a:tableStyleId>
              </a:tblPr>
              <a:tblGrid>
                <a:gridCol w="1219200"/>
                <a:gridCol w="1600200"/>
                <a:gridCol w="1447800"/>
                <a:gridCol w="1600200"/>
                <a:gridCol w="1828800"/>
              </a:tblGrid>
              <a:tr h="370840">
                <a:tc rowSpan="2">
                  <a:txBody>
                    <a:bodyPr/>
                    <a:lstStyle/>
                    <a:p>
                      <a:r>
                        <a:rPr lang="en-US" sz="2400" dirty="0" err="1" smtClean="0"/>
                        <a:t>Hạt</a:t>
                      </a:r>
                      <a:endParaRPr lang="en-US" sz="2400" dirty="0"/>
                    </a:p>
                  </a:txBody>
                  <a:tcPr/>
                </a:tc>
                <a:tc gridSpan="2">
                  <a:txBody>
                    <a:bodyPr/>
                    <a:lstStyle/>
                    <a:p>
                      <a:pPr algn="ctr"/>
                      <a:r>
                        <a:rPr lang="en-US" sz="2400" dirty="0" err="1" smtClean="0"/>
                        <a:t>Năng</a:t>
                      </a:r>
                      <a:r>
                        <a:rPr lang="en-US" sz="2400" baseline="0" dirty="0" smtClean="0"/>
                        <a:t> </a:t>
                      </a:r>
                      <a:r>
                        <a:rPr lang="en-US" sz="2400" baseline="0" dirty="0" err="1" smtClean="0"/>
                        <a:t>lượng</a:t>
                      </a:r>
                      <a:endParaRPr lang="en-US" sz="2400" dirty="0"/>
                    </a:p>
                  </a:txBody>
                  <a:tcPr/>
                </a:tc>
                <a:tc hMerge="1">
                  <a:txBody>
                    <a:bodyPr/>
                    <a:lstStyle/>
                    <a:p>
                      <a:endParaRPr lang="en-US" dirty="0"/>
                    </a:p>
                  </a:txBody>
                  <a:tcPr/>
                </a:tc>
                <a:tc gridSpan="2">
                  <a:txBody>
                    <a:bodyPr/>
                    <a:lstStyle/>
                    <a:p>
                      <a:pPr algn="ctr"/>
                      <a:r>
                        <a:rPr lang="en-US" sz="2400" dirty="0" err="1" smtClean="0"/>
                        <a:t>Động</a:t>
                      </a:r>
                      <a:r>
                        <a:rPr lang="en-US" sz="2400" dirty="0" smtClean="0"/>
                        <a:t> </a:t>
                      </a:r>
                      <a:r>
                        <a:rPr lang="en-US" sz="2400" dirty="0" err="1" smtClean="0"/>
                        <a:t>lượng</a:t>
                      </a:r>
                      <a:endParaRPr lang="en-US" sz="2400" dirty="0"/>
                    </a:p>
                  </a:txBody>
                  <a:tcPr/>
                </a:tc>
                <a:tc hMerge="1">
                  <a:txBody>
                    <a:bodyPr/>
                    <a:lstStyle/>
                    <a:p>
                      <a:endParaRPr lang="en-US" dirty="0"/>
                    </a:p>
                  </a:txBody>
                  <a:tcPr/>
                </a:tc>
              </a:tr>
              <a:tr h="370840">
                <a:tc vMerge="1">
                  <a:txBody>
                    <a:bodyPr/>
                    <a:lstStyle/>
                    <a:p>
                      <a:endParaRPr lang="en-US" dirty="0"/>
                    </a:p>
                  </a:txBody>
                  <a:tcPr/>
                </a:tc>
                <a:tc>
                  <a:txBody>
                    <a:bodyPr/>
                    <a:lstStyle/>
                    <a:p>
                      <a:r>
                        <a:rPr lang="en-US" sz="2400" dirty="0" err="1" smtClean="0"/>
                        <a:t>Trước</a:t>
                      </a:r>
                      <a:endParaRPr lang="en-US" sz="2400" dirty="0"/>
                    </a:p>
                  </a:txBody>
                  <a:tcPr/>
                </a:tc>
                <a:tc>
                  <a:txBody>
                    <a:bodyPr/>
                    <a:lstStyle/>
                    <a:p>
                      <a:r>
                        <a:rPr lang="en-US" sz="2400" dirty="0" err="1" smtClean="0"/>
                        <a:t>Sau</a:t>
                      </a:r>
                      <a:r>
                        <a:rPr lang="en-US" sz="2400" dirty="0" smtClean="0"/>
                        <a:t> </a:t>
                      </a:r>
                      <a:endParaRPr lang="en-US" sz="2400" dirty="0"/>
                    </a:p>
                  </a:txBody>
                  <a:tcPr/>
                </a:tc>
                <a:tc>
                  <a:txBody>
                    <a:bodyPr/>
                    <a:lstStyle/>
                    <a:p>
                      <a:r>
                        <a:rPr lang="en-US" sz="2400" dirty="0" err="1" smtClean="0"/>
                        <a:t>Trước</a:t>
                      </a:r>
                      <a:endParaRPr lang="en-US" sz="2400" dirty="0"/>
                    </a:p>
                  </a:txBody>
                  <a:tcPr/>
                </a:tc>
                <a:tc>
                  <a:txBody>
                    <a:bodyPr/>
                    <a:lstStyle/>
                    <a:p>
                      <a:r>
                        <a:rPr lang="en-US" sz="2400" dirty="0" err="1" smtClean="0"/>
                        <a:t>Sau</a:t>
                      </a:r>
                      <a:r>
                        <a:rPr lang="en-US" sz="2400" dirty="0" smtClean="0"/>
                        <a:t> </a:t>
                      </a:r>
                      <a:endParaRPr lang="en-US" sz="2400" dirty="0"/>
                    </a:p>
                  </a:txBody>
                  <a:tcPr/>
                </a:tc>
              </a:tr>
              <a:tr h="370840">
                <a:tc>
                  <a:txBody>
                    <a:bodyPr/>
                    <a:lstStyle/>
                    <a:p>
                      <a:r>
                        <a:rPr lang="en-US" sz="2400" dirty="0" smtClean="0"/>
                        <a:t>Pho ton</a:t>
                      </a:r>
                      <a:endParaRPr lang="en-US" sz="2400" dirty="0"/>
                    </a:p>
                  </a:txBody>
                  <a:tcPr/>
                </a:tc>
                <a:tc>
                  <a:txBody>
                    <a:bodyPr/>
                    <a:lstStyle/>
                    <a:p>
                      <a:endParaRPr lang="en-US" sz="2400" dirty="0"/>
                    </a:p>
                  </a:txBody>
                  <a:tcPr/>
                </a:tc>
                <a:tc>
                  <a:txBody>
                    <a:bodyPr/>
                    <a:lstStyle/>
                    <a:p>
                      <a:endParaRPr lang="en-US" sz="2400" dirty="0"/>
                    </a:p>
                  </a:txBody>
                  <a:tcPr/>
                </a:tc>
                <a:tc>
                  <a:txBody>
                    <a:bodyPr/>
                    <a:lstStyle/>
                    <a:p>
                      <a:endParaRPr lang="en-US" sz="2400" dirty="0"/>
                    </a:p>
                  </a:txBody>
                  <a:tcPr/>
                </a:tc>
                <a:tc>
                  <a:txBody>
                    <a:bodyPr/>
                    <a:lstStyle/>
                    <a:p>
                      <a:endParaRPr lang="en-US" sz="2400" dirty="0" smtClean="0"/>
                    </a:p>
                    <a:p>
                      <a:endParaRPr lang="en-US" sz="2400" dirty="0"/>
                    </a:p>
                  </a:txBody>
                  <a:tcPr/>
                </a:tc>
              </a:tr>
              <a:tr h="370840">
                <a:tc>
                  <a:txBody>
                    <a:bodyPr/>
                    <a:lstStyle/>
                    <a:p>
                      <a:r>
                        <a:rPr lang="en-US" sz="2400" dirty="0" smtClean="0"/>
                        <a:t>electron</a:t>
                      </a:r>
                      <a:endParaRPr lang="en-US" sz="2400" dirty="0"/>
                    </a:p>
                  </a:txBody>
                  <a:tcPr/>
                </a:tc>
                <a:tc>
                  <a:txBody>
                    <a:bodyPr/>
                    <a:lstStyle/>
                    <a:p>
                      <a:endParaRPr lang="en-US" sz="2400" dirty="0"/>
                    </a:p>
                  </a:txBody>
                  <a:tcPr/>
                </a:tc>
                <a:tc>
                  <a:txBody>
                    <a:bodyPr/>
                    <a:lstStyle/>
                    <a:p>
                      <a:endParaRPr lang="en-US" sz="2400"/>
                    </a:p>
                  </a:txBody>
                  <a:tcPr/>
                </a:tc>
                <a:tc>
                  <a:txBody>
                    <a:bodyPr/>
                    <a:lstStyle/>
                    <a:p>
                      <a:endParaRPr lang="en-US" sz="2400" dirty="0"/>
                    </a:p>
                  </a:txBody>
                  <a:tcPr/>
                </a:tc>
                <a:tc>
                  <a:txBody>
                    <a:bodyPr/>
                    <a:lstStyle/>
                    <a:p>
                      <a:endParaRPr lang="en-US" sz="2400" dirty="0" smtClean="0"/>
                    </a:p>
                    <a:p>
                      <a:endParaRPr lang="en-US" sz="2400" dirty="0" smtClean="0"/>
                    </a:p>
                    <a:p>
                      <a:endParaRPr lang="en-US" sz="2400" dirty="0" smtClean="0"/>
                    </a:p>
                    <a:p>
                      <a:endParaRPr lang="en-US" sz="2400" dirty="0"/>
                    </a:p>
                  </a:txBody>
                  <a:tcPr/>
                </a:tc>
              </a:tr>
            </a:tbl>
          </a:graphicData>
        </a:graphic>
      </p:graphicFrame>
      <p:graphicFrame>
        <p:nvGraphicFramePr>
          <p:cNvPr id="6" name="Object 5"/>
          <p:cNvGraphicFramePr>
            <a:graphicFrameLocks noChangeAspect="1"/>
          </p:cNvGraphicFramePr>
          <p:nvPr>
            <p:extLst>
              <p:ext uri="{D42A27DB-BD31-4B8C-83A1-F6EECF244321}">
                <p14:modId xmlns:p14="http://schemas.microsoft.com/office/powerpoint/2010/main" val="3882295863"/>
              </p:ext>
            </p:extLst>
          </p:nvPr>
        </p:nvGraphicFramePr>
        <p:xfrm>
          <a:off x="2538413" y="2286000"/>
          <a:ext cx="835025" cy="762000"/>
        </p:xfrm>
        <a:graphic>
          <a:graphicData uri="http://schemas.openxmlformats.org/presentationml/2006/ole">
            <mc:AlternateContent xmlns:mc="http://schemas.openxmlformats.org/markup-compatibility/2006">
              <mc:Choice xmlns:v="urn:schemas-microsoft-com:vml" Requires="v">
                <p:oleObj spid="_x0000_s22814" name="Equation" r:id="rId3" imgW="431640" imgH="393480" progId="Equation.3">
                  <p:embed/>
                </p:oleObj>
              </mc:Choice>
              <mc:Fallback>
                <p:oleObj name="Equation" r:id="rId3" imgW="431640" imgH="393480" progId="Equation.3">
                  <p:embed/>
                  <p:pic>
                    <p:nvPicPr>
                      <p:cNvPr id="0" name=""/>
                      <p:cNvPicPr/>
                      <p:nvPr/>
                    </p:nvPicPr>
                    <p:blipFill>
                      <a:blip r:embed="rId4"/>
                      <a:stretch>
                        <a:fillRect/>
                      </a:stretch>
                    </p:blipFill>
                    <p:spPr>
                      <a:xfrm>
                        <a:off x="2538413" y="2286000"/>
                        <a:ext cx="835025" cy="762000"/>
                      </a:xfrm>
                      <a:prstGeom prst="rect">
                        <a:avLst/>
                      </a:prstGeom>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191119541"/>
              </p:ext>
            </p:extLst>
          </p:nvPr>
        </p:nvGraphicFramePr>
        <p:xfrm>
          <a:off x="3973513" y="2362200"/>
          <a:ext cx="909637" cy="762000"/>
        </p:xfrm>
        <a:graphic>
          <a:graphicData uri="http://schemas.openxmlformats.org/presentationml/2006/ole">
            <mc:AlternateContent xmlns:mc="http://schemas.openxmlformats.org/markup-compatibility/2006">
              <mc:Choice xmlns:v="urn:schemas-microsoft-com:vml" Requires="v">
                <p:oleObj spid="_x0000_s22815" name="Equation" r:id="rId5" imgW="469800" imgH="393480" progId="Equation.3">
                  <p:embed/>
                </p:oleObj>
              </mc:Choice>
              <mc:Fallback>
                <p:oleObj name="Equation" r:id="rId5" imgW="469800" imgH="393480" progId="Equation.3">
                  <p:embed/>
                  <p:pic>
                    <p:nvPicPr>
                      <p:cNvPr id="0" name="Object 5"/>
                      <p:cNvPicPr>
                        <a:picLocks noChangeAspect="1" noChangeArrowheads="1"/>
                      </p:cNvPicPr>
                      <p:nvPr/>
                    </p:nvPicPr>
                    <p:blipFill>
                      <a:blip r:embed="rId6"/>
                      <a:srcRect/>
                      <a:stretch>
                        <a:fillRect/>
                      </a:stretch>
                    </p:blipFill>
                    <p:spPr bwMode="auto">
                      <a:xfrm>
                        <a:off x="3973513" y="2362200"/>
                        <a:ext cx="90963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3782845230"/>
              </p:ext>
            </p:extLst>
          </p:nvPr>
        </p:nvGraphicFramePr>
        <p:xfrm>
          <a:off x="5510213" y="2362200"/>
          <a:ext cx="762000" cy="762000"/>
        </p:xfrm>
        <a:graphic>
          <a:graphicData uri="http://schemas.openxmlformats.org/presentationml/2006/ole">
            <mc:AlternateContent xmlns:mc="http://schemas.openxmlformats.org/markup-compatibility/2006">
              <mc:Choice xmlns:v="urn:schemas-microsoft-com:vml" Requires="v">
                <p:oleObj spid="_x0000_s22816" name="Equation" r:id="rId7" imgW="393480" imgH="393480" progId="Equation.3">
                  <p:embed/>
                </p:oleObj>
              </mc:Choice>
              <mc:Fallback>
                <p:oleObj name="Equation" r:id="rId7" imgW="393480" imgH="393480" progId="Equation.3">
                  <p:embed/>
                  <p:pic>
                    <p:nvPicPr>
                      <p:cNvPr id="0" name="Object 5"/>
                      <p:cNvPicPr>
                        <a:picLocks noChangeAspect="1" noChangeArrowheads="1"/>
                      </p:cNvPicPr>
                      <p:nvPr/>
                    </p:nvPicPr>
                    <p:blipFill>
                      <a:blip r:embed="rId8"/>
                      <a:srcRect/>
                      <a:stretch>
                        <a:fillRect/>
                      </a:stretch>
                    </p:blipFill>
                    <p:spPr bwMode="auto">
                      <a:xfrm>
                        <a:off x="5510213" y="2362200"/>
                        <a:ext cx="762000"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9" name="Object 8"/>
          <p:cNvGraphicFramePr>
            <a:graphicFrameLocks noChangeAspect="1"/>
          </p:cNvGraphicFramePr>
          <p:nvPr>
            <p:extLst>
              <p:ext uri="{D42A27DB-BD31-4B8C-83A1-F6EECF244321}">
                <p14:modId xmlns:p14="http://schemas.microsoft.com/office/powerpoint/2010/main" val="670009886"/>
              </p:ext>
            </p:extLst>
          </p:nvPr>
        </p:nvGraphicFramePr>
        <p:xfrm>
          <a:off x="6958013" y="2286000"/>
          <a:ext cx="884237" cy="762000"/>
        </p:xfrm>
        <a:graphic>
          <a:graphicData uri="http://schemas.openxmlformats.org/presentationml/2006/ole">
            <mc:AlternateContent xmlns:mc="http://schemas.openxmlformats.org/markup-compatibility/2006">
              <mc:Choice xmlns:v="urn:schemas-microsoft-com:vml" Requires="v">
                <p:oleObj spid="_x0000_s22817" name="Equation" r:id="rId9" imgW="457200" imgH="393480" progId="Equation.3">
                  <p:embed/>
                </p:oleObj>
              </mc:Choice>
              <mc:Fallback>
                <p:oleObj name="Equation" r:id="rId9" imgW="457200" imgH="393480" progId="Equation.3">
                  <p:embed/>
                  <p:pic>
                    <p:nvPicPr>
                      <p:cNvPr id="0" name="Object 5"/>
                      <p:cNvPicPr>
                        <a:picLocks noChangeAspect="1" noChangeArrowheads="1"/>
                      </p:cNvPicPr>
                      <p:nvPr/>
                    </p:nvPicPr>
                    <p:blipFill>
                      <a:blip r:embed="rId10"/>
                      <a:srcRect/>
                      <a:stretch>
                        <a:fillRect/>
                      </a:stretch>
                    </p:blipFill>
                    <p:spPr bwMode="auto">
                      <a:xfrm>
                        <a:off x="6958013" y="2286000"/>
                        <a:ext cx="884237" cy="762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1" name="TextBox 10"/>
          <p:cNvSpPr txBox="1"/>
          <p:nvPr/>
        </p:nvSpPr>
        <p:spPr>
          <a:xfrm>
            <a:off x="2438400" y="3352800"/>
            <a:ext cx="1066800" cy="461665"/>
          </a:xfrm>
          <a:prstGeom prst="rect">
            <a:avLst/>
          </a:prstGeom>
          <a:noFill/>
        </p:spPr>
        <p:txBody>
          <a:bodyPr wrap="square" rtlCol="0">
            <a:spAutoFit/>
          </a:bodyPr>
          <a:lstStyle/>
          <a:p>
            <a:r>
              <a:rPr lang="en-US" sz="2400" dirty="0" smtClean="0">
                <a:latin typeface="Times New Roman" pitchFamily="18" charset="0"/>
                <a:cs typeface="Times New Roman" pitchFamily="18" charset="0"/>
              </a:rPr>
              <a:t>m</a:t>
            </a:r>
            <a:r>
              <a:rPr lang="en-US" sz="2400" baseline="-25000" dirty="0" smtClean="0">
                <a:latin typeface="Times New Roman" pitchFamily="18" charset="0"/>
                <a:cs typeface="Times New Roman" pitchFamily="18" charset="0"/>
              </a:rPr>
              <a:t>oe</a:t>
            </a:r>
            <a:r>
              <a:rPr lang="en-US" sz="2400" dirty="0" smtClean="0">
                <a:latin typeface="Times New Roman" pitchFamily="18" charset="0"/>
                <a:cs typeface="Times New Roman" pitchFamily="18" charset="0"/>
              </a:rPr>
              <a:t>c</a:t>
            </a:r>
            <a:r>
              <a:rPr lang="en-US" sz="2400" baseline="30000" dirty="0" smtClean="0">
                <a:latin typeface="Times New Roman" pitchFamily="18" charset="0"/>
                <a:cs typeface="Times New Roman" pitchFamily="18" charset="0"/>
              </a:rPr>
              <a:t>2</a:t>
            </a:r>
            <a:endParaRPr lang="en-US" sz="2400" baseline="30000" dirty="0">
              <a:latin typeface="Times New Roman" pitchFamily="18" charset="0"/>
              <a:cs typeface="Times New Roman" pitchFamily="18" charset="0"/>
            </a:endParaRPr>
          </a:p>
        </p:txBody>
      </p:sp>
      <p:graphicFrame>
        <p:nvGraphicFramePr>
          <p:cNvPr id="12" name="Object 11"/>
          <p:cNvGraphicFramePr>
            <a:graphicFrameLocks noChangeAspect="1"/>
          </p:cNvGraphicFramePr>
          <p:nvPr>
            <p:extLst>
              <p:ext uri="{D42A27DB-BD31-4B8C-83A1-F6EECF244321}">
                <p14:modId xmlns:p14="http://schemas.microsoft.com/office/powerpoint/2010/main" val="315380701"/>
              </p:ext>
            </p:extLst>
          </p:nvPr>
        </p:nvGraphicFramePr>
        <p:xfrm>
          <a:off x="3949700" y="3276600"/>
          <a:ext cx="1057275" cy="1303338"/>
        </p:xfrm>
        <a:graphic>
          <a:graphicData uri="http://schemas.openxmlformats.org/presentationml/2006/ole">
            <mc:AlternateContent xmlns:mc="http://schemas.openxmlformats.org/markup-compatibility/2006">
              <mc:Choice xmlns:v="urn:schemas-microsoft-com:vml" Requires="v">
                <p:oleObj spid="_x0000_s22818" name="Equation" r:id="rId11" imgW="545760" imgH="672840" progId="Equation.3">
                  <p:embed/>
                </p:oleObj>
              </mc:Choice>
              <mc:Fallback>
                <p:oleObj name="Equation" r:id="rId11" imgW="545760" imgH="672840" progId="Equation.3">
                  <p:embed/>
                  <p:pic>
                    <p:nvPicPr>
                      <p:cNvPr id="0" name="Object 5"/>
                      <p:cNvPicPr>
                        <a:picLocks noChangeAspect="1" noChangeArrowheads="1"/>
                      </p:cNvPicPr>
                      <p:nvPr/>
                    </p:nvPicPr>
                    <p:blipFill>
                      <a:blip r:embed="rId12"/>
                      <a:srcRect/>
                      <a:stretch>
                        <a:fillRect/>
                      </a:stretch>
                    </p:blipFill>
                    <p:spPr bwMode="auto">
                      <a:xfrm>
                        <a:off x="3949700" y="3276600"/>
                        <a:ext cx="1057275" cy="1303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3" name="Object 12"/>
          <p:cNvGraphicFramePr>
            <a:graphicFrameLocks noChangeAspect="1"/>
          </p:cNvGraphicFramePr>
          <p:nvPr>
            <p:extLst>
              <p:ext uri="{D42A27DB-BD31-4B8C-83A1-F6EECF244321}">
                <p14:modId xmlns:p14="http://schemas.microsoft.com/office/powerpoint/2010/main" val="1780917602"/>
              </p:ext>
            </p:extLst>
          </p:nvPr>
        </p:nvGraphicFramePr>
        <p:xfrm>
          <a:off x="6858000" y="3315222"/>
          <a:ext cx="1622425" cy="1255712"/>
        </p:xfrm>
        <a:graphic>
          <a:graphicData uri="http://schemas.openxmlformats.org/presentationml/2006/ole">
            <mc:AlternateContent xmlns:mc="http://schemas.openxmlformats.org/markup-compatibility/2006">
              <mc:Choice xmlns:v="urn:schemas-microsoft-com:vml" Requires="v">
                <p:oleObj spid="_x0000_s22819" name="Equation" r:id="rId13" imgW="838080" imgH="647640" progId="Equation.3">
                  <p:embed/>
                </p:oleObj>
              </mc:Choice>
              <mc:Fallback>
                <p:oleObj name="Equation" r:id="rId13" imgW="838080" imgH="647640" progId="Equation.3">
                  <p:embed/>
                  <p:pic>
                    <p:nvPicPr>
                      <p:cNvPr id="0" name="Object 11"/>
                      <p:cNvPicPr>
                        <a:picLocks noChangeAspect="1" noChangeArrowheads="1"/>
                      </p:cNvPicPr>
                      <p:nvPr/>
                    </p:nvPicPr>
                    <p:blipFill>
                      <a:blip r:embed="rId14"/>
                      <a:srcRect/>
                      <a:stretch>
                        <a:fillRect/>
                      </a:stretch>
                    </p:blipFill>
                    <p:spPr bwMode="auto">
                      <a:xfrm>
                        <a:off x="6858000" y="3315222"/>
                        <a:ext cx="1622425" cy="125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14" name="TextBox 13"/>
          <p:cNvSpPr txBox="1"/>
          <p:nvPr/>
        </p:nvSpPr>
        <p:spPr>
          <a:xfrm>
            <a:off x="5867400" y="3581400"/>
            <a:ext cx="609600" cy="461665"/>
          </a:xfrm>
          <a:prstGeom prst="rect">
            <a:avLst/>
          </a:prstGeom>
          <a:noFill/>
        </p:spPr>
        <p:txBody>
          <a:bodyPr wrap="square" rtlCol="0">
            <a:spAutoFit/>
          </a:bodyPr>
          <a:lstStyle/>
          <a:p>
            <a:r>
              <a:rPr lang="en-US" sz="2400" dirty="0" smtClean="0">
                <a:latin typeface="Times New Roman" pitchFamily="18" charset="0"/>
                <a:cs typeface="Times New Roman" pitchFamily="18" charset="0"/>
              </a:rPr>
              <a:t>0</a:t>
            </a:r>
            <a:endParaRPr lang="en-US" sz="2400" dirty="0">
              <a:latin typeface="Times New Roman" pitchFamily="18" charset="0"/>
              <a:cs typeface="Times New Roman" pitchFamily="18" charset="0"/>
            </a:endParaRPr>
          </a:p>
        </p:txBody>
      </p:sp>
    </p:spTree>
    <p:extLst>
      <p:ext uri="{BB962C8B-B14F-4D97-AF65-F5344CB8AC3E}">
        <p14:creationId xmlns:p14="http://schemas.microsoft.com/office/powerpoint/2010/main" val="6680996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wipe(down)">
                                      <p:cBhvr>
                                        <p:cTn id="22" dur="500"/>
                                        <p:tgtEl>
                                          <p:spTgt spid="9"/>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grpId="0" nodeType="click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wipe(down)">
                                      <p:cBhvr>
                                        <p:cTn id="27" dur="500"/>
                                        <p:tgtEl>
                                          <p:spTgt spid="11"/>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Effect transition="in" filter="wipe(down)">
                                      <p:cBhvr>
                                        <p:cTn id="32" dur="500"/>
                                        <p:tgtEl>
                                          <p:spTgt spid="12"/>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wipe(down)">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3"/>
                                        </p:tgtEl>
                                        <p:attrNameLst>
                                          <p:attrName>style.visibility</p:attrName>
                                        </p:attrNameLst>
                                      </p:cBhvr>
                                      <p:to>
                                        <p:strVal val="visible"/>
                                      </p:to>
                                    </p:set>
                                    <p:animEffect transition="in" filter="wipe(down)">
                                      <p:cBhvr>
                                        <p:cTn id="42"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4" grpId="0"/>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extBox 5"/>
          <p:cNvSpPr txBox="1"/>
          <p:nvPr/>
        </p:nvSpPr>
        <p:spPr>
          <a:xfrm>
            <a:off x="76200" y="152400"/>
            <a:ext cx="9067800" cy="461665"/>
          </a:xfrm>
          <a:prstGeom prst="rect">
            <a:avLst/>
          </a:prstGeom>
          <a:noFill/>
        </p:spPr>
        <p:txBody>
          <a:bodyPr wrap="square" rtlCol="0">
            <a:spAutoFit/>
          </a:bodyPr>
          <a:lstStyle/>
          <a:p>
            <a:pPr algn="ctr"/>
            <a:r>
              <a:rPr lang="en-US" sz="2400" dirty="0" smtClean="0">
                <a:solidFill>
                  <a:srgbClr val="FFFF00"/>
                </a:solidFill>
                <a:latin typeface="Times New Roman" pitchFamily="18" charset="0"/>
                <a:cs typeface="Times New Roman" pitchFamily="18" charset="0"/>
              </a:rPr>
              <a:t>§ 2. HIỆN TƯỢNG QUANG ĐIỆN VÀ HIỆU ỨNG COMPTON</a:t>
            </a:r>
            <a:endParaRPr lang="en-US" sz="2400" dirty="0">
              <a:solidFill>
                <a:srgbClr val="FFFF00"/>
              </a:solidFill>
              <a:latin typeface="Times New Roman" pitchFamily="18" charset="0"/>
              <a:cs typeface="Times New Roman" pitchFamily="18" charset="0"/>
            </a:endParaRPr>
          </a:p>
        </p:txBody>
      </p:sp>
      <p:sp>
        <p:nvSpPr>
          <p:cNvPr id="2" name="Rectangle 1"/>
          <p:cNvSpPr/>
          <p:nvPr/>
        </p:nvSpPr>
        <p:spPr>
          <a:xfrm>
            <a:off x="76200" y="614065"/>
            <a:ext cx="6024423" cy="461665"/>
          </a:xfrm>
          <a:prstGeom prst="rect">
            <a:avLst/>
          </a:prstGeom>
        </p:spPr>
        <p:txBody>
          <a:bodyPr wrap="square">
            <a:spAutoFit/>
          </a:bodyPr>
          <a:lstStyle/>
          <a:p>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luật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bảo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toàn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năng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endParaRPr lang="en-US" sz="2400" i="1" dirty="0">
              <a:solidFill>
                <a:srgbClr val="FF0000"/>
              </a:solidFill>
              <a:latin typeface="Times New Roman" pitchFamily="18" charset="0"/>
            </a:endParaRPr>
          </a:p>
        </p:txBody>
      </p:sp>
      <p:graphicFrame>
        <p:nvGraphicFramePr>
          <p:cNvPr id="3" name="Object 2"/>
          <p:cNvGraphicFramePr>
            <a:graphicFrameLocks noChangeAspect="1"/>
          </p:cNvGraphicFramePr>
          <p:nvPr>
            <p:extLst>
              <p:ext uri="{D42A27DB-BD31-4B8C-83A1-F6EECF244321}">
                <p14:modId xmlns:p14="http://schemas.microsoft.com/office/powerpoint/2010/main" val="755837396"/>
              </p:ext>
            </p:extLst>
          </p:nvPr>
        </p:nvGraphicFramePr>
        <p:xfrm>
          <a:off x="582613" y="1103313"/>
          <a:ext cx="3584575" cy="1450975"/>
        </p:xfrm>
        <a:graphic>
          <a:graphicData uri="http://schemas.openxmlformats.org/presentationml/2006/ole">
            <mc:AlternateContent xmlns:mc="http://schemas.openxmlformats.org/markup-compatibility/2006">
              <mc:Choice xmlns:v="urn:schemas-microsoft-com:vml" Requires="v">
                <p:oleObj spid="_x0000_s13630" name="Equation" r:id="rId3" imgW="1663560" imgH="672840" progId="Equation.3">
                  <p:embed/>
                </p:oleObj>
              </mc:Choice>
              <mc:Fallback>
                <p:oleObj name="Equation" r:id="rId3" imgW="1663560" imgH="672840" progId="Equation.3">
                  <p:embed/>
                  <p:pic>
                    <p:nvPicPr>
                      <p:cNvPr id="0" name="Object 4"/>
                      <p:cNvPicPr>
                        <a:picLocks noChangeAspect="1" noChangeArrowheads="1"/>
                      </p:cNvPicPr>
                      <p:nvPr/>
                    </p:nvPicPr>
                    <p:blipFill>
                      <a:blip r:embed="rId4"/>
                      <a:srcRect/>
                      <a:stretch>
                        <a:fillRect/>
                      </a:stretch>
                    </p:blipFill>
                    <p:spPr bwMode="auto">
                      <a:xfrm>
                        <a:off x="582613" y="1103313"/>
                        <a:ext cx="3584575"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7" name="Rectangle 6"/>
          <p:cNvSpPr/>
          <p:nvPr/>
        </p:nvSpPr>
        <p:spPr>
          <a:xfrm>
            <a:off x="76200" y="2819400"/>
            <a:ext cx="6024423" cy="461665"/>
          </a:xfrm>
          <a:prstGeom prst="rect">
            <a:avLst/>
          </a:prstGeom>
        </p:spPr>
        <p:txBody>
          <a:bodyPr wrap="square">
            <a:spAutoFit/>
          </a:bodyPr>
          <a:lstStyle/>
          <a:p>
            <a:r>
              <a:rPr lang="en-US" sz="2400" i="1" dirty="0" err="1">
                <a:solidFill>
                  <a:srgbClr val="FF0000"/>
                </a:solidFill>
                <a:latin typeface="Times New Roman" pitchFamily="18" charset="0"/>
              </a:rPr>
              <a:t>Định</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luật</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bảo</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toàn</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động</a:t>
            </a:r>
            <a:r>
              <a:rPr lang="en-US" sz="2400" i="1" dirty="0">
                <a:solidFill>
                  <a:srgbClr val="FF0000"/>
                </a:solidFill>
                <a:latin typeface="Times New Roman" pitchFamily="18" charset="0"/>
              </a:rPr>
              <a:t> </a:t>
            </a:r>
            <a:r>
              <a:rPr lang="en-US" sz="2400" i="1" dirty="0" err="1">
                <a:solidFill>
                  <a:srgbClr val="FF0000"/>
                </a:solidFill>
                <a:latin typeface="Times New Roman" pitchFamily="18" charset="0"/>
              </a:rPr>
              <a:t>lượng</a:t>
            </a:r>
            <a:endParaRPr lang="en-US" sz="2400" i="1" dirty="0">
              <a:solidFill>
                <a:srgbClr val="FF0000"/>
              </a:solidFill>
              <a:latin typeface="Times New Roman" pitchFamily="18" charset="0"/>
            </a:endParaRPr>
          </a:p>
        </p:txBody>
      </p:sp>
      <p:pic>
        <p:nvPicPr>
          <p:cNvPr id="8" name="Picture 10" descr="hinh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86400" y="2286000"/>
            <a:ext cx="2652493" cy="217909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9" name="Object 8"/>
          <p:cNvGraphicFramePr>
            <a:graphicFrameLocks noChangeAspect="1"/>
          </p:cNvGraphicFramePr>
          <p:nvPr>
            <p:extLst>
              <p:ext uri="{D42A27DB-BD31-4B8C-83A1-F6EECF244321}">
                <p14:modId xmlns:p14="http://schemas.microsoft.com/office/powerpoint/2010/main" val="2457658346"/>
              </p:ext>
            </p:extLst>
          </p:nvPr>
        </p:nvGraphicFramePr>
        <p:xfrm>
          <a:off x="415925" y="3978275"/>
          <a:ext cx="8085138" cy="1938338"/>
        </p:xfrm>
        <a:graphic>
          <a:graphicData uri="http://schemas.openxmlformats.org/presentationml/2006/ole">
            <mc:AlternateContent xmlns:mc="http://schemas.openxmlformats.org/markup-compatibility/2006">
              <mc:Choice xmlns:v="urn:schemas-microsoft-com:vml" Requires="v">
                <p:oleObj spid="_x0000_s13631" name="Equation" r:id="rId6" imgW="3911400" imgH="939600" progId="Equation.3">
                  <p:embed/>
                </p:oleObj>
              </mc:Choice>
              <mc:Fallback>
                <p:oleObj name="Equation" r:id="rId6" imgW="3911400" imgH="939600" progId="Equation.3">
                  <p:embed/>
                  <p:pic>
                    <p:nvPicPr>
                      <p:cNvPr id="0" name="Object 8"/>
                      <p:cNvPicPr>
                        <a:picLocks noChangeAspect="1" noChangeArrowheads="1"/>
                      </p:cNvPicPr>
                      <p:nvPr/>
                    </p:nvPicPr>
                    <p:blipFill>
                      <a:blip r:embed="rId7"/>
                      <a:srcRect/>
                      <a:stretch>
                        <a:fillRect/>
                      </a:stretch>
                    </p:blipFill>
                    <p:spPr bwMode="auto">
                      <a:xfrm>
                        <a:off x="415925" y="3978275"/>
                        <a:ext cx="8085138" cy="1938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0" name="Object 9"/>
          <p:cNvGraphicFramePr>
            <a:graphicFrameLocks noChangeAspect="1"/>
          </p:cNvGraphicFramePr>
          <p:nvPr>
            <p:extLst>
              <p:ext uri="{D42A27DB-BD31-4B8C-83A1-F6EECF244321}">
                <p14:modId xmlns:p14="http://schemas.microsoft.com/office/powerpoint/2010/main" val="553072277"/>
              </p:ext>
            </p:extLst>
          </p:nvPr>
        </p:nvGraphicFramePr>
        <p:xfrm>
          <a:off x="203200" y="5951538"/>
          <a:ext cx="4240213" cy="830262"/>
        </p:xfrm>
        <a:graphic>
          <a:graphicData uri="http://schemas.openxmlformats.org/presentationml/2006/ole">
            <mc:AlternateContent xmlns:mc="http://schemas.openxmlformats.org/markup-compatibility/2006">
              <mc:Choice xmlns:v="urn:schemas-microsoft-com:vml" Requires="v">
                <p:oleObj spid="_x0000_s13632" name="Equation" r:id="rId8" imgW="2184120" imgH="431640" progId="Equation.3">
                  <p:embed/>
                </p:oleObj>
              </mc:Choice>
              <mc:Fallback>
                <p:oleObj name="Equation" r:id="rId8" imgW="2184120" imgH="431640" progId="Equation.3">
                  <p:embed/>
                  <p:pic>
                    <p:nvPicPr>
                      <p:cNvPr id="0" name="Object 11"/>
                      <p:cNvPicPr>
                        <a:picLocks noChangeAspect="1" noChangeArrowheads="1"/>
                      </p:cNvPicPr>
                      <p:nvPr/>
                    </p:nvPicPr>
                    <p:blipFill>
                      <a:blip r:embed="rId9"/>
                      <a:srcRect/>
                      <a:stretch>
                        <a:fillRect/>
                      </a:stretch>
                    </p:blipFill>
                    <p:spPr bwMode="auto">
                      <a:xfrm>
                        <a:off x="203200" y="5951538"/>
                        <a:ext cx="4240213" cy="830262"/>
                      </a:xfrm>
                      <a:prstGeom prst="rect">
                        <a:avLst/>
                      </a:prstGeom>
                      <a:noFill/>
                      <a:ln w="9525">
                        <a:solidFill>
                          <a:schemeClr val="folHlink"/>
                        </a:solidFill>
                        <a:miter lim="800000"/>
                        <a:headEnd/>
                        <a:tailEnd/>
                      </a:ln>
                    </p:spPr>
                  </p:pic>
                </p:oleObj>
              </mc:Fallback>
            </mc:AlternateContent>
          </a:graphicData>
        </a:graphic>
      </p:graphicFrame>
      <p:graphicFrame>
        <p:nvGraphicFramePr>
          <p:cNvPr id="11" name="Object 10"/>
          <p:cNvGraphicFramePr>
            <a:graphicFrameLocks noChangeAspect="1"/>
          </p:cNvGraphicFramePr>
          <p:nvPr>
            <p:extLst>
              <p:ext uri="{D42A27DB-BD31-4B8C-83A1-F6EECF244321}">
                <p14:modId xmlns:p14="http://schemas.microsoft.com/office/powerpoint/2010/main" val="2384196751"/>
              </p:ext>
            </p:extLst>
          </p:nvPr>
        </p:nvGraphicFramePr>
        <p:xfrm>
          <a:off x="4864100" y="5983288"/>
          <a:ext cx="4024313" cy="798512"/>
        </p:xfrm>
        <a:graphic>
          <a:graphicData uri="http://schemas.openxmlformats.org/presentationml/2006/ole">
            <mc:AlternateContent xmlns:mc="http://schemas.openxmlformats.org/markup-compatibility/2006">
              <mc:Choice xmlns:v="urn:schemas-microsoft-com:vml" Requires="v">
                <p:oleObj spid="_x0000_s13633" name="Equation" r:id="rId10" imgW="2158920" imgH="431640" progId="Equation.3">
                  <p:embed/>
                </p:oleObj>
              </mc:Choice>
              <mc:Fallback>
                <p:oleObj name="Equation" r:id="rId10" imgW="2158920" imgH="431640" progId="Equation.3">
                  <p:embed/>
                  <p:pic>
                    <p:nvPicPr>
                      <p:cNvPr id="0" name="Object 14"/>
                      <p:cNvPicPr>
                        <a:picLocks noChangeAspect="1" noChangeArrowheads="1"/>
                      </p:cNvPicPr>
                      <p:nvPr/>
                    </p:nvPicPr>
                    <p:blipFill>
                      <a:blip r:embed="rId11"/>
                      <a:srcRect/>
                      <a:stretch>
                        <a:fillRect/>
                      </a:stretch>
                    </p:blipFill>
                    <p:spPr bwMode="auto">
                      <a:xfrm>
                        <a:off x="4864100" y="5983288"/>
                        <a:ext cx="4024313" cy="798512"/>
                      </a:xfrm>
                      <a:prstGeom prst="rect">
                        <a:avLst/>
                      </a:prstGeom>
                      <a:noFill/>
                      <a:ln>
                        <a:noFill/>
                      </a:ln>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665457365"/>
              </p:ext>
            </p:extLst>
          </p:nvPr>
        </p:nvGraphicFramePr>
        <p:xfrm>
          <a:off x="4254500" y="1090613"/>
          <a:ext cx="4654550" cy="1450975"/>
        </p:xfrm>
        <a:graphic>
          <a:graphicData uri="http://schemas.openxmlformats.org/presentationml/2006/ole">
            <mc:AlternateContent xmlns:mc="http://schemas.openxmlformats.org/markup-compatibility/2006">
              <mc:Choice xmlns:v="urn:schemas-microsoft-com:vml" Requires="v">
                <p:oleObj spid="_x0000_s13634" name="Equation" r:id="rId12" imgW="2158920" imgH="672840" progId="Equation.3">
                  <p:embed/>
                </p:oleObj>
              </mc:Choice>
              <mc:Fallback>
                <p:oleObj name="Equation" r:id="rId12" imgW="2158920" imgH="672840" progId="Equation.3">
                  <p:embed/>
                  <p:pic>
                    <p:nvPicPr>
                      <p:cNvPr id="0" name="Object 2"/>
                      <p:cNvPicPr>
                        <a:picLocks noChangeAspect="1" noChangeArrowheads="1"/>
                      </p:cNvPicPr>
                      <p:nvPr/>
                    </p:nvPicPr>
                    <p:blipFill>
                      <a:blip r:embed="rId13"/>
                      <a:srcRect/>
                      <a:stretch>
                        <a:fillRect/>
                      </a:stretch>
                    </p:blipFill>
                    <p:spPr bwMode="auto">
                      <a:xfrm>
                        <a:off x="4254500" y="1090613"/>
                        <a:ext cx="4654550" cy="1450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12" name="Object 11"/>
          <p:cNvGraphicFramePr>
            <a:graphicFrameLocks noChangeAspect="1"/>
          </p:cNvGraphicFramePr>
          <p:nvPr>
            <p:extLst>
              <p:ext uri="{D42A27DB-BD31-4B8C-83A1-F6EECF244321}">
                <p14:modId xmlns:p14="http://schemas.microsoft.com/office/powerpoint/2010/main" val="1635465247"/>
              </p:ext>
            </p:extLst>
          </p:nvPr>
        </p:nvGraphicFramePr>
        <p:xfrm>
          <a:off x="1630363" y="3657600"/>
          <a:ext cx="1397000" cy="492125"/>
        </p:xfrm>
        <a:graphic>
          <a:graphicData uri="http://schemas.openxmlformats.org/presentationml/2006/ole">
            <mc:AlternateContent xmlns:mc="http://schemas.openxmlformats.org/markup-compatibility/2006">
              <mc:Choice xmlns:v="urn:schemas-microsoft-com:vml" Requires="v">
                <p:oleObj spid="_x0000_s13635" name="Equation" r:id="rId14" imgW="647640" imgH="228600" progId="Equation.3">
                  <p:embed/>
                </p:oleObj>
              </mc:Choice>
              <mc:Fallback>
                <p:oleObj name="Equation" r:id="rId14" imgW="647640" imgH="228600" progId="Equation.3">
                  <p:embed/>
                  <p:pic>
                    <p:nvPicPr>
                      <p:cNvPr id="0" name="Object 2"/>
                      <p:cNvPicPr>
                        <a:picLocks noChangeAspect="1" noChangeArrowheads="1"/>
                      </p:cNvPicPr>
                      <p:nvPr/>
                    </p:nvPicPr>
                    <p:blipFill>
                      <a:blip r:embed="rId15"/>
                      <a:srcRect/>
                      <a:stretch>
                        <a:fillRect/>
                      </a:stretch>
                    </p:blipFill>
                    <p:spPr bwMode="auto">
                      <a:xfrm>
                        <a:off x="1630363" y="3657600"/>
                        <a:ext cx="1397000" cy="492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down)">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wipe(down)">
                                      <p:cBhvr>
                                        <p:cTn id="27" dur="500"/>
                                        <p:tgtEl>
                                          <p:spTgt spid="8"/>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wipe(down)">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down)">
                                      <p:cBhvr>
                                        <p:cTn id="37" dur="500"/>
                                        <p:tgtEl>
                                          <p:spTgt spid="10"/>
                                        </p:tgtEl>
                                      </p:cBhvr>
                                    </p:animEffect>
                                  </p:childTnLst>
                                </p:cTn>
                              </p:par>
                            </p:childTnLst>
                          </p:cTn>
                        </p:par>
                      </p:childTnLst>
                    </p:cTn>
                  </p:par>
                  <p:par>
                    <p:cTn id="38" fill="hold">
                      <p:stCondLst>
                        <p:cond delay="indefinite"/>
                      </p:stCondLst>
                      <p:childTnLst>
                        <p:par>
                          <p:cTn id="39" fill="hold">
                            <p:stCondLst>
                              <p:cond delay="0"/>
                            </p:stCondLst>
                            <p:childTnLst>
                              <p:par>
                                <p:cTn id="40" presetID="22" presetClass="entr" presetSubtype="4" fill="hold" nodeType="clickEffect">
                                  <p:stCondLst>
                                    <p:cond delay="0"/>
                                  </p:stCondLst>
                                  <p:childTnLst>
                                    <p:set>
                                      <p:cBhvr>
                                        <p:cTn id="41" dur="1" fill="hold">
                                          <p:stCondLst>
                                            <p:cond delay="0"/>
                                          </p:stCondLst>
                                        </p:cTn>
                                        <p:tgtEl>
                                          <p:spTgt spid="11"/>
                                        </p:tgtEl>
                                        <p:attrNameLst>
                                          <p:attrName>style.visibility</p:attrName>
                                        </p:attrNameLst>
                                      </p:cBhvr>
                                      <p:to>
                                        <p:strVal val="visible"/>
                                      </p:to>
                                    </p:set>
                                    <p:animEffect transition="in" filter="wipe(down)">
                                      <p:cBhvr>
                                        <p:cTn id="4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590800" y="262473"/>
            <a:ext cx="3331029" cy="3886199"/>
          </a:xfrm>
          <a:prstGeom prst="rect">
            <a:avLst/>
          </a:prstGeom>
        </p:spPr>
      </p:pic>
      <p:sp>
        <p:nvSpPr>
          <p:cNvPr id="5" name="TextBox 4"/>
          <p:cNvSpPr txBox="1"/>
          <p:nvPr/>
        </p:nvSpPr>
        <p:spPr>
          <a:xfrm>
            <a:off x="2590800" y="4148672"/>
            <a:ext cx="3581400" cy="769441"/>
          </a:xfrm>
          <a:prstGeom prst="rect">
            <a:avLst/>
          </a:prstGeom>
          <a:noFill/>
        </p:spPr>
        <p:txBody>
          <a:bodyPr wrap="square" rtlCol="0">
            <a:spAutoFit/>
          </a:bodyPr>
          <a:lstStyle/>
          <a:p>
            <a:pPr algn="ctr"/>
            <a:r>
              <a:rPr lang="vi-VN" sz="2200">
                <a:latin typeface="+mj-lt"/>
              </a:rPr>
              <a:t>Arthur Compton </a:t>
            </a:r>
            <a:endParaRPr lang="en-US" sz="2200" smtClean="0">
              <a:latin typeface="+mj-lt"/>
            </a:endParaRPr>
          </a:p>
          <a:p>
            <a:pPr algn="ctr"/>
            <a:r>
              <a:rPr lang="vi-VN" sz="2200" smtClean="0">
                <a:latin typeface="+mj-lt"/>
              </a:rPr>
              <a:t>1892 – 1962</a:t>
            </a:r>
            <a:r>
              <a:rPr lang="en-US" sz="2200">
                <a:latin typeface="+mj-lt"/>
              </a:rPr>
              <a:t> </a:t>
            </a:r>
            <a:r>
              <a:rPr lang="en-US" sz="2200" smtClean="0">
                <a:latin typeface="+mj-lt"/>
              </a:rPr>
              <a:t>(Mỹ)</a:t>
            </a:r>
            <a:endParaRPr lang="en-US" sz="2200">
              <a:latin typeface="+mj-lt"/>
            </a:endParaRPr>
          </a:p>
        </p:txBody>
      </p:sp>
      <p:sp>
        <p:nvSpPr>
          <p:cNvPr id="6" name="TextBox 5"/>
          <p:cNvSpPr txBox="1"/>
          <p:nvPr/>
        </p:nvSpPr>
        <p:spPr>
          <a:xfrm>
            <a:off x="76200" y="5334000"/>
            <a:ext cx="8915400" cy="769441"/>
          </a:xfrm>
          <a:prstGeom prst="rect">
            <a:avLst/>
          </a:prstGeom>
          <a:noFill/>
        </p:spPr>
        <p:txBody>
          <a:bodyPr wrap="square" rtlCol="0">
            <a:spAutoFit/>
          </a:bodyPr>
          <a:lstStyle/>
          <a:p>
            <a:r>
              <a:rPr lang="vi-VN" sz="2200">
                <a:latin typeface="+mj-lt"/>
              </a:rPr>
              <a:t>Arthur Compton là một nhà vật lý. Ông đoạt Giải Nobel Vật lý năm 1927 cùng với Charles Wilson cho khám phá của ông về hiệu ứng Compton</a:t>
            </a:r>
            <a:endParaRPr lang="en-US" sz="2200">
              <a:latin typeface="+mj-lt"/>
            </a:endParaRPr>
          </a:p>
        </p:txBody>
      </p:sp>
    </p:spTree>
    <p:extLst>
      <p:ext uri="{BB962C8B-B14F-4D97-AF65-F5344CB8AC3E}">
        <p14:creationId xmlns:p14="http://schemas.microsoft.com/office/powerpoint/2010/main" val="26597590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76200" y="685800"/>
            <a:ext cx="9067800" cy="1200329"/>
          </a:xfrm>
          <a:prstGeom prst="rect">
            <a:avLst/>
          </a:prstGeom>
        </p:spPr>
        <p:txBody>
          <a:bodyPr wrap="square">
            <a:spAutoFit/>
          </a:bodyPr>
          <a:lstStyle/>
          <a:p>
            <a:r>
              <a:rPr lang="de-DE" sz="2400" dirty="0" smtClean="0">
                <a:latin typeface="Times New Roman" pitchFamily="18" charset="0"/>
                <a:cs typeface="Times New Roman" pitchFamily="18" charset="0"/>
              </a:rPr>
              <a:t>Ví dụ 1. Vật </a:t>
            </a:r>
            <a:r>
              <a:rPr lang="de-DE" sz="2400" dirty="0">
                <a:latin typeface="Times New Roman" pitchFamily="18" charset="0"/>
                <a:cs typeface="Times New Roman" pitchFamily="18" charset="0"/>
              </a:rPr>
              <a:t>đen tuyệt đối có dạng một quả cầu đường kính d = 10cm ở nhiệt độ T không đổi. Tìm nhiệt độ T, cho biết công suất bức xạ ở nhiệt độ đã cho bằng 12kcalo/phút.  </a:t>
            </a:r>
            <a:endParaRPr lang="en-US" sz="2400" dirty="0">
              <a:latin typeface="Times New Roman" pitchFamily="18" charset="0"/>
              <a:cs typeface="Times New Roman" pitchFamily="18" charset="0"/>
            </a:endParaRPr>
          </a:p>
        </p:txBody>
      </p:sp>
      <p:sp>
        <p:nvSpPr>
          <p:cNvPr id="3" name="TextBox 2"/>
          <p:cNvSpPr txBox="1"/>
          <p:nvPr/>
        </p:nvSpPr>
        <p:spPr>
          <a:xfrm>
            <a:off x="76200" y="2057400"/>
            <a:ext cx="6172200" cy="461665"/>
          </a:xfrm>
          <a:prstGeom prst="rect">
            <a:avLst/>
          </a:prstGeom>
          <a:noFill/>
        </p:spPr>
        <p:txBody>
          <a:bodyPr wrap="square" rtlCol="0">
            <a:spAutoFit/>
          </a:bodyPr>
          <a:lstStyle/>
          <a:p>
            <a:r>
              <a:rPr lang="hy-AM" sz="2400" dirty="0" smtClean="0">
                <a:latin typeface="Times New Roman" pitchFamily="18" charset="0"/>
                <a:cs typeface="Times New Roman" pitchFamily="18" charset="0"/>
              </a:rPr>
              <a:t>Փ</a:t>
            </a:r>
            <a:r>
              <a:rPr lang="en-US" sz="2400" dirty="0" smtClean="0">
                <a:latin typeface="Times New Roman" pitchFamily="18" charset="0"/>
                <a:cs typeface="Times New Roman" pitchFamily="18" charset="0"/>
              </a:rPr>
              <a:t> = 12</a:t>
            </a:r>
            <a:r>
              <a:rPr lang="de-DE" sz="2400" dirty="0" smtClean="0">
                <a:latin typeface="Times New Roman" pitchFamily="18" charset="0"/>
                <a:cs typeface="Times New Roman" pitchFamily="18" charset="0"/>
              </a:rPr>
              <a:t>kcalo/phút=12.10</a:t>
            </a:r>
            <a:r>
              <a:rPr lang="de-DE" sz="2400" baseline="30000" dirty="0" smtClean="0">
                <a:latin typeface="Times New Roman" pitchFamily="18" charset="0"/>
                <a:cs typeface="Times New Roman" pitchFamily="18" charset="0"/>
              </a:rPr>
              <a:t>3</a:t>
            </a:r>
            <a:r>
              <a:rPr lang="de-DE" sz="2400" dirty="0" smtClean="0">
                <a:latin typeface="Times New Roman" pitchFamily="18" charset="0"/>
                <a:cs typeface="Times New Roman" pitchFamily="18" charset="0"/>
              </a:rPr>
              <a:t>.4,18/60 (J/s)</a:t>
            </a:r>
            <a:endParaRPr lang="en-US" sz="2400" dirty="0">
              <a:latin typeface="Times New Roman" pitchFamily="18" charset="0"/>
              <a:cs typeface="Times New Roman" pitchFamily="18" charset="0"/>
            </a:endParaRPr>
          </a:p>
        </p:txBody>
      </p:sp>
      <p:graphicFrame>
        <p:nvGraphicFramePr>
          <p:cNvPr id="7" name="Object 6"/>
          <p:cNvGraphicFramePr>
            <a:graphicFrameLocks noChangeAspect="1"/>
          </p:cNvGraphicFramePr>
          <p:nvPr>
            <p:extLst>
              <p:ext uri="{D42A27DB-BD31-4B8C-83A1-F6EECF244321}">
                <p14:modId xmlns:p14="http://schemas.microsoft.com/office/powerpoint/2010/main" val="781445578"/>
              </p:ext>
            </p:extLst>
          </p:nvPr>
        </p:nvGraphicFramePr>
        <p:xfrm>
          <a:off x="2028825" y="3133725"/>
          <a:ext cx="3741738" cy="828675"/>
        </p:xfrm>
        <a:graphic>
          <a:graphicData uri="http://schemas.openxmlformats.org/presentationml/2006/ole">
            <mc:AlternateContent xmlns:mc="http://schemas.openxmlformats.org/markup-compatibility/2006">
              <mc:Choice xmlns:v="urn:schemas-microsoft-com:vml" Requires="v">
                <p:oleObj spid="_x0000_s14438" name="Equation" r:id="rId3" imgW="1777680" imgH="393480" progId="Equation.3">
                  <p:embed/>
                </p:oleObj>
              </mc:Choice>
              <mc:Fallback>
                <p:oleObj name="Equation" r:id="rId3" imgW="1777680" imgH="393480" progId="Equation.3">
                  <p:embed/>
                  <p:pic>
                    <p:nvPicPr>
                      <p:cNvPr id="0" name=""/>
                      <p:cNvPicPr/>
                      <p:nvPr/>
                    </p:nvPicPr>
                    <p:blipFill>
                      <a:blip r:embed="rId4"/>
                      <a:stretch>
                        <a:fillRect/>
                      </a:stretch>
                    </p:blipFill>
                    <p:spPr>
                      <a:xfrm>
                        <a:off x="2028825" y="3133725"/>
                        <a:ext cx="3741738" cy="828675"/>
                      </a:xfrm>
                      <a:prstGeom prst="rect">
                        <a:avLst/>
                      </a:prstGeom>
                    </p:spPr>
                  </p:pic>
                </p:oleObj>
              </mc:Fallback>
            </mc:AlternateContent>
          </a:graphicData>
        </a:graphic>
      </p:graphicFrame>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wipe(down)">
                                      <p:cBhvr>
                                        <p:cTn id="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76200" y="762000"/>
            <a:ext cx="8915400" cy="1446550"/>
          </a:xfrm>
          <a:prstGeom prst="rect">
            <a:avLst/>
          </a:prstGeom>
        </p:spPr>
        <p:txBody>
          <a:bodyPr wrap="square">
            <a:spAutoFit/>
          </a:bodyPr>
          <a:lstStyle/>
          <a:p>
            <a:pPr algn="just"/>
            <a:r>
              <a:rPr lang="de-DE" sz="2200" dirty="0" smtClean="0">
                <a:latin typeface="Times New Roman" pitchFamily="18" charset="0"/>
                <a:cs typeface="Times New Roman" pitchFamily="18" charset="0"/>
              </a:rPr>
              <a:t>Ví dụ 2. Nhiệt </a:t>
            </a:r>
            <a:r>
              <a:rPr lang="de-DE" sz="2200" dirty="0">
                <a:latin typeface="Times New Roman" pitchFamily="18" charset="0"/>
                <a:cs typeface="Times New Roman" pitchFamily="18" charset="0"/>
              </a:rPr>
              <a:t>độ của sợi dây tóc vonfram của bóng đèn điện luôn biến đổi vì được đốt nóng bằng dòng điện xoay chiều. Hiệu số giữa nhiệt độ cao nhất và thấp nhất bằng 80</a:t>
            </a:r>
            <a:r>
              <a:rPr lang="de-DE" sz="2200" baseline="30000" dirty="0">
                <a:latin typeface="Times New Roman" pitchFamily="18" charset="0"/>
                <a:cs typeface="Times New Roman" pitchFamily="18" charset="0"/>
              </a:rPr>
              <a:t>0</a:t>
            </a:r>
            <a:r>
              <a:rPr lang="de-DE" sz="2200" dirty="0">
                <a:latin typeface="Times New Roman" pitchFamily="18" charset="0"/>
                <a:cs typeface="Times New Roman" pitchFamily="18" charset="0"/>
              </a:rPr>
              <a:t>, nhiệt độ trung bình bằng 2300K. Hỏi công suất bức xạ biến đổi bao nhiêu lần, coi dây tóc bóng đèn là vật đen tuyệt đối</a:t>
            </a:r>
            <a:r>
              <a:rPr lang="de-DE" dirty="0"/>
              <a:t>. </a:t>
            </a:r>
            <a:endParaRPr lang="en-US" dirty="0"/>
          </a:p>
        </p:txBody>
      </p:sp>
      <p:graphicFrame>
        <p:nvGraphicFramePr>
          <p:cNvPr id="3" name="Object 2"/>
          <p:cNvGraphicFramePr>
            <a:graphicFrameLocks noChangeAspect="1"/>
          </p:cNvGraphicFramePr>
          <p:nvPr>
            <p:extLst>
              <p:ext uri="{D42A27DB-BD31-4B8C-83A1-F6EECF244321}">
                <p14:modId xmlns:p14="http://schemas.microsoft.com/office/powerpoint/2010/main" val="3105740630"/>
              </p:ext>
            </p:extLst>
          </p:nvPr>
        </p:nvGraphicFramePr>
        <p:xfrm>
          <a:off x="1981200" y="2286000"/>
          <a:ext cx="1600200" cy="384048"/>
        </p:xfrm>
        <a:graphic>
          <a:graphicData uri="http://schemas.openxmlformats.org/presentationml/2006/ole">
            <mc:AlternateContent xmlns:mc="http://schemas.openxmlformats.org/markup-compatibility/2006">
              <mc:Choice xmlns:v="urn:schemas-microsoft-com:vml" Requires="v">
                <p:oleObj spid="_x0000_s15523" name="Equation" r:id="rId3" imgW="952200" imgH="228600" progId="Equation.3">
                  <p:embed/>
                </p:oleObj>
              </mc:Choice>
              <mc:Fallback>
                <p:oleObj name="Equation" r:id="rId3" imgW="952200" imgH="228600" progId="Equation.3">
                  <p:embed/>
                  <p:pic>
                    <p:nvPicPr>
                      <p:cNvPr id="0" name=""/>
                      <p:cNvPicPr/>
                      <p:nvPr/>
                    </p:nvPicPr>
                    <p:blipFill>
                      <a:blip r:embed="rId4"/>
                      <a:stretch>
                        <a:fillRect/>
                      </a:stretch>
                    </p:blipFill>
                    <p:spPr>
                      <a:xfrm>
                        <a:off x="1981200" y="2286000"/>
                        <a:ext cx="1600200" cy="384048"/>
                      </a:xfrm>
                      <a:prstGeom prst="rect">
                        <a:avLst/>
                      </a:prstGeom>
                    </p:spPr>
                  </p:pic>
                </p:oleObj>
              </mc:Fallback>
            </mc:AlternateContent>
          </a:graphicData>
        </a:graphic>
      </p:graphicFrame>
      <p:graphicFrame>
        <p:nvGraphicFramePr>
          <p:cNvPr id="5" name="Object 4"/>
          <p:cNvGraphicFramePr>
            <a:graphicFrameLocks noChangeAspect="1"/>
          </p:cNvGraphicFramePr>
          <p:nvPr>
            <p:extLst>
              <p:ext uri="{D42A27DB-BD31-4B8C-83A1-F6EECF244321}">
                <p14:modId xmlns:p14="http://schemas.microsoft.com/office/powerpoint/2010/main" val="3685183589"/>
              </p:ext>
            </p:extLst>
          </p:nvPr>
        </p:nvGraphicFramePr>
        <p:xfrm>
          <a:off x="1905000" y="2895600"/>
          <a:ext cx="1898650" cy="661987"/>
        </p:xfrm>
        <a:graphic>
          <a:graphicData uri="http://schemas.openxmlformats.org/presentationml/2006/ole">
            <mc:AlternateContent xmlns:mc="http://schemas.openxmlformats.org/markup-compatibility/2006">
              <mc:Choice xmlns:v="urn:schemas-microsoft-com:vml" Requires="v">
                <p:oleObj spid="_x0000_s15524" name="Equation" r:id="rId5" imgW="1130040" imgH="393480" progId="Equation.3">
                  <p:embed/>
                </p:oleObj>
              </mc:Choice>
              <mc:Fallback>
                <p:oleObj name="Equation" r:id="rId5" imgW="1130040" imgH="393480" progId="Equation.3">
                  <p:embed/>
                  <p:pic>
                    <p:nvPicPr>
                      <p:cNvPr id="0" name="Object 2"/>
                      <p:cNvPicPr>
                        <a:picLocks noChangeAspect="1" noChangeArrowheads="1"/>
                      </p:cNvPicPr>
                      <p:nvPr/>
                    </p:nvPicPr>
                    <p:blipFill>
                      <a:blip r:embed="rId6"/>
                      <a:srcRect/>
                      <a:stretch>
                        <a:fillRect/>
                      </a:stretch>
                    </p:blipFill>
                    <p:spPr bwMode="auto">
                      <a:xfrm>
                        <a:off x="1905000" y="2895600"/>
                        <a:ext cx="1898650" cy="6619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7" name="Object 6"/>
          <p:cNvGraphicFramePr>
            <a:graphicFrameLocks noChangeAspect="1"/>
          </p:cNvGraphicFramePr>
          <p:nvPr>
            <p:extLst>
              <p:ext uri="{D42A27DB-BD31-4B8C-83A1-F6EECF244321}">
                <p14:modId xmlns:p14="http://schemas.microsoft.com/office/powerpoint/2010/main" val="2063770858"/>
              </p:ext>
            </p:extLst>
          </p:nvPr>
        </p:nvGraphicFramePr>
        <p:xfrm>
          <a:off x="1933832" y="3657600"/>
          <a:ext cx="1952368" cy="914400"/>
        </p:xfrm>
        <a:graphic>
          <a:graphicData uri="http://schemas.openxmlformats.org/presentationml/2006/ole">
            <mc:AlternateContent xmlns:mc="http://schemas.openxmlformats.org/markup-compatibility/2006">
              <mc:Choice xmlns:v="urn:schemas-microsoft-com:vml" Requires="v">
                <p:oleObj spid="_x0000_s15525" name="Equation" r:id="rId7" imgW="1002960" imgH="469800" progId="Equation.3">
                  <p:embed/>
                </p:oleObj>
              </mc:Choice>
              <mc:Fallback>
                <p:oleObj name="Equation" r:id="rId7" imgW="1002960" imgH="469800" progId="Equation.3">
                  <p:embed/>
                  <p:pic>
                    <p:nvPicPr>
                      <p:cNvPr id="0" name=""/>
                      <p:cNvPicPr/>
                      <p:nvPr/>
                    </p:nvPicPr>
                    <p:blipFill>
                      <a:blip r:embed="rId8"/>
                      <a:stretch>
                        <a:fillRect/>
                      </a:stretch>
                    </p:blipFill>
                    <p:spPr>
                      <a:xfrm>
                        <a:off x="1933832" y="3657600"/>
                        <a:ext cx="1952368" cy="914400"/>
                      </a:xfrm>
                      <a:prstGeom prst="rect">
                        <a:avLst/>
                      </a:prstGeom>
                    </p:spPr>
                  </p:pic>
                </p:oleObj>
              </mc:Fallback>
            </mc:AlternateContent>
          </a:graphicData>
        </a:graphic>
      </p:graphicFrame>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down)">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p:cNvSpPr/>
          <p:nvPr/>
        </p:nvSpPr>
        <p:spPr>
          <a:xfrm>
            <a:off x="76200" y="762000"/>
            <a:ext cx="8991600" cy="1107996"/>
          </a:xfrm>
          <a:prstGeom prst="rect">
            <a:avLst/>
          </a:prstGeom>
        </p:spPr>
        <p:txBody>
          <a:bodyPr wrap="square">
            <a:spAutoFit/>
          </a:bodyPr>
          <a:lstStyle/>
          <a:p>
            <a:r>
              <a:rPr lang="de-DE" sz="2200" dirty="0" smtClean="0">
                <a:latin typeface="Times New Roman" pitchFamily="18" charset="0"/>
                <a:cs typeface="Times New Roman" pitchFamily="18" charset="0"/>
              </a:rPr>
              <a:t>Ví dụ 3. Một </a:t>
            </a:r>
            <a:r>
              <a:rPr lang="de-DE" sz="2200" dirty="0">
                <a:latin typeface="Times New Roman" pitchFamily="18" charset="0"/>
                <a:cs typeface="Times New Roman" pitchFamily="18" charset="0"/>
              </a:rPr>
              <a:t>thỏi thép đúc có nhiệt độ 727</a:t>
            </a:r>
            <a:r>
              <a:rPr lang="de-DE" sz="2200" baseline="30000" dirty="0">
                <a:latin typeface="Times New Roman" pitchFamily="18" charset="0"/>
                <a:cs typeface="Times New Roman" pitchFamily="18" charset="0"/>
              </a:rPr>
              <a:t>o</a:t>
            </a:r>
            <a:r>
              <a:rPr lang="de-DE" sz="2200" dirty="0">
                <a:latin typeface="Times New Roman" pitchFamily="18" charset="0"/>
                <a:cs typeface="Times New Roman" pitchFamily="18" charset="0"/>
              </a:rPr>
              <a:t>C. Trong một giây, mỗi cm</a:t>
            </a:r>
            <a:r>
              <a:rPr lang="de-DE" sz="2200" baseline="30000" dirty="0">
                <a:latin typeface="Times New Roman" pitchFamily="18" charset="0"/>
                <a:cs typeface="Times New Roman" pitchFamily="18" charset="0"/>
              </a:rPr>
              <a:t>2</a:t>
            </a:r>
            <a:r>
              <a:rPr lang="de-DE" sz="2200" dirty="0">
                <a:latin typeface="Times New Roman" pitchFamily="18" charset="0"/>
                <a:cs typeface="Times New Roman" pitchFamily="18" charset="0"/>
              </a:rPr>
              <a:t> của nó bức xạ một lượng năng lượng 4J. Xác định hệ số hấp thụ của thỏi thép ở nhiệt độ đó, nếu coi rằng hệ số hấp thụ là như nhau đối với mọi bước sóng. </a:t>
            </a:r>
            <a:endParaRPr lang="en-US" sz="2200" dirty="0">
              <a:latin typeface="Times New Roman" pitchFamily="18" charset="0"/>
              <a:cs typeface="Times New Roman" pitchFamily="18" charset="0"/>
            </a:endParaRPr>
          </a:p>
        </p:txBody>
      </p:sp>
      <p:sp>
        <p:nvSpPr>
          <p:cNvPr id="3" name="TextBox 2"/>
          <p:cNvSpPr txBox="1"/>
          <p:nvPr/>
        </p:nvSpPr>
        <p:spPr>
          <a:xfrm>
            <a:off x="152400" y="1905000"/>
            <a:ext cx="8686800" cy="369332"/>
          </a:xfrm>
          <a:prstGeom prst="rect">
            <a:avLst/>
          </a:prstGeom>
          <a:noFill/>
        </p:spPr>
        <p:txBody>
          <a:bodyPr wrap="square" rtlCol="0">
            <a:spAutoFit/>
          </a:bodyPr>
          <a:lstStyle/>
          <a:p>
            <a:r>
              <a:rPr lang="en-US" dirty="0" err="1" smtClean="0"/>
              <a:t>Năng</a:t>
            </a:r>
            <a:r>
              <a:rPr lang="en-US" dirty="0" smtClean="0"/>
              <a:t> </a:t>
            </a:r>
            <a:r>
              <a:rPr lang="en-US" dirty="0" err="1" smtClean="0"/>
              <a:t>suất</a:t>
            </a:r>
            <a:r>
              <a:rPr lang="en-US" dirty="0" smtClean="0"/>
              <a:t> </a:t>
            </a:r>
            <a:r>
              <a:rPr lang="en-US" dirty="0" err="1" smtClean="0"/>
              <a:t>phát</a:t>
            </a:r>
            <a:r>
              <a:rPr lang="en-US" dirty="0" smtClean="0"/>
              <a:t> </a:t>
            </a:r>
            <a:r>
              <a:rPr lang="en-US" dirty="0" err="1" smtClean="0"/>
              <a:t>xạ</a:t>
            </a:r>
            <a:r>
              <a:rPr lang="en-US" dirty="0" smtClean="0"/>
              <a:t> </a:t>
            </a:r>
            <a:r>
              <a:rPr lang="en-US" dirty="0" err="1" smtClean="0"/>
              <a:t>toàn</a:t>
            </a:r>
            <a:r>
              <a:rPr lang="en-US" dirty="0" smtClean="0"/>
              <a:t> </a:t>
            </a:r>
            <a:r>
              <a:rPr lang="en-US" dirty="0" err="1" smtClean="0"/>
              <a:t>phần</a:t>
            </a:r>
            <a:r>
              <a:rPr lang="en-US" dirty="0" smtClean="0"/>
              <a:t> </a:t>
            </a:r>
            <a:r>
              <a:rPr lang="en-US" dirty="0" err="1" smtClean="0"/>
              <a:t>của</a:t>
            </a:r>
            <a:r>
              <a:rPr lang="en-US" dirty="0" smtClean="0"/>
              <a:t> </a:t>
            </a:r>
            <a:r>
              <a:rPr lang="en-US" dirty="0" err="1" smtClean="0"/>
              <a:t>vật</a:t>
            </a:r>
            <a:r>
              <a:rPr lang="en-US" dirty="0" smtClean="0"/>
              <a:t>: </a:t>
            </a:r>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413148972"/>
              </p:ext>
            </p:extLst>
          </p:nvPr>
        </p:nvGraphicFramePr>
        <p:xfrm>
          <a:off x="2400300" y="2438400"/>
          <a:ext cx="2771775" cy="609600"/>
        </p:xfrm>
        <a:graphic>
          <a:graphicData uri="http://schemas.openxmlformats.org/presentationml/2006/ole">
            <mc:AlternateContent xmlns:mc="http://schemas.openxmlformats.org/markup-compatibility/2006">
              <mc:Choice xmlns:v="urn:schemas-microsoft-com:vml" Requires="v">
                <p:oleObj spid="_x0000_s16535" name="Equation" r:id="rId3" imgW="1790640" imgH="393480" progId="Equation.3">
                  <p:embed/>
                </p:oleObj>
              </mc:Choice>
              <mc:Fallback>
                <p:oleObj name="Equation" r:id="rId3" imgW="1790640" imgH="393480" progId="Equation.3">
                  <p:embed/>
                  <p:pic>
                    <p:nvPicPr>
                      <p:cNvPr id="0" name=""/>
                      <p:cNvPicPr/>
                      <p:nvPr/>
                    </p:nvPicPr>
                    <p:blipFill>
                      <a:blip r:embed="rId4"/>
                      <a:stretch>
                        <a:fillRect/>
                      </a:stretch>
                    </p:blipFill>
                    <p:spPr>
                      <a:xfrm>
                        <a:off x="2400300" y="2438400"/>
                        <a:ext cx="2771775" cy="609600"/>
                      </a:xfrm>
                      <a:prstGeom prst="rect">
                        <a:avLst/>
                      </a:prstGeom>
                    </p:spPr>
                  </p:pic>
                </p:oleObj>
              </mc:Fallback>
            </mc:AlternateContent>
          </a:graphicData>
        </a:graphic>
      </p:graphicFrame>
      <p:graphicFrame>
        <p:nvGraphicFramePr>
          <p:cNvPr id="8" name="Object 7"/>
          <p:cNvGraphicFramePr>
            <a:graphicFrameLocks noChangeAspect="1"/>
          </p:cNvGraphicFramePr>
          <p:nvPr>
            <p:extLst>
              <p:ext uri="{D42A27DB-BD31-4B8C-83A1-F6EECF244321}">
                <p14:modId xmlns:p14="http://schemas.microsoft.com/office/powerpoint/2010/main" val="1709665040"/>
              </p:ext>
            </p:extLst>
          </p:nvPr>
        </p:nvGraphicFramePr>
        <p:xfrm>
          <a:off x="2514600" y="3733800"/>
          <a:ext cx="1862138" cy="381000"/>
        </p:xfrm>
        <a:graphic>
          <a:graphicData uri="http://schemas.openxmlformats.org/presentationml/2006/ole">
            <mc:AlternateContent xmlns:mc="http://schemas.openxmlformats.org/markup-compatibility/2006">
              <mc:Choice xmlns:v="urn:schemas-microsoft-com:vml" Requires="v">
                <p:oleObj spid="_x0000_s16536" name="Equation" r:id="rId5" imgW="1117440" imgH="228600" progId="Equation.3">
                  <p:embed/>
                </p:oleObj>
              </mc:Choice>
              <mc:Fallback>
                <p:oleObj name="Equation" r:id="rId5" imgW="1117440" imgH="228600" progId="Equation.3">
                  <p:embed/>
                  <p:pic>
                    <p:nvPicPr>
                      <p:cNvPr id="0" name=""/>
                      <p:cNvPicPr/>
                      <p:nvPr/>
                    </p:nvPicPr>
                    <p:blipFill>
                      <a:blip r:embed="rId6"/>
                      <a:stretch>
                        <a:fillRect/>
                      </a:stretch>
                    </p:blipFill>
                    <p:spPr>
                      <a:xfrm>
                        <a:off x="2514600" y="3733800"/>
                        <a:ext cx="1862138" cy="381000"/>
                      </a:xfrm>
                      <a:prstGeom prst="rect">
                        <a:avLst/>
                      </a:prstGeom>
                    </p:spPr>
                  </p:pic>
                </p:oleObj>
              </mc:Fallback>
            </mc:AlternateContent>
          </a:graphicData>
        </a:graphic>
      </p:graphicFrame>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down)">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0"/>
            <a:ext cx="9144000" cy="60960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extBox 1"/>
          <p:cNvSpPr txBox="1"/>
          <p:nvPr/>
        </p:nvSpPr>
        <p:spPr>
          <a:xfrm>
            <a:off x="76200" y="614065"/>
            <a:ext cx="8915400" cy="2123658"/>
          </a:xfrm>
          <a:prstGeom prst="rect">
            <a:avLst/>
          </a:prstGeom>
          <a:noFill/>
        </p:spPr>
        <p:txBody>
          <a:bodyPr wrap="square" rtlCol="0">
            <a:spAutoFit/>
          </a:bodyPr>
          <a:lstStyle/>
          <a:p>
            <a:r>
              <a:rPr lang="de-DE" sz="2200" dirty="0" smtClean="0">
                <a:latin typeface="Times New Roman" pitchFamily="18" charset="0"/>
                <a:cs typeface="Times New Roman" pitchFamily="18" charset="0"/>
              </a:rPr>
              <a:t>Ví dụ 4. Một </a:t>
            </a:r>
            <a:r>
              <a:rPr lang="de-DE" sz="2200" dirty="0">
                <a:latin typeface="Times New Roman" pitchFamily="18" charset="0"/>
                <a:cs typeface="Times New Roman" pitchFamily="18" charset="0"/>
              </a:rPr>
              <a:t>ngôi nhà gạch trát vữa có diện tích mặt ngoài tổng cộng là 800 m</a:t>
            </a:r>
            <a:r>
              <a:rPr lang="de-DE" sz="2200" baseline="30000" dirty="0">
                <a:latin typeface="Times New Roman" pitchFamily="18" charset="0"/>
                <a:cs typeface="Times New Roman" pitchFamily="18" charset="0"/>
              </a:rPr>
              <a:t>2</a:t>
            </a:r>
            <a:r>
              <a:rPr lang="de-DE" sz="2200" dirty="0">
                <a:latin typeface="Times New Roman" pitchFamily="18" charset="0"/>
                <a:cs typeface="Times New Roman" pitchFamily="18" charset="0"/>
              </a:rPr>
              <a:t>, nhiệt độ của mặt bức xạ là 27</a:t>
            </a:r>
            <a:r>
              <a:rPr lang="de-DE" sz="2200" baseline="30000" dirty="0">
                <a:latin typeface="Times New Roman" pitchFamily="18" charset="0"/>
                <a:cs typeface="Times New Roman" pitchFamily="18" charset="0"/>
              </a:rPr>
              <a:t>o</a:t>
            </a:r>
            <a:r>
              <a:rPr lang="de-DE" sz="2200" dirty="0">
                <a:latin typeface="Times New Roman" pitchFamily="18" charset="0"/>
                <a:cs typeface="Times New Roman" pitchFamily="18" charset="0"/>
              </a:rPr>
              <a:t>C và hệ số hấp thụ khi đó bằng 0,8. Tính: </a:t>
            </a:r>
            <a:endParaRPr lang="en-US" sz="2200" dirty="0">
              <a:latin typeface="Times New Roman" pitchFamily="18" charset="0"/>
              <a:cs typeface="Times New Roman" pitchFamily="18" charset="0"/>
            </a:endParaRPr>
          </a:p>
          <a:p>
            <a:r>
              <a:rPr lang="de-DE" sz="2200" dirty="0">
                <a:latin typeface="Times New Roman" pitchFamily="18" charset="0"/>
                <a:cs typeface="Times New Roman" pitchFamily="18" charset="0"/>
              </a:rPr>
              <a:t>a. Năng lượng bức xạ trong một ngày đêm từ ngôi nhà đó. </a:t>
            </a:r>
            <a:endParaRPr lang="en-US" sz="2200" dirty="0">
              <a:latin typeface="Times New Roman" pitchFamily="18" charset="0"/>
              <a:cs typeface="Times New Roman" pitchFamily="18" charset="0"/>
            </a:endParaRPr>
          </a:p>
          <a:p>
            <a:r>
              <a:rPr lang="de-DE" sz="2200" dirty="0">
                <a:latin typeface="Times New Roman" pitchFamily="18" charset="0"/>
                <a:cs typeface="Times New Roman" pitchFamily="18" charset="0"/>
              </a:rPr>
              <a:t>b. Bước sóng ứng với năng suất phát xạ cực đại của ngôi nhà nếu coi nó là vật đen tuyệt đối.</a:t>
            </a:r>
            <a:endParaRPr lang="en-US" sz="2200" dirty="0">
              <a:latin typeface="Times New Roman" pitchFamily="18" charset="0"/>
              <a:cs typeface="Times New Roman" pitchFamily="18" charset="0"/>
            </a:endParaRPr>
          </a:p>
          <a:p>
            <a:endParaRPr lang="en-US" sz="2200" dirty="0">
              <a:latin typeface="Times New Roman" pitchFamily="18" charset="0"/>
              <a:cs typeface="Times New Roman" pitchFamily="18" charset="0"/>
            </a:endParaRPr>
          </a:p>
        </p:txBody>
      </p:sp>
      <p:sp>
        <p:nvSpPr>
          <p:cNvPr id="3" name="TextBox 2"/>
          <p:cNvSpPr txBox="1"/>
          <p:nvPr/>
        </p:nvSpPr>
        <p:spPr>
          <a:xfrm>
            <a:off x="0" y="3773269"/>
            <a:ext cx="8839200" cy="646331"/>
          </a:xfrm>
          <a:prstGeom prst="rect">
            <a:avLst/>
          </a:prstGeom>
          <a:noFill/>
        </p:spPr>
        <p:txBody>
          <a:bodyPr wrap="square" rtlCol="0">
            <a:spAutoFit/>
          </a:bodyPr>
          <a:lstStyle/>
          <a:p>
            <a:r>
              <a:rPr lang="de-DE" dirty="0"/>
              <a:t>Năng lượng bức xạ trong một ngày đêm từ ngôi nhà đó. </a:t>
            </a:r>
            <a:endParaRPr lang="en-US" dirty="0"/>
          </a:p>
          <a:p>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2394335946"/>
              </p:ext>
            </p:extLst>
          </p:nvPr>
        </p:nvGraphicFramePr>
        <p:xfrm>
          <a:off x="3291594" y="4343400"/>
          <a:ext cx="2116137" cy="365125"/>
        </p:xfrm>
        <a:graphic>
          <a:graphicData uri="http://schemas.openxmlformats.org/presentationml/2006/ole">
            <mc:AlternateContent xmlns:mc="http://schemas.openxmlformats.org/markup-compatibility/2006">
              <mc:Choice xmlns:v="urn:schemas-microsoft-com:vml" Requires="v">
                <p:oleObj spid="_x0000_s17621" name="Equation" r:id="rId3" imgW="1104840" imgH="190440" progId="Equation.3">
                  <p:embed/>
                </p:oleObj>
              </mc:Choice>
              <mc:Fallback>
                <p:oleObj name="Equation" r:id="rId3" imgW="1104840" imgH="190440" progId="Equation.3">
                  <p:embed/>
                  <p:pic>
                    <p:nvPicPr>
                      <p:cNvPr id="0" name=""/>
                      <p:cNvPicPr/>
                      <p:nvPr/>
                    </p:nvPicPr>
                    <p:blipFill>
                      <a:blip r:embed="rId4"/>
                      <a:stretch>
                        <a:fillRect/>
                      </a:stretch>
                    </p:blipFill>
                    <p:spPr>
                      <a:xfrm>
                        <a:off x="3291594" y="4343400"/>
                        <a:ext cx="2116137" cy="365125"/>
                      </a:xfrm>
                      <a:prstGeom prst="rect">
                        <a:avLst/>
                      </a:prstGeom>
                    </p:spPr>
                  </p:pic>
                </p:oleObj>
              </mc:Fallback>
            </mc:AlternateContent>
          </a:graphicData>
        </a:graphic>
      </p:graphicFrame>
      <p:sp>
        <p:nvSpPr>
          <p:cNvPr id="7" name="TextBox 6"/>
          <p:cNvSpPr txBox="1"/>
          <p:nvPr/>
        </p:nvSpPr>
        <p:spPr>
          <a:xfrm>
            <a:off x="6263" y="2983468"/>
            <a:ext cx="5715000" cy="369332"/>
          </a:xfrm>
          <a:prstGeom prst="rect">
            <a:avLst/>
          </a:prstGeom>
          <a:noFill/>
        </p:spPr>
        <p:txBody>
          <a:bodyPr wrap="square" rtlCol="0">
            <a:spAutoFit/>
          </a:bodyPr>
          <a:lstStyle/>
          <a:p>
            <a:r>
              <a:rPr lang="en-US" dirty="0" err="1" smtClean="0"/>
              <a:t>Công</a:t>
            </a:r>
            <a:r>
              <a:rPr lang="en-US" dirty="0" smtClean="0"/>
              <a:t> </a:t>
            </a:r>
            <a:r>
              <a:rPr lang="en-US" dirty="0" err="1" smtClean="0"/>
              <a:t>suất</a:t>
            </a:r>
            <a:r>
              <a:rPr lang="en-US" dirty="0" smtClean="0"/>
              <a:t> </a:t>
            </a:r>
            <a:r>
              <a:rPr lang="en-US" dirty="0" err="1" smtClean="0"/>
              <a:t>bức</a:t>
            </a:r>
            <a:r>
              <a:rPr lang="en-US" dirty="0" smtClean="0"/>
              <a:t> </a:t>
            </a:r>
            <a:r>
              <a:rPr lang="en-US" dirty="0" err="1" smtClean="0"/>
              <a:t>xạ</a:t>
            </a:r>
            <a:r>
              <a:rPr lang="en-US" dirty="0" smtClean="0"/>
              <a:t> </a:t>
            </a:r>
            <a:r>
              <a:rPr lang="en-US" dirty="0" err="1" smtClean="0"/>
              <a:t>của</a:t>
            </a:r>
            <a:r>
              <a:rPr lang="en-US" dirty="0" smtClean="0"/>
              <a:t> </a:t>
            </a:r>
            <a:r>
              <a:rPr lang="en-US" dirty="0" err="1" smtClean="0"/>
              <a:t>ngôi</a:t>
            </a:r>
            <a:r>
              <a:rPr lang="en-US" dirty="0" smtClean="0"/>
              <a:t> </a:t>
            </a:r>
            <a:r>
              <a:rPr lang="en-US" dirty="0" err="1" smtClean="0"/>
              <a:t>nhà</a:t>
            </a:r>
            <a:r>
              <a:rPr lang="en-US" dirty="0" smtClean="0"/>
              <a:t> </a:t>
            </a:r>
            <a:r>
              <a:rPr lang="en-US" dirty="0" err="1" smtClean="0"/>
              <a:t>đó</a:t>
            </a:r>
            <a:r>
              <a:rPr lang="en-US" dirty="0" smtClean="0"/>
              <a:t>:</a:t>
            </a:r>
            <a:endParaRPr lang="en-US" dirty="0"/>
          </a:p>
        </p:txBody>
      </p:sp>
      <p:graphicFrame>
        <p:nvGraphicFramePr>
          <p:cNvPr id="8" name="Object 7"/>
          <p:cNvGraphicFramePr>
            <a:graphicFrameLocks noChangeAspect="1"/>
          </p:cNvGraphicFramePr>
          <p:nvPr>
            <p:extLst>
              <p:ext uri="{D42A27DB-BD31-4B8C-83A1-F6EECF244321}">
                <p14:modId xmlns:p14="http://schemas.microsoft.com/office/powerpoint/2010/main" val="3207488394"/>
              </p:ext>
            </p:extLst>
          </p:nvPr>
        </p:nvGraphicFramePr>
        <p:xfrm>
          <a:off x="3760788" y="3352800"/>
          <a:ext cx="1177925" cy="369888"/>
        </p:xfrm>
        <a:graphic>
          <a:graphicData uri="http://schemas.openxmlformats.org/presentationml/2006/ole">
            <mc:AlternateContent xmlns:mc="http://schemas.openxmlformats.org/markup-compatibility/2006">
              <mc:Choice xmlns:v="urn:schemas-microsoft-com:vml" Requires="v">
                <p:oleObj spid="_x0000_s17622" name="Equation" r:id="rId5" imgW="685800" imgH="215640" progId="Equation.3">
                  <p:embed/>
                </p:oleObj>
              </mc:Choice>
              <mc:Fallback>
                <p:oleObj name="Equation" r:id="rId5" imgW="685800" imgH="215640" progId="Equation.3">
                  <p:embed/>
                  <p:pic>
                    <p:nvPicPr>
                      <p:cNvPr id="0" name=""/>
                      <p:cNvPicPr/>
                      <p:nvPr/>
                    </p:nvPicPr>
                    <p:blipFill>
                      <a:blip r:embed="rId6"/>
                      <a:stretch>
                        <a:fillRect/>
                      </a:stretch>
                    </p:blipFill>
                    <p:spPr>
                      <a:xfrm>
                        <a:off x="3760788" y="3352800"/>
                        <a:ext cx="1177925" cy="369888"/>
                      </a:xfrm>
                      <a:prstGeom prst="rect">
                        <a:avLst/>
                      </a:prstGeom>
                    </p:spPr>
                  </p:pic>
                </p:oleObj>
              </mc:Fallback>
            </mc:AlternateContent>
          </a:graphicData>
        </a:graphic>
      </p:graphicFrame>
      <p:sp>
        <p:nvSpPr>
          <p:cNvPr id="9" name="TextBox 8"/>
          <p:cNvSpPr txBox="1"/>
          <p:nvPr/>
        </p:nvSpPr>
        <p:spPr>
          <a:xfrm>
            <a:off x="6263" y="4876800"/>
            <a:ext cx="8686800" cy="369332"/>
          </a:xfrm>
          <a:prstGeom prst="rect">
            <a:avLst/>
          </a:prstGeom>
          <a:noFill/>
        </p:spPr>
        <p:txBody>
          <a:bodyPr wrap="square" rtlCol="0">
            <a:spAutoFit/>
          </a:bodyPr>
          <a:lstStyle/>
          <a:p>
            <a:r>
              <a:rPr lang="de-DE" dirty="0"/>
              <a:t>Bước sóng ứng với năng suất phát xạ cực đại của ngôi nhà nếu coi nó là vật đen tuyệt đối</a:t>
            </a:r>
            <a:endParaRPr lang="en-US" dirty="0"/>
          </a:p>
        </p:txBody>
      </p:sp>
      <p:graphicFrame>
        <p:nvGraphicFramePr>
          <p:cNvPr id="10" name="Object 9"/>
          <p:cNvGraphicFramePr>
            <a:graphicFrameLocks noChangeAspect="1"/>
          </p:cNvGraphicFramePr>
          <p:nvPr>
            <p:extLst>
              <p:ext uri="{D42A27DB-BD31-4B8C-83A1-F6EECF244321}">
                <p14:modId xmlns:p14="http://schemas.microsoft.com/office/powerpoint/2010/main" val="3425512491"/>
              </p:ext>
            </p:extLst>
          </p:nvPr>
        </p:nvGraphicFramePr>
        <p:xfrm>
          <a:off x="4114800" y="5562600"/>
          <a:ext cx="1219200" cy="787400"/>
        </p:xfrm>
        <a:graphic>
          <a:graphicData uri="http://schemas.openxmlformats.org/presentationml/2006/ole">
            <mc:AlternateContent xmlns:mc="http://schemas.openxmlformats.org/markup-compatibility/2006">
              <mc:Choice xmlns:v="urn:schemas-microsoft-com:vml" Requires="v">
                <p:oleObj spid="_x0000_s17623" name="Equation" r:id="rId7" imgW="609480" imgH="393480" progId="Equation.3">
                  <p:embed/>
                </p:oleObj>
              </mc:Choice>
              <mc:Fallback>
                <p:oleObj name="Equation" r:id="rId7" imgW="609480" imgH="393480" progId="Equation.3">
                  <p:embed/>
                  <p:pic>
                    <p:nvPicPr>
                      <p:cNvPr id="0" name=""/>
                      <p:cNvPicPr/>
                      <p:nvPr/>
                    </p:nvPicPr>
                    <p:blipFill>
                      <a:blip r:embed="rId8"/>
                      <a:stretch>
                        <a:fillRect/>
                      </a:stretch>
                    </p:blipFill>
                    <p:spPr>
                      <a:xfrm>
                        <a:off x="4114800" y="5562600"/>
                        <a:ext cx="1219200" cy="787400"/>
                      </a:xfrm>
                      <a:prstGeom prst="rect">
                        <a:avLst/>
                      </a:prstGeom>
                    </p:spPr>
                  </p:pic>
                </p:oleObj>
              </mc:Fallback>
            </mc:AlternateContent>
          </a:graphicData>
        </a:graphic>
      </p:graphicFrame>
      <p:sp>
        <p:nvSpPr>
          <p:cNvPr id="11" name="Rectangle 10"/>
          <p:cNvSpPr/>
          <p:nvPr/>
        </p:nvSpPr>
        <p:spPr>
          <a:xfrm>
            <a:off x="0" y="2450068"/>
            <a:ext cx="8251521" cy="400110"/>
          </a:xfrm>
          <a:prstGeom prst="rect">
            <a:avLst/>
          </a:prstGeom>
        </p:spPr>
        <p:txBody>
          <a:bodyPr wrap="square">
            <a:spAutoFit/>
          </a:bodyPr>
          <a:lstStyle/>
          <a:p>
            <a:r>
              <a:rPr lang="de-DE" sz="2000" dirty="0">
                <a:latin typeface="Times New Roman" pitchFamily="18" charset="0"/>
                <a:cs typeface="Times New Roman" pitchFamily="18" charset="0"/>
              </a:rPr>
              <a:t>Năng </a:t>
            </a:r>
            <a:r>
              <a:rPr lang="de-DE" sz="2000" smtClean="0">
                <a:latin typeface="Times New Roman" pitchFamily="18" charset="0"/>
                <a:cs typeface="Times New Roman" pitchFamily="18" charset="0"/>
              </a:rPr>
              <a:t>suất phát </a:t>
            </a:r>
            <a:r>
              <a:rPr lang="de-DE" sz="2000">
                <a:latin typeface="Times New Roman" pitchFamily="18" charset="0"/>
                <a:cs typeface="Times New Roman" pitchFamily="18" charset="0"/>
              </a:rPr>
              <a:t>xạ </a:t>
            </a:r>
            <a:r>
              <a:rPr lang="de-DE" sz="2000" smtClean="0">
                <a:latin typeface="Times New Roman" pitchFamily="18" charset="0"/>
                <a:cs typeface="Times New Roman" pitchFamily="18" charset="0"/>
              </a:rPr>
              <a:t>toàn phần của </a:t>
            </a:r>
            <a:r>
              <a:rPr lang="de-DE" sz="2000" dirty="0" smtClean="0">
                <a:latin typeface="Times New Roman" pitchFamily="18" charset="0"/>
                <a:cs typeface="Times New Roman" pitchFamily="18" charset="0"/>
              </a:rPr>
              <a:t>vật:</a:t>
            </a:r>
            <a:endParaRPr lang="en-US" sz="2000" dirty="0"/>
          </a:p>
        </p:txBody>
      </p:sp>
      <p:graphicFrame>
        <p:nvGraphicFramePr>
          <p:cNvPr id="12" name="Object 11"/>
          <p:cNvGraphicFramePr>
            <a:graphicFrameLocks noChangeAspect="1"/>
          </p:cNvGraphicFramePr>
          <p:nvPr>
            <p:extLst>
              <p:ext uri="{D42A27DB-BD31-4B8C-83A1-F6EECF244321}">
                <p14:modId xmlns:p14="http://schemas.microsoft.com/office/powerpoint/2010/main" val="878581852"/>
              </p:ext>
            </p:extLst>
          </p:nvPr>
        </p:nvGraphicFramePr>
        <p:xfrm>
          <a:off x="3962400" y="2440118"/>
          <a:ext cx="1636713" cy="392113"/>
        </p:xfrm>
        <a:graphic>
          <a:graphicData uri="http://schemas.openxmlformats.org/presentationml/2006/ole">
            <mc:AlternateContent xmlns:mc="http://schemas.openxmlformats.org/markup-compatibility/2006">
              <mc:Choice xmlns:v="urn:schemas-microsoft-com:vml" Requires="v">
                <p:oleObj spid="_x0000_s17624" name="Equation" r:id="rId9" imgW="952200" imgH="228600" progId="Equation.3">
                  <p:embed/>
                </p:oleObj>
              </mc:Choice>
              <mc:Fallback>
                <p:oleObj name="Equation" r:id="rId9" imgW="952200" imgH="228600" progId="Equation.3">
                  <p:embed/>
                  <p:pic>
                    <p:nvPicPr>
                      <p:cNvPr id="0" name="Object 7"/>
                      <p:cNvPicPr>
                        <a:picLocks noChangeAspect="1" noChangeArrowheads="1"/>
                      </p:cNvPicPr>
                      <p:nvPr/>
                    </p:nvPicPr>
                    <p:blipFill>
                      <a:blip r:embed="rId10"/>
                      <a:srcRect/>
                      <a:stretch>
                        <a:fillRect/>
                      </a:stretch>
                    </p:blipFill>
                    <p:spPr bwMode="auto">
                      <a:xfrm>
                        <a:off x="3962400" y="2440118"/>
                        <a:ext cx="1636713" cy="392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29165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barn(inVertical)">
                                      <p:cBhvr>
                                        <p:cTn id="7" dur="500"/>
                                        <p:tgtEl>
                                          <p:spTgt spid="12"/>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arn(inVertical)">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16" presetClass="entr" presetSubtype="21"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arn(inVertic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16" presetClass="entr" presetSubtype="21" fill="hold" grpId="0"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barn(inVertical)">
                                      <p:cBhvr>
                                        <p:cTn id="22" dur="500"/>
                                        <p:tgtEl>
                                          <p:spTgt spid="3"/>
                                        </p:tgtEl>
                                      </p:cBhvr>
                                    </p:animEffect>
                                  </p:childTnLst>
                                </p:cTn>
                              </p:par>
                            </p:childTnLst>
                          </p:cTn>
                        </p:par>
                      </p:childTnLst>
                    </p:cTn>
                  </p:par>
                  <p:par>
                    <p:cTn id="23" fill="hold">
                      <p:stCondLst>
                        <p:cond delay="indefinite"/>
                      </p:stCondLst>
                      <p:childTnLst>
                        <p:par>
                          <p:cTn id="24" fill="hold">
                            <p:stCondLst>
                              <p:cond delay="0"/>
                            </p:stCondLst>
                            <p:childTnLst>
                              <p:par>
                                <p:cTn id="25" presetID="16" presetClass="entr" presetSubtype="21"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barn(inVertical)">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16" presetClass="entr" presetSubtype="21" fill="hold" grpId="0" nodeType="clickEffect">
                                  <p:stCondLst>
                                    <p:cond delay="0"/>
                                  </p:stCondLst>
                                  <p:childTnLst>
                                    <p:set>
                                      <p:cBhvr>
                                        <p:cTn id="31" dur="1" fill="hold">
                                          <p:stCondLst>
                                            <p:cond delay="0"/>
                                          </p:stCondLst>
                                        </p:cTn>
                                        <p:tgtEl>
                                          <p:spTgt spid="9"/>
                                        </p:tgtEl>
                                        <p:attrNameLst>
                                          <p:attrName>style.visibility</p:attrName>
                                        </p:attrNameLst>
                                      </p:cBhvr>
                                      <p:to>
                                        <p:strVal val="visible"/>
                                      </p:to>
                                    </p:set>
                                    <p:animEffect transition="in" filter="barn(inVertical)">
                                      <p:cBhvr>
                                        <p:cTn id="32" dur="500"/>
                                        <p:tgtEl>
                                          <p:spTgt spid="9"/>
                                        </p:tgtEl>
                                      </p:cBhvr>
                                    </p:animEffect>
                                  </p:childTnLst>
                                </p:cTn>
                              </p:par>
                            </p:childTnLst>
                          </p:cTn>
                        </p:par>
                      </p:childTnLst>
                    </p:cTn>
                  </p:par>
                  <p:par>
                    <p:cTn id="33" fill="hold">
                      <p:stCondLst>
                        <p:cond delay="indefinite"/>
                      </p:stCondLst>
                      <p:childTnLst>
                        <p:par>
                          <p:cTn id="34" fill="hold">
                            <p:stCondLst>
                              <p:cond delay="0"/>
                            </p:stCondLst>
                            <p:childTnLst>
                              <p:par>
                                <p:cTn id="35" presetID="16" presetClass="entr" presetSubtype="21"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arn(inVertical)">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7" grpId="0"/>
      <p:bldP spid="9"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0" y="152400"/>
            <a:ext cx="8991600" cy="1107996"/>
          </a:xfrm>
          <a:prstGeom prst="rect">
            <a:avLst/>
          </a:prstGeom>
        </p:spPr>
        <p:txBody>
          <a:bodyPr wrap="square">
            <a:spAutoFit/>
          </a:bodyPr>
          <a:lstStyle/>
          <a:p>
            <a:r>
              <a:rPr lang="pt-BR" sz="2200" dirty="0" smtClean="0">
                <a:latin typeface="Times New Roman" pitchFamily="18" charset="0"/>
                <a:cs typeface="Times New Roman" pitchFamily="18" charset="0"/>
              </a:rPr>
              <a:t>Ví dụ 5. Xác </a:t>
            </a:r>
            <a:r>
              <a:rPr lang="pt-BR" sz="2200" dirty="0">
                <a:latin typeface="Times New Roman" pitchFamily="18" charset="0"/>
                <a:cs typeface="Times New Roman" pitchFamily="18" charset="0"/>
              </a:rPr>
              <a:t>định vận tốc cực đại của các quang electron bị bứt khỏi mặt kim loại bạc khi chiếu tới mặt kim loại các tia gama có bước sóng </a:t>
            </a:r>
            <a:r>
              <a:rPr lang="en-US" sz="2200" dirty="0">
                <a:latin typeface="Times New Roman" pitchFamily="18" charset="0"/>
                <a:cs typeface="Times New Roman" pitchFamily="18" charset="0"/>
              </a:rPr>
              <a:t>λ</a:t>
            </a:r>
            <a:r>
              <a:rPr lang="pt-BR" sz="2200" dirty="0">
                <a:latin typeface="Times New Roman" pitchFamily="18" charset="0"/>
                <a:cs typeface="Times New Roman" pitchFamily="18" charset="0"/>
              </a:rPr>
              <a:t> = 0,001 nm. Cho công thoát của bạc bằng 0,75.10</a:t>
            </a:r>
            <a:r>
              <a:rPr lang="pt-BR" sz="2200" baseline="30000" dirty="0">
                <a:latin typeface="Times New Roman" pitchFamily="18" charset="0"/>
                <a:cs typeface="Times New Roman" pitchFamily="18" charset="0"/>
              </a:rPr>
              <a:t>-18</a:t>
            </a:r>
            <a:r>
              <a:rPr lang="pt-BR" sz="2200" dirty="0">
                <a:latin typeface="Times New Roman" pitchFamily="18" charset="0"/>
                <a:cs typeface="Times New Roman" pitchFamily="18" charset="0"/>
              </a:rPr>
              <a:t>J</a:t>
            </a:r>
            <a:r>
              <a:rPr lang="pt-BR" dirty="0"/>
              <a:t>. </a:t>
            </a:r>
            <a:endParaRPr lang="en-US" dirty="0"/>
          </a:p>
        </p:txBody>
      </p:sp>
      <p:graphicFrame>
        <p:nvGraphicFramePr>
          <p:cNvPr id="5" name="Object 4"/>
          <p:cNvGraphicFramePr>
            <a:graphicFrameLocks noChangeAspect="1"/>
          </p:cNvGraphicFramePr>
          <p:nvPr>
            <p:extLst>
              <p:ext uri="{D42A27DB-BD31-4B8C-83A1-F6EECF244321}">
                <p14:modId xmlns:p14="http://schemas.microsoft.com/office/powerpoint/2010/main" val="1403047513"/>
              </p:ext>
            </p:extLst>
          </p:nvPr>
        </p:nvGraphicFramePr>
        <p:xfrm>
          <a:off x="3798888" y="2057400"/>
          <a:ext cx="1927225" cy="757238"/>
        </p:xfrm>
        <a:graphic>
          <a:graphicData uri="http://schemas.openxmlformats.org/presentationml/2006/ole">
            <mc:AlternateContent xmlns:mc="http://schemas.openxmlformats.org/markup-compatibility/2006">
              <mc:Choice xmlns:v="urn:schemas-microsoft-com:vml" Requires="v">
                <p:oleObj spid="_x0000_s19547" name="Equation" r:id="rId3" imgW="1002960" imgH="393480" progId="Equation.3">
                  <p:embed/>
                </p:oleObj>
              </mc:Choice>
              <mc:Fallback>
                <p:oleObj name="Equation" r:id="rId3" imgW="1002960" imgH="393480" progId="Equation.3">
                  <p:embed/>
                  <p:pic>
                    <p:nvPicPr>
                      <p:cNvPr id="0" name=""/>
                      <p:cNvPicPr/>
                      <p:nvPr/>
                    </p:nvPicPr>
                    <p:blipFill>
                      <a:blip r:embed="rId4"/>
                      <a:stretch>
                        <a:fillRect/>
                      </a:stretch>
                    </p:blipFill>
                    <p:spPr>
                      <a:xfrm>
                        <a:off x="3798888" y="2057400"/>
                        <a:ext cx="1927225" cy="757238"/>
                      </a:xfrm>
                      <a:prstGeom prst="rect">
                        <a:avLst/>
                      </a:prstGeom>
                    </p:spPr>
                  </p:pic>
                </p:oleObj>
              </mc:Fallback>
            </mc:AlternateContent>
          </a:graphicData>
        </a:graphic>
      </p:graphicFrame>
      <p:graphicFrame>
        <p:nvGraphicFramePr>
          <p:cNvPr id="2" name="Object 1"/>
          <p:cNvGraphicFramePr>
            <a:graphicFrameLocks noChangeAspect="1"/>
          </p:cNvGraphicFramePr>
          <p:nvPr>
            <p:extLst>
              <p:ext uri="{D42A27DB-BD31-4B8C-83A1-F6EECF244321}">
                <p14:modId xmlns:p14="http://schemas.microsoft.com/office/powerpoint/2010/main" val="2388855092"/>
              </p:ext>
            </p:extLst>
          </p:nvPr>
        </p:nvGraphicFramePr>
        <p:xfrm>
          <a:off x="2454275" y="3200400"/>
          <a:ext cx="5270500" cy="1757363"/>
        </p:xfrm>
        <a:graphic>
          <a:graphicData uri="http://schemas.openxmlformats.org/presentationml/2006/ole">
            <mc:AlternateContent xmlns:mc="http://schemas.openxmlformats.org/markup-compatibility/2006">
              <mc:Choice xmlns:v="urn:schemas-microsoft-com:vml" Requires="v">
                <p:oleObj spid="_x0000_s19548" name="Equation" r:id="rId5" imgW="2743200" imgH="914400" progId="Equation.3">
                  <p:embed/>
                </p:oleObj>
              </mc:Choice>
              <mc:Fallback>
                <p:oleObj name="Equation" r:id="rId5" imgW="2743200" imgH="914400" progId="Equation.3">
                  <p:embed/>
                  <p:pic>
                    <p:nvPicPr>
                      <p:cNvPr id="0" name="Object 4"/>
                      <p:cNvPicPr>
                        <a:picLocks noChangeAspect="1" noChangeArrowheads="1"/>
                      </p:cNvPicPr>
                      <p:nvPr/>
                    </p:nvPicPr>
                    <p:blipFill>
                      <a:blip r:embed="rId6"/>
                      <a:srcRect/>
                      <a:stretch>
                        <a:fillRect/>
                      </a:stretch>
                    </p:blipFill>
                    <p:spPr bwMode="auto">
                      <a:xfrm>
                        <a:off x="2454275" y="3200400"/>
                        <a:ext cx="5270500" cy="1757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42321113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arn(inVertic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arn(inVertical)">
                                      <p:cBhvr>
                                        <p:cTn id="1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52400"/>
            <a:ext cx="8839200" cy="1107996"/>
          </a:xfrm>
          <a:prstGeom prst="rect">
            <a:avLst/>
          </a:prstGeom>
        </p:spPr>
        <p:txBody>
          <a:bodyPr wrap="square">
            <a:spAutoFit/>
          </a:bodyPr>
          <a:lstStyle/>
          <a:p>
            <a:r>
              <a:rPr lang="de-DE" sz="2200" dirty="0" smtClean="0">
                <a:latin typeface="Times New Roman" pitchFamily="18" charset="0"/>
                <a:cs typeface="Times New Roman" pitchFamily="18" charset="0"/>
              </a:rPr>
              <a:t>Ví dụ 6. Trong </a:t>
            </a:r>
            <a:r>
              <a:rPr lang="de-DE" sz="2200" dirty="0">
                <a:latin typeface="Times New Roman" pitchFamily="18" charset="0"/>
                <a:cs typeface="Times New Roman" pitchFamily="18" charset="0"/>
              </a:rPr>
              <a:t>thí nghiệm Compton, phôtôn ban đầu có năng lượng 0,6MeV tán xạ trên một electrôn tự do và thành phôtôn ứng với bức xạ có bước sóng bằng bước sóng Compton. Tính góc tán xạ và năng lượng của phôtôn tán xạ.</a:t>
            </a:r>
            <a:endParaRPr lang="en-US" sz="2200" dirty="0">
              <a:latin typeface="Times New Roman" pitchFamily="18" charset="0"/>
              <a:cs typeface="Times New Roman" pitchFamily="18" charset="0"/>
            </a:endParaRPr>
          </a:p>
        </p:txBody>
      </p:sp>
      <p:graphicFrame>
        <p:nvGraphicFramePr>
          <p:cNvPr id="5" name="Object 4"/>
          <p:cNvGraphicFramePr>
            <a:graphicFrameLocks noChangeAspect="1"/>
          </p:cNvGraphicFramePr>
          <p:nvPr>
            <p:extLst>
              <p:ext uri="{D42A27DB-BD31-4B8C-83A1-F6EECF244321}">
                <p14:modId xmlns:p14="http://schemas.microsoft.com/office/powerpoint/2010/main" val="3573303889"/>
              </p:ext>
            </p:extLst>
          </p:nvPr>
        </p:nvGraphicFramePr>
        <p:xfrm>
          <a:off x="990600" y="3276600"/>
          <a:ext cx="3981040" cy="730250"/>
        </p:xfrm>
        <a:graphic>
          <a:graphicData uri="http://schemas.openxmlformats.org/presentationml/2006/ole">
            <mc:AlternateContent xmlns:mc="http://schemas.openxmlformats.org/markup-compatibility/2006">
              <mc:Choice xmlns:v="urn:schemas-microsoft-com:vml" Requires="v">
                <p:oleObj spid="_x0000_s20636" name="Equation" r:id="rId3" imgW="2145960" imgH="393480" progId="Equation.3">
                  <p:embed/>
                </p:oleObj>
              </mc:Choice>
              <mc:Fallback>
                <p:oleObj name="Equation" r:id="rId3" imgW="2145960" imgH="393480" progId="Equation.3">
                  <p:embed/>
                  <p:pic>
                    <p:nvPicPr>
                      <p:cNvPr id="0" name=""/>
                      <p:cNvPicPr/>
                      <p:nvPr/>
                    </p:nvPicPr>
                    <p:blipFill>
                      <a:blip r:embed="rId4"/>
                      <a:stretch>
                        <a:fillRect/>
                      </a:stretch>
                    </p:blipFill>
                    <p:spPr>
                      <a:xfrm>
                        <a:off x="990600" y="3276600"/>
                        <a:ext cx="3981040" cy="730250"/>
                      </a:xfrm>
                      <a:prstGeom prst="rect">
                        <a:avLst/>
                      </a:prstGeom>
                    </p:spPr>
                  </p:pic>
                </p:oleObj>
              </mc:Fallback>
            </mc:AlternateContent>
          </a:graphicData>
        </a:graphic>
      </p:graphicFrame>
      <p:sp>
        <p:nvSpPr>
          <p:cNvPr id="6" name="TextBox 5"/>
          <p:cNvSpPr txBox="1"/>
          <p:nvPr/>
        </p:nvSpPr>
        <p:spPr>
          <a:xfrm>
            <a:off x="167014" y="2743200"/>
            <a:ext cx="3352800" cy="430887"/>
          </a:xfrm>
          <a:prstGeom prst="rect">
            <a:avLst/>
          </a:prstGeom>
          <a:noFill/>
        </p:spPr>
        <p:txBody>
          <a:bodyPr wrap="square" rtlCol="0">
            <a:spAutoFit/>
          </a:bodyPr>
          <a:lstStyle/>
          <a:p>
            <a:r>
              <a:rPr lang="de-DE" sz="2200" dirty="0" smtClean="0">
                <a:latin typeface="Times New Roman" pitchFamily="18" charset="0"/>
                <a:cs typeface="Times New Roman" pitchFamily="18" charset="0"/>
              </a:rPr>
              <a:t>Góc </a:t>
            </a:r>
            <a:r>
              <a:rPr lang="de-DE" sz="2200" dirty="0">
                <a:latin typeface="Times New Roman" pitchFamily="18" charset="0"/>
                <a:cs typeface="Times New Roman" pitchFamily="18" charset="0"/>
              </a:rPr>
              <a:t>tán xạ</a:t>
            </a:r>
            <a:endParaRPr lang="en-US" sz="2200" dirty="0">
              <a:latin typeface="Times New Roman" pitchFamily="18" charset="0"/>
              <a:cs typeface="Times New Roman" pitchFamily="18" charset="0"/>
            </a:endParaRPr>
          </a:p>
        </p:txBody>
      </p:sp>
      <p:sp>
        <p:nvSpPr>
          <p:cNvPr id="7" name="TextBox 6"/>
          <p:cNvSpPr txBox="1"/>
          <p:nvPr/>
        </p:nvSpPr>
        <p:spPr>
          <a:xfrm>
            <a:off x="152400" y="4267200"/>
            <a:ext cx="54864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Năng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lượng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của</a:t>
            </a:r>
            <a:r>
              <a:rPr lang="en-US" sz="2200" dirty="0" smtClean="0">
                <a:latin typeface="Times New Roman" pitchFamily="18" charset="0"/>
                <a:cs typeface="Times New Roman" pitchFamily="18" charset="0"/>
              </a:rPr>
              <a:t> photon </a:t>
            </a:r>
            <a:r>
              <a:rPr lang="en-US" sz="2200" dirty="0" err="1" smtClean="0">
                <a:latin typeface="Times New Roman" pitchFamily="18" charset="0"/>
                <a:cs typeface="Times New Roman" pitchFamily="18" charset="0"/>
              </a:rPr>
              <a:t>tán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xạ</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505756019"/>
              </p:ext>
            </p:extLst>
          </p:nvPr>
        </p:nvGraphicFramePr>
        <p:xfrm>
          <a:off x="3364006" y="5029200"/>
          <a:ext cx="1207994" cy="838200"/>
        </p:xfrm>
        <a:graphic>
          <a:graphicData uri="http://schemas.openxmlformats.org/presentationml/2006/ole">
            <mc:AlternateContent xmlns:mc="http://schemas.openxmlformats.org/markup-compatibility/2006">
              <mc:Choice xmlns:v="urn:schemas-microsoft-com:vml" Requires="v">
                <p:oleObj spid="_x0000_s20637" name="Equation" r:id="rId5" imgW="622080" imgH="431640" progId="Equation.3">
                  <p:embed/>
                </p:oleObj>
              </mc:Choice>
              <mc:Fallback>
                <p:oleObj name="Equation" r:id="rId5" imgW="622080" imgH="431640" progId="Equation.3">
                  <p:embed/>
                  <p:pic>
                    <p:nvPicPr>
                      <p:cNvPr id="0" name=""/>
                      <p:cNvPicPr/>
                      <p:nvPr/>
                    </p:nvPicPr>
                    <p:blipFill>
                      <a:blip r:embed="rId6"/>
                      <a:stretch>
                        <a:fillRect/>
                      </a:stretch>
                    </p:blipFill>
                    <p:spPr>
                      <a:xfrm>
                        <a:off x="3364006" y="5029200"/>
                        <a:ext cx="1207994" cy="838200"/>
                      </a:xfrm>
                      <a:prstGeom prst="rect">
                        <a:avLst/>
                      </a:prstGeom>
                    </p:spPr>
                  </p:pic>
                </p:oleObj>
              </mc:Fallback>
            </mc:AlternateContent>
          </a:graphicData>
        </a:graphic>
      </p:graphicFrame>
      <p:sp>
        <p:nvSpPr>
          <p:cNvPr id="9" name="TextBox 8"/>
          <p:cNvSpPr txBox="1"/>
          <p:nvPr/>
        </p:nvSpPr>
        <p:spPr>
          <a:xfrm>
            <a:off x="0" y="1728841"/>
            <a:ext cx="83820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Bước</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sóng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của</a:t>
            </a:r>
            <a:r>
              <a:rPr lang="en-US" sz="2200" dirty="0" smtClean="0">
                <a:latin typeface="Times New Roman" pitchFamily="18" charset="0"/>
                <a:cs typeface="Times New Roman" pitchFamily="18" charset="0"/>
              </a:rPr>
              <a:t> photon </a:t>
            </a:r>
            <a:r>
              <a:rPr lang="en-US" sz="2200" dirty="0" err="1" smtClean="0">
                <a:latin typeface="Times New Roman" pitchFamily="18" charset="0"/>
                <a:cs typeface="Times New Roman" pitchFamily="18" charset="0"/>
              </a:rPr>
              <a:t>chiếu</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tới</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graphicFrame>
        <p:nvGraphicFramePr>
          <p:cNvPr id="2" name="Object 1"/>
          <p:cNvGraphicFramePr>
            <a:graphicFrameLocks noChangeAspect="1"/>
          </p:cNvGraphicFramePr>
          <p:nvPr>
            <p:extLst>
              <p:ext uri="{D42A27DB-BD31-4B8C-83A1-F6EECF244321}">
                <p14:modId xmlns:p14="http://schemas.microsoft.com/office/powerpoint/2010/main" val="1558504381"/>
              </p:ext>
            </p:extLst>
          </p:nvPr>
        </p:nvGraphicFramePr>
        <p:xfrm>
          <a:off x="3411538" y="2109787"/>
          <a:ext cx="1701800" cy="862013"/>
        </p:xfrm>
        <a:graphic>
          <a:graphicData uri="http://schemas.openxmlformats.org/presentationml/2006/ole">
            <mc:AlternateContent xmlns:mc="http://schemas.openxmlformats.org/markup-compatibility/2006">
              <mc:Choice xmlns:v="urn:schemas-microsoft-com:vml" Requires="v">
                <p:oleObj spid="_x0000_s20638" name="Equation" r:id="rId7" imgW="876240" imgH="444240" progId="Equation.3">
                  <p:embed/>
                </p:oleObj>
              </mc:Choice>
              <mc:Fallback>
                <p:oleObj name="Equation" r:id="rId7" imgW="876240" imgH="444240" progId="Equation.3">
                  <p:embed/>
                  <p:pic>
                    <p:nvPicPr>
                      <p:cNvPr id="0" name="Object 7"/>
                      <p:cNvPicPr>
                        <a:picLocks noChangeAspect="1" noChangeArrowheads="1"/>
                      </p:cNvPicPr>
                      <p:nvPr/>
                    </p:nvPicPr>
                    <p:blipFill>
                      <a:blip r:embed="rId8"/>
                      <a:srcRect/>
                      <a:stretch>
                        <a:fillRect/>
                      </a:stretch>
                    </p:blipFill>
                    <p:spPr bwMode="auto">
                      <a:xfrm>
                        <a:off x="3411538" y="2109787"/>
                        <a:ext cx="1701800" cy="8620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
        <p:nvSpPr>
          <p:cNvPr id="3" name="TextBox 2"/>
          <p:cNvSpPr txBox="1"/>
          <p:nvPr/>
        </p:nvSpPr>
        <p:spPr>
          <a:xfrm>
            <a:off x="167014" y="1307068"/>
            <a:ext cx="5166986" cy="369332"/>
          </a:xfrm>
          <a:prstGeom prst="rect">
            <a:avLst/>
          </a:prstGeom>
          <a:noFill/>
        </p:spPr>
        <p:txBody>
          <a:bodyPr wrap="square" rtlCol="0">
            <a:spAutoFit/>
          </a:bodyPr>
          <a:lstStyle/>
          <a:p>
            <a:r>
              <a:rPr lang="el-GR">
                <a:latin typeface="Times New Roman"/>
                <a:cs typeface="Times New Roman"/>
              </a:rPr>
              <a:t>ε</a:t>
            </a:r>
            <a:r>
              <a:rPr lang="en-US" smtClean="0">
                <a:latin typeface="Times New Roman"/>
                <a:cs typeface="Times New Roman"/>
              </a:rPr>
              <a:t> = </a:t>
            </a:r>
            <a:r>
              <a:rPr lang="de-DE" smtClean="0">
                <a:latin typeface="Times New Roman" pitchFamily="18" charset="0"/>
                <a:cs typeface="Times New Roman" pitchFamily="18" charset="0"/>
              </a:rPr>
              <a:t>0,6MeV = 0,6.10</a:t>
            </a:r>
            <a:r>
              <a:rPr lang="de-DE" baseline="30000" smtClean="0">
                <a:latin typeface="Times New Roman" pitchFamily="18" charset="0"/>
                <a:cs typeface="Times New Roman" pitchFamily="18" charset="0"/>
              </a:rPr>
              <a:t>6</a:t>
            </a:r>
            <a:r>
              <a:rPr lang="de-DE" smtClean="0">
                <a:latin typeface="Times New Roman" pitchFamily="18" charset="0"/>
                <a:cs typeface="Times New Roman" pitchFamily="18" charset="0"/>
              </a:rPr>
              <a:t>.1,6.10</a:t>
            </a:r>
            <a:r>
              <a:rPr lang="de-DE" baseline="30000" smtClean="0">
                <a:latin typeface="Times New Roman" pitchFamily="18" charset="0"/>
                <a:cs typeface="Times New Roman" pitchFamily="18" charset="0"/>
              </a:rPr>
              <a:t>-19</a:t>
            </a:r>
            <a:r>
              <a:rPr lang="de-DE" smtClean="0">
                <a:latin typeface="Times New Roman" pitchFamily="18" charset="0"/>
                <a:cs typeface="Times New Roman" pitchFamily="18" charset="0"/>
              </a:rPr>
              <a:t> J</a:t>
            </a:r>
            <a:endParaRPr lang="en-US"/>
          </a:p>
        </p:txBody>
      </p:sp>
    </p:spTree>
    <p:extLst>
      <p:ext uri="{BB962C8B-B14F-4D97-AF65-F5344CB8AC3E}">
        <p14:creationId xmlns:p14="http://schemas.microsoft.com/office/powerpoint/2010/main" val="3963752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down)">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9"/>
                                        </p:tgtEl>
                                        <p:attrNameLst>
                                          <p:attrName>style.visibility</p:attrName>
                                        </p:attrNameLst>
                                      </p:cBhvr>
                                      <p:to>
                                        <p:strVal val="visible"/>
                                      </p:to>
                                    </p:set>
                                    <p:animEffect transition="in" filter="wipe(down)">
                                      <p:cBhvr>
                                        <p:cTn id="12" dur="500"/>
                                        <p:tgtEl>
                                          <p:spTgt spid="9"/>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wipe(down)">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4"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down)">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4" fill="hold" nodeType="clickEffect">
                                  <p:stCondLst>
                                    <p:cond delay="0"/>
                                  </p:stCondLst>
                                  <p:childTnLst>
                                    <p:set>
                                      <p:cBhvr>
                                        <p:cTn id="26" dur="1" fill="hold">
                                          <p:stCondLst>
                                            <p:cond delay="0"/>
                                          </p:stCondLst>
                                        </p:cTn>
                                        <p:tgtEl>
                                          <p:spTgt spid="5"/>
                                        </p:tgtEl>
                                        <p:attrNameLst>
                                          <p:attrName>style.visibility</p:attrName>
                                        </p:attrNameLst>
                                      </p:cBhvr>
                                      <p:to>
                                        <p:strVal val="visible"/>
                                      </p:to>
                                    </p:set>
                                    <p:animEffect transition="in" filter="wipe(down)">
                                      <p:cBhvr>
                                        <p:cTn id="27" dur="500"/>
                                        <p:tgtEl>
                                          <p:spTgt spid="5"/>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4" fill="hold" grpId="0" nodeType="clickEffect">
                                  <p:stCondLst>
                                    <p:cond delay="0"/>
                                  </p:stCondLst>
                                  <p:childTnLst>
                                    <p:set>
                                      <p:cBhvr>
                                        <p:cTn id="31" dur="1" fill="hold">
                                          <p:stCondLst>
                                            <p:cond delay="0"/>
                                          </p:stCondLst>
                                        </p:cTn>
                                        <p:tgtEl>
                                          <p:spTgt spid="7"/>
                                        </p:tgtEl>
                                        <p:attrNameLst>
                                          <p:attrName>style.visibility</p:attrName>
                                        </p:attrNameLst>
                                      </p:cBhvr>
                                      <p:to>
                                        <p:strVal val="visible"/>
                                      </p:to>
                                    </p:set>
                                    <p:animEffect transition="in" filter="wipe(down)">
                                      <p:cBhvr>
                                        <p:cTn id="32" dur="500"/>
                                        <p:tgtEl>
                                          <p:spTgt spid="7"/>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4"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down)">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7" grpId="0"/>
      <p:bldP spid="9"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76200"/>
            <a:ext cx="8839200" cy="1107996"/>
          </a:xfrm>
          <a:prstGeom prst="rect">
            <a:avLst/>
          </a:prstGeom>
        </p:spPr>
        <p:txBody>
          <a:bodyPr wrap="square">
            <a:spAutoFit/>
          </a:bodyPr>
          <a:lstStyle/>
          <a:p>
            <a:r>
              <a:rPr lang="pt-BR" sz="2200" dirty="0" smtClean="0">
                <a:latin typeface="Times New Roman" pitchFamily="18" charset="0"/>
                <a:cs typeface="Times New Roman" pitchFamily="18" charset="0"/>
              </a:rPr>
              <a:t>Ví dụ 7. Trong </a:t>
            </a:r>
            <a:r>
              <a:rPr lang="pt-BR" sz="2200" dirty="0">
                <a:latin typeface="Times New Roman" pitchFamily="18" charset="0"/>
                <a:cs typeface="Times New Roman" pitchFamily="18" charset="0"/>
              </a:rPr>
              <a:t>hiện tượng tán xạ Compton, bức xạ Rơngen có bước sóng </a:t>
            </a:r>
            <a:r>
              <a:rPr lang="en-US" sz="2200" dirty="0">
                <a:latin typeface="Times New Roman" pitchFamily="18" charset="0"/>
                <a:cs typeface="Times New Roman" pitchFamily="18" charset="0"/>
              </a:rPr>
              <a:t>λ</a:t>
            </a:r>
            <a:r>
              <a:rPr lang="pt-BR" sz="2200" dirty="0">
                <a:latin typeface="Times New Roman" pitchFamily="18" charset="0"/>
                <a:cs typeface="Times New Roman" pitchFamily="18" charset="0"/>
              </a:rPr>
              <a:t> đến tán xạ trên electrôn tự do. Tìm bước sóng đó, cho biết động năng cực đại của electron bắn ra bằng 0,19MeV. </a:t>
            </a:r>
            <a:endParaRPr lang="en-US" sz="2200" dirty="0">
              <a:latin typeface="Times New Roman" pitchFamily="18" charset="0"/>
              <a:cs typeface="Times New Roman" pitchFamily="18" charset="0"/>
            </a:endParaRPr>
          </a:p>
        </p:txBody>
      </p:sp>
      <p:sp>
        <p:nvSpPr>
          <p:cNvPr id="5" name="TextBox 4"/>
          <p:cNvSpPr txBox="1"/>
          <p:nvPr/>
        </p:nvSpPr>
        <p:spPr>
          <a:xfrm>
            <a:off x="228600" y="1230868"/>
            <a:ext cx="80772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Động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năng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của</a:t>
            </a:r>
            <a:r>
              <a:rPr lang="en-US" sz="2200" dirty="0" smtClean="0">
                <a:latin typeface="Times New Roman" pitchFamily="18" charset="0"/>
                <a:cs typeface="Times New Roman" pitchFamily="18" charset="0"/>
              </a:rPr>
              <a:t> e </a:t>
            </a:r>
            <a:r>
              <a:rPr lang="en-US" sz="2200" dirty="0" err="1" smtClean="0">
                <a:latin typeface="Times New Roman" pitchFamily="18" charset="0"/>
                <a:cs typeface="Times New Roman" pitchFamily="18" charset="0"/>
              </a:rPr>
              <a:t>bắn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ra</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2614082441"/>
              </p:ext>
            </p:extLst>
          </p:nvPr>
        </p:nvGraphicFramePr>
        <p:xfrm>
          <a:off x="2220913" y="1649413"/>
          <a:ext cx="4090987" cy="1093787"/>
        </p:xfrm>
        <a:graphic>
          <a:graphicData uri="http://schemas.openxmlformats.org/presentationml/2006/ole">
            <mc:AlternateContent xmlns:mc="http://schemas.openxmlformats.org/markup-compatibility/2006">
              <mc:Choice xmlns:v="urn:schemas-microsoft-com:vml" Requires="v">
                <p:oleObj spid="_x0000_s18542" name="Equation" r:id="rId3" imgW="2184120" imgH="583920" progId="Equation.3">
                  <p:embed/>
                </p:oleObj>
              </mc:Choice>
              <mc:Fallback>
                <p:oleObj name="Equation" r:id="rId3" imgW="2184120" imgH="583920" progId="Equation.3">
                  <p:embed/>
                  <p:pic>
                    <p:nvPicPr>
                      <p:cNvPr id="0" name=""/>
                      <p:cNvPicPr/>
                      <p:nvPr/>
                    </p:nvPicPr>
                    <p:blipFill>
                      <a:blip r:embed="rId4"/>
                      <a:stretch>
                        <a:fillRect/>
                      </a:stretch>
                    </p:blipFill>
                    <p:spPr>
                      <a:xfrm>
                        <a:off x="2220913" y="1649413"/>
                        <a:ext cx="4090987" cy="1093787"/>
                      </a:xfrm>
                      <a:prstGeom prst="rect">
                        <a:avLst/>
                      </a:prstGeom>
                    </p:spPr>
                  </p:pic>
                </p:oleObj>
              </mc:Fallback>
            </mc:AlternateContent>
          </a:graphicData>
        </a:graphic>
      </p:graphicFrame>
      <p:sp>
        <p:nvSpPr>
          <p:cNvPr id="7" name="TextBox 6"/>
          <p:cNvSpPr txBox="1"/>
          <p:nvPr/>
        </p:nvSpPr>
        <p:spPr>
          <a:xfrm>
            <a:off x="304800" y="2998113"/>
            <a:ext cx="8458200" cy="430887"/>
          </a:xfrm>
          <a:prstGeom prst="rect">
            <a:avLst/>
          </a:prstGeom>
          <a:noFill/>
        </p:spPr>
        <p:txBody>
          <a:bodyPr wrap="square" rtlCol="0">
            <a:spAutoFit/>
          </a:bodyPr>
          <a:lstStyle/>
          <a:p>
            <a:r>
              <a:rPr lang="pt-BR" sz="2200" dirty="0">
                <a:latin typeface="Times New Roman" pitchFamily="18" charset="0"/>
                <a:cs typeface="Times New Roman" pitchFamily="18" charset="0"/>
              </a:rPr>
              <a:t>Đ</a:t>
            </a:r>
            <a:r>
              <a:rPr lang="pt-BR" sz="2200" dirty="0" smtClean="0">
                <a:latin typeface="Times New Roman" pitchFamily="18" charset="0"/>
                <a:cs typeface="Times New Roman" pitchFamily="18" charset="0"/>
              </a:rPr>
              <a:t>ộng năng </a:t>
            </a:r>
            <a:r>
              <a:rPr lang="pt-BR" sz="2200" dirty="0">
                <a:latin typeface="Times New Roman" pitchFamily="18" charset="0"/>
                <a:cs typeface="Times New Roman" pitchFamily="18" charset="0"/>
              </a:rPr>
              <a:t>của </a:t>
            </a:r>
            <a:r>
              <a:rPr lang="pt-BR" sz="2200" dirty="0" smtClean="0">
                <a:latin typeface="Times New Roman" pitchFamily="18" charset="0"/>
                <a:cs typeface="Times New Roman" pitchFamily="18" charset="0"/>
              </a:rPr>
              <a:t>electron cực đại khi sin</a:t>
            </a:r>
            <a:r>
              <a:rPr lang="pt-BR" sz="2200" baseline="30000" dirty="0" smtClean="0">
                <a:latin typeface="Times New Roman" pitchFamily="18" charset="0"/>
                <a:cs typeface="Times New Roman" pitchFamily="18" charset="0"/>
              </a:rPr>
              <a:t>2</a:t>
            </a:r>
            <a:r>
              <a:rPr lang="el-GR" sz="2200" dirty="0" smtClean="0">
                <a:latin typeface="Times New Roman" pitchFamily="18" charset="0"/>
                <a:cs typeface="Times New Roman" pitchFamily="18" charset="0"/>
              </a:rPr>
              <a:t>θ</a:t>
            </a:r>
            <a:r>
              <a:rPr lang="en-US" sz="2200" dirty="0" smtClean="0">
                <a:latin typeface="Times New Roman" pitchFamily="18" charset="0"/>
                <a:cs typeface="Times New Roman" pitchFamily="18" charset="0"/>
              </a:rPr>
              <a:t>/2</a:t>
            </a:r>
            <a:r>
              <a:rPr lang="pt-BR" sz="2200" dirty="0" smtClean="0">
                <a:latin typeface="Times New Roman" pitchFamily="18" charset="0"/>
                <a:cs typeface="Times New Roman" pitchFamily="18" charset="0"/>
              </a:rPr>
              <a:t> =1</a:t>
            </a:r>
            <a:endParaRPr lang="en-US" sz="2200" dirty="0">
              <a:latin typeface="Times New Roman" pitchFamily="18" charset="0"/>
              <a:cs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2002157445"/>
              </p:ext>
            </p:extLst>
          </p:nvPr>
        </p:nvGraphicFramePr>
        <p:xfrm>
          <a:off x="2578100" y="3924300"/>
          <a:ext cx="3378200" cy="809625"/>
        </p:xfrm>
        <a:graphic>
          <a:graphicData uri="http://schemas.openxmlformats.org/presentationml/2006/ole">
            <mc:AlternateContent xmlns:mc="http://schemas.openxmlformats.org/markup-compatibility/2006">
              <mc:Choice xmlns:v="urn:schemas-microsoft-com:vml" Requires="v">
                <p:oleObj spid="_x0000_s18543" name="Equation" r:id="rId5" imgW="1803240" imgH="431640" progId="Equation.3">
                  <p:embed/>
                </p:oleObj>
              </mc:Choice>
              <mc:Fallback>
                <p:oleObj name="Equation" r:id="rId5" imgW="1803240" imgH="431640" progId="Equation.3">
                  <p:embed/>
                  <p:pic>
                    <p:nvPicPr>
                      <p:cNvPr id="0" name="Object 5"/>
                      <p:cNvPicPr>
                        <a:picLocks noChangeAspect="1" noChangeArrowheads="1"/>
                      </p:cNvPicPr>
                      <p:nvPr/>
                    </p:nvPicPr>
                    <p:blipFill>
                      <a:blip r:embed="rId6"/>
                      <a:srcRect/>
                      <a:stretch>
                        <a:fillRect/>
                      </a:stretch>
                    </p:blipFill>
                    <p:spPr bwMode="auto">
                      <a:xfrm>
                        <a:off x="2578100" y="3924300"/>
                        <a:ext cx="3378200" cy="809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spTree>
    <p:extLst>
      <p:ext uri="{BB962C8B-B14F-4D97-AF65-F5344CB8AC3E}">
        <p14:creationId xmlns:p14="http://schemas.microsoft.com/office/powerpoint/2010/main" val="33494630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152400" y="152400"/>
            <a:ext cx="8763000" cy="1107996"/>
          </a:xfrm>
          <a:prstGeom prst="rect">
            <a:avLst/>
          </a:prstGeom>
        </p:spPr>
        <p:txBody>
          <a:bodyPr wrap="square">
            <a:spAutoFit/>
          </a:bodyPr>
          <a:lstStyle/>
          <a:p>
            <a:r>
              <a:rPr lang="pt-BR" sz="2200" dirty="0" smtClean="0">
                <a:latin typeface="Times New Roman" pitchFamily="18" charset="0"/>
                <a:cs typeface="Times New Roman" pitchFamily="18" charset="0"/>
              </a:rPr>
              <a:t>Ví dụ 8. Trong </a:t>
            </a:r>
            <a:r>
              <a:rPr lang="pt-BR" sz="2200" dirty="0">
                <a:latin typeface="Times New Roman" pitchFamily="18" charset="0"/>
                <a:cs typeface="Times New Roman" pitchFamily="18" charset="0"/>
              </a:rPr>
              <a:t>hiện tượng Compton, bước sóng của chùm phôtôn bay tới là 0,03Å. Tính phần năng lượng truyền cho electron đối với phôtôn tán xạ dưới những góc 60</a:t>
            </a:r>
            <a:r>
              <a:rPr lang="pt-BR" sz="2200" baseline="30000" dirty="0">
                <a:latin typeface="Times New Roman" pitchFamily="18" charset="0"/>
                <a:cs typeface="Times New Roman" pitchFamily="18" charset="0"/>
              </a:rPr>
              <a:t>o</a:t>
            </a:r>
            <a:r>
              <a:rPr lang="pt-BR" sz="2200" dirty="0">
                <a:latin typeface="Times New Roman" pitchFamily="18" charset="0"/>
                <a:cs typeface="Times New Roman" pitchFamily="18" charset="0"/>
              </a:rPr>
              <a:t>, 90</a:t>
            </a:r>
            <a:r>
              <a:rPr lang="pt-BR" sz="2200" baseline="30000" dirty="0">
                <a:latin typeface="Times New Roman" pitchFamily="18" charset="0"/>
                <a:cs typeface="Times New Roman" pitchFamily="18" charset="0"/>
              </a:rPr>
              <a:t>o</a:t>
            </a:r>
            <a:r>
              <a:rPr lang="pt-BR" sz="2200" dirty="0">
                <a:latin typeface="Times New Roman" pitchFamily="18" charset="0"/>
                <a:cs typeface="Times New Roman" pitchFamily="18" charset="0"/>
              </a:rPr>
              <a:t>, 180</a:t>
            </a:r>
            <a:r>
              <a:rPr lang="pt-BR" sz="2200" baseline="30000" dirty="0">
                <a:latin typeface="Times New Roman" pitchFamily="18" charset="0"/>
                <a:cs typeface="Times New Roman" pitchFamily="18" charset="0"/>
              </a:rPr>
              <a:t>o</a:t>
            </a:r>
            <a:r>
              <a:rPr lang="pt-BR" sz="2200" dirty="0">
                <a:latin typeface="Times New Roman" pitchFamily="18" charset="0"/>
                <a:cs typeface="Times New Roman" pitchFamily="18" charset="0"/>
              </a:rPr>
              <a:t>. </a:t>
            </a:r>
            <a:endParaRPr lang="en-US" sz="2200" dirty="0">
              <a:latin typeface="Times New Roman" pitchFamily="18" charset="0"/>
              <a:cs typeface="Times New Roman" pitchFamily="18" charset="0"/>
            </a:endParaRPr>
          </a:p>
        </p:txBody>
      </p:sp>
      <p:sp>
        <p:nvSpPr>
          <p:cNvPr id="5" name="TextBox 4"/>
          <p:cNvSpPr txBox="1"/>
          <p:nvPr/>
        </p:nvSpPr>
        <p:spPr>
          <a:xfrm>
            <a:off x="304800" y="1307068"/>
            <a:ext cx="83820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Bước</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sóng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của</a:t>
            </a:r>
            <a:r>
              <a:rPr lang="en-US" sz="2200" dirty="0" smtClean="0">
                <a:latin typeface="Times New Roman" pitchFamily="18" charset="0"/>
                <a:cs typeface="Times New Roman" pitchFamily="18" charset="0"/>
              </a:rPr>
              <a:t> photon </a:t>
            </a:r>
            <a:r>
              <a:rPr lang="en-US" sz="2200" dirty="0" err="1" smtClean="0">
                <a:latin typeface="Times New Roman" pitchFamily="18" charset="0"/>
                <a:cs typeface="Times New Roman" pitchFamily="18" charset="0"/>
              </a:rPr>
              <a:t>tán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xạ</a:t>
            </a:r>
            <a:r>
              <a:rPr lang="en-US" sz="2200" dirty="0" smtClean="0">
                <a:latin typeface="Times New Roman" pitchFamily="18" charset="0"/>
                <a:cs typeface="Times New Roman" pitchFamily="18" charset="0"/>
              </a:rPr>
              <a:t>:</a:t>
            </a:r>
            <a:endParaRPr lang="en-US" sz="2200" dirty="0">
              <a:latin typeface="Times New Roman" pitchFamily="18" charset="0"/>
              <a:cs typeface="Times New Roman" pitchFamily="18" charset="0"/>
            </a:endParaRPr>
          </a:p>
        </p:txBody>
      </p:sp>
      <p:graphicFrame>
        <p:nvGraphicFramePr>
          <p:cNvPr id="6" name="Object 5"/>
          <p:cNvGraphicFramePr>
            <a:graphicFrameLocks noChangeAspect="1"/>
          </p:cNvGraphicFramePr>
          <p:nvPr>
            <p:extLst>
              <p:ext uri="{D42A27DB-BD31-4B8C-83A1-F6EECF244321}">
                <p14:modId xmlns:p14="http://schemas.microsoft.com/office/powerpoint/2010/main" val="891105506"/>
              </p:ext>
            </p:extLst>
          </p:nvPr>
        </p:nvGraphicFramePr>
        <p:xfrm>
          <a:off x="2743200" y="1784350"/>
          <a:ext cx="2426314" cy="730250"/>
        </p:xfrm>
        <a:graphic>
          <a:graphicData uri="http://schemas.openxmlformats.org/presentationml/2006/ole">
            <mc:AlternateContent xmlns:mc="http://schemas.openxmlformats.org/markup-compatibility/2006">
              <mc:Choice xmlns:v="urn:schemas-microsoft-com:vml" Requires="v">
                <p:oleObj spid="_x0000_s21610" name="Equation" r:id="rId3" imgW="1307880" imgH="393480" progId="Equation.3">
                  <p:embed/>
                </p:oleObj>
              </mc:Choice>
              <mc:Fallback>
                <p:oleObj name="Equation" r:id="rId3" imgW="1307880" imgH="393480" progId="Equation.3">
                  <p:embed/>
                  <p:pic>
                    <p:nvPicPr>
                      <p:cNvPr id="0" name=""/>
                      <p:cNvPicPr/>
                      <p:nvPr/>
                    </p:nvPicPr>
                    <p:blipFill>
                      <a:blip r:embed="rId4"/>
                      <a:stretch>
                        <a:fillRect/>
                      </a:stretch>
                    </p:blipFill>
                    <p:spPr>
                      <a:xfrm>
                        <a:off x="2743200" y="1784350"/>
                        <a:ext cx="2426314" cy="730250"/>
                      </a:xfrm>
                      <a:prstGeom prst="rect">
                        <a:avLst/>
                      </a:prstGeom>
                    </p:spPr>
                  </p:pic>
                </p:oleObj>
              </mc:Fallback>
            </mc:AlternateContent>
          </a:graphicData>
        </a:graphic>
      </p:graphicFrame>
      <p:sp>
        <p:nvSpPr>
          <p:cNvPr id="7" name="TextBox 6"/>
          <p:cNvSpPr txBox="1"/>
          <p:nvPr/>
        </p:nvSpPr>
        <p:spPr>
          <a:xfrm>
            <a:off x="381000" y="2438400"/>
            <a:ext cx="7467600" cy="430887"/>
          </a:xfrm>
          <a:prstGeom prst="rect">
            <a:avLst/>
          </a:prstGeom>
          <a:noFill/>
        </p:spPr>
        <p:txBody>
          <a:bodyPr wrap="square" rtlCol="0">
            <a:spAutoFit/>
          </a:bodyPr>
          <a:lstStyle/>
          <a:p>
            <a:r>
              <a:rPr lang="en-US" sz="2200" dirty="0" err="1" smtClean="0">
                <a:latin typeface="Times New Roman" pitchFamily="18" charset="0"/>
                <a:cs typeface="Times New Roman" pitchFamily="18" charset="0"/>
              </a:rPr>
              <a:t>Năng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lượng</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truyền</a:t>
            </a:r>
            <a:r>
              <a:rPr lang="en-US" sz="2200" dirty="0" smtClean="0">
                <a:latin typeface="Times New Roman" pitchFamily="18" charset="0"/>
                <a:cs typeface="Times New Roman" pitchFamily="18" charset="0"/>
              </a:rPr>
              <a:t> </a:t>
            </a:r>
            <a:r>
              <a:rPr lang="en-US" sz="2200" dirty="0" err="1" smtClean="0">
                <a:latin typeface="Times New Roman" pitchFamily="18" charset="0"/>
                <a:cs typeface="Times New Roman" pitchFamily="18" charset="0"/>
              </a:rPr>
              <a:t>cho</a:t>
            </a:r>
            <a:r>
              <a:rPr lang="en-US" sz="2200" dirty="0" smtClean="0">
                <a:latin typeface="Times New Roman" pitchFamily="18" charset="0"/>
                <a:cs typeface="Times New Roman" pitchFamily="18" charset="0"/>
              </a:rPr>
              <a:t> electron</a:t>
            </a:r>
            <a:endParaRPr lang="en-US" sz="2200" dirty="0">
              <a:latin typeface="Times New Roman" pitchFamily="18" charset="0"/>
              <a:cs typeface="Times New Roman" pitchFamily="18" charset="0"/>
            </a:endParaRPr>
          </a:p>
        </p:txBody>
      </p:sp>
      <p:graphicFrame>
        <p:nvGraphicFramePr>
          <p:cNvPr id="8" name="Object 7"/>
          <p:cNvGraphicFramePr>
            <a:graphicFrameLocks noChangeAspect="1"/>
          </p:cNvGraphicFramePr>
          <p:nvPr>
            <p:extLst>
              <p:ext uri="{D42A27DB-BD31-4B8C-83A1-F6EECF244321}">
                <p14:modId xmlns:p14="http://schemas.microsoft.com/office/powerpoint/2010/main" val="229017540"/>
              </p:ext>
            </p:extLst>
          </p:nvPr>
        </p:nvGraphicFramePr>
        <p:xfrm>
          <a:off x="3200400" y="3037894"/>
          <a:ext cx="1593850" cy="695906"/>
        </p:xfrm>
        <a:graphic>
          <a:graphicData uri="http://schemas.openxmlformats.org/presentationml/2006/ole">
            <mc:AlternateContent xmlns:mc="http://schemas.openxmlformats.org/markup-compatibility/2006">
              <mc:Choice xmlns:v="urn:schemas-microsoft-com:vml" Requires="v">
                <p:oleObj spid="_x0000_s21611" name="Equation" r:id="rId5" imgW="901440" imgH="393480" progId="Equation.3">
                  <p:embed/>
                </p:oleObj>
              </mc:Choice>
              <mc:Fallback>
                <p:oleObj name="Equation" r:id="rId5" imgW="901440" imgH="393480" progId="Equation.3">
                  <p:embed/>
                  <p:pic>
                    <p:nvPicPr>
                      <p:cNvPr id="0" name=""/>
                      <p:cNvPicPr/>
                      <p:nvPr/>
                    </p:nvPicPr>
                    <p:blipFill>
                      <a:blip r:embed="rId6"/>
                      <a:stretch>
                        <a:fillRect/>
                      </a:stretch>
                    </p:blipFill>
                    <p:spPr>
                      <a:xfrm>
                        <a:off x="3200400" y="3037894"/>
                        <a:ext cx="1593850" cy="695906"/>
                      </a:xfrm>
                      <a:prstGeom prst="rect">
                        <a:avLst/>
                      </a:prstGeom>
                    </p:spPr>
                  </p:pic>
                </p:oleObj>
              </mc:Fallback>
            </mc:AlternateContent>
          </a:graphicData>
        </a:graphic>
      </p:graphicFrame>
    </p:spTree>
    <p:extLst>
      <p:ext uri="{BB962C8B-B14F-4D97-AF65-F5344CB8AC3E}">
        <p14:creationId xmlns:p14="http://schemas.microsoft.com/office/powerpoint/2010/main" val="35646061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4"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down)">
                                      <p:cBhvr>
                                        <p:cTn id="7"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4" fill="hold" grpId="0"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wipe(down)">
                                      <p:cBhvr>
                                        <p:cTn id="12"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4"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wipe(down)">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2658</TotalTime>
  <Words>1979</Words>
  <Application>Microsoft Office PowerPoint</Application>
  <PresentationFormat>On-screen Show (4:3)</PresentationFormat>
  <Paragraphs>143</Paragraphs>
  <Slides>30</Slides>
  <Notes>0</Notes>
  <HiddenSlides>0</HiddenSlides>
  <MMClips>0</MMClips>
  <ScaleCrop>false</ScaleCrop>
  <HeadingPairs>
    <vt:vector size="6" baseType="variant">
      <vt:variant>
        <vt:lpstr>Theme</vt:lpstr>
      </vt:variant>
      <vt:variant>
        <vt:i4>1</vt:i4>
      </vt:variant>
      <vt:variant>
        <vt:lpstr>Embedded OLE Servers</vt:lpstr>
      </vt:variant>
      <vt:variant>
        <vt:i4>2</vt:i4>
      </vt:variant>
      <vt:variant>
        <vt:lpstr>Slide Titles</vt:lpstr>
      </vt:variant>
      <vt:variant>
        <vt:i4>30</vt:i4>
      </vt:variant>
    </vt:vector>
  </HeadingPairs>
  <TitlesOfParts>
    <vt:vector size="33" baseType="lpstr">
      <vt:lpstr>Office Theme</vt:lpstr>
      <vt:lpstr>Equation</vt:lpstr>
      <vt:lpstr>Bitmap Image</vt:lpstr>
      <vt:lpstr>CHƯƠNG 7 QUANG HỌC LƯỢNG TỬ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CHƯƠNG 7</dc:title>
  <cp:lastModifiedBy>Administrator</cp:lastModifiedBy>
  <cp:revision>69</cp:revision>
  <dcterms:created xsi:type="dcterms:W3CDTF">2020-05-21T06:30:22Z</dcterms:created>
  <dcterms:modified xsi:type="dcterms:W3CDTF">2024-01-22T07:26:23Z</dcterms:modified>
</cp:coreProperties>
</file>