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256" r:id="rId2"/>
    <p:sldId id="277" r:id="rId3"/>
    <p:sldId id="258" r:id="rId4"/>
    <p:sldId id="259" r:id="rId5"/>
    <p:sldId id="260" r:id="rId6"/>
    <p:sldId id="261" r:id="rId7"/>
    <p:sldId id="262" r:id="rId8"/>
    <p:sldId id="263" r:id="rId9"/>
    <p:sldId id="265" r:id="rId10"/>
    <p:sldId id="284" r:id="rId11"/>
    <p:sldId id="279" r:id="rId12"/>
    <p:sldId id="285" r:id="rId13"/>
    <p:sldId id="286" r:id="rId14"/>
    <p:sldId id="287" r:id="rId15"/>
    <p:sldId id="269" r:id="rId16"/>
    <p:sldId id="270" r:id="rId17"/>
    <p:sldId id="271" r:id="rId18"/>
    <p:sldId id="275" r:id="rId19"/>
    <p:sldId id="281" r:id="rId20"/>
    <p:sldId id="290" r:id="rId21"/>
    <p:sldId id="289" r:id="rId22"/>
    <p:sldId id="293" r:id="rId23"/>
    <p:sldId id="294" r:id="rId24"/>
    <p:sldId id="295" r:id="rId25"/>
    <p:sldId id="296" r:id="rId26"/>
    <p:sldId id="297" r:id="rId27"/>
    <p:sldId id="299" r:id="rId28"/>
    <p:sldId id="300" r:id="rId29"/>
    <p:sldId id="301" r:id="rId30"/>
    <p:sldId id="302" r:id="rId31"/>
    <p:sldId id="303" r:id="rId32"/>
    <p:sldId id="304" r:id="rId33"/>
    <p:sldId id="305" r:id="rId34"/>
    <p:sldId id="306" r:id="rId35"/>
    <p:sldId id="307" r:id="rId36"/>
    <p:sldId id="322" r:id="rId37"/>
    <p:sldId id="308" r:id="rId38"/>
    <p:sldId id="309" r:id="rId39"/>
    <p:sldId id="310" r:id="rId40"/>
    <p:sldId id="311" r:id="rId41"/>
    <p:sldId id="312" r:id="rId42"/>
    <p:sldId id="313" r:id="rId43"/>
    <p:sldId id="314" r:id="rId44"/>
    <p:sldId id="315" r:id="rId45"/>
    <p:sldId id="316" r:id="rId46"/>
    <p:sldId id="317" r:id="rId47"/>
    <p:sldId id="323" r:id="rId48"/>
    <p:sldId id="318" r:id="rId49"/>
    <p:sldId id="319" r:id="rId50"/>
    <p:sldId id="320" r:id="rId5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3" d="100"/>
          <a:sy n="63" d="100"/>
        </p:scale>
        <p:origin x="1380" y="6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 Id="rId4"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8" Type="http://schemas.openxmlformats.org/officeDocument/2006/relationships/image" Target="../media/image17.wmf"/><Relationship Id="rId3" Type="http://schemas.openxmlformats.org/officeDocument/2006/relationships/image" Target="../media/image12.wmf"/><Relationship Id="rId7" Type="http://schemas.openxmlformats.org/officeDocument/2006/relationships/image" Target="../media/image16.wmf"/><Relationship Id="rId2" Type="http://schemas.openxmlformats.org/officeDocument/2006/relationships/image" Target="../media/image11.wmf"/><Relationship Id="rId1" Type="http://schemas.openxmlformats.org/officeDocument/2006/relationships/image" Target="../media/image10.wmf"/><Relationship Id="rId6" Type="http://schemas.openxmlformats.org/officeDocument/2006/relationships/image" Target="../media/image15.wmf"/><Relationship Id="rId5" Type="http://schemas.openxmlformats.org/officeDocument/2006/relationships/image" Target="../media/image14.wmf"/><Relationship Id="rId4" Type="http://schemas.openxmlformats.org/officeDocument/2006/relationships/image" Target="../media/image13.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26.wmf"/><Relationship Id="rId3" Type="http://schemas.openxmlformats.org/officeDocument/2006/relationships/image" Target="../media/image21.wmf"/><Relationship Id="rId7" Type="http://schemas.openxmlformats.org/officeDocument/2006/relationships/image" Target="../media/image25.wmf"/><Relationship Id="rId2" Type="http://schemas.openxmlformats.org/officeDocument/2006/relationships/image" Target="../media/image20.wmf"/><Relationship Id="rId1" Type="http://schemas.openxmlformats.org/officeDocument/2006/relationships/image" Target="../media/image19.wmf"/><Relationship Id="rId6" Type="http://schemas.openxmlformats.org/officeDocument/2006/relationships/image" Target="../media/image24.wmf"/><Relationship Id="rId5" Type="http://schemas.openxmlformats.org/officeDocument/2006/relationships/image" Target="../media/image23.wmf"/><Relationship Id="rId4" Type="http://schemas.openxmlformats.org/officeDocument/2006/relationships/image" Target="../media/image2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 Id="rId5" Type="http://schemas.openxmlformats.org/officeDocument/2006/relationships/image" Target="../media/image43.wmf"/><Relationship Id="rId4" Type="http://schemas.openxmlformats.org/officeDocument/2006/relationships/image" Target="../media/image42.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image" Target="../media/image51.wmf"/><Relationship Id="rId1" Type="http://schemas.openxmlformats.org/officeDocument/2006/relationships/image" Target="../media/image50.wmf"/><Relationship Id="rId5" Type="http://schemas.openxmlformats.org/officeDocument/2006/relationships/image" Target="../media/image54.wmf"/><Relationship Id="rId4" Type="http://schemas.openxmlformats.org/officeDocument/2006/relationships/image" Target="../media/image53.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image" Target="../media/image57.wmf"/><Relationship Id="rId1" Type="http://schemas.openxmlformats.org/officeDocument/2006/relationships/image" Target="../media/image56.wmf"/><Relationship Id="rId5" Type="http://schemas.openxmlformats.org/officeDocument/2006/relationships/image" Target="../media/image60.wmf"/><Relationship Id="rId4" Type="http://schemas.openxmlformats.org/officeDocument/2006/relationships/image" Target="../media/image59.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image" Target="../media/image63.wmf"/><Relationship Id="rId1" Type="http://schemas.openxmlformats.org/officeDocument/2006/relationships/image" Target="../media/image62.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70.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76.wmf"/><Relationship Id="rId2" Type="http://schemas.openxmlformats.org/officeDocument/2006/relationships/image" Target="../media/image75.wmf"/><Relationship Id="rId1" Type="http://schemas.openxmlformats.org/officeDocument/2006/relationships/image" Target="../media/image74.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78.wmf"/><Relationship Id="rId1" Type="http://schemas.openxmlformats.org/officeDocument/2006/relationships/image" Target="../media/image77.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81.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83.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84.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103.wmf"/><Relationship Id="rId1" Type="http://schemas.openxmlformats.org/officeDocument/2006/relationships/image" Target="../media/image102.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106.wmf"/><Relationship Id="rId2" Type="http://schemas.openxmlformats.org/officeDocument/2006/relationships/image" Target="../media/image105.wmf"/><Relationship Id="rId1" Type="http://schemas.openxmlformats.org/officeDocument/2006/relationships/image" Target="../media/image104.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113.wmf"/><Relationship Id="rId2" Type="http://schemas.openxmlformats.org/officeDocument/2006/relationships/image" Target="../media/image112.wmf"/><Relationship Id="rId1" Type="http://schemas.openxmlformats.org/officeDocument/2006/relationships/image" Target="../media/image111.wmf"/><Relationship Id="rId4" Type="http://schemas.openxmlformats.org/officeDocument/2006/relationships/image" Target="../media/image114.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16.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19.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124.wmf"/><Relationship Id="rId1" Type="http://schemas.openxmlformats.org/officeDocument/2006/relationships/image" Target="../media/image123.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126.wmf"/><Relationship Id="rId1" Type="http://schemas.openxmlformats.org/officeDocument/2006/relationships/image" Target="../media/image125.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128.wmf"/><Relationship Id="rId1" Type="http://schemas.openxmlformats.org/officeDocument/2006/relationships/image" Target="../media/image12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35F634A-954C-4A23-B81B-B741F9D7291A}" type="datetimeFigureOut">
              <a:rPr lang="en-US" smtClean="0"/>
              <a:t>3/12/2026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B7AB212-02C0-48DE-BBBF-F79FE1F811DD}" type="slidenum">
              <a:rPr lang="en-US" smtClean="0"/>
              <a:t>‹#›</a:t>
            </a:fld>
            <a:endParaRPr lang="en-US"/>
          </a:p>
        </p:txBody>
      </p:sp>
    </p:spTree>
    <p:extLst>
      <p:ext uri="{BB962C8B-B14F-4D97-AF65-F5344CB8AC3E}">
        <p14:creationId xmlns:p14="http://schemas.microsoft.com/office/powerpoint/2010/main" val="28939512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7DA03EA-EAE8-4F15-AABC-97CF85D0BACA}" type="slidenum">
              <a:rPr lang="en-US" smtClean="0"/>
              <a:t>41</a:t>
            </a:fld>
            <a:endParaRPr lang="en-US"/>
          </a:p>
        </p:txBody>
      </p:sp>
    </p:spTree>
    <p:extLst>
      <p:ext uri="{BB962C8B-B14F-4D97-AF65-F5344CB8AC3E}">
        <p14:creationId xmlns:p14="http://schemas.microsoft.com/office/powerpoint/2010/main" val="3435814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81D09E9-6BD5-41F5-9FEE-A4CC89766D89}"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490B43-BF8C-4D7D-8CB1-EEA48C833629}" type="slidenum">
              <a:rPr lang="en-US" smtClean="0"/>
              <a:t>‹#›</a:t>
            </a:fld>
            <a:endParaRPr lang="en-US"/>
          </a:p>
        </p:txBody>
      </p:sp>
    </p:spTree>
    <p:extLst>
      <p:ext uri="{BB962C8B-B14F-4D97-AF65-F5344CB8AC3E}">
        <p14:creationId xmlns:p14="http://schemas.microsoft.com/office/powerpoint/2010/main" val="4191514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81D09E9-6BD5-41F5-9FEE-A4CC89766D89}"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490B43-BF8C-4D7D-8CB1-EEA48C833629}" type="slidenum">
              <a:rPr lang="en-US" smtClean="0"/>
              <a:t>‹#›</a:t>
            </a:fld>
            <a:endParaRPr lang="en-US"/>
          </a:p>
        </p:txBody>
      </p:sp>
    </p:spTree>
    <p:extLst>
      <p:ext uri="{BB962C8B-B14F-4D97-AF65-F5344CB8AC3E}">
        <p14:creationId xmlns:p14="http://schemas.microsoft.com/office/powerpoint/2010/main" val="18778610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81D09E9-6BD5-41F5-9FEE-A4CC89766D89}"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490B43-BF8C-4D7D-8CB1-EEA48C833629}" type="slidenum">
              <a:rPr lang="en-US" smtClean="0"/>
              <a:t>‹#›</a:t>
            </a:fld>
            <a:endParaRPr lang="en-US"/>
          </a:p>
        </p:txBody>
      </p:sp>
    </p:spTree>
    <p:extLst>
      <p:ext uri="{BB962C8B-B14F-4D97-AF65-F5344CB8AC3E}">
        <p14:creationId xmlns:p14="http://schemas.microsoft.com/office/powerpoint/2010/main" val="3604867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81D09E9-6BD5-41F5-9FEE-A4CC89766D89}" type="datetimeFigureOut">
              <a:rPr lang="en-US" smtClean="0"/>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490B43-BF8C-4D7D-8CB1-EEA48C833629}" type="slidenum">
              <a:rPr lang="en-US" smtClean="0"/>
              <a:t>‹#›</a:t>
            </a:fld>
            <a:endParaRPr lang="en-US"/>
          </a:p>
        </p:txBody>
      </p:sp>
    </p:spTree>
    <p:extLst>
      <p:ext uri="{BB962C8B-B14F-4D97-AF65-F5344CB8AC3E}">
        <p14:creationId xmlns:p14="http://schemas.microsoft.com/office/powerpoint/2010/main" val="3501541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81D09E9-6BD5-41F5-9FEE-A4CC89766D89}" type="datetimeFigureOut">
              <a:rPr lang="en-US" smtClean="0"/>
              <a:t>3/12/2026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4490B43-BF8C-4D7D-8CB1-EEA48C833629}" type="slidenum">
              <a:rPr lang="en-US" smtClean="0"/>
              <a:t>‹#›</a:t>
            </a:fld>
            <a:endParaRPr lang="en-US"/>
          </a:p>
        </p:txBody>
      </p:sp>
    </p:spTree>
    <p:extLst>
      <p:ext uri="{BB962C8B-B14F-4D97-AF65-F5344CB8AC3E}">
        <p14:creationId xmlns:p14="http://schemas.microsoft.com/office/powerpoint/2010/main" val="10130470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81D09E9-6BD5-41F5-9FEE-A4CC89766D89}" type="datetimeFigureOut">
              <a:rPr lang="en-US" smtClean="0"/>
              <a:t>3/12/2026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4490B43-BF8C-4D7D-8CB1-EEA48C833629}" type="slidenum">
              <a:rPr lang="en-US" smtClean="0"/>
              <a:t>‹#›</a:t>
            </a:fld>
            <a:endParaRPr lang="en-US"/>
          </a:p>
        </p:txBody>
      </p:sp>
    </p:spTree>
    <p:extLst>
      <p:ext uri="{BB962C8B-B14F-4D97-AF65-F5344CB8AC3E}">
        <p14:creationId xmlns:p14="http://schemas.microsoft.com/office/powerpoint/2010/main" val="22521534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81D09E9-6BD5-41F5-9FEE-A4CC89766D89}" type="datetimeFigureOut">
              <a:rPr lang="en-US" smtClean="0"/>
              <a:t>3/12/2026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4490B43-BF8C-4D7D-8CB1-EEA48C833629}" type="slidenum">
              <a:rPr lang="en-US" smtClean="0"/>
              <a:t>‹#›</a:t>
            </a:fld>
            <a:endParaRPr lang="en-US"/>
          </a:p>
        </p:txBody>
      </p:sp>
    </p:spTree>
    <p:extLst>
      <p:ext uri="{BB962C8B-B14F-4D97-AF65-F5344CB8AC3E}">
        <p14:creationId xmlns:p14="http://schemas.microsoft.com/office/powerpoint/2010/main" val="23392797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81D09E9-6BD5-41F5-9FEE-A4CC89766D89}" type="datetimeFigureOut">
              <a:rPr lang="en-US" smtClean="0"/>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490B43-BF8C-4D7D-8CB1-EEA48C833629}" type="slidenum">
              <a:rPr lang="en-US" smtClean="0"/>
              <a:t>‹#›</a:t>
            </a:fld>
            <a:endParaRPr lang="en-US"/>
          </a:p>
        </p:txBody>
      </p:sp>
    </p:spTree>
    <p:extLst>
      <p:ext uri="{BB962C8B-B14F-4D97-AF65-F5344CB8AC3E}">
        <p14:creationId xmlns:p14="http://schemas.microsoft.com/office/powerpoint/2010/main" val="2658464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81D09E9-6BD5-41F5-9FEE-A4CC89766D89}" type="datetimeFigureOut">
              <a:rPr lang="en-US" smtClean="0"/>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490B43-BF8C-4D7D-8CB1-EEA48C833629}" type="slidenum">
              <a:rPr lang="en-US" smtClean="0"/>
              <a:t>‹#›</a:t>
            </a:fld>
            <a:endParaRPr lang="en-US"/>
          </a:p>
        </p:txBody>
      </p:sp>
    </p:spTree>
    <p:extLst>
      <p:ext uri="{BB962C8B-B14F-4D97-AF65-F5344CB8AC3E}">
        <p14:creationId xmlns:p14="http://schemas.microsoft.com/office/powerpoint/2010/main" val="1538826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81D09E9-6BD5-41F5-9FEE-A4CC89766D89}"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490B43-BF8C-4D7D-8CB1-EEA48C833629}" type="slidenum">
              <a:rPr lang="en-US" smtClean="0"/>
              <a:t>‹#›</a:t>
            </a:fld>
            <a:endParaRPr lang="en-US"/>
          </a:p>
        </p:txBody>
      </p:sp>
    </p:spTree>
    <p:extLst>
      <p:ext uri="{BB962C8B-B14F-4D97-AF65-F5344CB8AC3E}">
        <p14:creationId xmlns:p14="http://schemas.microsoft.com/office/powerpoint/2010/main" val="23355611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81D09E9-6BD5-41F5-9FEE-A4CC89766D89}"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490B43-BF8C-4D7D-8CB1-EEA48C833629}" type="slidenum">
              <a:rPr lang="en-US" smtClean="0"/>
              <a:t>‹#›</a:t>
            </a:fld>
            <a:endParaRPr lang="en-US"/>
          </a:p>
        </p:txBody>
      </p:sp>
    </p:spTree>
    <p:extLst>
      <p:ext uri="{BB962C8B-B14F-4D97-AF65-F5344CB8AC3E}">
        <p14:creationId xmlns:p14="http://schemas.microsoft.com/office/powerpoint/2010/main" val="1307636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1D09E9-6BD5-41F5-9FEE-A4CC89766D89}" type="datetimeFigureOut">
              <a:rPr lang="en-US" smtClean="0"/>
              <a:t>3/12/2026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490B43-BF8C-4D7D-8CB1-EEA48C833629}" type="slidenum">
              <a:rPr lang="en-US" smtClean="0"/>
              <a:t>‹#›</a:t>
            </a:fld>
            <a:endParaRPr lang="en-US"/>
          </a:p>
        </p:txBody>
      </p:sp>
    </p:spTree>
    <p:extLst>
      <p:ext uri="{BB962C8B-B14F-4D97-AF65-F5344CB8AC3E}">
        <p14:creationId xmlns:p14="http://schemas.microsoft.com/office/powerpoint/2010/main" val="6024244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image" Target="../media/image9.png"/><Relationship Id="rId7" Type="http://schemas.openxmlformats.org/officeDocument/2006/relationships/image" Target="../media/image6.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8.wmf"/><Relationship Id="rId5" Type="http://schemas.openxmlformats.org/officeDocument/2006/relationships/image" Target="../media/image5.w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7.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2.wmf"/><Relationship Id="rId13" Type="http://schemas.openxmlformats.org/officeDocument/2006/relationships/oleObject" Target="../embeddings/oleObject10.bin"/><Relationship Id="rId18" Type="http://schemas.openxmlformats.org/officeDocument/2006/relationships/oleObject" Target="../embeddings/oleObject12.bin"/><Relationship Id="rId3" Type="http://schemas.openxmlformats.org/officeDocument/2006/relationships/oleObject" Target="../embeddings/oleObject5.bin"/><Relationship Id="rId7" Type="http://schemas.openxmlformats.org/officeDocument/2006/relationships/oleObject" Target="../embeddings/oleObject7.bin"/><Relationship Id="rId12" Type="http://schemas.openxmlformats.org/officeDocument/2006/relationships/image" Target="../media/image14.wmf"/><Relationship Id="rId17" Type="http://schemas.openxmlformats.org/officeDocument/2006/relationships/image" Target="../media/image16.wmf"/><Relationship Id="rId2" Type="http://schemas.openxmlformats.org/officeDocument/2006/relationships/slideLayout" Target="../slideLayouts/slideLayout2.xml"/><Relationship Id="rId16" Type="http://schemas.openxmlformats.org/officeDocument/2006/relationships/oleObject" Target="../embeddings/oleObject11.bin"/><Relationship Id="rId1" Type="http://schemas.openxmlformats.org/officeDocument/2006/relationships/vmlDrawing" Target="../drawings/vmlDrawing2.vml"/><Relationship Id="rId6" Type="http://schemas.openxmlformats.org/officeDocument/2006/relationships/image" Target="../media/image11.wmf"/><Relationship Id="rId11" Type="http://schemas.openxmlformats.org/officeDocument/2006/relationships/oleObject" Target="../embeddings/oleObject9.bin"/><Relationship Id="rId5" Type="http://schemas.openxmlformats.org/officeDocument/2006/relationships/oleObject" Target="../embeddings/oleObject6.bin"/><Relationship Id="rId15" Type="http://schemas.openxmlformats.org/officeDocument/2006/relationships/image" Target="../media/image18.png"/><Relationship Id="rId10" Type="http://schemas.openxmlformats.org/officeDocument/2006/relationships/image" Target="../media/image13.wmf"/><Relationship Id="rId19" Type="http://schemas.openxmlformats.org/officeDocument/2006/relationships/image" Target="../media/image17.wmf"/><Relationship Id="rId4" Type="http://schemas.openxmlformats.org/officeDocument/2006/relationships/image" Target="../media/image10.wmf"/><Relationship Id="rId9" Type="http://schemas.openxmlformats.org/officeDocument/2006/relationships/oleObject" Target="../embeddings/oleObject8.bin"/><Relationship Id="rId14" Type="http://schemas.openxmlformats.org/officeDocument/2006/relationships/image" Target="../media/image15.wmf"/></Relationships>
</file>

<file path=ppt/slides/_rels/slide9.xml.rels><?xml version="1.0" encoding="UTF-8" standalone="yes"?>
<Relationships xmlns="http://schemas.openxmlformats.org/package/2006/relationships"><Relationship Id="rId8" Type="http://schemas.openxmlformats.org/officeDocument/2006/relationships/image" Target="../media/image21.wmf"/><Relationship Id="rId13" Type="http://schemas.openxmlformats.org/officeDocument/2006/relationships/oleObject" Target="../embeddings/oleObject18.bin"/><Relationship Id="rId18" Type="http://schemas.openxmlformats.org/officeDocument/2006/relationships/image" Target="../media/image26.wmf"/><Relationship Id="rId3" Type="http://schemas.openxmlformats.org/officeDocument/2006/relationships/oleObject" Target="../embeddings/oleObject13.bin"/><Relationship Id="rId7" Type="http://schemas.openxmlformats.org/officeDocument/2006/relationships/oleObject" Target="../embeddings/oleObject15.bin"/><Relationship Id="rId12" Type="http://schemas.openxmlformats.org/officeDocument/2006/relationships/image" Target="../media/image23.wmf"/><Relationship Id="rId17" Type="http://schemas.openxmlformats.org/officeDocument/2006/relationships/oleObject" Target="../embeddings/oleObject20.bin"/><Relationship Id="rId2" Type="http://schemas.openxmlformats.org/officeDocument/2006/relationships/slideLayout" Target="../slideLayouts/slideLayout2.xml"/><Relationship Id="rId16" Type="http://schemas.openxmlformats.org/officeDocument/2006/relationships/image" Target="../media/image25.wmf"/><Relationship Id="rId1" Type="http://schemas.openxmlformats.org/officeDocument/2006/relationships/vmlDrawing" Target="../drawings/vmlDrawing3.vml"/><Relationship Id="rId6" Type="http://schemas.openxmlformats.org/officeDocument/2006/relationships/image" Target="../media/image20.wmf"/><Relationship Id="rId11" Type="http://schemas.openxmlformats.org/officeDocument/2006/relationships/oleObject" Target="../embeddings/oleObject17.bin"/><Relationship Id="rId5" Type="http://schemas.openxmlformats.org/officeDocument/2006/relationships/oleObject" Target="../embeddings/oleObject14.bin"/><Relationship Id="rId15" Type="http://schemas.openxmlformats.org/officeDocument/2006/relationships/oleObject" Target="../embeddings/oleObject19.bin"/><Relationship Id="rId10" Type="http://schemas.openxmlformats.org/officeDocument/2006/relationships/image" Target="../media/image22.wmf"/><Relationship Id="rId19" Type="http://schemas.openxmlformats.org/officeDocument/2006/relationships/image" Target="../media/image18.png"/><Relationship Id="rId4" Type="http://schemas.openxmlformats.org/officeDocument/2006/relationships/image" Target="../media/image19.wmf"/><Relationship Id="rId9" Type="http://schemas.openxmlformats.org/officeDocument/2006/relationships/oleObject" Target="../embeddings/oleObject16.bin"/><Relationship Id="rId14" Type="http://schemas.openxmlformats.org/officeDocument/2006/relationships/image" Target="../media/image24.wmf"/></Relationships>
</file>

<file path=ppt/slides/_rels/slide1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1.bin"/><Relationship Id="rId7" Type="http://schemas.openxmlformats.org/officeDocument/2006/relationships/image" Target="../media/image38.png"/><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wmf"/></Relationships>
</file>

<file path=ppt/slides/_rels/slide15.xml.rels><?xml version="1.0" encoding="UTF-8" standalone="yes"?>
<Relationships xmlns="http://schemas.openxmlformats.org/package/2006/relationships"><Relationship Id="rId8" Type="http://schemas.openxmlformats.org/officeDocument/2006/relationships/image" Target="../media/image41.wmf"/><Relationship Id="rId13" Type="http://schemas.openxmlformats.org/officeDocument/2006/relationships/image" Target="../media/image44.png"/><Relationship Id="rId3" Type="http://schemas.openxmlformats.org/officeDocument/2006/relationships/oleObject" Target="../embeddings/oleObject22.bin"/><Relationship Id="rId7" Type="http://schemas.openxmlformats.org/officeDocument/2006/relationships/oleObject" Target="../embeddings/oleObject24.bin"/><Relationship Id="rId12" Type="http://schemas.openxmlformats.org/officeDocument/2006/relationships/image" Target="../media/image43.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40.wmf"/><Relationship Id="rId11" Type="http://schemas.openxmlformats.org/officeDocument/2006/relationships/oleObject" Target="../embeddings/oleObject26.bin"/><Relationship Id="rId5" Type="http://schemas.openxmlformats.org/officeDocument/2006/relationships/oleObject" Target="../embeddings/oleObject23.bin"/><Relationship Id="rId10" Type="http://schemas.openxmlformats.org/officeDocument/2006/relationships/image" Target="../media/image42.wmf"/><Relationship Id="rId4" Type="http://schemas.openxmlformats.org/officeDocument/2006/relationships/image" Target="../media/image39.wmf"/><Relationship Id="rId9" Type="http://schemas.openxmlformats.org/officeDocument/2006/relationships/oleObject" Target="../embeddings/oleObject25.bin"/><Relationship Id="rId14" Type="http://schemas.openxmlformats.org/officeDocument/2006/relationships/image" Target="../media/image45.png"/></Relationships>
</file>

<file path=ppt/slides/_rels/slide16.xml.rels><?xml version="1.0" encoding="UTF-8" standalone="yes"?>
<Relationships xmlns="http://schemas.openxmlformats.org/package/2006/relationships"><Relationship Id="rId8" Type="http://schemas.openxmlformats.org/officeDocument/2006/relationships/image" Target="../media/image48.wmf"/><Relationship Id="rId3" Type="http://schemas.openxmlformats.org/officeDocument/2006/relationships/oleObject" Target="../embeddings/oleObject27.bin"/><Relationship Id="rId7" Type="http://schemas.openxmlformats.org/officeDocument/2006/relationships/oleObject" Target="../embeddings/oleObject29.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47.wmf"/><Relationship Id="rId5" Type="http://schemas.openxmlformats.org/officeDocument/2006/relationships/oleObject" Target="../embeddings/oleObject28.bin"/><Relationship Id="rId4" Type="http://schemas.openxmlformats.org/officeDocument/2006/relationships/image" Target="../media/image46.wmf"/><Relationship Id="rId9" Type="http://schemas.openxmlformats.org/officeDocument/2006/relationships/image" Target="../media/image49.png"/></Relationships>
</file>

<file path=ppt/slides/_rels/slide17.xml.rels><?xml version="1.0" encoding="UTF-8" standalone="yes"?>
<Relationships xmlns="http://schemas.openxmlformats.org/package/2006/relationships"><Relationship Id="rId8" Type="http://schemas.openxmlformats.org/officeDocument/2006/relationships/image" Target="../media/image52.wmf"/><Relationship Id="rId13" Type="http://schemas.openxmlformats.org/officeDocument/2006/relationships/image" Target="../media/image54.wmf"/><Relationship Id="rId3" Type="http://schemas.openxmlformats.org/officeDocument/2006/relationships/oleObject" Target="../embeddings/oleObject30.bin"/><Relationship Id="rId7" Type="http://schemas.openxmlformats.org/officeDocument/2006/relationships/oleObject" Target="../embeddings/oleObject32.bin"/><Relationship Id="rId12" Type="http://schemas.openxmlformats.org/officeDocument/2006/relationships/oleObject" Target="../embeddings/oleObject34.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51.wmf"/><Relationship Id="rId11" Type="http://schemas.openxmlformats.org/officeDocument/2006/relationships/image" Target="../media/image55.png"/><Relationship Id="rId5" Type="http://schemas.openxmlformats.org/officeDocument/2006/relationships/oleObject" Target="../embeddings/oleObject31.bin"/><Relationship Id="rId10" Type="http://schemas.openxmlformats.org/officeDocument/2006/relationships/image" Target="../media/image53.wmf"/><Relationship Id="rId4" Type="http://schemas.openxmlformats.org/officeDocument/2006/relationships/image" Target="../media/image50.wmf"/><Relationship Id="rId9" Type="http://schemas.openxmlformats.org/officeDocument/2006/relationships/oleObject" Target="../embeddings/oleObject33.bin"/></Relationships>
</file>

<file path=ppt/slides/_rels/slide18.xml.rels><?xml version="1.0" encoding="UTF-8" standalone="yes"?>
<Relationships xmlns="http://schemas.openxmlformats.org/package/2006/relationships"><Relationship Id="rId8" Type="http://schemas.openxmlformats.org/officeDocument/2006/relationships/image" Target="../media/image58.wmf"/><Relationship Id="rId13" Type="http://schemas.openxmlformats.org/officeDocument/2006/relationships/image" Target="../media/image61.png"/><Relationship Id="rId3" Type="http://schemas.openxmlformats.org/officeDocument/2006/relationships/oleObject" Target="../embeddings/oleObject35.bin"/><Relationship Id="rId7" Type="http://schemas.openxmlformats.org/officeDocument/2006/relationships/oleObject" Target="../embeddings/oleObject37.bin"/><Relationship Id="rId12" Type="http://schemas.openxmlformats.org/officeDocument/2006/relationships/image" Target="../media/image60.wmf"/><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57.wmf"/><Relationship Id="rId11" Type="http://schemas.openxmlformats.org/officeDocument/2006/relationships/oleObject" Target="../embeddings/oleObject39.bin"/><Relationship Id="rId5" Type="http://schemas.openxmlformats.org/officeDocument/2006/relationships/oleObject" Target="../embeddings/oleObject36.bin"/><Relationship Id="rId10" Type="http://schemas.openxmlformats.org/officeDocument/2006/relationships/image" Target="../media/image59.wmf"/><Relationship Id="rId4" Type="http://schemas.openxmlformats.org/officeDocument/2006/relationships/image" Target="../media/image56.wmf"/><Relationship Id="rId9" Type="http://schemas.openxmlformats.org/officeDocument/2006/relationships/oleObject" Target="../embeddings/oleObject38.bin"/></Relationships>
</file>

<file path=ppt/slides/_rels/slide19.xml.rels><?xml version="1.0" encoding="UTF-8" standalone="yes"?>
<Relationships xmlns="http://schemas.openxmlformats.org/package/2006/relationships"><Relationship Id="rId8" Type="http://schemas.openxmlformats.org/officeDocument/2006/relationships/image" Target="../media/image64.wmf"/><Relationship Id="rId3" Type="http://schemas.openxmlformats.org/officeDocument/2006/relationships/oleObject" Target="../embeddings/oleObject40.bin"/><Relationship Id="rId7" Type="http://schemas.openxmlformats.org/officeDocument/2006/relationships/oleObject" Target="../embeddings/oleObject42.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63.wmf"/><Relationship Id="rId5" Type="http://schemas.openxmlformats.org/officeDocument/2006/relationships/oleObject" Target="../embeddings/oleObject41.bin"/><Relationship Id="rId4" Type="http://schemas.openxmlformats.org/officeDocument/2006/relationships/image" Target="../media/image62.wmf"/><Relationship Id="rId9" Type="http://schemas.openxmlformats.org/officeDocument/2006/relationships/image" Target="../media/image49.png"/></Relationships>
</file>

<file path=ppt/slides/_rels/slide2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43.bin"/><Relationship Id="rId7" Type="http://schemas.openxmlformats.org/officeDocument/2006/relationships/image" Target="../media/image73.png"/><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wmf"/></Relationships>
</file>

<file path=ppt/slides/_rels/slide25.xml.rels><?xml version="1.0" encoding="UTF-8" standalone="yes"?>
<Relationships xmlns="http://schemas.openxmlformats.org/package/2006/relationships"><Relationship Id="rId8" Type="http://schemas.openxmlformats.org/officeDocument/2006/relationships/image" Target="../media/image76.wmf"/><Relationship Id="rId3" Type="http://schemas.openxmlformats.org/officeDocument/2006/relationships/oleObject" Target="../embeddings/oleObject44.bin"/><Relationship Id="rId7" Type="http://schemas.openxmlformats.org/officeDocument/2006/relationships/oleObject" Target="../embeddings/oleObject46.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75.wmf"/><Relationship Id="rId5" Type="http://schemas.openxmlformats.org/officeDocument/2006/relationships/oleObject" Target="../embeddings/oleObject45.bin"/><Relationship Id="rId4" Type="http://schemas.openxmlformats.org/officeDocument/2006/relationships/image" Target="../media/image74.w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47.bin"/><Relationship Id="rId7" Type="http://schemas.openxmlformats.org/officeDocument/2006/relationships/image" Target="../media/image79.png"/><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78.wmf"/><Relationship Id="rId5" Type="http://schemas.openxmlformats.org/officeDocument/2006/relationships/oleObject" Target="../embeddings/oleObject48.bin"/><Relationship Id="rId4" Type="http://schemas.openxmlformats.org/officeDocument/2006/relationships/image" Target="../media/image77.wmf"/></Relationships>
</file>

<file path=ppt/slides/_rels/slide27.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Layout" Target="../slideLayouts/slideLayout2.xml"/><Relationship Id="rId1" Type="http://schemas.openxmlformats.org/officeDocument/2006/relationships/vmlDrawing" Target="../drawings/vmlDrawing13.vml"/><Relationship Id="rId5" Type="http://schemas.openxmlformats.org/officeDocument/2006/relationships/image" Target="../media/image82.png"/><Relationship Id="rId4" Type="http://schemas.openxmlformats.org/officeDocument/2006/relationships/image" Target="../media/image81.w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83.w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wmf"/></Relationships>
</file>

<file path=ppt/slides/_rels/slide3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2.xml"/><Relationship Id="rId4" Type="http://schemas.openxmlformats.org/officeDocument/2006/relationships/image" Target="../media/image89.png"/></Relationships>
</file>

<file path=ppt/slides/_rels/slide32.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xml"/><Relationship Id="rId5" Type="http://schemas.openxmlformats.org/officeDocument/2006/relationships/image" Target="../media/image93.png"/><Relationship Id="rId4" Type="http://schemas.openxmlformats.org/officeDocument/2006/relationships/image" Target="../media/image92.png"/></Relationships>
</file>

<file path=ppt/slides/_rels/slide33.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2.xml"/><Relationship Id="rId5" Type="http://schemas.openxmlformats.org/officeDocument/2006/relationships/image" Target="../media/image101.png"/><Relationship Id="rId4" Type="http://schemas.openxmlformats.org/officeDocument/2006/relationships/image" Target="../media/image100.png"/></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103.wmf"/><Relationship Id="rId5" Type="http://schemas.openxmlformats.org/officeDocument/2006/relationships/oleObject" Target="../embeddings/oleObject53.bin"/><Relationship Id="rId4" Type="http://schemas.openxmlformats.org/officeDocument/2006/relationships/image" Target="../media/image102.wmf"/></Relationships>
</file>

<file path=ppt/slides/_rels/slide39.xml.rels><?xml version="1.0" encoding="UTF-8" standalone="yes"?>
<Relationships xmlns="http://schemas.openxmlformats.org/package/2006/relationships"><Relationship Id="rId8" Type="http://schemas.openxmlformats.org/officeDocument/2006/relationships/image" Target="../media/image106.wmf"/><Relationship Id="rId3" Type="http://schemas.openxmlformats.org/officeDocument/2006/relationships/oleObject" Target="../embeddings/oleObject54.bin"/><Relationship Id="rId7" Type="http://schemas.openxmlformats.org/officeDocument/2006/relationships/oleObject" Target="../embeddings/oleObject56.bin"/><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105.wmf"/><Relationship Id="rId5" Type="http://schemas.openxmlformats.org/officeDocument/2006/relationships/oleObject" Target="../embeddings/oleObject55.bin"/><Relationship Id="rId4" Type="http://schemas.openxmlformats.org/officeDocument/2006/relationships/image" Target="../media/image104.wmf"/></Relationships>
</file>

<file path=ppt/slides/_rels/slide40.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10.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image" Target="../media/image113.wmf"/><Relationship Id="rId3" Type="http://schemas.openxmlformats.org/officeDocument/2006/relationships/oleObject" Target="../embeddings/oleObject57.bin"/><Relationship Id="rId7" Type="http://schemas.openxmlformats.org/officeDocument/2006/relationships/oleObject" Target="../embeddings/oleObject59.bin"/><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image" Target="../media/image112.wmf"/><Relationship Id="rId11" Type="http://schemas.openxmlformats.org/officeDocument/2006/relationships/image" Target="../media/image115.png"/><Relationship Id="rId5" Type="http://schemas.openxmlformats.org/officeDocument/2006/relationships/oleObject" Target="../embeddings/oleObject58.bin"/><Relationship Id="rId10" Type="http://schemas.openxmlformats.org/officeDocument/2006/relationships/image" Target="../media/image114.wmf"/><Relationship Id="rId4" Type="http://schemas.openxmlformats.org/officeDocument/2006/relationships/image" Target="../media/image111.wmf"/><Relationship Id="rId9" Type="http://schemas.openxmlformats.org/officeDocument/2006/relationships/oleObject" Target="../embeddings/oleObject60.bin"/></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image" Target="../media/image118.png"/><Relationship Id="rId5" Type="http://schemas.openxmlformats.org/officeDocument/2006/relationships/image" Target="../media/image117.png"/><Relationship Id="rId4" Type="http://schemas.openxmlformats.org/officeDocument/2006/relationships/image" Target="../media/image116.wmf"/></Relationships>
</file>

<file path=ppt/slides/_rels/slide45.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slideLayout" Target="../slideLayouts/slideLayout2.xml"/><Relationship Id="rId1" Type="http://schemas.openxmlformats.org/officeDocument/2006/relationships/vmlDrawing" Target="../drawings/vmlDrawing20.vml"/><Relationship Id="rId5" Type="http://schemas.openxmlformats.org/officeDocument/2006/relationships/image" Target="../media/image119.wmf"/><Relationship Id="rId4" Type="http://schemas.openxmlformats.org/officeDocument/2006/relationships/oleObject" Target="../embeddings/oleObject62.bin"/></Relationships>
</file>

<file path=ppt/slides/_rels/slide46.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63.bin"/><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image" Target="../media/image124.wmf"/><Relationship Id="rId5" Type="http://schemas.openxmlformats.org/officeDocument/2006/relationships/oleObject" Target="../embeddings/oleObject64.bin"/><Relationship Id="rId4" Type="http://schemas.openxmlformats.org/officeDocument/2006/relationships/image" Target="../media/image123.wmf"/></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image" Target="../media/image126.wmf"/><Relationship Id="rId5" Type="http://schemas.openxmlformats.org/officeDocument/2006/relationships/oleObject" Target="../embeddings/oleObject66.bin"/><Relationship Id="rId4" Type="http://schemas.openxmlformats.org/officeDocument/2006/relationships/image" Target="../media/image125.wmf"/></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67.bin"/><Relationship Id="rId2" Type="http://schemas.openxmlformats.org/officeDocument/2006/relationships/slideLayout" Target="../slideLayouts/slideLayout2.xml"/><Relationship Id="rId1" Type="http://schemas.openxmlformats.org/officeDocument/2006/relationships/vmlDrawing" Target="../drawings/vmlDrawing23.vml"/><Relationship Id="rId6" Type="http://schemas.openxmlformats.org/officeDocument/2006/relationships/image" Target="../media/image128.wmf"/><Relationship Id="rId5" Type="http://schemas.openxmlformats.org/officeDocument/2006/relationships/oleObject" Target="../embeddings/oleObject68.bin"/><Relationship Id="rId4" Type="http://schemas.openxmlformats.org/officeDocument/2006/relationships/image" Target="../media/image127.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nSpc>
                <a:spcPct val="150000"/>
              </a:lnSpc>
              <a:spcBef>
                <a:spcPts val="1200"/>
              </a:spcBef>
              <a:spcAft>
                <a:spcPts val="1200"/>
              </a:spcAft>
            </a:pPr>
            <a:r>
              <a:rPr lang="en-US" sz="4000" b="1" dirty="0" err="1">
                <a:solidFill>
                  <a:srgbClr val="002060"/>
                </a:solidFill>
                <a:latin typeface="Times" pitchFamily="18" charset="0"/>
                <a:cs typeface="Times" pitchFamily="18" charset="0"/>
              </a:rPr>
              <a:t>Chương</a:t>
            </a:r>
            <a:r>
              <a:rPr lang="en-US" sz="4000" b="1" dirty="0">
                <a:solidFill>
                  <a:srgbClr val="002060"/>
                </a:solidFill>
                <a:latin typeface="Times" pitchFamily="18" charset="0"/>
                <a:cs typeface="Times" pitchFamily="18" charset="0"/>
              </a:rPr>
              <a:t> 5</a:t>
            </a:r>
            <a:br>
              <a:rPr lang="en-US" sz="4000" b="1" dirty="0">
                <a:solidFill>
                  <a:srgbClr val="002060"/>
                </a:solidFill>
                <a:latin typeface="Times" pitchFamily="18" charset="0"/>
                <a:cs typeface="Times" pitchFamily="18" charset="0"/>
              </a:rPr>
            </a:br>
            <a:r>
              <a:rPr lang="en-US" sz="4000" b="1" dirty="0">
                <a:solidFill>
                  <a:srgbClr val="002060"/>
                </a:solidFill>
                <a:latin typeface="Times" pitchFamily="18" charset="0"/>
                <a:cs typeface="Times" pitchFamily="18" charset="0"/>
              </a:rPr>
              <a:t>QUANG HỌC SÓNG</a:t>
            </a:r>
          </a:p>
        </p:txBody>
      </p:sp>
    </p:spTree>
    <p:extLst>
      <p:ext uri="{BB962C8B-B14F-4D97-AF65-F5344CB8AC3E}">
        <p14:creationId xmlns:p14="http://schemas.microsoft.com/office/powerpoint/2010/main" val="37559014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 y="0"/>
            <a:ext cx="8915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0"/>
            <a:ext cx="89154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§1. GIAO THOA ÁNH SÁNG</a:t>
            </a:r>
          </a:p>
        </p:txBody>
      </p:sp>
      <p:sp>
        <p:nvSpPr>
          <p:cNvPr id="2" name="TextBox 1"/>
          <p:cNvSpPr txBox="1"/>
          <p:nvPr/>
        </p:nvSpPr>
        <p:spPr>
          <a:xfrm>
            <a:off x="76200" y="609600"/>
            <a:ext cx="8915400" cy="461665"/>
          </a:xfrm>
          <a:prstGeom prst="rect">
            <a:avLst/>
          </a:prstGeom>
          <a:noFill/>
        </p:spPr>
        <p:txBody>
          <a:bodyPr wrap="square" rtlCol="0">
            <a:spAutoFit/>
          </a:bodyPr>
          <a:lstStyle/>
          <a:p>
            <a:r>
              <a:rPr lang="en-US" sz="2400" b="1" dirty="0">
                <a:solidFill>
                  <a:srgbClr val="FF0000"/>
                </a:solidFill>
                <a:latin typeface="Times New Roman" pitchFamily="18" charset="0"/>
                <a:cs typeface="Times New Roman" pitchFamily="18" charset="0"/>
              </a:rPr>
              <a:t>I. </a:t>
            </a:r>
            <a:r>
              <a:rPr lang="en-US" sz="2400" b="1" dirty="0" err="1">
                <a:solidFill>
                  <a:srgbClr val="FF0000"/>
                </a:solidFill>
                <a:latin typeface="Times New Roman" pitchFamily="18" charset="0"/>
                <a:cs typeface="Times New Roman" pitchFamily="18" charset="0"/>
              </a:rPr>
              <a:t>Cơ</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sở</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của</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quang</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học</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tia</a:t>
            </a:r>
            <a:endParaRPr lang="en-US" sz="2400" b="1" dirty="0">
              <a:solidFill>
                <a:srgbClr val="FF0000"/>
              </a:solidFill>
              <a:latin typeface="Times New Roman" pitchFamily="18" charset="0"/>
              <a:cs typeface="Times New Roman" pitchFamily="18" charset="0"/>
            </a:endParaRPr>
          </a:p>
        </p:txBody>
      </p:sp>
      <p:sp>
        <p:nvSpPr>
          <p:cNvPr id="6" name="Rectangle 5"/>
          <p:cNvSpPr/>
          <p:nvPr/>
        </p:nvSpPr>
        <p:spPr>
          <a:xfrm>
            <a:off x="152400" y="1066800"/>
            <a:ext cx="8686800" cy="830997"/>
          </a:xfrm>
          <a:prstGeom prst="rect">
            <a:avLst/>
          </a:prstGeom>
        </p:spPr>
        <p:txBody>
          <a:bodyPr wrap="square">
            <a:spAutoFit/>
          </a:bodyPr>
          <a:lstStyle/>
          <a:p>
            <a:r>
              <a:rPr lang="en-US" sz="2400" b="1" i="1" dirty="0">
                <a:solidFill>
                  <a:srgbClr val="0070C0"/>
                </a:solidFill>
                <a:latin typeface="Times New Roman" pitchFamily="18" charset="0"/>
              </a:rPr>
              <a:t>1.Định </a:t>
            </a:r>
            <a:r>
              <a:rPr lang="en-US" sz="2400" b="1" i="1" dirty="0" err="1">
                <a:solidFill>
                  <a:srgbClr val="0070C0"/>
                </a:solidFill>
                <a:latin typeface="Times New Roman" pitchFamily="18" charset="0"/>
              </a:rPr>
              <a:t>luật</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truyền</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thẳng</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ánh</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sáng</a:t>
            </a:r>
            <a:r>
              <a:rPr lang="en-US" sz="2400" b="1" i="1" dirty="0" err="1">
                <a:latin typeface="Times New Roman" pitchFamily="18" charset="0"/>
              </a:rPr>
              <a:t>:</a:t>
            </a:r>
            <a:r>
              <a:rPr lang="en-US" sz="2400" dirty="0" err="1">
                <a:latin typeface="Times New Roman" pitchFamily="18" charset="0"/>
              </a:rPr>
              <a:t>trong</a:t>
            </a:r>
            <a:r>
              <a:rPr lang="en-US" sz="2400" dirty="0">
                <a:latin typeface="Times New Roman" pitchFamily="18" charset="0"/>
              </a:rPr>
              <a:t> </a:t>
            </a:r>
            <a:r>
              <a:rPr lang="en-US" sz="2400" dirty="0" err="1">
                <a:latin typeface="Times New Roman" pitchFamily="18" charset="0"/>
              </a:rPr>
              <a:t>môi</a:t>
            </a:r>
            <a:r>
              <a:rPr lang="en-US" sz="2400" dirty="0">
                <a:latin typeface="Times New Roman" pitchFamily="18" charset="0"/>
              </a:rPr>
              <a:t> </a:t>
            </a:r>
            <a:r>
              <a:rPr lang="en-US" sz="2400" dirty="0" err="1">
                <a:latin typeface="Times New Roman" pitchFamily="18" charset="0"/>
              </a:rPr>
              <a:t>trường</a:t>
            </a:r>
            <a:r>
              <a:rPr lang="en-US" sz="2400" dirty="0">
                <a:latin typeface="Times New Roman" pitchFamily="18" charset="0"/>
              </a:rPr>
              <a:t>  </a:t>
            </a:r>
            <a:r>
              <a:rPr lang="en-US" sz="2400" dirty="0" err="1">
                <a:latin typeface="Times New Roman" pitchFamily="18" charset="0"/>
              </a:rPr>
              <a:t>trong</a:t>
            </a:r>
            <a:r>
              <a:rPr lang="en-US" sz="2400" dirty="0">
                <a:latin typeface="Times New Roman" pitchFamily="18" charset="0"/>
              </a:rPr>
              <a:t> </a:t>
            </a:r>
            <a:r>
              <a:rPr lang="en-US" sz="2400" dirty="0" err="1">
                <a:latin typeface="Times New Roman" pitchFamily="18" charset="0"/>
              </a:rPr>
              <a:t>suốt</a:t>
            </a:r>
            <a:r>
              <a:rPr lang="en-US" sz="2400" dirty="0">
                <a:latin typeface="Times New Roman" pitchFamily="18" charset="0"/>
              </a:rPr>
              <a:t>, </a:t>
            </a:r>
            <a:r>
              <a:rPr lang="en-US" sz="2400" dirty="0" err="1">
                <a:latin typeface="Times New Roman" pitchFamily="18" charset="0"/>
              </a:rPr>
              <a:t>đồng</a:t>
            </a:r>
            <a:r>
              <a:rPr lang="en-US" sz="2400" dirty="0">
                <a:latin typeface="Times New Roman" pitchFamily="18" charset="0"/>
              </a:rPr>
              <a:t> </a:t>
            </a:r>
            <a:r>
              <a:rPr lang="en-US" sz="2400" dirty="0" err="1">
                <a:latin typeface="Times New Roman" pitchFamily="18" charset="0"/>
              </a:rPr>
              <a:t>tính</a:t>
            </a:r>
            <a:r>
              <a:rPr lang="en-US" sz="2400" dirty="0">
                <a:latin typeface="Times New Roman" pitchFamily="18" charset="0"/>
              </a:rPr>
              <a:t> </a:t>
            </a:r>
            <a:r>
              <a:rPr lang="en-US" sz="2400" dirty="0" err="1">
                <a:latin typeface="Times New Roman" pitchFamily="18" charset="0"/>
              </a:rPr>
              <a:t>và</a:t>
            </a:r>
            <a:r>
              <a:rPr lang="en-US" sz="2400" dirty="0">
                <a:latin typeface="Times New Roman" pitchFamily="18" charset="0"/>
              </a:rPr>
              <a:t> </a:t>
            </a:r>
            <a:r>
              <a:rPr lang="en-US" sz="2400" dirty="0" err="1">
                <a:latin typeface="Times New Roman" pitchFamily="18" charset="0"/>
              </a:rPr>
              <a:t>đẳng</a:t>
            </a:r>
            <a:r>
              <a:rPr lang="en-US" sz="2400" dirty="0">
                <a:latin typeface="Times New Roman" pitchFamily="18" charset="0"/>
              </a:rPr>
              <a:t> </a:t>
            </a:r>
            <a:r>
              <a:rPr lang="en-US" sz="2400" dirty="0" err="1">
                <a:latin typeface="Times New Roman" pitchFamily="18" charset="0"/>
              </a:rPr>
              <a:t>hướng</a:t>
            </a:r>
            <a:r>
              <a:rPr lang="en-US" sz="2400" dirty="0">
                <a:latin typeface="Times New Roman" pitchFamily="18" charset="0"/>
              </a:rPr>
              <a:t> </a:t>
            </a:r>
            <a:r>
              <a:rPr lang="en-US" sz="2400" dirty="0" err="1">
                <a:latin typeface="Times New Roman" pitchFamily="18" charset="0"/>
              </a:rPr>
              <a:t>ánh</a:t>
            </a:r>
            <a:r>
              <a:rPr lang="en-US" sz="2400" dirty="0">
                <a:latin typeface="Times New Roman" pitchFamily="18" charset="0"/>
              </a:rPr>
              <a:t> </a:t>
            </a:r>
            <a:r>
              <a:rPr lang="en-US" sz="2400" dirty="0" err="1">
                <a:latin typeface="Times New Roman" pitchFamily="18" charset="0"/>
              </a:rPr>
              <a:t>sáng</a:t>
            </a:r>
            <a:r>
              <a:rPr lang="en-US" sz="2400" dirty="0">
                <a:latin typeface="Times New Roman" pitchFamily="18" charset="0"/>
              </a:rPr>
              <a:t> </a:t>
            </a:r>
            <a:r>
              <a:rPr lang="en-US" sz="2400" dirty="0" err="1">
                <a:latin typeface="Times New Roman" pitchFamily="18" charset="0"/>
              </a:rPr>
              <a:t>truyền</a:t>
            </a:r>
            <a:r>
              <a:rPr lang="en-US" sz="2400" dirty="0">
                <a:latin typeface="Times New Roman" pitchFamily="18" charset="0"/>
              </a:rPr>
              <a:t> </a:t>
            </a:r>
            <a:r>
              <a:rPr lang="en-US" sz="2400" dirty="0" err="1">
                <a:latin typeface="Times New Roman" pitchFamily="18" charset="0"/>
              </a:rPr>
              <a:t>theo</a:t>
            </a:r>
            <a:r>
              <a:rPr lang="en-US" sz="2400" dirty="0">
                <a:latin typeface="Times New Roman" pitchFamily="18" charset="0"/>
              </a:rPr>
              <a:t>  </a:t>
            </a:r>
            <a:r>
              <a:rPr lang="en-US" sz="2400" dirty="0" err="1">
                <a:latin typeface="Times New Roman" pitchFamily="18" charset="0"/>
              </a:rPr>
              <a:t>đường</a:t>
            </a:r>
            <a:r>
              <a:rPr lang="en-US" sz="2400" dirty="0">
                <a:latin typeface="Times New Roman" pitchFamily="18" charset="0"/>
              </a:rPr>
              <a:t> </a:t>
            </a:r>
            <a:r>
              <a:rPr lang="en-US" sz="2400" dirty="0" err="1">
                <a:latin typeface="Times New Roman" pitchFamily="18" charset="0"/>
              </a:rPr>
              <a:t>thẳng</a:t>
            </a:r>
            <a:endParaRPr lang="en-US" sz="2400" dirty="0"/>
          </a:p>
        </p:txBody>
      </p:sp>
      <p:sp>
        <p:nvSpPr>
          <p:cNvPr id="7" name="Rectangle 6"/>
          <p:cNvSpPr/>
          <p:nvPr/>
        </p:nvSpPr>
        <p:spPr>
          <a:xfrm>
            <a:off x="128954" y="1905000"/>
            <a:ext cx="5818265" cy="461665"/>
          </a:xfrm>
          <a:prstGeom prst="rect">
            <a:avLst/>
          </a:prstGeom>
        </p:spPr>
        <p:txBody>
          <a:bodyPr wrap="square">
            <a:spAutoFit/>
          </a:bodyPr>
          <a:lstStyle/>
          <a:p>
            <a:pPr marL="812800" indent="-812800"/>
            <a:r>
              <a:rPr lang="en-US" sz="2400" b="1" i="1" dirty="0">
                <a:solidFill>
                  <a:srgbClr val="0070C0"/>
                </a:solidFill>
                <a:latin typeface="Times New Roman" pitchFamily="18" charset="0"/>
              </a:rPr>
              <a:t>2.  </a:t>
            </a:r>
            <a:r>
              <a:rPr lang="en-US" sz="2400" b="1" i="1" dirty="0" err="1">
                <a:solidFill>
                  <a:srgbClr val="0070C0"/>
                </a:solidFill>
                <a:latin typeface="Times New Roman" pitchFamily="18" charset="0"/>
              </a:rPr>
              <a:t>Định</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luật</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phản</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xạ</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ánh</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sáng</a:t>
            </a:r>
            <a:r>
              <a:rPr lang="en-US" sz="2400" b="1" i="1" dirty="0">
                <a:latin typeface="Times New Roman" pitchFamily="18" charset="0"/>
              </a:rPr>
              <a:t>: </a:t>
            </a:r>
            <a:r>
              <a:rPr lang="en-US" sz="2400" i="1" dirty="0">
                <a:latin typeface="Times New Roman" pitchFamily="18" charset="0"/>
              </a:rPr>
              <a:t>i = i’</a:t>
            </a:r>
          </a:p>
        </p:txBody>
      </p:sp>
      <p:sp>
        <p:nvSpPr>
          <p:cNvPr id="23" name="Rectangle 22"/>
          <p:cNvSpPr/>
          <p:nvPr/>
        </p:nvSpPr>
        <p:spPr>
          <a:xfrm>
            <a:off x="76200" y="2438400"/>
            <a:ext cx="5818265" cy="461665"/>
          </a:xfrm>
          <a:prstGeom prst="rect">
            <a:avLst/>
          </a:prstGeom>
        </p:spPr>
        <p:txBody>
          <a:bodyPr wrap="square">
            <a:spAutoFit/>
          </a:bodyPr>
          <a:lstStyle/>
          <a:p>
            <a:pPr marL="812800" indent="-812800"/>
            <a:r>
              <a:rPr lang="en-US" sz="2400" b="1" i="1" dirty="0">
                <a:latin typeface="Times New Roman" pitchFamily="18" charset="0"/>
              </a:rPr>
              <a:t>3</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Định</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luật</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khúc</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xạ</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ánh</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sáng</a:t>
            </a:r>
            <a:r>
              <a:rPr lang="en-US" sz="2400" b="1" i="1" dirty="0">
                <a:latin typeface="Times New Roman" pitchFamily="18" charset="0"/>
              </a:rPr>
              <a:t>: </a:t>
            </a:r>
          </a:p>
        </p:txBody>
      </p:sp>
      <p:sp>
        <p:nvSpPr>
          <p:cNvPr id="24" name="Rectangle 23"/>
          <p:cNvSpPr/>
          <p:nvPr/>
        </p:nvSpPr>
        <p:spPr>
          <a:xfrm>
            <a:off x="1981200" y="2895600"/>
            <a:ext cx="2095445" cy="461665"/>
          </a:xfrm>
          <a:prstGeom prst="rect">
            <a:avLst/>
          </a:prstGeom>
        </p:spPr>
        <p:txBody>
          <a:bodyPr wrap="none">
            <a:spAutoFit/>
          </a:bodyPr>
          <a:lstStyle/>
          <a:p>
            <a:pPr marL="812800" indent="-812800"/>
            <a:r>
              <a:rPr lang="en-US" sz="2400" dirty="0" err="1">
                <a:latin typeface="Times New Roman" pitchFamily="18" charset="0"/>
              </a:rPr>
              <a:t>n</a:t>
            </a:r>
            <a:r>
              <a:rPr lang="en-US" sz="2400" baseline="-25000" dirty="0" err="1">
                <a:latin typeface="Times New Roman" pitchFamily="18" charset="0"/>
              </a:rPr>
              <a:t>t</a:t>
            </a:r>
            <a:r>
              <a:rPr lang="en-US" sz="2400" dirty="0" err="1">
                <a:latin typeface="Times New Roman" pitchFamily="18" charset="0"/>
              </a:rPr>
              <a:t>sini</a:t>
            </a:r>
            <a:r>
              <a:rPr lang="en-US" sz="2400" dirty="0">
                <a:latin typeface="Times New Roman" pitchFamily="18" charset="0"/>
              </a:rPr>
              <a:t> = </a:t>
            </a:r>
            <a:r>
              <a:rPr lang="en-US" sz="2400" dirty="0" err="1">
                <a:latin typeface="Times New Roman" pitchFamily="18" charset="0"/>
              </a:rPr>
              <a:t>n</a:t>
            </a:r>
            <a:r>
              <a:rPr lang="en-US" sz="2400" baseline="-25000" dirty="0" err="1">
                <a:latin typeface="Times New Roman" pitchFamily="18" charset="0"/>
              </a:rPr>
              <a:t>kx</a:t>
            </a:r>
            <a:r>
              <a:rPr lang="en-US" sz="2400" dirty="0">
                <a:latin typeface="Times New Roman" pitchFamily="18" charset="0"/>
              </a:rPr>
              <a:t> </a:t>
            </a:r>
            <a:r>
              <a:rPr lang="en-US" sz="2400" dirty="0" err="1">
                <a:latin typeface="Times New Roman" pitchFamily="18" charset="0"/>
              </a:rPr>
              <a:t>sinr</a:t>
            </a:r>
            <a:endParaRPr lang="en-US" sz="2400" dirty="0">
              <a:latin typeface="Times New Roman" pitchFamily="18" charset="0"/>
            </a:endParaRPr>
          </a:p>
        </p:txBody>
      </p:sp>
      <p:sp>
        <p:nvSpPr>
          <p:cNvPr id="25" name="Rectangle 24"/>
          <p:cNvSpPr/>
          <p:nvPr/>
        </p:nvSpPr>
        <p:spPr>
          <a:xfrm>
            <a:off x="304800" y="3352800"/>
            <a:ext cx="3905236" cy="461665"/>
          </a:xfrm>
          <a:prstGeom prst="rect">
            <a:avLst/>
          </a:prstGeom>
        </p:spPr>
        <p:txBody>
          <a:bodyPr wrap="none">
            <a:spAutoFit/>
          </a:bodyPr>
          <a:lstStyle/>
          <a:p>
            <a:pPr marL="812800" indent="-812800"/>
            <a:r>
              <a:rPr lang="en-US" sz="2400" dirty="0" err="1">
                <a:latin typeface="Times New Roman" pitchFamily="18" charset="0"/>
              </a:rPr>
              <a:t>Hiện</a:t>
            </a:r>
            <a:r>
              <a:rPr lang="en-US" sz="2400" dirty="0">
                <a:latin typeface="Times New Roman" pitchFamily="18" charset="0"/>
              </a:rPr>
              <a:t> </a:t>
            </a:r>
            <a:r>
              <a:rPr lang="en-US" sz="2400" dirty="0" err="1">
                <a:latin typeface="Times New Roman" pitchFamily="18" charset="0"/>
              </a:rPr>
              <a:t>tượng</a:t>
            </a:r>
            <a:r>
              <a:rPr lang="en-US" sz="2400" dirty="0">
                <a:latin typeface="Times New Roman" pitchFamily="18" charset="0"/>
              </a:rPr>
              <a:t> </a:t>
            </a:r>
            <a:r>
              <a:rPr lang="en-US" sz="2400" dirty="0" err="1">
                <a:latin typeface="Times New Roman" pitchFamily="18" charset="0"/>
              </a:rPr>
              <a:t>phản</a:t>
            </a:r>
            <a:r>
              <a:rPr lang="en-US" sz="2400" dirty="0">
                <a:latin typeface="Times New Roman" pitchFamily="18" charset="0"/>
              </a:rPr>
              <a:t> </a:t>
            </a:r>
            <a:r>
              <a:rPr lang="en-US" sz="2400" dirty="0" err="1">
                <a:latin typeface="Times New Roman" pitchFamily="18" charset="0"/>
              </a:rPr>
              <a:t>xạ</a:t>
            </a:r>
            <a:r>
              <a:rPr lang="en-US" sz="2400" dirty="0">
                <a:latin typeface="Times New Roman" pitchFamily="18" charset="0"/>
              </a:rPr>
              <a:t> </a:t>
            </a:r>
            <a:r>
              <a:rPr lang="en-US" sz="2400" dirty="0" err="1">
                <a:latin typeface="Times New Roman" pitchFamily="18" charset="0"/>
              </a:rPr>
              <a:t>toàn</a:t>
            </a:r>
            <a:r>
              <a:rPr lang="en-US" sz="2400" dirty="0">
                <a:latin typeface="Times New Roman" pitchFamily="18" charset="0"/>
              </a:rPr>
              <a:t> </a:t>
            </a:r>
            <a:r>
              <a:rPr lang="en-US" sz="2400" dirty="0" err="1">
                <a:latin typeface="Times New Roman" pitchFamily="18" charset="0"/>
              </a:rPr>
              <a:t>phần</a:t>
            </a:r>
            <a:endParaRPr lang="en-US" sz="2400" dirty="0">
              <a:latin typeface="Times New Roman" pitchFamily="18" charset="0"/>
            </a:endParaRPr>
          </a:p>
        </p:txBody>
      </p:sp>
      <p:sp>
        <p:nvSpPr>
          <p:cNvPr id="26" name="Rectangle 25"/>
          <p:cNvSpPr/>
          <p:nvPr/>
        </p:nvSpPr>
        <p:spPr>
          <a:xfrm>
            <a:off x="1524000" y="3810000"/>
            <a:ext cx="2836033" cy="461665"/>
          </a:xfrm>
          <a:prstGeom prst="rect">
            <a:avLst/>
          </a:prstGeom>
        </p:spPr>
        <p:txBody>
          <a:bodyPr wrap="none">
            <a:spAutoFit/>
          </a:bodyPr>
          <a:lstStyle/>
          <a:p>
            <a:pPr marL="812800" indent="-812800"/>
            <a:r>
              <a:rPr lang="en-US" sz="2400" dirty="0" err="1">
                <a:latin typeface="Times New Roman" pitchFamily="18" charset="0"/>
              </a:rPr>
              <a:t>n</a:t>
            </a:r>
            <a:r>
              <a:rPr lang="en-US" sz="2400" baseline="-25000" dirty="0" err="1">
                <a:latin typeface="Times New Roman" pitchFamily="18" charset="0"/>
              </a:rPr>
              <a:t>t</a:t>
            </a:r>
            <a:r>
              <a:rPr lang="en-US" sz="2400" dirty="0">
                <a:latin typeface="Times New Roman" pitchFamily="18" charset="0"/>
              </a:rPr>
              <a:t>&gt; </a:t>
            </a:r>
            <a:r>
              <a:rPr lang="en-US" sz="2400" dirty="0" err="1">
                <a:latin typeface="Times New Roman" pitchFamily="18" charset="0"/>
              </a:rPr>
              <a:t>n</a:t>
            </a:r>
            <a:r>
              <a:rPr lang="en-US" sz="2400" baseline="-25000" dirty="0" err="1">
                <a:latin typeface="Times New Roman" pitchFamily="18" charset="0"/>
              </a:rPr>
              <a:t>kx</a:t>
            </a:r>
            <a:r>
              <a:rPr lang="en-US" sz="2400" dirty="0">
                <a:latin typeface="Times New Roman" pitchFamily="18" charset="0"/>
              </a:rPr>
              <a:t>, </a:t>
            </a:r>
            <a:r>
              <a:rPr lang="en-US" sz="2400" dirty="0" err="1">
                <a:latin typeface="Times New Roman" pitchFamily="18" charset="0"/>
              </a:rPr>
              <a:t>sini</a:t>
            </a:r>
            <a:r>
              <a:rPr lang="en-US" sz="2400" baseline="-25000" dirty="0" err="1">
                <a:latin typeface="Times New Roman" pitchFamily="18" charset="0"/>
              </a:rPr>
              <a:t>gh</a:t>
            </a:r>
            <a:r>
              <a:rPr lang="en-US" sz="2400" dirty="0">
                <a:latin typeface="Times New Roman" pitchFamily="18" charset="0"/>
              </a:rPr>
              <a:t> = </a:t>
            </a:r>
            <a:r>
              <a:rPr lang="en-US" sz="2400" dirty="0" err="1">
                <a:latin typeface="Times New Roman" pitchFamily="18" charset="0"/>
              </a:rPr>
              <a:t>n</a:t>
            </a:r>
            <a:r>
              <a:rPr lang="en-US" sz="2400" baseline="-25000" dirty="0" err="1">
                <a:latin typeface="Times New Roman" pitchFamily="18" charset="0"/>
              </a:rPr>
              <a:t>kx</a:t>
            </a:r>
            <a:r>
              <a:rPr lang="en-US" sz="2400" dirty="0">
                <a:latin typeface="Times New Roman" pitchFamily="18" charset="0"/>
              </a:rPr>
              <a:t>/</a:t>
            </a:r>
            <a:r>
              <a:rPr lang="en-US" sz="2400" dirty="0" err="1">
                <a:latin typeface="Times New Roman" pitchFamily="18" charset="0"/>
              </a:rPr>
              <a:t>n</a:t>
            </a:r>
            <a:r>
              <a:rPr lang="en-US" sz="2400" baseline="-25000" dirty="0" err="1">
                <a:latin typeface="Times New Roman" pitchFamily="18" charset="0"/>
              </a:rPr>
              <a:t>t</a:t>
            </a:r>
            <a:endParaRPr lang="en-US" sz="2400" baseline="-25000" dirty="0">
              <a:latin typeface="Times New Roman" pitchFamily="18" charset="0"/>
            </a:endParaRPr>
          </a:p>
        </p:txBody>
      </p:sp>
      <p:sp>
        <p:nvSpPr>
          <p:cNvPr id="27" name="Rectangle 26"/>
          <p:cNvSpPr/>
          <p:nvPr/>
        </p:nvSpPr>
        <p:spPr>
          <a:xfrm>
            <a:off x="333569" y="4345633"/>
            <a:ext cx="4543231" cy="461665"/>
          </a:xfrm>
          <a:prstGeom prst="rect">
            <a:avLst/>
          </a:prstGeom>
        </p:spPr>
        <p:txBody>
          <a:bodyPr wrap="none">
            <a:spAutoFit/>
          </a:bodyPr>
          <a:lstStyle/>
          <a:p>
            <a:pPr marL="812800" indent="-812800"/>
            <a:r>
              <a:rPr lang="en-US" sz="2400" dirty="0" err="1">
                <a:latin typeface="Times New Roman" pitchFamily="18" charset="0"/>
              </a:rPr>
              <a:t>Chiết</a:t>
            </a:r>
            <a:r>
              <a:rPr lang="en-US" sz="2400" dirty="0">
                <a:latin typeface="Times New Roman" pitchFamily="18" charset="0"/>
              </a:rPr>
              <a:t> </a:t>
            </a:r>
            <a:r>
              <a:rPr lang="en-US" sz="2400" dirty="0" err="1">
                <a:latin typeface="Times New Roman" pitchFamily="18" charset="0"/>
              </a:rPr>
              <a:t>suất</a:t>
            </a:r>
            <a:r>
              <a:rPr lang="en-US" sz="2400" dirty="0">
                <a:latin typeface="Times New Roman" pitchFamily="18" charset="0"/>
              </a:rPr>
              <a:t> </a:t>
            </a:r>
            <a:r>
              <a:rPr lang="en-US" sz="2400" dirty="0" err="1">
                <a:latin typeface="Times New Roman" pitchFamily="18" charset="0"/>
              </a:rPr>
              <a:t>tuyệt</a:t>
            </a:r>
            <a:r>
              <a:rPr lang="en-US" sz="2400" dirty="0">
                <a:latin typeface="Times New Roman" pitchFamily="18" charset="0"/>
              </a:rPr>
              <a:t> </a:t>
            </a:r>
            <a:r>
              <a:rPr lang="en-US" sz="2400" dirty="0" err="1">
                <a:latin typeface="Times New Roman" pitchFamily="18" charset="0"/>
              </a:rPr>
              <a:t>đối</a:t>
            </a:r>
            <a:r>
              <a:rPr lang="en-US" sz="2400" dirty="0">
                <a:latin typeface="Times New Roman" pitchFamily="18" charset="0"/>
              </a:rPr>
              <a:t> </a:t>
            </a:r>
            <a:r>
              <a:rPr lang="en-US" sz="2400" dirty="0" err="1">
                <a:latin typeface="Times New Roman" pitchFamily="18" charset="0"/>
              </a:rPr>
              <a:t>của</a:t>
            </a:r>
            <a:r>
              <a:rPr lang="en-US" sz="2400" dirty="0">
                <a:latin typeface="Times New Roman" pitchFamily="18" charset="0"/>
              </a:rPr>
              <a:t> </a:t>
            </a:r>
            <a:r>
              <a:rPr lang="en-US" sz="2400" dirty="0" err="1">
                <a:latin typeface="Times New Roman" pitchFamily="18" charset="0"/>
              </a:rPr>
              <a:t>môi</a:t>
            </a:r>
            <a:r>
              <a:rPr lang="en-US" sz="2400" dirty="0">
                <a:latin typeface="Times New Roman" pitchFamily="18" charset="0"/>
              </a:rPr>
              <a:t> </a:t>
            </a:r>
            <a:r>
              <a:rPr lang="en-US" sz="2400" dirty="0" err="1">
                <a:latin typeface="Times New Roman" pitchFamily="18" charset="0"/>
              </a:rPr>
              <a:t>trường</a:t>
            </a:r>
            <a:endParaRPr lang="en-US" sz="2400" dirty="0">
              <a:latin typeface="Times New Roman" pitchFamily="18" charset="0"/>
            </a:endParaRPr>
          </a:p>
        </p:txBody>
      </p:sp>
      <p:sp>
        <p:nvSpPr>
          <p:cNvPr id="28" name="Rectangle 27"/>
          <p:cNvSpPr/>
          <p:nvPr/>
        </p:nvSpPr>
        <p:spPr>
          <a:xfrm>
            <a:off x="2034395" y="4920734"/>
            <a:ext cx="1040670" cy="461665"/>
          </a:xfrm>
          <a:prstGeom prst="rect">
            <a:avLst/>
          </a:prstGeom>
        </p:spPr>
        <p:txBody>
          <a:bodyPr wrap="none">
            <a:spAutoFit/>
          </a:bodyPr>
          <a:lstStyle/>
          <a:p>
            <a:pPr marL="812800" indent="-812800"/>
            <a:r>
              <a:rPr lang="en-US" sz="2400" dirty="0">
                <a:latin typeface="Times New Roman" pitchFamily="18" charset="0"/>
              </a:rPr>
              <a:t>n = c/v</a:t>
            </a:r>
          </a:p>
        </p:txBody>
      </p:sp>
      <p:pic>
        <p:nvPicPr>
          <p:cNvPr id="31" name="Picture 3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40059" y="2610237"/>
            <a:ext cx="4185151" cy="2647563"/>
          </a:xfrm>
          <a:prstGeom prst="rect">
            <a:avLst/>
          </a:prstGeom>
        </p:spPr>
      </p:pic>
    </p:spTree>
    <p:extLst>
      <p:ext uri="{BB962C8B-B14F-4D97-AF65-F5344CB8AC3E}">
        <p14:creationId xmlns:p14="http://schemas.microsoft.com/office/powerpoint/2010/main" val="4207177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anim calcmode="lin" valueType="num">
                                      <p:cBhvr additive="base">
                                        <p:cTn id="19" dur="500" fill="hold"/>
                                        <p:tgtEl>
                                          <p:spTgt spid="23"/>
                                        </p:tgtEl>
                                        <p:attrNameLst>
                                          <p:attrName>ppt_x</p:attrName>
                                        </p:attrNameLst>
                                      </p:cBhvr>
                                      <p:tavLst>
                                        <p:tav tm="0">
                                          <p:val>
                                            <p:strVal val="#ppt_x"/>
                                          </p:val>
                                        </p:tav>
                                        <p:tav tm="100000">
                                          <p:val>
                                            <p:strVal val="#ppt_x"/>
                                          </p:val>
                                        </p:tav>
                                      </p:tavLst>
                                    </p:anim>
                                    <p:anim calcmode="lin" valueType="num">
                                      <p:cBhvr additive="base">
                                        <p:cTn id="20"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fade">
                                      <p:cBhvr>
                                        <p:cTn id="25" dur="500"/>
                                        <p:tgtEl>
                                          <p:spTgt spid="31"/>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fade">
                                      <p:cBhvr>
                                        <p:cTn id="30" dur="500"/>
                                        <p:tgtEl>
                                          <p:spTgt spid="24"/>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anim calcmode="lin" valueType="num">
                                      <p:cBhvr additive="base">
                                        <p:cTn id="35" dur="500" fill="hold"/>
                                        <p:tgtEl>
                                          <p:spTgt spid="25"/>
                                        </p:tgtEl>
                                        <p:attrNameLst>
                                          <p:attrName>ppt_x</p:attrName>
                                        </p:attrNameLst>
                                      </p:cBhvr>
                                      <p:tavLst>
                                        <p:tav tm="0">
                                          <p:val>
                                            <p:strVal val="#ppt_x"/>
                                          </p:val>
                                        </p:tav>
                                        <p:tav tm="100000">
                                          <p:val>
                                            <p:strVal val="#ppt_x"/>
                                          </p:val>
                                        </p:tav>
                                      </p:tavLst>
                                    </p:anim>
                                    <p:anim calcmode="lin" valueType="num">
                                      <p:cBhvr additive="base">
                                        <p:cTn id="36"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fade">
                                      <p:cBhvr>
                                        <p:cTn id="41" dur="1000"/>
                                        <p:tgtEl>
                                          <p:spTgt spid="26"/>
                                        </p:tgtEl>
                                      </p:cBhvr>
                                    </p:animEffect>
                                    <p:anim calcmode="lin" valueType="num">
                                      <p:cBhvr>
                                        <p:cTn id="42" dur="1000" fill="hold"/>
                                        <p:tgtEl>
                                          <p:spTgt spid="26"/>
                                        </p:tgtEl>
                                        <p:attrNameLst>
                                          <p:attrName>ppt_x</p:attrName>
                                        </p:attrNameLst>
                                      </p:cBhvr>
                                      <p:tavLst>
                                        <p:tav tm="0">
                                          <p:val>
                                            <p:strVal val="#ppt_x"/>
                                          </p:val>
                                        </p:tav>
                                        <p:tav tm="100000">
                                          <p:val>
                                            <p:strVal val="#ppt_x"/>
                                          </p:val>
                                        </p:tav>
                                      </p:tavLst>
                                    </p:anim>
                                    <p:anim calcmode="lin" valueType="num">
                                      <p:cBhvr>
                                        <p:cTn id="43"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27"/>
                                        </p:tgtEl>
                                        <p:attrNameLst>
                                          <p:attrName>style.visibility</p:attrName>
                                        </p:attrNameLst>
                                      </p:cBhvr>
                                      <p:to>
                                        <p:strVal val="visible"/>
                                      </p:to>
                                    </p:set>
                                    <p:anim calcmode="lin" valueType="num">
                                      <p:cBhvr additive="base">
                                        <p:cTn id="48" dur="500" fill="hold"/>
                                        <p:tgtEl>
                                          <p:spTgt spid="27"/>
                                        </p:tgtEl>
                                        <p:attrNameLst>
                                          <p:attrName>ppt_x</p:attrName>
                                        </p:attrNameLst>
                                      </p:cBhvr>
                                      <p:tavLst>
                                        <p:tav tm="0">
                                          <p:val>
                                            <p:strVal val="#ppt_x"/>
                                          </p:val>
                                        </p:tav>
                                        <p:tav tm="100000">
                                          <p:val>
                                            <p:strVal val="#ppt_x"/>
                                          </p:val>
                                        </p:tav>
                                      </p:tavLst>
                                    </p:anim>
                                    <p:anim calcmode="lin" valueType="num">
                                      <p:cBhvr additive="base">
                                        <p:cTn id="49"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28"/>
                                        </p:tgtEl>
                                        <p:attrNameLst>
                                          <p:attrName>style.visibility</p:attrName>
                                        </p:attrNameLst>
                                      </p:cBhvr>
                                      <p:to>
                                        <p:strVal val="visible"/>
                                      </p:to>
                                    </p:set>
                                    <p:anim calcmode="lin" valueType="num">
                                      <p:cBhvr additive="base">
                                        <p:cTn id="54" dur="500" fill="hold"/>
                                        <p:tgtEl>
                                          <p:spTgt spid="28"/>
                                        </p:tgtEl>
                                        <p:attrNameLst>
                                          <p:attrName>ppt_x</p:attrName>
                                        </p:attrNameLst>
                                      </p:cBhvr>
                                      <p:tavLst>
                                        <p:tav tm="0">
                                          <p:val>
                                            <p:strVal val="#ppt_x"/>
                                          </p:val>
                                        </p:tav>
                                        <p:tav tm="100000">
                                          <p:val>
                                            <p:strVal val="#ppt_x"/>
                                          </p:val>
                                        </p:tav>
                                      </p:tavLst>
                                    </p:anim>
                                    <p:anim calcmode="lin" valueType="num">
                                      <p:cBhvr additive="base">
                                        <p:cTn id="55"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23" grpId="0"/>
      <p:bldP spid="24" grpId="0"/>
      <p:bldP spid="25" grpId="0"/>
      <p:bldP spid="26" grpId="0"/>
      <p:bldP spid="27" grpId="0"/>
      <p:bldP spid="2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 y="0"/>
            <a:ext cx="8915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0"/>
            <a:ext cx="89154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§1. GIAO THOA ÁNH SÁNG</a:t>
            </a:r>
          </a:p>
        </p:txBody>
      </p:sp>
      <p:sp>
        <p:nvSpPr>
          <p:cNvPr id="2" name="Rectangle 1"/>
          <p:cNvSpPr/>
          <p:nvPr/>
        </p:nvSpPr>
        <p:spPr>
          <a:xfrm>
            <a:off x="152400" y="609600"/>
            <a:ext cx="5938605" cy="461665"/>
          </a:xfrm>
          <a:prstGeom prst="rect">
            <a:avLst/>
          </a:prstGeom>
        </p:spPr>
        <p:txBody>
          <a:bodyPr wrap="square">
            <a:spAutoFit/>
          </a:bodyPr>
          <a:lstStyle/>
          <a:p>
            <a:pPr marL="609600" indent="-609600"/>
            <a:r>
              <a:rPr lang="en-US" sz="2400" b="1" dirty="0">
                <a:solidFill>
                  <a:srgbClr val="FF0000"/>
                </a:solidFill>
                <a:latin typeface="Times New Roman" pitchFamily="18" charset="0"/>
              </a:rPr>
              <a:t>II. </a:t>
            </a:r>
            <a:r>
              <a:rPr lang="en-US" sz="2400" b="1" dirty="0" err="1">
                <a:solidFill>
                  <a:srgbClr val="FF0000"/>
                </a:solidFill>
                <a:latin typeface="Times New Roman" pitchFamily="18" charset="0"/>
              </a:rPr>
              <a:t>Cơ</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sở</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của</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quang</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học</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sóng</a:t>
            </a:r>
            <a:endParaRPr lang="en-US" sz="2400" b="1" dirty="0">
              <a:solidFill>
                <a:srgbClr val="FF0000"/>
              </a:solidFill>
              <a:latin typeface="Times New Roman" pitchFamily="18" charset="0"/>
            </a:endParaRPr>
          </a:p>
        </p:txBody>
      </p:sp>
      <p:sp>
        <p:nvSpPr>
          <p:cNvPr id="3" name="Rectangle 2"/>
          <p:cNvSpPr/>
          <p:nvPr/>
        </p:nvSpPr>
        <p:spPr>
          <a:xfrm>
            <a:off x="152400" y="1078468"/>
            <a:ext cx="6304719" cy="461665"/>
          </a:xfrm>
          <a:prstGeom prst="rect">
            <a:avLst/>
          </a:prstGeom>
        </p:spPr>
        <p:txBody>
          <a:bodyPr wrap="square">
            <a:spAutoFit/>
          </a:bodyPr>
          <a:lstStyle/>
          <a:p>
            <a:pPr marL="609600" indent="-609600"/>
            <a:r>
              <a:rPr lang="en-US" sz="2400" b="1" i="1" dirty="0">
                <a:latin typeface="Times New Roman" pitchFamily="18" charset="0"/>
              </a:rPr>
              <a:t>1. </a:t>
            </a:r>
            <a:r>
              <a:rPr lang="en-US" sz="2400" b="1" i="1" dirty="0" err="1">
                <a:solidFill>
                  <a:srgbClr val="0070C0"/>
                </a:solidFill>
                <a:latin typeface="Times New Roman" pitchFamily="18" charset="0"/>
              </a:rPr>
              <a:t>Thuyết</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điện</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từ</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về</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ánh</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sáng</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của</a:t>
            </a:r>
            <a:r>
              <a:rPr lang="en-US" sz="2400" b="1" i="1" dirty="0">
                <a:solidFill>
                  <a:srgbClr val="0070C0"/>
                </a:solidFill>
                <a:latin typeface="Times New Roman" pitchFamily="18" charset="0"/>
              </a:rPr>
              <a:t> Maxwell</a:t>
            </a:r>
          </a:p>
        </p:txBody>
      </p:sp>
      <p:sp>
        <p:nvSpPr>
          <p:cNvPr id="6" name="Rectangle 5"/>
          <p:cNvSpPr/>
          <p:nvPr/>
        </p:nvSpPr>
        <p:spPr>
          <a:xfrm>
            <a:off x="228600" y="1524000"/>
            <a:ext cx="5240215" cy="830997"/>
          </a:xfrm>
          <a:prstGeom prst="rect">
            <a:avLst/>
          </a:prstGeom>
        </p:spPr>
        <p:txBody>
          <a:bodyPr wrap="square">
            <a:spAutoFit/>
          </a:bodyPr>
          <a:lstStyle/>
          <a:p>
            <a:r>
              <a:rPr lang="en-US" sz="2400" dirty="0">
                <a:latin typeface="Times New Roman" pitchFamily="18" charset="0"/>
              </a:rPr>
              <a:t>- </a:t>
            </a:r>
            <a:r>
              <a:rPr lang="en-US" sz="2400" dirty="0" err="1">
                <a:latin typeface="Times New Roman" pitchFamily="18" charset="0"/>
              </a:rPr>
              <a:t>Ánh</a:t>
            </a:r>
            <a:r>
              <a:rPr lang="en-US" sz="2400" dirty="0">
                <a:latin typeface="Times New Roman" pitchFamily="18" charset="0"/>
              </a:rPr>
              <a:t> </a:t>
            </a:r>
            <a:r>
              <a:rPr lang="en-US" sz="2400" dirty="0" err="1">
                <a:latin typeface="Times New Roman" pitchFamily="18" charset="0"/>
              </a:rPr>
              <a:t>sáng</a:t>
            </a:r>
            <a:r>
              <a:rPr lang="en-US" sz="2400" dirty="0">
                <a:latin typeface="Times New Roman" pitchFamily="18" charset="0"/>
              </a:rPr>
              <a:t> </a:t>
            </a:r>
            <a:r>
              <a:rPr lang="en-US" sz="2400" dirty="0" err="1">
                <a:latin typeface="Times New Roman" pitchFamily="18" charset="0"/>
              </a:rPr>
              <a:t>là</a:t>
            </a:r>
            <a:r>
              <a:rPr lang="en-US" sz="2400" dirty="0">
                <a:latin typeface="Times New Roman" pitchFamily="18" charset="0"/>
              </a:rPr>
              <a:t> </a:t>
            </a:r>
            <a:r>
              <a:rPr lang="en-US" sz="2400" dirty="0" err="1">
                <a:latin typeface="Times New Roman" pitchFamily="18" charset="0"/>
              </a:rPr>
              <a:t>sóng</a:t>
            </a:r>
            <a:r>
              <a:rPr lang="en-US" sz="2400" dirty="0">
                <a:latin typeface="Times New Roman" pitchFamily="18" charset="0"/>
              </a:rPr>
              <a:t> </a:t>
            </a:r>
            <a:r>
              <a:rPr lang="en-US" sz="2400" dirty="0" err="1">
                <a:latin typeface="Times New Roman" pitchFamily="18" charset="0"/>
              </a:rPr>
              <a:t>điện</a:t>
            </a:r>
            <a:r>
              <a:rPr lang="en-US" sz="2400" dirty="0">
                <a:latin typeface="Times New Roman" pitchFamily="18" charset="0"/>
              </a:rPr>
              <a:t> </a:t>
            </a:r>
            <a:r>
              <a:rPr lang="en-US" sz="2400" dirty="0" err="1">
                <a:latin typeface="Times New Roman" pitchFamily="18" charset="0"/>
              </a:rPr>
              <a:t>từ</a:t>
            </a:r>
            <a:r>
              <a:rPr lang="en-US" sz="2400" dirty="0">
                <a:latin typeface="Times New Roman" pitchFamily="18" charset="0"/>
              </a:rPr>
              <a:t>, </a:t>
            </a:r>
            <a:r>
              <a:rPr lang="en-US" sz="2400" dirty="0" err="1">
                <a:latin typeface="Times New Roman" pitchFamily="18" charset="0"/>
              </a:rPr>
              <a:t>sóng</a:t>
            </a:r>
            <a:r>
              <a:rPr lang="en-US" sz="2400" dirty="0">
                <a:latin typeface="Times New Roman" pitchFamily="18" charset="0"/>
              </a:rPr>
              <a:t> </a:t>
            </a:r>
            <a:r>
              <a:rPr lang="en-US" sz="2400" dirty="0" err="1">
                <a:latin typeface="Times New Roman" pitchFamily="18" charset="0"/>
              </a:rPr>
              <a:t>ánh</a:t>
            </a:r>
            <a:r>
              <a:rPr lang="en-US" sz="2400" dirty="0">
                <a:latin typeface="Times New Roman" pitchFamily="18" charset="0"/>
              </a:rPr>
              <a:t> </a:t>
            </a:r>
            <a:r>
              <a:rPr lang="en-US" sz="2400" dirty="0" err="1">
                <a:latin typeface="Times New Roman" pitchFamily="18" charset="0"/>
              </a:rPr>
              <a:t>sáng</a:t>
            </a:r>
            <a:r>
              <a:rPr lang="en-US" sz="2400" dirty="0">
                <a:latin typeface="Times New Roman" pitchFamily="18" charset="0"/>
              </a:rPr>
              <a:t> </a:t>
            </a:r>
            <a:r>
              <a:rPr lang="en-US" sz="2400" dirty="0" err="1">
                <a:latin typeface="Times New Roman" pitchFamily="18" charset="0"/>
              </a:rPr>
              <a:t>là</a:t>
            </a:r>
            <a:r>
              <a:rPr lang="en-US" sz="2400" dirty="0">
                <a:latin typeface="Times New Roman" pitchFamily="18" charset="0"/>
              </a:rPr>
              <a:t> </a:t>
            </a:r>
            <a:r>
              <a:rPr lang="en-US" sz="2400" dirty="0" err="1">
                <a:latin typeface="Times New Roman" pitchFamily="18" charset="0"/>
              </a:rPr>
              <a:t>sóng</a:t>
            </a:r>
            <a:r>
              <a:rPr lang="en-US" sz="2400" dirty="0">
                <a:latin typeface="Times New Roman" pitchFamily="18" charset="0"/>
              </a:rPr>
              <a:t> </a:t>
            </a:r>
            <a:r>
              <a:rPr lang="en-US" sz="2400" dirty="0" err="1">
                <a:latin typeface="Times New Roman" pitchFamily="18" charset="0"/>
              </a:rPr>
              <a:t>ngang</a:t>
            </a:r>
            <a:endParaRPr lang="en-US" sz="2400" dirty="0">
              <a:latin typeface="Times New Roman" pitchFamily="18" charset="0"/>
            </a:endParaRPr>
          </a:p>
        </p:txBody>
      </p:sp>
      <p:pic>
        <p:nvPicPr>
          <p:cNvPr id="7"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68815" y="1447800"/>
            <a:ext cx="3009093" cy="1854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228600" y="2354998"/>
            <a:ext cx="5240215" cy="1569660"/>
          </a:xfrm>
          <a:prstGeom prst="rect">
            <a:avLst/>
          </a:prstGeom>
        </p:spPr>
        <p:txBody>
          <a:bodyPr wrap="square">
            <a:spAutoFit/>
          </a:bodyPr>
          <a:lstStyle/>
          <a:p>
            <a:r>
              <a:rPr lang="en-US" sz="2400" dirty="0">
                <a:latin typeface="Times New Roman" pitchFamily="18" charset="0"/>
              </a:rPr>
              <a:t>- </a:t>
            </a:r>
            <a:r>
              <a:rPr lang="en-US" sz="2400" dirty="0" err="1">
                <a:latin typeface="Times New Roman" pitchFamily="18" charset="0"/>
              </a:rPr>
              <a:t>Khi</a:t>
            </a:r>
            <a:r>
              <a:rPr lang="en-US" sz="2400" dirty="0">
                <a:latin typeface="Times New Roman" pitchFamily="18" charset="0"/>
              </a:rPr>
              <a:t> </a:t>
            </a:r>
            <a:r>
              <a:rPr lang="en-US" sz="2400" dirty="0" err="1">
                <a:latin typeface="Times New Roman" pitchFamily="18" charset="0"/>
              </a:rPr>
              <a:t>truyền</a:t>
            </a:r>
            <a:r>
              <a:rPr lang="en-US" sz="2400" dirty="0">
                <a:latin typeface="Times New Roman" pitchFamily="18" charset="0"/>
              </a:rPr>
              <a:t> </a:t>
            </a:r>
            <a:r>
              <a:rPr lang="en-US" sz="2400" dirty="0" err="1">
                <a:latin typeface="Times New Roman" pitchFamily="18" charset="0"/>
              </a:rPr>
              <a:t>đến</a:t>
            </a:r>
            <a:r>
              <a:rPr lang="en-US" sz="2400" dirty="0">
                <a:latin typeface="Times New Roman" pitchFamily="18" charset="0"/>
              </a:rPr>
              <a:t> </a:t>
            </a:r>
            <a:r>
              <a:rPr lang="en-US" sz="2400" dirty="0" err="1">
                <a:latin typeface="Times New Roman" pitchFamily="18" charset="0"/>
              </a:rPr>
              <a:t>mắt</a:t>
            </a:r>
            <a:r>
              <a:rPr lang="en-US" sz="2400" dirty="0">
                <a:latin typeface="Times New Roman" pitchFamily="18" charset="0"/>
              </a:rPr>
              <a:t>, </a:t>
            </a:r>
            <a:r>
              <a:rPr lang="en-US" sz="2400" dirty="0" err="1">
                <a:latin typeface="Times New Roman" pitchFamily="18" charset="0"/>
              </a:rPr>
              <a:t>véc</a:t>
            </a:r>
            <a:r>
              <a:rPr lang="en-US" sz="2400" dirty="0">
                <a:latin typeface="Times New Roman" pitchFamily="18" charset="0"/>
              </a:rPr>
              <a:t> </a:t>
            </a:r>
            <a:r>
              <a:rPr lang="en-US" sz="2400" dirty="0" err="1">
                <a:latin typeface="Times New Roman" pitchFamily="18" charset="0"/>
              </a:rPr>
              <a:t>tơ</a:t>
            </a:r>
            <a:r>
              <a:rPr lang="en-US" sz="2400" dirty="0">
                <a:latin typeface="Times New Roman" pitchFamily="18" charset="0"/>
              </a:rPr>
              <a:t> </a:t>
            </a:r>
            <a:r>
              <a:rPr lang="en-US" sz="2400" dirty="0" err="1">
                <a:latin typeface="Times New Roman" pitchFamily="18" charset="0"/>
              </a:rPr>
              <a:t>cường</a:t>
            </a:r>
            <a:r>
              <a:rPr lang="en-US" sz="2400" dirty="0">
                <a:latin typeface="Times New Roman" pitchFamily="18" charset="0"/>
              </a:rPr>
              <a:t> </a:t>
            </a:r>
            <a:r>
              <a:rPr lang="en-US" sz="2400" dirty="0" err="1">
                <a:latin typeface="Times New Roman" pitchFamily="18" charset="0"/>
              </a:rPr>
              <a:t>độ</a:t>
            </a:r>
            <a:r>
              <a:rPr lang="en-US" sz="2400" dirty="0">
                <a:latin typeface="Times New Roman" pitchFamily="18" charset="0"/>
              </a:rPr>
              <a:t> </a:t>
            </a:r>
            <a:r>
              <a:rPr lang="en-US" sz="2400" dirty="0" err="1">
                <a:latin typeface="Times New Roman" pitchFamily="18" charset="0"/>
              </a:rPr>
              <a:t>điện</a:t>
            </a:r>
            <a:r>
              <a:rPr lang="en-US" sz="2400" dirty="0">
                <a:latin typeface="Times New Roman" pitchFamily="18" charset="0"/>
              </a:rPr>
              <a:t> </a:t>
            </a:r>
            <a:r>
              <a:rPr lang="en-US" sz="2400" dirty="0" err="1">
                <a:latin typeface="Times New Roman" pitchFamily="18" charset="0"/>
              </a:rPr>
              <a:t>tường</a:t>
            </a:r>
            <a:r>
              <a:rPr lang="en-US" sz="2400" dirty="0">
                <a:latin typeface="Times New Roman" pitchFamily="18" charset="0"/>
              </a:rPr>
              <a:t> </a:t>
            </a:r>
            <a:r>
              <a:rPr lang="en-US" sz="2400" dirty="0" err="1">
                <a:latin typeface="Times New Roman" pitchFamily="18" charset="0"/>
              </a:rPr>
              <a:t>tác</a:t>
            </a:r>
            <a:r>
              <a:rPr lang="en-US" sz="2400" dirty="0">
                <a:latin typeface="Times New Roman" pitchFamily="18" charset="0"/>
              </a:rPr>
              <a:t> </a:t>
            </a:r>
            <a:r>
              <a:rPr lang="en-US" sz="2400" dirty="0" err="1">
                <a:latin typeface="Times New Roman" pitchFamily="18" charset="0"/>
              </a:rPr>
              <a:t>dụng</a:t>
            </a:r>
            <a:r>
              <a:rPr lang="en-US" sz="2400" dirty="0">
                <a:latin typeface="Times New Roman" pitchFamily="18" charset="0"/>
              </a:rPr>
              <a:t> </a:t>
            </a:r>
            <a:r>
              <a:rPr lang="en-US" sz="2400" dirty="0" err="1">
                <a:latin typeface="Times New Roman" pitchFamily="18" charset="0"/>
              </a:rPr>
              <a:t>lên</a:t>
            </a:r>
            <a:r>
              <a:rPr lang="en-US" sz="2400" dirty="0">
                <a:latin typeface="Times New Roman" pitchFamily="18" charset="0"/>
              </a:rPr>
              <a:t> </a:t>
            </a:r>
            <a:r>
              <a:rPr lang="en-US" sz="2400" dirty="0" err="1">
                <a:latin typeface="Times New Roman" pitchFamily="18" charset="0"/>
              </a:rPr>
              <a:t>võng</a:t>
            </a:r>
            <a:r>
              <a:rPr lang="en-US" sz="2400" dirty="0">
                <a:latin typeface="Times New Roman" pitchFamily="18" charset="0"/>
              </a:rPr>
              <a:t> </a:t>
            </a:r>
            <a:r>
              <a:rPr lang="en-US" sz="2400" dirty="0" err="1">
                <a:latin typeface="Times New Roman" pitchFamily="18" charset="0"/>
              </a:rPr>
              <a:t>mạc</a:t>
            </a:r>
            <a:r>
              <a:rPr lang="en-US" sz="2400" dirty="0">
                <a:latin typeface="Times New Roman" pitchFamily="18" charset="0"/>
              </a:rPr>
              <a:t> </a:t>
            </a:r>
            <a:r>
              <a:rPr lang="en-US" sz="2400" dirty="0" err="1">
                <a:latin typeface="Times New Roman" pitchFamily="18" charset="0"/>
              </a:rPr>
              <a:t>gây</a:t>
            </a:r>
            <a:r>
              <a:rPr lang="en-US" sz="2400" dirty="0">
                <a:latin typeface="Times New Roman" pitchFamily="18" charset="0"/>
              </a:rPr>
              <a:t> </a:t>
            </a:r>
            <a:r>
              <a:rPr lang="en-US" sz="2400" dirty="0" err="1">
                <a:latin typeface="Times New Roman" pitchFamily="18" charset="0"/>
              </a:rPr>
              <a:t>ra</a:t>
            </a:r>
            <a:r>
              <a:rPr lang="en-US" sz="2400" dirty="0">
                <a:latin typeface="Times New Roman" pitchFamily="18" charset="0"/>
              </a:rPr>
              <a:t> </a:t>
            </a:r>
            <a:r>
              <a:rPr lang="en-US" sz="2400" dirty="0" err="1">
                <a:latin typeface="Times New Roman" pitchFamily="18" charset="0"/>
              </a:rPr>
              <a:t>cảm</a:t>
            </a:r>
            <a:r>
              <a:rPr lang="en-US" sz="2400" dirty="0">
                <a:latin typeface="Times New Roman" pitchFamily="18" charset="0"/>
              </a:rPr>
              <a:t> </a:t>
            </a:r>
            <a:r>
              <a:rPr lang="en-US" sz="2400" dirty="0" err="1">
                <a:latin typeface="Times New Roman" pitchFamily="18" charset="0"/>
              </a:rPr>
              <a:t>giác</a:t>
            </a:r>
            <a:r>
              <a:rPr lang="en-US" sz="2400" dirty="0">
                <a:latin typeface="Times New Roman" pitchFamily="18" charset="0"/>
              </a:rPr>
              <a:t> </a:t>
            </a:r>
            <a:r>
              <a:rPr lang="en-US" sz="2400" dirty="0" err="1">
                <a:latin typeface="Times New Roman" pitchFamily="18" charset="0"/>
              </a:rPr>
              <a:t>sáng</a:t>
            </a:r>
            <a:r>
              <a:rPr lang="en-US" sz="2400" dirty="0">
                <a:latin typeface="Times New Roman" pitchFamily="18" charset="0"/>
              </a:rPr>
              <a:t>, do </a:t>
            </a:r>
            <a:r>
              <a:rPr lang="en-US" sz="2400" dirty="0" err="1">
                <a:latin typeface="Times New Roman" pitchFamily="18" charset="0"/>
              </a:rPr>
              <a:t>đó</a:t>
            </a:r>
            <a:r>
              <a:rPr lang="en-US" sz="2400" dirty="0">
                <a:latin typeface="Times New Roman" pitchFamily="18" charset="0"/>
              </a:rPr>
              <a:t> </a:t>
            </a:r>
            <a:r>
              <a:rPr lang="en-US" sz="2400" dirty="0" err="1">
                <a:latin typeface="Times New Roman" pitchFamily="18" charset="0"/>
              </a:rPr>
              <a:t>véc</a:t>
            </a:r>
            <a:r>
              <a:rPr lang="en-US" sz="2400" dirty="0">
                <a:latin typeface="Times New Roman" pitchFamily="18" charset="0"/>
              </a:rPr>
              <a:t> </a:t>
            </a:r>
            <a:r>
              <a:rPr lang="en-US" sz="2400" dirty="0" err="1">
                <a:latin typeface="Times New Roman" pitchFamily="18" charset="0"/>
              </a:rPr>
              <a:t>tơ</a:t>
            </a:r>
            <a:r>
              <a:rPr lang="en-US" sz="2400" dirty="0">
                <a:latin typeface="Times New Roman" pitchFamily="18" charset="0"/>
              </a:rPr>
              <a:t> </a:t>
            </a:r>
            <a:r>
              <a:rPr lang="en-US" sz="2400" dirty="0" err="1">
                <a:latin typeface="Times New Roman" pitchFamily="18" charset="0"/>
              </a:rPr>
              <a:t>cường</a:t>
            </a:r>
            <a:r>
              <a:rPr lang="en-US" sz="2400" dirty="0">
                <a:latin typeface="Times New Roman" pitchFamily="18" charset="0"/>
              </a:rPr>
              <a:t> </a:t>
            </a:r>
            <a:r>
              <a:rPr lang="en-US" sz="2400" dirty="0" err="1">
                <a:latin typeface="Times New Roman" pitchFamily="18" charset="0"/>
              </a:rPr>
              <a:t>độ</a:t>
            </a:r>
            <a:r>
              <a:rPr lang="en-US" sz="2400" dirty="0">
                <a:latin typeface="Times New Roman" pitchFamily="18" charset="0"/>
              </a:rPr>
              <a:t> </a:t>
            </a:r>
            <a:r>
              <a:rPr lang="en-US" sz="2400" dirty="0" err="1">
                <a:latin typeface="Times New Roman" pitchFamily="18" charset="0"/>
              </a:rPr>
              <a:t>điện</a:t>
            </a:r>
            <a:r>
              <a:rPr lang="en-US" sz="2400" dirty="0">
                <a:latin typeface="Times New Roman" pitchFamily="18" charset="0"/>
              </a:rPr>
              <a:t> </a:t>
            </a:r>
            <a:r>
              <a:rPr lang="en-US" sz="2400" dirty="0" err="1">
                <a:latin typeface="Times New Roman" pitchFamily="18" charset="0"/>
              </a:rPr>
              <a:t>trường</a:t>
            </a:r>
            <a:r>
              <a:rPr lang="en-US" sz="2400" dirty="0">
                <a:latin typeface="Times New Roman" pitchFamily="18" charset="0"/>
              </a:rPr>
              <a:t> </a:t>
            </a:r>
            <a:r>
              <a:rPr lang="en-US" sz="2400" dirty="0" err="1">
                <a:latin typeface="Times New Roman" pitchFamily="18" charset="0"/>
              </a:rPr>
              <a:t>là</a:t>
            </a:r>
            <a:r>
              <a:rPr lang="en-US" sz="2400" dirty="0">
                <a:latin typeface="Times New Roman" pitchFamily="18" charset="0"/>
              </a:rPr>
              <a:t> </a:t>
            </a:r>
            <a:r>
              <a:rPr lang="en-US" sz="2400" dirty="0" err="1">
                <a:latin typeface="Times New Roman" pitchFamily="18" charset="0"/>
              </a:rPr>
              <a:t>véc</a:t>
            </a:r>
            <a:r>
              <a:rPr lang="en-US" sz="2400" dirty="0">
                <a:latin typeface="Times New Roman" pitchFamily="18" charset="0"/>
              </a:rPr>
              <a:t> </a:t>
            </a:r>
            <a:r>
              <a:rPr lang="en-US" sz="2400" dirty="0" err="1">
                <a:latin typeface="Times New Roman" pitchFamily="18" charset="0"/>
              </a:rPr>
              <a:t>tơ</a:t>
            </a:r>
            <a:r>
              <a:rPr lang="en-US" sz="2400" dirty="0">
                <a:latin typeface="Times New Roman" pitchFamily="18" charset="0"/>
              </a:rPr>
              <a:t> </a:t>
            </a:r>
            <a:r>
              <a:rPr lang="en-US" sz="2400" dirty="0" err="1">
                <a:latin typeface="Times New Roman" pitchFamily="18" charset="0"/>
              </a:rPr>
              <a:t>sáng</a:t>
            </a:r>
            <a:r>
              <a:rPr lang="en-US" sz="2400" dirty="0">
                <a:latin typeface="Times New Roman" pitchFamily="18" charset="0"/>
              </a:rPr>
              <a:t>.</a:t>
            </a:r>
          </a:p>
        </p:txBody>
      </p:sp>
      <p:sp>
        <p:nvSpPr>
          <p:cNvPr id="9" name="Rectangle 8"/>
          <p:cNvSpPr/>
          <p:nvPr/>
        </p:nvSpPr>
        <p:spPr>
          <a:xfrm>
            <a:off x="152401" y="3907073"/>
            <a:ext cx="2209800" cy="2308324"/>
          </a:xfrm>
          <a:prstGeom prst="rect">
            <a:avLst/>
          </a:prstGeom>
        </p:spPr>
        <p:txBody>
          <a:bodyPr wrap="square">
            <a:spAutoFit/>
          </a:bodyPr>
          <a:lstStyle/>
          <a:p>
            <a:pPr algn="just"/>
            <a:r>
              <a:rPr lang="en-US" sz="2400" dirty="0">
                <a:latin typeface="Times New Roman" pitchFamily="18" charset="0"/>
              </a:rPr>
              <a:t>- </a:t>
            </a:r>
            <a:r>
              <a:rPr lang="en-US" sz="2400" dirty="0" err="1">
                <a:latin typeface="Times New Roman" pitchFamily="18" charset="0"/>
              </a:rPr>
              <a:t>Tập</a:t>
            </a:r>
            <a:r>
              <a:rPr lang="en-US" sz="2400" dirty="0">
                <a:latin typeface="Times New Roman" pitchFamily="18" charset="0"/>
              </a:rPr>
              <a:t> </a:t>
            </a:r>
            <a:r>
              <a:rPr lang="en-US" sz="2400" dirty="0" err="1">
                <a:latin typeface="Times New Roman" pitchFamily="18" charset="0"/>
              </a:rPr>
              <a:t>hợp</a:t>
            </a:r>
            <a:r>
              <a:rPr lang="en-US" sz="2400" dirty="0">
                <a:latin typeface="Times New Roman" pitchFamily="18" charset="0"/>
              </a:rPr>
              <a:t> </a:t>
            </a:r>
            <a:r>
              <a:rPr lang="en-US" sz="2400" dirty="0" err="1">
                <a:latin typeface="Times New Roman" pitchFamily="18" charset="0"/>
              </a:rPr>
              <a:t>ánh</a:t>
            </a:r>
            <a:r>
              <a:rPr lang="en-US" sz="2400" dirty="0">
                <a:latin typeface="Times New Roman" pitchFamily="18" charset="0"/>
              </a:rPr>
              <a:t> </a:t>
            </a:r>
            <a:r>
              <a:rPr lang="en-US" sz="2400" dirty="0" err="1">
                <a:latin typeface="Times New Roman" pitchFamily="18" charset="0"/>
              </a:rPr>
              <a:t>sáng</a:t>
            </a:r>
            <a:r>
              <a:rPr lang="en-US" sz="2400" dirty="0">
                <a:latin typeface="Times New Roman" pitchFamily="18" charset="0"/>
              </a:rPr>
              <a:t> </a:t>
            </a:r>
            <a:r>
              <a:rPr lang="en-US" sz="2400" dirty="0" err="1">
                <a:latin typeface="Times New Roman" pitchFamily="18" charset="0"/>
              </a:rPr>
              <a:t>có</a:t>
            </a:r>
            <a:r>
              <a:rPr lang="en-US" sz="2400" dirty="0">
                <a:latin typeface="Times New Roman" pitchFamily="18" charset="0"/>
              </a:rPr>
              <a:t> </a:t>
            </a:r>
            <a:r>
              <a:rPr lang="en-US" sz="2400" dirty="0" err="1">
                <a:latin typeface="Times New Roman" pitchFamily="18" charset="0"/>
              </a:rPr>
              <a:t>bước</a:t>
            </a:r>
            <a:r>
              <a:rPr lang="en-US" sz="2400" dirty="0">
                <a:latin typeface="Times New Roman" pitchFamily="18" charset="0"/>
              </a:rPr>
              <a:t> </a:t>
            </a:r>
            <a:r>
              <a:rPr lang="en-US" sz="2400" dirty="0" err="1">
                <a:latin typeface="Times New Roman" pitchFamily="18" charset="0"/>
              </a:rPr>
              <a:t>sóng</a:t>
            </a:r>
            <a:r>
              <a:rPr lang="en-US" sz="2400" dirty="0">
                <a:latin typeface="Times New Roman" pitchFamily="18" charset="0"/>
              </a:rPr>
              <a:t> 0,38</a:t>
            </a:r>
            <a:r>
              <a:rPr lang="en-US" sz="2400" dirty="0">
                <a:latin typeface="Times New Roman" pitchFamily="18" charset="0"/>
                <a:cs typeface="Times New Roman" pitchFamily="18" charset="0"/>
              </a:rPr>
              <a:t>µm </a:t>
            </a:r>
            <a:r>
              <a:rPr lang="en-US" sz="2400" dirty="0" err="1">
                <a:latin typeface="Times New Roman" pitchFamily="18" charset="0"/>
                <a:cs typeface="Times New Roman" pitchFamily="18" charset="0"/>
              </a:rPr>
              <a:t>đến</a:t>
            </a:r>
            <a:r>
              <a:rPr lang="en-US" sz="2400" dirty="0">
                <a:latin typeface="Times New Roman" pitchFamily="18" charset="0"/>
                <a:cs typeface="Times New Roman" pitchFamily="18" charset="0"/>
              </a:rPr>
              <a:t> 0,75µm </a:t>
            </a:r>
            <a:r>
              <a:rPr lang="en-US" sz="2400" dirty="0" err="1">
                <a:latin typeface="Times New Roman" pitchFamily="18" charset="0"/>
                <a:cs typeface="Times New Roman" pitchFamily="18" charset="0"/>
              </a:rPr>
              <a:t>tạo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thành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ánh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sáng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trắng</a:t>
            </a:r>
            <a:endParaRPr lang="en-US" sz="2400" dirty="0">
              <a:latin typeface="Times New Roman" pitchFamily="18" charset="0"/>
              <a:cs typeface="Times New Roman" pitchFamily="18" charset="0"/>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4996" y="3429001"/>
            <a:ext cx="2187208" cy="2438400"/>
          </a:xfrm>
          <a:prstGeom prst="rect">
            <a:avLst/>
          </a:prstGeom>
        </p:spPr>
      </p:pic>
      <p:sp>
        <p:nvSpPr>
          <p:cNvPr id="12" name="TextBox 11"/>
          <p:cNvSpPr txBox="1"/>
          <p:nvPr/>
        </p:nvSpPr>
        <p:spPr>
          <a:xfrm>
            <a:off x="6765293" y="6095585"/>
            <a:ext cx="2286000" cy="646331"/>
          </a:xfrm>
          <a:prstGeom prst="rect">
            <a:avLst/>
          </a:prstGeom>
          <a:noFill/>
        </p:spPr>
        <p:txBody>
          <a:bodyPr wrap="square" rtlCol="0">
            <a:spAutoFit/>
          </a:bodyPr>
          <a:lstStyle/>
          <a:p>
            <a:pPr algn="ctr"/>
            <a:r>
              <a:rPr lang="en-US" dirty="0">
                <a:latin typeface="Times" pitchFamily="18" charset="0"/>
              </a:rPr>
              <a:t>Maxwell</a:t>
            </a:r>
          </a:p>
          <a:p>
            <a:pPr algn="ctr"/>
            <a:r>
              <a:rPr lang="en-US" dirty="0">
                <a:latin typeface="Times" pitchFamily="18" charset="0"/>
              </a:rPr>
              <a:t>1831- 1879 (</a:t>
            </a:r>
            <a:r>
              <a:rPr lang="en-US" dirty="0" err="1">
                <a:latin typeface="Times" pitchFamily="18" charset="0"/>
              </a:rPr>
              <a:t>Anh</a:t>
            </a:r>
            <a:r>
              <a:rPr lang="en-US" dirty="0">
                <a:latin typeface="Times" pitchFamily="18" charset="0"/>
              </a:rPr>
              <a:t>)</a:t>
            </a:r>
          </a:p>
        </p:txBody>
      </p:sp>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71800" y="3931979"/>
            <a:ext cx="3571688" cy="2486772"/>
          </a:xfrm>
          <a:prstGeom prst="rect">
            <a:avLst/>
          </a:prstGeom>
        </p:spPr>
      </p:pic>
    </p:spTree>
    <p:extLst>
      <p:ext uri="{BB962C8B-B14F-4D97-AF65-F5344CB8AC3E}">
        <p14:creationId xmlns:p14="http://schemas.microsoft.com/office/powerpoint/2010/main" val="879839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barn(inVertical)">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down)">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down)">
                                      <p:cBhvr>
                                        <p:cTn id="4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8" grpId="0"/>
      <p:bldP spid="9" grpId="0"/>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 y="0"/>
            <a:ext cx="8915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0"/>
            <a:ext cx="89154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§1. GIAO THOA ÁNH SÁNG</a:t>
            </a:r>
          </a:p>
        </p:txBody>
      </p:sp>
      <p:sp>
        <p:nvSpPr>
          <p:cNvPr id="2" name="Rectangle 1"/>
          <p:cNvSpPr/>
          <p:nvPr/>
        </p:nvSpPr>
        <p:spPr>
          <a:xfrm>
            <a:off x="152400" y="685800"/>
            <a:ext cx="8839200" cy="461665"/>
          </a:xfrm>
          <a:prstGeom prst="rect">
            <a:avLst/>
          </a:prstGeom>
        </p:spPr>
        <p:txBody>
          <a:bodyPr wrap="square">
            <a:spAutoFit/>
          </a:bodyPr>
          <a:lstStyle/>
          <a:p>
            <a:pPr algn="just"/>
            <a:r>
              <a:rPr lang="en-US" sz="2400" b="1" i="1" dirty="0">
                <a:latin typeface="Times New Roman" pitchFamily="18" charset="0"/>
                <a:cs typeface="Times New Roman" pitchFamily="18" charset="0"/>
              </a:rPr>
              <a:t>2</a:t>
            </a:r>
            <a:r>
              <a:rPr lang="en-US" sz="2400" b="1" dirty="0">
                <a:solidFill>
                  <a:srgbClr val="0070C0"/>
                </a:solidFill>
                <a:latin typeface="Times New Roman" pitchFamily="18" charset="0"/>
                <a:cs typeface="Times New Roman" pitchFamily="18" charset="0"/>
              </a:rPr>
              <a:t>. </a:t>
            </a:r>
            <a:r>
              <a:rPr lang="en-US" sz="2400" b="1" i="1" dirty="0" err="1">
                <a:solidFill>
                  <a:srgbClr val="0070C0"/>
                </a:solidFill>
                <a:latin typeface="Times New Roman" pitchFamily="18" charset="0"/>
                <a:cs typeface="Times New Roman" pitchFamily="18" charset="0"/>
              </a:rPr>
              <a:t>Quang</a:t>
            </a:r>
            <a:r>
              <a:rPr lang="en-US" sz="2400" b="1" i="1" dirty="0">
                <a:solidFill>
                  <a:srgbClr val="0070C0"/>
                </a:solidFill>
                <a:latin typeface="Times New Roman" pitchFamily="18" charset="0"/>
                <a:cs typeface="Times New Roman" pitchFamily="18" charset="0"/>
              </a:rPr>
              <a:t> </a:t>
            </a:r>
            <a:r>
              <a:rPr lang="en-US" sz="2400" b="1" i="1" dirty="0" err="1">
                <a:solidFill>
                  <a:srgbClr val="0070C0"/>
                </a:solidFill>
                <a:latin typeface="Times New Roman" pitchFamily="18" charset="0"/>
                <a:cs typeface="Times New Roman" pitchFamily="18" charset="0"/>
              </a:rPr>
              <a:t>lộ</a:t>
            </a:r>
            <a:r>
              <a:rPr lang="en-US" sz="2400" dirty="0">
                <a:latin typeface="Times New Roman" pitchFamily="18" charset="0"/>
                <a:cs typeface="Times New Roman" pitchFamily="18" charset="0"/>
              </a:rPr>
              <a:t>:</a:t>
            </a:r>
          </a:p>
        </p:txBody>
      </p:sp>
      <p:sp>
        <p:nvSpPr>
          <p:cNvPr id="3" name="TextBox 2"/>
          <p:cNvSpPr txBox="1"/>
          <p:nvPr/>
        </p:nvSpPr>
        <p:spPr>
          <a:xfrm>
            <a:off x="152400" y="1516797"/>
            <a:ext cx="8839200" cy="1200329"/>
          </a:xfrm>
          <a:prstGeom prst="rect">
            <a:avLst/>
          </a:prstGeom>
          <a:noFill/>
        </p:spPr>
        <p:txBody>
          <a:bodyPr wrap="square" rtlCol="0">
            <a:spAutoFit/>
          </a:bodyPr>
          <a:lstStyle/>
          <a:p>
            <a:pPr algn="just"/>
            <a:r>
              <a:rPr lang="vi-VN" sz="2400" dirty="0">
                <a:latin typeface="+mj-lt"/>
              </a:rPr>
              <a:t>Quang lộ giữa hai điểm A, B là đoạn đường ánh sáng truyền được trong chân không với cùng khoảng thời gian t cần thiết để sóng ánh sáng đi được đoạn đường </a:t>
            </a:r>
            <a:r>
              <a:rPr lang="en-US" sz="2400" dirty="0">
                <a:latin typeface="+mj-lt"/>
              </a:rPr>
              <a:t>r</a:t>
            </a:r>
            <a:r>
              <a:rPr lang="vi-VN" sz="2400" dirty="0">
                <a:latin typeface="+mj-lt"/>
              </a:rPr>
              <a:t> trong môi trường chiết suất n. </a:t>
            </a:r>
            <a:endParaRPr lang="en-US" sz="2400" dirty="0">
              <a:latin typeface="+mj-lt"/>
            </a:endParaRPr>
          </a:p>
        </p:txBody>
      </p:sp>
      <p:sp>
        <p:nvSpPr>
          <p:cNvPr id="6" name="Rectangle 5"/>
          <p:cNvSpPr/>
          <p:nvPr/>
        </p:nvSpPr>
        <p:spPr>
          <a:xfrm>
            <a:off x="2408538" y="2642984"/>
            <a:ext cx="1295400" cy="461665"/>
          </a:xfrm>
          <a:prstGeom prst="rect">
            <a:avLst/>
          </a:prstGeom>
        </p:spPr>
        <p:txBody>
          <a:bodyPr wrap="square">
            <a:spAutoFit/>
          </a:bodyPr>
          <a:lstStyle/>
          <a:p>
            <a:pPr marL="609600" indent="-609600"/>
            <a:r>
              <a:rPr lang="en-US" sz="2400" dirty="0">
                <a:solidFill>
                  <a:schemeClr val="tx2"/>
                </a:solidFill>
                <a:latin typeface="Times New Roman" pitchFamily="18" charset="0"/>
                <a:cs typeface="Times New Roman" pitchFamily="18" charset="0"/>
              </a:rPr>
              <a:t>L = c.t </a:t>
            </a:r>
          </a:p>
        </p:txBody>
      </p:sp>
      <p:sp>
        <p:nvSpPr>
          <p:cNvPr id="9" name="Rectangle 8"/>
          <p:cNvSpPr/>
          <p:nvPr/>
        </p:nvSpPr>
        <p:spPr>
          <a:xfrm>
            <a:off x="3352800" y="2664379"/>
            <a:ext cx="1295400" cy="461665"/>
          </a:xfrm>
          <a:prstGeom prst="rect">
            <a:avLst/>
          </a:prstGeom>
        </p:spPr>
        <p:txBody>
          <a:bodyPr wrap="square">
            <a:spAutoFit/>
          </a:bodyPr>
          <a:lstStyle/>
          <a:p>
            <a:pPr marL="609600" indent="-609600"/>
            <a:r>
              <a:rPr lang="en-US" sz="2400" dirty="0">
                <a:solidFill>
                  <a:schemeClr val="tx2"/>
                </a:solidFill>
                <a:latin typeface="Times New Roman" pitchFamily="18" charset="0"/>
                <a:cs typeface="Times New Roman" pitchFamily="18" charset="0"/>
              </a:rPr>
              <a:t>=</a:t>
            </a:r>
            <a:r>
              <a:rPr lang="en-US" sz="2400" dirty="0" err="1">
                <a:solidFill>
                  <a:schemeClr val="tx2"/>
                </a:solidFill>
                <a:latin typeface="Times New Roman" pitchFamily="18" charset="0"/>
                <a:cs typeface="Times New Roman" pitchFamily="18" charset="0"/>
              </a:rPr>
              <a:t>c.r</a:t>
            </a:r>
            <a:r>
              <a:rPr lang="en-US" sz="2400" dirty="0">
                <a:solidFill>
                  <a:schemeClr val="tx2"/>
                </a:solidFill>
                <a:latin typeface="Times New Roman" pitchFamily="18" charset="0"/>
                <a:cs typeface="Times New Roman" pitchFamily="18" charset="0"/>
              </a:rPr>
              <a:t>/v</a:t>
            </a:r>
          </a:p>
        </p:txBody>
      </p:sp>
      <p:sp>
        <p:nvSpPr>
          <p:cNvPr id="10" name="Rectangle 9"/>
          <p:cNvSpPr/>
          <p:nvPr/>
        </p:nvSpPr>
        <p:spPr>
          <a:xfrm>
            <a:off x="4330009" y="2692412"/>
            <a:ext cx="3200400" cy="461665"/>
          </a:xfrm>
          <a:prstGeom prst="rect">
            <a:avLst/>
          </a:prstGeom>
        </p:spPr>
        <p:txBody>
          <a:bodyPr wrap="square">
            <a:spAutoFit/>
          </a:bodyPr>
          <a:lstStyle/>
          <a:p>
            <a:pPr marL="609600" indent="-609600"/>
            <a:r>
              <a:rPr lang="en-US" sz="2400" dirty="0">
                <a:solidFill>
                  <a:schemeClr val="tx2"/>
                </a:solidFill>
                <a:latin typeface="Times New Roman" pitchFamily="18" charset="0"/>
                <a:cs typeface="Times New Roman" pitchFamily="18" charset="0"/>
              </a:rPr>
              <a:t>= nr</a:t>
            </a:r>
          </a:p>
        </p:txBody>
      </p:sp>
    </p:spTree>
    <p:extLst>
      <p:ext uri="{BB962C8B-B14F-4D97-AF65-F5344CB8AC3E}">
        <p14:creationId xmlns:p14="http://schemas.microsoft.com/office/powerpoint/2010/main" val="879839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down)">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down)">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9" grpId="0"/>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 y="0"/>
            <a:ext cx="8915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0"/>
            <a:ext cx="89154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§1. GIAO THOA ÁNH SÁNG</a:t>
            </a:r>
          </a:p>
        </p:txBody>
      </p:sp>
      <p:sp>
        <p:nvSpPr>
          <p:cNvPr id="2" name="Rectangle 1"/>
          <p:cNvSpPr/>
          <p:nvPr/>
        </p:nvSpPr>
        <p:spPr>
          <a:xfrm>
            <a:off x="76200" y="609600"/>
            <a:ext cx="5729471" cy="461665"/>
          </a:xfrm>
          <a:prstGeom prst="rect">
            <a:avLst/>
          </a:prstGeom>
        </p:spPr>
        <p:txBody>
          <a:bodyPr wrap="square">
            <a:spAutoFit/>
          </a:bodyPr>
          <a:lstStyle/>
          <a:p>
            <a:r>
              <a:rPr lang="en-US" sz="2400" b="1" i="1" dirty="0">
                <a:latin typeface="Times New Roman" pitchFamily="18" charset="0"/>
              </a:rPr>
              <a:t>3</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Hàm</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sóng</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ánh</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sáng</a:t>
            </a:r>
            <a:r>
              <a:rPr lang="en-US" sz="2400" b="1" i="1" dirty="0">
                <a:solidFill>
                  <a:srgbClr val="0070C0"/>
                </a:solidFill>
                <a:latin typeface="Times New Roman" pitchFamily="18" charset="0"/>
              </a:rPr>
              <a:t>:</a:t>
            </a:r>
            <a:r>
              <a:rPr lang="en-US" sz="2400" dirty="0">
                <a:solidFill>
                  <a:srgbClr val="0070C0"/>
                </a:solidFill>
                <a:latin typeface="Times New Roman" pitchFamily="18" charset="0"/>
              </a:rPr>
              <a:t> </a:t>
            </a:r>
            <a:endParaRPr lang="en-US" sz="2400" dirty="0">
              <a:solidFill>
                <a:srgbClr val="0070C0"/>
              </a:solidFill>
            </a:endParaRPr>
          </a:p>
        </p:txBody>
      </p:sp>
      <p:sp>
        <p:nvSpPr>
          <p:cNvPr id="3" name="Rectangle 2"/>
          <p:cNvSpPr/>
          <p:nvPr/>
        </p:nvSpPr>
        <p:spPr>
          <a:xfrm>
            <a:off x="152400" y="990600"/>
            <a:ext cx="8763000" cy="830997"/>
          </a:xfrm>
          <a:prstGeom prst="rect">
            <a:avLst/>
          </a:prstGeom>
        </p:spPr>
        <p:txBody>
          <a:bodyPr wrap="square">
            <a:spAutoFit/>
          </a:bodyPr>
          <a:lstStyle/>
          <a:p>
            <a:pPr algn="just"/>
            <a:r>
              <a:rPr lang="en-US" sz="2400" dirty="0" err="1">
                <a:latin typeface="Times New Roman" pitchFamily="18" charset="0"/>
              </a:rPr>
              <a:t>Xét</a:t>
            </a:r>
            <a:r>
              <a:rPr lang="en-US" sz="2400" dirty="0">
                <a:latin typeface="Times New Roman" pitchFamily="18" charset="0"/>
              </a:rPr>
              <a:t> </a:t>
            </a:r>
            <a:r>
              <a:rPr lang="en-US" sz="2400" dirty="0" err="1">
                <a:latin typeface="Times New Roman" pitchFamily="18" charset="0"/>
              </a:rPr>
              <a:t>sóng</a:t>
            </a:r>
            <a:r>
              <a:rPr lang="en-US" sz="2400" dirty="0">
                <a:latin typeface="Times New Roman" pitchFamily="18" charset="0"/>
              </a:rPr>
              <a:t> </a:t>
            </a:r>
            <a:r>
              <a:rPr lang="en-US" sz="2400" dirty="0" err="1">
                <a:latin typeface="Times New Roman" pitchFamily="18" charset="0"/>
              </a:rPr>
              <a:t>ánh</a:t>
            </a:r>
            <a:r>
              <a:rPr lang="en-US" sz="2400" dirty="0">
                <a:latin typeface="Times New Roman" pitchFamily="18" charset="0"/>
              </a:rPr>
              <a:t> </a:t>
            </a:r>
            <a:r>
              <a:rPr lang="en-US" sz="2400" dirty="0" err="1">
                <a:solidFill>
                  <a:srgbClr val="FF0000"/>
                </a:solidFill>
                <a:latin typeface="Times New Roman" pitchFamily="18" charset="0"/>
              </a:rPr>
              <a:t>sáng</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phẳng</a:t>
            </a:r>
            <a:r>
              <a:rPr lang="en-US" sz="2400" dirty="0">
                <a:latin typeface="Times New Roman" pitchFamily="18" charset="0"/>
              </a:rPr>
              <a:t> </a:t>
            </a:r>
            <a:r>
              <a:rPr lang="en-US" sz="2400" dirty="0" err="1">
                <a:latin typeface="Times New Roman" pitchFamily="18" charset="0"/>
              </a:rPr>
              <a:t>đơn</a:t>
            </a:r>
            <a:r>
              <a:rPr lang="en-US" sz="2400" dirty="0">
                <a:latin typeface="Times New Roman" pitchFamily="18" charset="0"/>
              </a:rPr>
              <a:t> </a:t>
            </a:r>
            <a:r>
              <a:rPr lang="en-US" sz="2400" dirty="0" err="1">
                <a:latin typeface="Times New Roman" pitchFamily="18" charset="0"/>
              </a:rPr>
              <a:t>sắc</a:t>
            </a:r>
            <a:r>
              <a:rPr lang="en-US" sz="2400" dirty="0">
                <a:latin typeface="Times New Roman" pitchFamily="18" charset="0"/>
              </a:rPr>
              <a:t>, </a:t>
            </a:r>
            <a:r>
              <a:rPr lang="en-US" sz="2400" dirty="0" err="1">
                <a:latin typeface="Times New Roman" pitchFamily="18" charset="0"/>
              </a:rPr>
              <a:t>truyền</a:t>
            </a:r>
            <a:r>
              <a:rPr lang="en-US" sz="2400" dirty="0">
                <a:latin typeface="Times New Roman" pitchFamily="18" charset="0"/>
              </a:rPr>
              <a:t> </a:t>
            </a:r>
            <a:r>
              <a:rPr lang="en-US" sz="2400" dirty="0" err="1">
                <a:latin typeface="Times New Roman" pitchFamily="18" charset="0"/>
              </a:rPr>
              <a:t>đi</a:t>
            </a:r>
            <a:r>
              <a:rPr lang="en-US" sz="2400" dirty="0">
                <a:latin typeface="Times New Roman" pitchFamily="18" charset="0"/>
              </a:rPr>
              <a:t> </a:t>
            </a:r>
            <a:r>
              <a:rPr lang="en-US" sz="2400" dirty="0" err="1">
                <a:latin typeface="Times New Roman" pitchFamily="18" charset="0"/>
              </a:rPr>
              <a:t>với</a:t>
            </a:r>
            <a:r>
              <a:rPr lang="en-US" sz="2400" dirty="0">
                <a:latin typeface="Times New Roman" pitchFamily="18" charset="0"/>
              </a:rPr>
              <a:t> </a:t>
            </a:r>
            <a:r>
              <a:rPr lang="en-US" sz="2400" dirty="0" err="1">
                <a:latin typeface="Times New Roman" pitchFamily="18" charset="0"/>
              </a:rPr>
              <a:t>vận</a:t>
            </a:r>
            <a:r>
              <a:rPr lang="en-US" sz="2400" dirty="0">
                <a:latin typeface="Times New Roman" pitchFamily="18" charset="0"/>
              </a:rPr>
              <a:t> </a:t>
            </a:r>
            <a:r>
              <a:rPr lang="en-US" sz="2400" dirty="0" err="1">
                <a:latin typeface="Times New Roman" pitchFamily="18" charset="0"/>
              </a:rPr>
              <a:t>tốc</a:t>
            </a:r>
            <a:r>
              <a:rPr lang="en-US" sz="2400" dirty="0">
                <a:latin typeface="Times New Roman" pitchFamily="18" charset="0"/>
              </a:rPr>
              <a:t> v </a:t>
            </a:r>
            <a:r>
              <a:rPr lang="en-US" sz="2400" dirty="0" err="1">
                <a:latin typeface="Times New Roman" pitchFamily="18" charset="0"/>
              </a:rPr>
              <a:t>trong</a:t>
            </a:r>
            <a:r>
              <a:rPr lang="en-US" sz="2400" dirty="0">
                <a:latin typeface="Times New Roman" pitchFamily="18" charset="0"/>
              </a:rPr>
              <a:t> </a:t>
            </a:r>
            <a:r>
              <a:rPr lang="en-US" sz="2400" dirty="0" err="1">
                <a:latin typeface="Times New Roman" pitchFamily="18" charset="0"/>
              </a:rPr>
              <a:t>môi</a:t>
            </a:r>
            <a:r>
              <a:rPr lang="en-US" sz="2400" dirty="0">
                <a:latin typeface="Times New Roman" pitchFamily="18" charset="0"/>
              </a:rPr>
              <a:t> </a:t>
            </a:r>
            <a:r>
              <a:rPr lang="en-US" sz="2400" dirty="0" err="1">
                <a:latin typeface="Times New Roman" pitchFamily="18" charset="0"/>
              </a:rPr>
              <a:t>trường</a:t>
            </a:r>
            <a:r>
              <a:rPr lang="en-US" sz="2400" dirty="0">
                <a:latin typeface="Times New Roman" pitchFamily="18" charset="0"/>
              </a:rPr>
              <a:t> </a:t>
            </a:r>
            <a:r>
              <a:rPr lang="en-US" sz="2400" dirty="0" err="1">
                <a:latin typeface="Times New Roman" pitchFamily="18" charset="0"/>
              </a:rPr>
              <a:t>chiết</a:t>
            </a:r>
            <a:r>
              <a:rPr lang="en-US" sz="2400" dirty="0">
                <a:latin typeface="Times New Roman" pitchFamily="18" charset="0"/>
              </a:rPr>
              <a:t> </a:t>
            </a:r>
            <a:r>
              <a:rPr lang="en-US" sz="2400" dirty="0" err="1">
                <a:latin typeface="Times New Roman" pitchFamily="18" charset="0"/>
              </a:rPr>
              <a:t>suất</a:t>
            </a:r>
            <a:r>
              <a:rPr lang="en-US" sz="2400" dirty="0">
                <a:latin typeface="Times New Roman" pitchFamily="18" charset="0"/>
              </a:rPr>
              <a:t> n. </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23256" y="1483412"/>
            <a:ext cx="3250701" cy="1183588"/>
          </a:xfrm>
          <a:prstGeom prst="rect">
            <a:avLst/>
          </a:prstGeom>
        </p:spPr>
      </p:pic>
      <p:sp>
        <p:nvSpPr>
          <p:cNvPr id="7" name="Rectangle 6"/>
          <p:cNvSpPr/>
          <p:nvPr/>
        </p:nvSpPr>
        <p:spPr>
          <a:xfrm>
            <a:off x="152400" y="1752600"/>
            <a:ext cx="6352924" cy="461665"/>
          </a:xfrm>
          <a:prstGeom prst="rect">
            <a:avLst/>
          </a:prstGeom>
        </p:spPr>
        <p:txBody>
          <a:bodyPr wrap="square">
            <a:spAutoFit/>
          </a:bodyPr>
          <a:lstStyle/>
          <a:p>
            <a:r>
              <a:rPr lang="en-US" sz="2400" dirty="0" err="1">
                <a:latin typeface="Times New Roman" pitchFamily="18" charset="0"/>
              </a:rPr>
              <a:t>Tại</a:t>
            </a:r>
            <a:r>
              <a:rPr lang="en-US" sz="2400" dirty="0">
                <a:latin typeface="Times New Roman" pitchFamily="18" charset="0"/>
              </a:rPr>
              <a:t> O </a:t>
            </a:r>
            <a:r>
              <a:rPr lang="en-US" sz="2400" dirty="0" err="1">
                <a:latin typeface="Times New Roman" pitchFamily="18" charset="0"/>
              </a:rPr>
              <a:t>phương</a:t>
            </a:r>
            <a:r>
              <a:rPr lang="en-US" sz="2400" dirty="0">
                <a:latin typeface="Times New Roman" pitchFamily="18" charset="0"/>
              </a:rPr>
              <a:t> </a:t>
            </a:r>
            <a:r>
              <a:rPr lang="en-US" sz="2400" dirty="0" err="1">
                <a:latin typeface="Times New Roman" pitchFamily="18" charset="0"/>
              </a:rPr>
              <a:t>trình</a:t>
            </a:r>
            <a:r>
              <a:rPr lang="en-US" sz="2400" dirty="0">
                <a:latin typeface="Times New Roman" pitchFamily="18" charset="0"/>
              </a:rPr>
              <a:t> </a:t>
            </a:r>
            <a:r>
              <a:rPr lang="en-US" sz="2400" dirty="0" err="1">
                <a:latin typeface="Times New Roman" pitchFamily="18" charset="0"/>
              </a:rPr>
              <a:t>dao</a:t>
            </a:r>
            <a:r>
              <a:rPr lang="en-US" sz="2400" dirty="0">
                <a:latin typeface="Times New Roman" pitchFamily="18" charset="0"/>
              </a:rPr>
              <a:t> </a:t>
            </a:r>
            <a:r>
              <a:rPr lang="en-US" sz="2400" dirty="0" err="1">
                <a:latin typeface="Times New Roman" pitchFamily="18" charset="0"/>
              </a:rPr>
              <a:t>động</a:t>
            </a:r>
            <a:r>
              <a:rPr lang="en-US" sz="2400" dirty="0">
                <a:latin typeface="Times New Roman" pitchFamily="18" charset="0"/>
              </a:rPr>
              <a:t> </a:t>
            </a:r>
            <a:r>
              <a:rPr lang="en-US" sz="2400" dirty="0" err="1">
                <a:latin typeface="Times New Roman" pitchFamily="18" charset="0"/>
              </a:rPr>
              <a:t>sáng</a:t>
            </a:r>
            <a:r>
              <a:rPr lang="en-US" sz="2400" dirty="0">
                <a:latin typeface="Times New Roman" pitchFamily="18" charset="0"/>
              </a:rPr>
              <a:t>:</a:t>
            </a:r>
          </a:p>
        </p:txBody>
      </p:sp>
      <p:graphicFrame>
        <p:nvGraphicFramePr>
          <p:cNvPr id="8" name="Object 7"/>
          <p:cNvGraphicFramePr>
            <a:graphicFrameLocks noChangeAspect="1"/>
          </p:cNvGraphicFramePr>
          <p:nvPr>
            <p:extLst>
              <p:ext uri="{D42A27DB-BD31-4B8C-83A1-F6EECF244321}">
                <p14:modId xmlns:p14="http://schemas.microsoft.com/office/powerpoint/2010/main" val="196966680"/>
              </p:ext>
            </p:extLst>
          </p:nvPr>
        </p:nvGraphicFramePr>
        <p:xfrm>
          <a:off x="2531452" y="2214265"/>
          <a:ext cx="1990725" cy="398462"/>
        </p:xfrm>
        <a:graphic>
          <a:graphicData uri="http://schemas.openxmlformats.org/presentationml/2006/ole">
            <mc:AlternateContent xmlns:mc="http://schemas.openxmlformats.org/markup-compatibility/2006">
              <mc:Choice xmlns:v="urn:schemas-microsoft-com:vml" Requires="v">
                <p:oleObj spid="_x0000_s2549" name="Equation" r:id="rId4" imgW="1002865" imgH="203112" progId="Equation.3">
                  <p:embed/>
                </p:oleObj>
              </mc:Choice>
              <mc:Fallback>
                <p:oleObj name="Equation" r:id="rId4" imgW="1002865" imgH="203112"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31452" y="2214265"/>
                        <a:ext cx="1990725"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8"/>
          <p:cNvSpPr/>
          <p:nvPr/>
        </p:nvSpPr>
        <p:spPr>
          <a:xfrm>
            <a:off x="152400" y="2514601"/>
            <a:ext cx="8763000" cy="461665"/>
          </a:xfrm>
          <a:prstGeom prst="rect">
            <a:avLst/>
          </a:prstGeom>
        </p:spPr>
        <p:txBody>
          <a:bodyPr wrap="square">
            <a:spAutoFit/>
          </a:bodyPr>
          <a:lstStyle/>
          <a:p>
            <a:r>
              <a:rPr lang="en-US" sz="2400" dirty="0" err="1">
                <a:latin typeface="Times New Roman" pitchFamily="18" charset="0"/>
              </a:rPr>
              <a:t>Tại</a:t>
            </a:r>
            <a:r>
              <a:rPr lang="en-US" sz="2400" dirty="0">
                <a:latin typeface="Times New Roman" pitchFamily="18" charset="0"/>
              </a:rPr>
              <a:t> M </a:t>
            </a:r>
            <a:r>
              <a:rPr lang="en-US" sz="2400" dirty="0" err="1">
                <a:latin typeface="Times New Roman" pitchFamily="18" charset="0"/>
              </a:rPr>
              <a:t>cách</a:t>
            </a:r>
            <a:r>
              <a:rPr lang="en-US" sz="2400" dirty="0">
                <a:latin typeface="Times New Roman" pitchFamily="18" charset="0"/>
              </a:rPr>
              <a:t> O </a:t>
            </a:r>
            <a:r>
              <a:rPr lang="en-US" sz="2400" dirty="0" err="1">
                <a:latin typeface="Times New Roman" pitchFamily="18" charset="0"/>
              </a:rPr>
              <a:t>một</a:t>
            </a:r>
            <a:r>
              <a:rPr lang="en-US" sz="2400" dirty="0">
                <a:latin typeface="Times New Roman" pitchFamily="18" charset="0"/>
              </a:rPr>
              <a:t> </a:t>
            </a:r>
            <a:r>
              <a:rPr lang="en-US" sz="2400" dirty="0" err="1">
                <a:latin typeface="Times New Roman" pitchFamily="18" charset="0"/>
              </a:rPr>
              <a:t>khoảng</a:t>
            </a:r>
            <a:r>
              <a:rPr lang="en-US" sz="2400" dirty="0">
                <a:latin typeface="Times New Roman" pitchFamily="18" charset="0"/>
              </a:rPr>
              <a:t> </a:t>
            </a:r>
            <a:r>
              <a:rPr lang="en-US" sz="2400" i="1" dirty="0">
                <a:latin typeface="Times New Roman" pitchFamily="18" charset="0"/>
              </a:rPr>
              <a:t>r </a:t>
            </a:r>
            <a:r>
              <a:rPr lang="en-US" sz="2400" dirty="0">
                <a:latin typeface="Times New Roman" pitchFamily="18" charset="0"/>
              </a:rPr>
              <a:t>:</a:t>
            </a:r>
          </a:p>
        </p:txBody>
      </p:sp>
      <p:graphicFrame>
        <p:nvGraphicFramePr>
          <p:cNvPr id="10" name="Object 9"/>
          <p:cNvGraphicFramePr>
            <a:graphicFrameLocks noChangeAspect="1"/>
          </p:cNvGraphicFramePr>
          <p:nvPr>
            <p:extLst>
              <p:ext uri="{D42A27DB-BD31-4B8C-83A1-F6EECF244321}">
                <p14:modId xmlns:p14="http://schemas.microsoft.com/office/powerpoint/2010/main" val="2495684785"/>
              </p:ext>
            </p:extLst>
          </p:nvPr>
        </p:nvGraphicFramePr>
        <p:xfrm>
          <a:off x="1533525" y="2981325"/>
          <a:ext cx="5184775" cy="877888"/>
        </p:xfrm>
        <a:graphic>
          <a:graphicData uri="http://schemas.openxmlformats.org/presentationml/2006/ole">
            <mc:AlternateContent xmlns:mc="http://schemas.openxmlformats.org/markup-compatibility/2006">
              <mc:Choice xmlns:v="urn:schemas-microsoft-com:vml" Requires="v">
                <p:oleObj spid="_x0000_s2550" name="Equation" r:id="rId6" imgW="2692080" imgH="457200" progId="Equation.3">
                  <p:embed/>
                </p:oleObj>
              </mc:Choice>
              <mc:Fallback>
                <p:oleObj name="Equation" r:id="rId6" imgW="2692080" imgH="457200" progId="Equation.3">
                  <p:embed/>
                  <p:pic>
                    <p:nvPicPr>
                      <p:cNvPr id="0" name="Object 7"/>
                      <p:cNvPicPr>
                        <a:picLocks noChangeAspect="1" noChangeArrowheads="1"/>
                      </p:cNvPicPr>
                      <p:nvPr/>
                    </p:nvPicPr>
                    <p:blipFill>
                      <a:blip r:embed="rId7"/>
                      <a:srcRect/>
                      <a:stretch>
                        <a:fillRect/>
                      </a:stretch>
                    </p:blipFill>
                    <p:spPr bwMode="auto">
                      <a:xfrm>
                        <a:off x="1533525" y="2981325"/>
                        <a:ext cx="5184775" cy="877888"/>
                      </a:xfrm>
                      <a:prstGeom prst="rect">
                        <a:avLst/>
                      </a:prstGeom>
                      <a:noFill/>
                      <a:ln>
                        <a:noFill/>
                      </a:ln>
                      <a:extLst/>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773183721"/>
              </p:ext>
            </p:extLst>
          </p:nvPr>
        </p:nvGraphicFramePr>
        <p:xfrm>
          <a:off x="1066800" y="3886200"/>
          <a:ext cx="3479800" cy="838200"/>
        </p:xfrm>
        <a:graphic>
          <a:graphicData uri="http://schemas.openxmlformats.org/presentationml/2006/ole">
            <mc:AlternateContent xmlns:mc="http://schemas.openxmlformats.org/markup-compatibility/2006">
              <mc:Choice xmlns:v="urn:schemas-microsoft-com:vml" Requires="v">
                <p:oleObj spid="_x0000_s2551" name="Equation" r:id="rId8" imgW="1777680" imgH="431640" progId="Equation.3">
                  <p:embed/>
                </p:oleObj>
              </mc:Choice>
              <mc:Fallback>
                <p:oleObj name="Equation" r:id="rId8" imgW="1777680" imgH="431640" progId="Equation.3">
                  <p:embed/>
                  <p:pic>
                    <p:nvPicPr>
                      <p:cNvPr id="0" name="Object 7"/>
                      <p:cNvPicPr>
                        <a:picLocks noChangeAspect="1" noChangeArrowheads="1"/>
                      </p:cNvPicPr>
                      <p:nvPr/>
                    </p:nvPicPr>
                    <p:blipFill>
                      <a:blip r:embed="rId9"/>
                      <a:srcRect/>
                      <a:stretch>
                        <a:fillRect/>
                      </a:stretch>
                    </p:blipFill>
                    <p:spPr bwMode="auto">
                      <a:xfrm>
                        <a:off x="1066800" y="3886200"/>
                        <a:ext cx="3479800" cy="838200"/>
                      </a:xfrm>
                      <a:prstGeom prst="rect">
                        <a:avLst/>
                      </a:prstGeom>
                      <a:noFill/>
                      <a:ln>
                        <a:noFill/>
                      </a:ln>
                      <a:extLst/>
                    </p:spPr>
                  </p:pic>
                </p:oleObj>
              </mc:Fallback>
            </mc:AlternateContent>
          </a:graphicData>
        </a:graphic>
      </p:graphicFrame>
      <p:graphicFrame>
        <p:nvGraphicFramePr>
          <p:cNvPr id="12" name="Object 11"/>
          <p:cNvGraphicFramePr>
            <a:graphicFrameLocks noChangeAspect="1"/>
          </p:cNvGraphicFramePr>
          <p:nvPr>
            <p:extLst>
              <p:ext uri="{D42A27DB-BD31-4B8C-83A1-F6EECF244321}">
                <p14:modId xmlns:p14="http://schemas.microsoft.com/office/powerpoint/2010/main" val="938626523"/>
              </p:ext>
            </p:extLst>
          </p:nvPr>
        </p:nvGraphicFramePr>
        <p:xfrm>
          <a:off x="1196589" y="4876800"/>
          <a:ext cx="3370262" cy="830262"/>
        </p:xfrm>
        <a:graphic>
          <a:graphicData uri="http://schemas.openxmlformats.org/presentationml/2006/ole">
            <mc:AlternateContent xmlns:mc="http://schemas.openxmlformats.org/markup-compatibility/2006">
              <mc:Choice xmlns:v="urn:schemas-microsoft-com:vml" Requires="v">
                <p:oleObj spid="_x0000_s2552" name="Equation" r:id="rId10" imgW="1739880" imgH="431640" progId="Equation.3">
                  <p:embed/>
                </p:oleObj>
              </mc:Choice>
              <mc:Fallback>
                <p:oleObj name="Equation" r:id="rId10" imgW="1739880" imgH="431640" progId="Equation.3">
                  <p:embed/>
                  <p:pic>
                    <p:nvPicPr>
                      <p:cNvPr id="0" name="Object 10"/>
                      <p:cNvPicPr>
                        <a:picLocks noChangeAspect="1" noChangeArrowheads="1"/>
                      </p:cNvPicPr>
                      <p:nvPr/>
                    </p:nvPicPr>
                    <p:blipFill>
                      <a:blip r:embed="rId11"/>
                      <a:srcRect/>
                      <a:stretch>
                        <a:fillRect/>
                      </a:stretch>
                    </p:blipFill>
                    <p:spPr bwMode="auto">
                      <a:xfrm>
                        <a:off x="1196589" y="4876800"/>
                        <a:ext cx="3370262" cy="830262"/>
                      </a:xfrm>
                      <a:prstGeom prst="rect">
                        <a:avLst/>
                      </a:prstGeom>
                      <a:noFill/>
                      <a:ln>
                        <a:noFill/>
                      </a:ln>
                      <a:extLst/>
                    </p:spPr>
                  </p:pic>
                </p:oleObj>
              </mc:Fallback>
            </mc:AlternateContent>
          </a:graphicData>
        </a:graphic>
      </p:graphicFrame>
    </p:spTree>
    <p:extLst>
      <p:ext uri="{BB962C8B-B14F-4D97-AF65-F5344CB8AC3E}">
        <p14:creationId xmlns:p14="http://schemas.microsoft.com/office/powerpoint/2010/main" val="879839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down)">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down)">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down)">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wipe(down)">
                                      <p:cBhvr>
                                        <p:cTn id="4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 y="0"/>
            <a:ext cx="8915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0"/>
            <a:ext cx="89154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§1. GIAO THOA ÁNH SÁNG</a:t>
            </a:r>
          </a:p>
        </p:txBody>
      </p:sp>
      <p:sp>
        <p:nvSpPr>
          <p:cNvPr id="2" name="Rectangle 1"/>
          <p:cNvSpPr/>
          <p:nvPr/>
        </p:nvSpPr>
        <p:spPr>
          <a:xfrm>
            <a:off x="76200" y="685800"/>
            <a:ext cx="5491425" cy="461665"/>
          </a:xfrm>
          <a:prstGeom prst="rect">
            <a:avLst/>
          </a:prstGeom>
        </p:spPr>
        <p:txBody>
          <a:bodyPr wrap="square">
            <a:spAutoFit/>
          </a:bodyPr>
          <a:lstStyle/>
          <a:p>
            <a:r>
              <a:rPr lang="en-US" sz="2400" b="1" i="1" dirty="0">
                <a:latin typeface="Times New Roman" pitchFamily="18" charset="0"/>
              </a:rPr>
              <a:t>4</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Cường</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độ</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sáng</a:t>
            </a:r>
            <a:r>
              <a:rPr lang="en-US" sz="2400" dirty="0">
                <a:latin typeface="Times New Roman" pitchFamily="18" charset="0"/>
              </a:rPr>
              <a:t>: </a:t>
            </a:r>
            <a:endParaRPr lang="en-US" sz="2400" dirty="0"/>
          </a:p>
        </p:txBody>
      </p:sp>
      <p:sp>
        <p:nvSpPr>
          <p:cNvPr id="3" name="Rectangle 2"/>
          <p:cNvSpPr/>
          <p:nvPr/>
        </p:nvSpPr>
        <p:spPr>
          <a:xfrm>
            <a:off x="152400" y="1066800"/>
            <a:ext cx="8763000" cy="1200329"/>
          </a:xfrm>
          <a:prstGeom prst="rect">
            <a:avLst/>
          </a:prstGeom>
        </p:spPr>
        <p:txBody>
          <a:bodyPr wrap="square">
            <a:spAutoFit/>
          </a:bodyPr>
          <a:lstStyle/>
          <a:p>
            <a:pPr algn="just"/>
            <a:r>
              <a:rPr lang="vi-VN" sz="2400" dirty="0">
                <a:latin typeface="+mj-lt"/>
              </a:rPr>
              <a:t>Cường độ sáng tại một điểm là đại lượng có trị số bằng năng lượng trung bình của sóng ánh sáng truyền qua một đơn vị diện tích đặt vuông góc với phương truyền sáng trong một đơn vị thời gian. </a:t>
            </a:r>
            <a:endParaRPr lang="en-US" sz="2400" dirty="0">
              <a:latin typeface="+mj-lt"/>
            </a:endParaRPr>
          </a:p>
        </p:txBody>
      </p:sp>
      <p:sp>
        <p:nvSpPr>
          <p:cNvPr id="6" name="Rectangle 5"/>
          <p:cNvSpPr/>
          <p:nvPr/>
        </p:nvSpPr>
        <p:spPr>
          <a:xfrm>
            <a:off x="3062751" y="2438400"/>
            <a:ext cx="2347449" cy="461665"/>
          </a:xfrm>
          <a:prstGeom prst="rect">
            <a:avLst/>
          </a:prstGeom>
        </p:spPr>
        <p:txBody>
          <a:bodyPr wrap="square">
            <a:spAutoFit/>
          </a:bodyPr>
          <a:lstStyle/>
          <a:p>
            <a:r>
              <a:rPr lang="en-US" sz="2400" dirty="0">
                <a:solidFill>
                  <a:srgbClr val="FF0000"/>
                </a:solidFill>
                <a:latin typeface="Times New Roman" pitchFamily="18" charset="0"/>
              </a:rPr>
              <a:t>I  = A</a:t>
            </a:r>
            <a:r>
              <a:rPr lang="en-US" sz="2400" baseline="30000" dirty="0">
                <a:solidFill>
                  <a:srgbClr val="FF0000"/>
                </a:solidFill>
                <a:latin typeface="Times New Roman" pitchFamily="18" charset="0"/>
              </a:rPr>
              <a:t>2</a:t>
            </a:r>
          </a:p>
        </p:txBody>
      </p:sp>
      <p:sp>
        <p:nvSpPr>
          <p:cNvPr id="9" name="Rectangle 8"/>
          <p:cNvSpPr/>
          <p:nvPr/>
        </p:nvSpPr>
        <p:spPr>
          <a:xfrm>
            <a:off x="211883" y="3200400"/>
            <a:ext cx="4322017" cy="461665"/>
          </a:xfrm>
          <a:prstGeom prst="rect">
            <a:avLst/>
          </a:prstGeom>
        </p:spPr>
        <p:txBody>
          <a:bodyPr wrap="none">
            <a:spAutoFit/>
          </a:bodyPr>
          <a:lstStyle/>
          <a:p>
            <a:r>
              <a:rPr lang="en-US" sz="2400" b="1" i="1" dirty="0">
                <a:solidFill>
                  <a:srgbClr val="0070C0"/>
                </a:solidFill>
                <a:latin typeface="Times New Roman" pitchFamily="18" charset="0"/>
              </a:rPr>
              <a:t>5. </a:t>
            </a:r>
            <a:r>
              <a:rPr lang="en-US" sz="2400" b="1" i="1" dirty="0" err="1">
                <a:solidFill>
                  <a:srgbClr val="0070C0"/>
                </a:solidFill>
                <a:latin typeface="Times New Roman" pitchFamily="18" charset="0"/>
              </a:rPr>
              <a:t>Nguyên</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lý</a:t>
            </a:r>
            <a:r>
              <a:rPr lang="en-US" sz="2400" b="1" i="1" dirty="0">
                <a:solidFill>
                  <a:srgbClr val="0070C0"/>
                </a:solidFill>
                <a:latin typeface="Times New Roman" pitchFamily="18" charset="0"/>
              </a:rPr>
              <a:t> Huygens-  Fresnel</a:t>
            </a:r>
            <a:r>
              <a:rPr lang="en-US" sz="2400" b="1" i="1" dirty="0">
                <a:latin typeface="Times New Roman" pitchFamily="18" charset="0"/>
              </a:rPr>
              <a:t>:</a:t>
            </a:r>
            <a:endParaRPr lang="en-US" sz="2400" dirty="0"/>
          </a:p>
        </p:txBody>
      </p:sp>
      <p:sp>
        <p:nvSpPr>
          <p:cNvPr id="10" name="Rectangle 9"/>
          <p:cNvSpPr/>
          <p:nvPr/>
        </p:nvSpPr>
        <p:spPr>
          <a:xfrm>
            <a:off x="119452" y="4122003"/>
            <a:ext cx="8839200" cy="830997"/>
          </a:xfrm>
          <a:prstGeom prst="rect">
            <a:avLst/>
          </a:prstGeom>
        </p:spPr>
        <p:txBody>
          <a:bodyPr wrap="square">
            <a:spAutoFit/>
          </a:bodyPr>
          <a:lstStyle/>
          <a:p>
            <a:r>
              <a:rPr lang="en-US" sz="2400" dirty="0">
                <a:latin typeface="Times New Roman" pitchFamily="18" charset="0"/>
              </a:rPr>
              <a:t>- </a:t>
            </a:r>
            <a:r>
              <a:rPr lang="en-US" sz="2400" dirty="0" err="1">
                <a:latin typeface="Times New Roman" pitchFamily="18" charset="0"/>
              </a:rPr>
              <a:t>Mỗi</a:t>
            </a:r>
            <a:r>
              <a:rPr lang="en-US" sz="2400" dirty="0">
                <a:latin typeface="Times New Roman" pitchFamily="18" charset="0"/>
              </a:rPr>
              <a:t> </a:t>
            </a:r>
            <a:r>
              <a:rPr lang="en-US" sz="2400" dirty="0" err="1">
                <a:latin typeface="Times New Roman" pitchFamily="18" charset="0"/>
              </a:rPr>
              <a:t>điểm</a:t>
            </a:r>
            <a:r>
              <a:rPr lang="en-US" sz="2400" dirty="0">
                <a:latin typeface="Times New Roman" pitchFamily="18" charset="0"/>
              </a:rPr>
              <a:t> </a:t>
            </a:r>
            <a:r>
              <a:rPr lang="en-US" sz="2400" dirty="0" err="1">
                <a:latin typeface="Times New Roman" pitchFamily="18" charset="0"/>
              </a:rPr>
              <a:t>trong</a:t>
            </a:r>
            <a:r>
              <a:rPr lang="en-US" sz="2400" dirty="0">
                <a:latin typeface="Times New Roman" pitchFamily="18" charset="0"/>
              </a:rPr>
              <a:t> </a:t>
            </a:r>
            <a:r>
              <a:rPr lang="en-US" sz="2400" dirty="0" err="1">
                <a:latin typeface="Times New Roman" pitchFamily="18" charset="0"/>
              </a:rPr>
              <a:t>không</a:t>
            </a:r>
            <a:r>
              <a:rPr lang="en-US" sz="2400" dirty="0">
                <a:latin typeface="Times New Roman" pitchFamily="18" charset="0"/>
              </a:rPr>
              <a:t> </a:t>
            </a:r>
            <a:r>
              <a:rPr lang="en-US" sz="2400" dirty="0" err="1">
                <a:latin typeface="Times New Roman" pitchFamily="18" charset="0"/>
              </a:rPr>
              <a:t>gian</a:t>
            </a:r>
            <a:r>
              <a:rPr lang="en-US" sz="2400" dirty="0">
                <a:latin typeface="Times New Roman" pitchFamily="18" charset="0"/>
              </a:rPr>
              <a:t> </a:t>
            </a:r>
            <a:r>
              <a:rPr lang="en-US" sz="2400" dirty="0" err="1">
                <a:latin typeface="Times New Roman" pitchFamily="18" charset="0"/>
              </a:rPr>
              <a:t>nhận</a:t>
            </a:r>
            <a:r>
              <a:rPr lang="en-US" sz="2400" dirty="0">
                <a:latin typeface="Times New Roman" pitchFamily="18" charset="0"/>
              </a:rPr>
              <a:t> </a:t>
            </a:r>
            <a:r>
              <a:rPr lang="en-US" sz="2400" dirty="0" err="1">
                <a:latin typeface="Times New Roman" pitchFamily="18" charset="0"/>
              </a:rPr>
              <a:t>ánh</a:t>
            </a:r>
            <a:r>
              <a:rPr lang="en-US" sz="2400" dirty="0">
                <a:latin typeface="Times New Roman" pitchFamily="18" charset="0"/>
              </a:rPr>
              <a:t> </a:t>
            </a:r>
            <a:r>
              <a:rPr lang="en-US" sz="2400" dirty="0" err="1">
                <a:latin typeface="Times New Roman" pitchFamily="18" charset="0"/>
              </a:rPr>
              <a:t>sáng</a:t>
            </a:r>
            <a:r>
              <a:rPr lang="en-US" sz="2400" dirty="0">
                <a:latin typeface="Times New Roman" pitchFamily="18" charset="0"/>
              </a:rPr>
              <a:t> </a:t>
            </a:r>
            <a:r>
              <a:rPr lang="en-US" sz="2400" dirty="0" err="1">
                <a:latin typeface="Times New Roman" pitchFamily="18" charset="0"/>
              </a:rPr>
              <a:t>từ</a:t>
            </a:r>
            <a:r>
              <a:rPr lang="en-US" sz="2400" dirty="0">
                <a:latin typeface="Times New Roman" pitchFamily="18" charset="0"/>
              </a:rPr>
              <a:t> </a:t>
            </a:r>
            <a:r>
              <a:rPr lang="en-US" sz="2400" dirty="0" err="1">
                <a:latin typeface="Times New Roman" pitchFamily="18" charset="0"/>
              </a:rPr>
              <a:t>nguồn</a:t>
            </a:r>
            <a:r>
              <a:rPr lang="en-US" sz="2400" dirty="0">
                <a:latin typeface="Times New Roman" pitchFamily="18" charset="0"/>
              </a:rPr>
              <a:t> </a:t>
            </a:r>
            <a:r>
              <a:rPr lang="en-US" sz="2400" dirty="0" err="1">
                <a:latin typeface="Times New Roman" pitchFamily="18" charset="0"/>
              </a:rPr>
              <a:t>thực</a:t>
            </a:r>
            <a:r>
              <a:rPr lang="en-US" sz="2400" dirty="0">
                <a:latin typeface="Times New Roman" pitchFamily="18" charset="0"/>
              </a:rPr>
              <a:t> </a:t>
            </a:r>
            <a:r>
              <a:rPr lang="en-US" sz="2400" dirty="0" err="1">
                <a:latin typeface="Times New Roman" pitchFamily="18" charset="0"/>
              </a:rPr>
              <a:t>truyền</a:t>
            </a:r>
            <a:r>
              <a:rPr lang="en-US" sz="2400" dirty="0">
                <a:latin typeface="Times New Roman" pitchFamily="18" charset="0"/>
              </a:rPr>
              <a:t> </a:t>
            </a:r>
            <a:r>
              <a:rPr lang="en-US" sz="2400" dirty="0" err="1">
                <a:latin typeface="Times New Roman" pitchFamily="18" charset="0"/>
              </a:rPr>
              <a:t>đến</a:t>
            </a:r>
            <a:r>
              <a:rPr lang="en-US" sz="2400" dirty="0">
                <a:latin typeface="Times New Roman" pitchFamily="18" charset="0"/>
              </a:rPr>
              <a:t> </a:t>
            </a:r>
            <a:r>
              <a:rPr lang="en-US" sz="2400" dirty="0" err="1">
                <a:latin typeface="Times New Roman" pitchFamily="18" charset="0"/>
              </a:rPr>
              <a:t>đều</a:t>
            </a:r>
            <a:r>
              <a:rPr lang="en-US" sz="2400" dirty="0">
                <a:latin typeface="Times New Roman" pitchFamily="18" charset="0"/>
              </a:rPr>
              <a:t> </a:t>
            </a:r>
            <a:r>
              <a:rPr lang="en-US" sz="2400" dirty="0" err="1">
                <a:latin typeface="Times New Roman" pitchFamily="18" charset="0"/>
              </a:rPr>
              <a:t>trở</a:t>
            </a:r>
            <a:r>
              <a:rPr lang="en-US" sz="2400" dirty="0">
                <a:latin typeface="Times New Roman" pitchFamily="18" charset="0"/>
              </a:rPr>
              <a:t> </a:t>
            </a:r>
            <a:r>
              <a:rPr lang="en-US" sz="2400" dirty="0" err="1">
                <a:latin typeface="Times New Roman" pitchFamily="18" charset="0"/>
              </a:rPr>
              <a:t>thành</a:t>
            </a:r>
            <a:r>
              <a:rPr lang="en-US" sz="2400" dirty="0">
                <a:latin typeface="Times New Roman" pitchFamily="18" charset="0"/>
              </a:rPr>
              <a:t> </a:t>
            </a:r>
            <a:r>
              <a:rPr lang="en-US" sz="2400" dirty="0" err="1">
                <a:latin typeface="Times New Roman" pitchFamily="18" charset="0"/>
              </a:rPr>
              <a:t>nguồn</a:t>
            </a:r>
            <a:r>
              <a:rPr lang="en-US" sz="2400" dirty="0">
                <a:latin typeface="Times New Roman" pitchFamily="18" charset="0"/>
              </a:rPr>
              <a:t> </a:t>
            </a:r>
            <a:r>
              <a:rPr lang="en-US" sz="2400" dirty="0" err="1">
                <a:latin typeface="Times New Roman" pitchFamily="18" charset="0"/>
              </a:rPr>
              <a:t>phát</a:t>
            </a:r>
            <a:r>
              <a:rPr lang="en-US" sz="2400" dirty="0">
                <a:latin typeface="Times New Roman" pitchFamily="18" charset="0"/>
              </a:rPr>
              <a:t> </a:t>
            </a:r>
            <a:r>
              <a:rPr lang="en-US" sz="2400" dirty="0" err="1">
                <a:latin typeface="Times New Roman" pitchFamily="18" charset="0"/>
              </a:rPr>
              <a:t>sáng</a:t>
            </a:r>
            <a:r>
              <a:rPr lang="en-US" sz="2400" dirty="0">
                <a:latin typeface="Times New Roman" pitchFamily="18" charset="0"/>
              </a:rPr>
              <a:t> </a:t>
            </a:r>
            <a:r>
              <a:rPr lang="en-US" sz="2400" dirty="0" err="1">
                <a:latin typeface="Times New Roman" pitchFamily="18" charset="0"/>
              </a:rPr>
              <a:t>thứ</a:t>
            </a:r>
            <a:r>
              <a:rPr lang="en-US" sz="2400" dirty="0">
                <a:latin typeface="Times New Roman" pitchFamily="18" charset="0"/>
              </a:rPr>
              <a:t> </a:t>
            </a:r>
            <a:r>
              <a:rPr lang="en-US" sz="2400" dirty="0" err="1">
                <a:latin typeface="Times New Roman" pitchFamily="18" charset="0"/>
              </a:rPr>
              <a:t>cấp</a:t>
            </a:r>
            <a:r>
              <a:rPr lang="en-US" sz="2400" dirty="0">
                <a:latin typeface="Times New Roman" pitchFamily="18" charset="0"/>
              </a:rPr>
              <a:t> </a:t>
            </a:r>
            <a:r>
              <a:rPr lang="en-US" sz="2400" dirty="0" err="1">
                <a:latin typeface="Times New Roman" pitchFamily="18" charset="0"/>
              </a:rPr>
              <a:t>phát</a:t>
            </a:r>
            <a:r>
              <a:rPr lang="en-US" sz="2400" dirty="0">
                <a:latin typeface="Times New Roman" pitchFamily="18" charset="0"/>
              </a:rPr>
              <a:t> </a:t>
            </a:r>
            <a:r>
              <a:rPr lang="en-US" sz="2400" dirty="0" err="1">
                <a:latin typeface="Times New Roman" pitchFamily="18" charset="0"/>
              </a:rPr>
              <a:t>ánh</a:t>
            </a:r>
            <a:r>
              <a:rPr lang="en-US" sz="2400" dirty="0">
                <a:latin typeface="Times New Roman" pitchFamily="18" charset="0"/>
              </a:rPr>
              <a:t> </a:t>
            </a:r>
            <a:r>
              <a:rPr lang="en-US" sz="2400" dirty="0" err="1">
                <a:latin typeface="Times New Roman" pitchFamily="18" charset="0"/>
              </a:rPr>
              <a:t>sáng</a:t>
            </a:r>
            <a:r>
              <a:rPr lang="en-US" sz="2400" dirty="0">
                <a:latin typeface="Times New Roman" pitchFamily="18" charset="0"/>
              </a:rPr>
              <a:t> </a:t>
            </a:r>
            <a:r>
              <a:rPr lang="en-US" sz="2400" dirty="0" err="1">
                <a:latin typeface="Times New Roman" pitchFamily="18" charset="0"/>
              </a:rPr>
              <a:t>về</a:t>
            </a:r>
            <a:r>
              <a:rPr lang="en-US" sz="2400" dirty="0">
                <a:latin typeface="Times New Roman" pitchFamily="18" charset="0"/>
              </a:rPr>
              <a:t> </a:t>
            </a:r>
            <a:r>
              <a:rPr lang="en-US" sz="2400" dirty="0" err="1">
                <a:latin typeface="Times New Roman" pitchFamily="18" charset="0"/>
              </a:rPr>
              <a:t>phía</a:t>
            </a:r>
            <a:r>
              <a:rPr lang="en-US" sz="2400" dirty="0">
                <a:latin typeface="Times New Roman" pitchFamily="18" charset="0"/>
              </a:rPr>
              <a:t> </a:t>
            </a:r>
            <a:r>
              <a:rPr lang="en-US" sz="2400" dirty="0" err="1">
                <a:latin typeface="Times New Roman" pitchFamily="18" charset="0"/>
              </a:rPr>
              <a:t>trước</a:t>
            </a:r>
            <a:r>
              <a:rPr lang="en-US" sz="2400" dirty="0">
                <a:latin typeface="Times New Roman" pitchFamily="18" charset="0"/>
              </a:rPr>
              <a:t> </a:t>
            </a:r>
            <a:r>
              <a:rPr lang="en-US" sz="2400" dirty="0" err="1">
                <a:latin typeface="Times New Roman" pitchFamily="18" charset="0"/>
              </a:rPr>
              <a:t>nó</a:t>
            </a:r>
            <a:r>
              <a:rPr lang="en-US" sz="2400" dirty="0">
                <a:latin typeface="Times New Roman" pitchFamily="18" charset="0"/>
              </a:rPr>
              <a:t>.</a:t>
            </a:r>
          </a:p>
        </p:txBody>
      </p:sp>
      <p:sp>
        <p:nvSpPr>
          <p:cNvPr id="11" name="Rectangle 10"/>
          <p:cNvSpPr/>
          <p:nvPr/>
        </p:nvSpPr>
        <p:spPr>
          <a:xfrm>
            <a:off x="152400" y="5181600"/>
            <a:ext cx="8905095" cy="830997"/>
          </a:xfrm>
          <a:prstGeom prst="rect">
            <a:avLst/>
          </a:prstGeom>
        </p:spPr>
        <p:txBody>
          <a:bodyPr wrap="square">
            <a:spAutoFit/>
          </a:bodyPr>
          <a:lstStyle/>
          <a:p>
            <a:r>
              <a:rPr lang="vi-VN" sz="2400" dirty="0">
                <a:latin typeface="+mj-lt"/>
              </a:rPr>
              <a:t>- Biên độ và pha của nguồn thứ cấp là biên độ và pha do nguồn thực gây ra tại vị trí của nguồn thứ cấp</a:t>
            </a:r>
            <a:endParaRPr lang="en-US" sz="2400" dirty="0">
              <a:latin typeface="+mj-lt"/>
            </a:endParaRPr>
          </a:p>
        </p:txBody>
      </p:sp>
    </p:spTree>
    <p:extLst>
      <p:ext uri="{BB962C8B-B14F-4D97-AF65-F5344CB8AC3E}">
        <p14:creationId xmlns:p14="http://schemas.microsoft.com/office/powerpoint/2010/main" val="879839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9" grpId="0"/>
      <p:bldP spid="10"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 y="0"/>
            <a:ext cx="8915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0"/>
            <a:ext cx="89154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§1. GIAO THOA ÁNH SÁNG</a:t>
            </a:r>
          </a:p>
        </p:txBody>
      </p:sp>
      <p:sp>
        <p:nvSpPr>
          <p:cNvPr id="2" name="TextBox 1"/>
          <p:cNvSpPr txBox="1"/>
          <p:nvPr/>
        </p:nvSpPr>
        <p:spPr>
          <a:xfrm>
            <a:off x="76200" y="685800"/>
            <a:ext cx="8915400" cy="461665"/>
          </a:xfrm>
          <a:prstGeom prst="rect">
            <a:avLst/>
          </a:prstGeom>
          <a:noFill/>
        </p:spPr>
        <p:txBody>
          <a:bodyPr wrap="square" rtlCol="0">
            <a:spAutoFit/>
          </a:bodyPr>
          <a:lstStyle/>
          <a:p>
            <a:r>
              <a:rPr lang="en-US" sz="2400" b="1" dirty="0">
                <a:solidFill>
                  <a:srgbClr val="FF0000"/>
                </a:solidFill>
                <a:latin typeface="Times New Roman" pitchFamily="18" charset="0"/>
                <a:cs typeface="Times New Roman" pitchFamily="18" charset="0"/>
              </a:rPr>
              <a:t>III. </a:t>
            </a:r>
            <a:r>
              <a:rPr lang="en-US" sz="2400" b="1" dirty="0" err="1">
                <a:solidFill>
                  <a:srgbClr val="FF0000"/>
                </a:solidFill>
                <a:latin typeface="Times New Roman" pitchFamily="18" charset="0"/>
                <a:cs typeface="Times New Roman" pitchFamily="18" charset="0"/>
              </a:rPr>
              <a:t>Giao</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thoa</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ánh</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sáng</a:t>
            </a:r>
            <a:endParaRPr lang="en-US" sz="2400" b="1" dirty="0">
              <a:solidFill>
                <a:srgbClr val="FF0000"/>
              </a:solidFill>
              <a:latin typeface="Times New Roman" pitchFamily="18" charset="0"/>
              <a:cs typeface="Times New Roman" pitchFamily="18" charset="0"/>
            </a:endParaRPr>
          </a:p>
        </p:txBody>
      </p:sp>
      <p:sp>
        <p:nvSpPr>
          <p:cNvPr id="3" name="Rectangle 2"/>
          <p:cNvSpPr/>
          <p:nvPr/>
        </p:nvSpPr>
        <p:spPr>
          <a:xfrm>
            <a:off x="152400" y="1147465"/>
            <a:ext cx="5133898" cy="461665"/>
          </a:xfrm>
          <a:prstGeom prst="rect">
            <a:avLst/>
          </a:prstGeom>
        </p:spPr>
        <p:txBody>
          <a:bodyPr wrap="square">
            <a:spAutoFit/>
          </a:bodyPr>
          <a:lstStyle/>
          <a:p>
            <a:r>
              <a:rPr lang="en-US" sz="2400" b="1" i="1" dirty="0">
                <a:solidFill>
                  <a:schemeClr val="hlink"/>
                </a:solidFill>
                <a:latin typeface="Times New Roman" pitchFamily="18" charset="0"/>
              </a:rPr>
              <a:t>1.Định </a:t>
            </a:r>
            <a:r>
              <a:rPr lang="en-US" sz="2400" b="1" i="1" dirty="0" err="1">
                <a:solidFill>
                  <a:schemeClr val="hlink"/>
                </a:solidFill>
                <a:latin typeface="Times New Roman" pitchFamily="18" charset="0"/>
              </a:rPr>
              <a:t>nghĩa</a:t>
            </a:r>
            <a:r>
              <a:rPr lang="en-US" sz="2400" b="1" i="1" dirty="0">
                <a:solidFill>
                  <a:schemeClr val="hlink"/>
                </a:solidFill>
                <a:latin typeface="Times New Roman" pitchFamily="18" charset="0"/>
              </a:rPr>
              <a:t>:</a:t>
            </a:r>
            <a:endParaRPr lang="en-US" sz="2400" i="1" dirty="0"/>
          </a:p>
        </p:txBody>
      </p:sp>
      <p:sp>
        <p:nvSpPr>
          <p:cNvPr id="6" name="Rectangle 5"/>
          <p:cNvSpPr/>
          <p:nvPr/>
        </p:nvSpPr>
        <p:spPr>
          <a:xfrm>
            <a:off x="76200" y="1609130"/>
            <a:ext cx="8915400" cy="830997"/>
          </a:xfrm>
          <a:prstGeom prst="rect">
            <a:avLst/>
          </a:prstGeom>
        </p:spPr>
        <p:txBody>
          <a:bodyPr wrap="square">
            <a:spAutoFit/>
          </a:bodyPr>
          <a:lstStyle/>
          <a:p>
            <a:pPr algn="just"/>
            <a:r>
              <a:rPr lang="en-US" sz="2400" dirty="0" err="1">
                <a:latin typeface="Times New Roman" pitchFamily="18" charset="0"/>
              </a:rPr>
              <a:t>Là</a:t>
            </a:r>
            <a:r>
              <a:rPr lang="en-US" sz="2400" dirty="0">
                <a:latin typeface="Times New Roman" pitchFamily="18" charset="0"/>
              </a:rPr>
              <a:t> </a:t>
            </a:r>
            <a:r>
              <a:rPr lang="en-US" sz="2400" dirty="0" err="1">
                <a:latin typeface="Times New Roman" pitchFamily="18" charset="0"/>
              </a:rPr>
              <a:t>hiện</a:t>
            </a:r>
            <a:r>
              <a:rPr lang="en-US" sz="2400" dirty="0">
                <a:latin typeface="Times New Roman" pitchFamily="18" charset="0"/>
              </a:rPr>
              <a:t> </a:t>
            </a:r>
            <a:r>
              <a:rPr lang="en-US" sz="2400" dirty="0" err="1">
                <a:latin typeface="Times New Roman" pitchFamily="18" charset="0"/>
              </a:rPr>
              <a:t>tượng</a:t>
            </a:r>
            <a:r>
              <a:rPr lang="en-US" sz="2400" dirty="0">
                <a:latin typeface="Times New Roman" pitchFamily="18" charset="0"/>
              </a:rPr>
              <a:t> </a:t>
            </a:r>
            <a:r>
              <a:rPr lang="en-US" sz="2400" dirty="0" err="1">
                <a:latin typeface="Times New Roman" pitchFamily="18" charset="0"/>
              </a:rPr>
              <a:t>gặp</a:t>
            </a:r>
            <a:r>
              <a:rPr lang="en-US" sz="2400" dirty="0">
                <a:latin typeface="Times New Roman" pitchFamily="18" charset="0"/>
              </a:rPr>
              <a:t> </a:t>
            </a:r>
            <a:r>
              <a:rPr lang="en-US" sz="2400" dirty="0" err="1">
                <a:latin typeface="Times New Roman" pitchFamily="18" charset="0"/>
              </a:rPr>
              <a:t>nhau</a:t>
            </a:r>
            <a:r>
              <a:rPr lang="en-US" sz="2400" dirty="0">
                <a:latin typeface="Times New Roman" pitchFamily="18" charset="0"/>
              </a:rPr>
              <a:t> </a:t>
            </a:r>
            <a:r>
              <a:rPr lang="en-US" sz="2400" dirty="0" err="1">
                <a:latin typeface="Times New Roman" pitchFamily="18" charset="0"/>
              </a:rPr>
              <a:t>của</a:t>
            </a:r>
            <a:r>
              <a:rPr lang="en-US" sz="2400" dirty="0">
                <a:latin typeface="Times New Roman" pitchFamily="18" charset="0"/>
              </a:rPr>
              <a:t> 2 hay </a:t>
            </a:r>
            <a:r>
              <a:rPr lang="en-US" sz="2400" dirty="0" err="1">
                <a:latin typeface="Times New Roman" pitchFamily="18" charset="0"/>
              </a:rPr>
              <a:t>nhiều</a:t>
            </a:r>
            <a:r>
              <a:rPr lang="en-US" sz="2400" dirty="0">
                <a:latin typeface="Times New Roman" pitchFamily="18" charset="0"/>
              </a:rPr>
              <a:t> </a:t>
            </a:r>
            <a:r>
              <a:rPr lang="en-US" sz="2400" dirty="0" err="1">
                <a:latin typeface="Times New Roman" pitchFamily="18" charset="0"/>
              </a:rPr>
              <a:t>sóng</a:t>
            </a:r>
            <a:r>
              <a:rPr lang="en-US" sz="2400" dirty="0">
                <a:latin typeface="Times New Roman" pitchFamily="18" charset="0"/>
              </a:rPr>
              <a:t>  </a:t>
            </a:r>
            <a:r>
              <a:rPr lang="en-US" sz="2400" dirty="0" err="1">
                <a:latin typeface="Times New Roman" pitchFamily="18" charset="0"/>
              </a:rPr>
              <a:t>ánh</a:t>
            </a:r>
            <a:r>
              <a:rPr lang="en-US" sz="2400" dirty="0">
                <a:latin typeface="Times New Roman" pitchFamily="18" charset="0"/>
              </a:rPr>
              <a:t> </a:t>
            </a:r>
            <a:r>
              <a:rPr lang="en-US" sz="2400" dirty="0" err="1">
                <a:latin typeface="Times New Roman" pitchFamily="18" charset="0"/>
              </a:rPr>
              <a:t>sáng</a:t>
            </a:r>
            <a:r>
              <a:rPr lang="en-US" sz="2400" dirty="0">
                <a:latin typeface="Times New Roman" pitchFamily="18" charset="0"/>
              </a:rPr>
              <a:t> </a:t>
            </a:r>
            <a:r>
              <a:rPr lang="en-US" sz="2400" dirty="0" err="1">
                <a:solidFill>
                  <a:srgbClr val="FF0000"/>
                </a:solidFill>
                <a:latin typeface="Times New Roman" pitchFamily="18" charset="0"/>
              </a:rPr>
              <a:t>kết</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hợp</a:t>
            </a:r>
            <a:r>
              <a:rPr lang="en-US" sz="2400" dirty="0">
                <a:latin typeface="Times New Roman" pitchFamily="18" charset="0"/>
              </a:rPr>
              <a:t>, </a:t>
            </a:r>
            <a:r>
              <a:rPr lang="en-US" sz="2400" dirty="0" err="1">
                <a:latin typeface="Times New Roman" pitchFamily="18" charset="0"/>
              </a:rPr>
              <a:t>kết</a:t>
            </a:r>
            <a:r>
              <a:rPr lang="en-US" sz="2400" dirty="0">
                <a:latin typeface="Times New Roman" pitchFamily="18" charset="0"/>
              </a:rPr>
              <a:t> </a:t>
            </a:r>
            <a:r>
              <a:rPr lang="en-US" sz="2400" dirty="0" err="1">
                <a:latin typeface="Times New Roman" pitchFamily="18" charset="0"/>
              </a:rPr>
              <a:t>quả</a:t>
            </a:r>
            <a:r>
              <a:rPr lang="en-US" sz="2400" dirty="0">
                <a:latin typeface="Times New Roman" pitchFamily="18" charset="0"/>
              </a:rPr>
              <a:t> </a:t>
            </a:r>
            <a:r>
              <a:rPr lang="en-US" sz="2400" dirty="0" err="1">
                <a:latin typeface="Times New Roman" pitchFamily="18" charset="0"/>
              </a:rPr>
              <a:t>trong</a:t>
            </a:r>
            <a:r>
              <a:rPr lang="en-US" sz="2400" dirty="0">
                <a:latin typeface="Times New Roman" pitchFamily="18" charset="0"/>
              </a:rPr>
              <a:t> </a:t>
            </a:r>
            <a:r>
              <a:rPr lang="en-US" sz="2400" dirty="0" err="1">
                <a:latin typeface="Times New Roman" pitchFamily="18" charset="0"/>
              </a:rPr>
              <a:t>miền</a:t>
            </a:r>
            <a:r>
              <a:rPr lang="en-US" sz="2400" dirty="0">
                <a:latin typeface="Times New Roman" pitchFamily="18" charset="0"/>
              </a:rPr>
              <a:t> </a:t>
            </a:r>
            <a:r>
              <a:rPr lang="en-US" sz="2400" dirty="0" err="1">
                <a:latin typeface="Times New Roman" pitchFamily="18" charset="0"/>
              </a:rPr>
              <a:t>giao</a:t>
            </a:r>
            <a:r>
              <a:rPr lang="en-US" sz="2400" dirty="0">
                <a:latin typeface="Times New Roman" pitchFamily="18" charset="0"/>
              </a:rPr>
              <a:t> </a:t>
            </a:r>
            <a:r>
              <a:rPr lang="en-US" sz="2400" dirty="0" err="1">
                <a:latin typeface="Times New Roman" pitchFamily="18" charset="0"/>
              </a:rPr>
              <a:t>thoa</a:t>
            </a:r>
            <a:r>
              <a:rPr lang="en-US" sz="2400" dirty="0">
                <a:latin typeface="Times New Roman" pitchFamily="18" charset="0"/>
              </a:rPr>
              <a:t> </a:t>
            </a:r>
            <a:r>
              <a:rPr lang="en-US" sz="2400" dirty="0" err="1">
                <a:latin typeface="Times New Roman" pitchFamily="18" charset="0"/>
              </a:rPr>
              <a:t>xuất</a:t>
            </a:r>
            <a:r>
              <a:rPr lang="en-US" sz="2400" dirty="0">
                <a:latin typeface="Times New Roman" pitchFamily="18" charset="0"/>
              </a:rPr>
              <a:t> </a:t>
            </a:r>
            <a:r>
              <a:rPr lang="en-US" sz="2400" dirty="0" err="1">
                <a:latin typeface="Times New Roman" pitchFamily="18" charset="0"/>
              </a:rPr>
              <a:t>hiện</a:t>
            </a:r>
            <a:r>
              <a:rPr lang="en-US" sz="2400" dirty="0">
                <a:latin typeface="Times New Roman" pitchFamily="18" charset="0"/>
              </a:rPr>
              <a:t> </a:t>
            </a:r>
            <a:r>
              <a:rPr lang="en-US" sz="2400" dirty="0" err="1">
                <a:latin typeface="Times New Roman" pitchFamily="18" charset="0"/>
              </a:rPr>
              <a:t>các</a:t>
            </a:r>
            <a:r>
              <a:rPr lang="en-US" sz="2400" dirty="0">
                <a:latin typeface="Times New Roman" pitchFamily="18" charset="0"/>
              </a:rPr>
              <a:t> </a:t>
            </a:r>
            <a:r>
              <a:rPr lang="en-US" sz="2400" dirty="0" err="1">
                <a:solidFill>
                  <a:srgbClr val="FF0000"/>
                </a:solidFill>
                <a:latin typeface="Times New Roman" pitchFamily="18" charset="0"/>
              </a:rPr>
              <a:t>vân</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sáng</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và</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tối</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xen</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kẽ</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nhau</a:t>
            </a:r>
            <a:r>
              <a:rPr lang="en-US" sz="2400" dirty="0">
                <a:latin typeface="Times New Roman" pitchFamily="18" charset="0"/>
              </a:rPr>
              <a:t>.</a:t>
            </a:r>
          </a:p>
        </p:txBody>
      </p:sp>
      <p:sp>
        <p:nvSpPr>
          <p:cNvPr id="7" name="TextBox 6"/>
          <p:cNvSpPr txBox="1"/>
          <p:nvPr/>
        </p:nvSpPr>
        <p:spPr>
          <a:xfrm>
            <a:off x="76200" y="2521803"/>
            <a:ext cx="8839200" cy="830997"/>
          </a:xfrm>
          <a:prstGeom prst="rect">
            <a:avLst/>
          </a:prstGeom>
          <a:noFill/>
        </p:spPr>
        <p:txBody>
          <a:bodyPr wrap="square" rtlCol="0">
            <a:spAutoFit/>
          </a:bodyPr>
          <a:lstStyle/>
          <a:p>
            <a:r>
              <a:rPr lang="en-US" sz="2400" dirty="0">
                <a:latin typeface="Times New Roman" pitchFamily="18" charset="0"/>
                <a:cs typeface="Times New Roman" pitchFamily="18" charset="0"/>
              </a:rPr>
              <a:t>S</a:t>
            </a:r>
            <a:r>
              <a:rPr lang="vi-VN" sz="2400" dirty="0">
                <a:latin typeface="Times New Roman" pitchFamily="18" charset="0"/>
                <a:cs typeface="Times New Roman" pitchFamily="18" charset="0"/>
              </a:rPr>
              <a:t>óng ánh sáng kết hợp là những sóng có </a:t>
            </a:r>
            <a:r>
              <a:rPr lang="vi-VN" sz="2400" dirty="0">
                <a:solidFill>
                  <a:srgbClr val="FF0000"/>
                </a:solidFill>
                <a:latin typeface="Times New Roman" pitchFamily="18" charset="0"/>
                <a:cs typeface="Times New Roman" pitchFamily="18" charset="0"/>
              </a:rPr>
              <a:t>hiệu pha không thay đổi </a:t>
            </a:r>
            <a:r>
              <a:rPr lang="vi-VN" sz="2400" dirty="0">
                <a:latin typeface="Times New Roman" pitchFamily="18" charset="0"/>
                <a:cs typeface="Times New Roman" pitchFamily="18" charset="0"/>
              </a:rPr>
              <a:t>theo thời gian</a:t>
            </a:r>
            <a:r>
              <a:rPr lang="en-US" dirty="0"/>
              <a:t>.</a:t>
            </a:r>
          </a:p>
        </p:txBody>
      </p:sp>
      <p:sp>
        <p:nvSpPr>
          <p:cNvPr id="8" name="TextBox 7"/>
          <p:cNvSpPr txBox="1"/>
          <p:nvPr/>
        </p:nvSpPr>
        <p:spPr>
          <a:xfrm>
            <a:off x="76200" y="3360003"/>
            <a:ext cx="8763000" cy="830997"/>
          </a:xfrm>
          <a:prstGeom prst="rect">
            <a:avLst/>
          </a:prstGeom>
          <a:noFill/>
        </p:spPr>
        <p:txBody>
          <a:bodyPr wrap="square" rtlCol="0">
            <a:spAutoFit/>
          </a:bodyPr>
          <a:lstStyle/>
          <a:p>
            <a:r>
              <a:rPr lang="en-US" sz="2400" dirty="0" err="1">
                <a:latin typeface="Times New Roman" pitchFamily="18" charset="0"/>
                <a:cs typeface="Times New Roman" pitchFamily="18" charset="0"/>
              </a:rPr>
              <a:t>Nguyên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tắc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tạo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ra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hai</a:t>
            </a:r>
            <a:r>
              <a:rPr lang="en-US" sz="2400" dirty="0">
                <a:latin typeface="Times New Roman" pitchFamily="18" charset="0"/>
                <a:cs typeface="Times New Roman" pitchFamily="18" charset="0"/>
              </a:rPr>
              <a:t> hay </a:t>
            </a:r>
            <a:r>
              <a:rPr lang="en-US" sz="2400" dirty="0" err="1">
                <a:latin typeface="Times New Roman" pitchFamily="18" charset="0"/>
                <a:cs typeface="Times New Roman" pitchFamily="18" charset="0"/>
              </a:rPr>
              <a:t>nhiều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sóng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ánh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sáng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kết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hợp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từ</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một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sóng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duy</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nhất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tách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ra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thành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hai</a:t>
            </a:r>
            <a:r>
              <a:rPr lang="en-US" sz="2400" dirty="0">
                <a:latin typeface="Times New Roman" pitchFamily="18" charset="0"/>
                <a:cs typeface="Times New Roman" pitchFamily="18" charset="0"/>
              </a:rPr>
              <a:t> hay </a:t>
            </a:r>
            <a:r>
              <a:rPr lang="en-US" sz="2400" dirty="0" err="1">
                <a:latin typeface="Times New Roman" pitchFamily="18" charset="0"/>
                <a:cs typeface="Times New Roman" pitchFamily="18" charset="0"/>
              </a:rPr>
              <a:t>nhiều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sóng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riêng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biệt</a:t>
            </a:r>
            <a:r>
              <a:rPr lang="en-US" sz="2400" dirty="0">
                <a:latin typeface="Times New Roman" pitchFamily="18" charset="0"/>
                <a:cs typeface="Times New Roman" pitchFamily="18" charset="0"/>
              </a:rPr>
              <a:t>. </a:t>
            </a:r>
          </a:p>
        </p:txBody>
      </p:sp>
    </p:spTree>
    <p:extLst>
      <p:ext uri="{BB962C8B-B14F-4D97-AF65-F5344CB8AC3E}">
        <p14:creationId xmlns:p14="http://schemas.microsoft.com/office/powerpoint/2010/main" val="879839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 y="1"/>
            <a:ext cx="8915400" cy="4688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0"/>
            <a:ext cx="89154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§1. GIAO THOA ÁNH SÁNG</a:t>
            </a:r>
          </a:p>
        </p:txBody>
      </p:sp>
      <p:sp>
        <p:nvSpPr>
          <p:cNvPr id="2" name="Rectangle 1"/>
          <p:cNvSpPr/>
          <p:nvPr/>
        </p:nvSpPr>
        <p:spPr>
          <a:xfrm>
            <a:off x="0" y="457200"/>
            <a:ext cx="6731348" cy="461665"/>
          </a:xfrm>
          <a:prstGeom prst="rect">
            <a:avLst/>
          </a:prstGeom>
        </p:spPr>
        <p:txBody>
          <a:bodyPr wrap="square">
            <a:spAutoFit/>
          </a:bodyPr>
          <a:lstStyle/>
          <a:p>
            <a:pPr marL="812800" indent="-812800"/>
            <a:r>
              <a:rPr lang="en-US" sz="2400" b="1" dirty="0">
                <a:solidFill>
                  <a:schemeClr val="hlink"/>
                </a:solidFill>
                <a:latin typeface="Times New Roman" pitchFamily="18" charset="0"/>
              </a:rPr>
              <a:t>2</a:t>
            </a:r>
            <a:r>
              <a:rPr lang="en-US" sz="2400" b="1" i="1" dirty="0">
                <a:solidFill>
                  <a:schemeClr val="hlink"/>
                </a:solidFill>
                <a:latin typeface="Times New Roman" pitchFamily="18" charset="0"/>
              </a:rPr>
              <a:t>. </a:t>
            </a:r>
            <a:r>
              <a:rPr lang="en-US" sz="2400" b="1" i="1" dirty="0" err="1">
                <a:solidFill>
                  <a:schemeClr val="hlink"/>
                </a:solidFill>
                <a:latin typeface="Times New Roman" pitchFamily="18" charset="0"/>
              </a:rPr>
              <a:t>Khảo</a:t>
            </a:r>
            <a:r>
              <a:rPr lang="en-US" sz="2400" b="1" i="1" dirty="0">
                <a:solidFill>
                  <a:schemeClr val="hlink"/>
                </a:solidFill>
                <a:latin typeface="Times New Roman" pitchFamily="18" charset="0"/>
              </a:rPr>
              <a:t> </a:t>
            </a:r>
            <a:r>
              <a:rPr lang="en-US" sz="2400" b="1" i="1" dirty="0" err="1">
                <a:solidFill>
                  <a:schemeClr val="hlink"/>
                </a:solidFill>
                <a:latin typeface="Times New Roman" pitchFamily="18" charset="0"/>
              </a:rPr>
              <a:t>sát</a:t>
            </a:r>
            <a:r>
              <a:rPr lang="en-US" sz="2400" b="1" i="1" dirty="0">
                <a:solidFill>
                  <a:schemeClr val="hlink"/>
                </a:solidFill>
                <a:latin typeface="Times New Roman" pitchFamily="18" charset="0"/>
              </a:rPr>
              <a:t> </a:t>
            </a:r>
            <a:r>
              <a:rPr lang="en-US" sz="2400" b="1" i="1" dirty="0" err="1">
                <a:solidFill>
                  <a:schemeClr val="hlink"/>
                </a:solidFill>
                <a:latin typeface="Times New Roman" pitchFamily="18" charset="0"/>
              </a:rPr>
              <a:t>hiện</a:t>
            </a:r>
            <a:r>
              <a:rPr lang="en-US" sz="2400" b="1" i="1" dirty="0">
                <a:solidFill>
                  <a:schemeClr val="hlink"/>
                </a:solidFill>
                <a:latin typeface="Times New Roman" pitchFamily="18" charset="0"/>
              </a:rPr>
              <a:t> </a:t>
            </a:r>
            <a:r>
              <a:rPr lang="en-US" sz="2400" b="1" i="1" dirty="0" err="1">
                <a:solidFill>
                  <a:schemeClr val="hlink"/>
                </a:solidFill>
                <a:latin typeface="Times New Roman" pitchFamily="18" charset="0"/>
              </a:rPr>
              <a:t>tượng</a:t>
            </a:r>
            <a:r>
              <a:rPr lang="en-US" sz="2400" b="1" i="1" dirty="0">
                <a:solidFill>
                  <a:schemeClr val="hlink"/>
                </a:solidFill>
                <a:latin typeface="Times New Roman" pitchFamily="18" charset="0"/>
              </a:rPr>
              <a:t> </a:t>
            </a:r>
            <a:r>
              <a:rPr lang="en-US" sz="2400" b="1" i="1" dirty="0" err="1">
                <a:solidFill>
                  <a:schemeClr val="hlink"/>
                </a:solidFill>
                <a:latin typeface="Times New Roman" pitchFamily="18" charset="0"/>
              </a:rPr>
              <a:t>giao</a:t>
            </a:r>
            <a:r>
              <a:rPr lang="en-US" sz="2400" b="1" i="1" dirty="0">
                <a:solidFill>
                  <a:schemeClr val="hlink"/>
                </a:solidFill>
                <a:latin typeface="Times New Roman" pitchFamily="18" charset="0"/>
              </a:rPr>
              <a:t> </a:t>
            </a:r>
            <a:r>
              <a:rPr lang="en-US" sz="2400" b="1" i="1" dirty="0" err="1">
                <a:solidFill>
                  <a:schemeClr val="hlink"/>
                </a:solidFill>
                <a:latin typeface="Times New Roman" pitchFamily="18" charset="0"/>
              </a:rPr>
              <a:t>thoa</a:t>
            </a:r>
            <a:r>
              <a:rPr lang="en-US" sz="2400" b="1" i="1" dirty="0">
                <a:solidFill>
                  <a:schemeClr val="hlink"/>
                </a:solidFill>
                <a:latin typeface="Times New Roman" pitchFamily="18" charset="0"/>
              </a:rPr>
              <a:t> </a:t>
            </a:r>
            <a:r>
              <a:rPr lang="en-US" sz="2400" b="1" i="1" dirty="0" err="1">
                <a:solidFill>
                  <a:schemeClr val="hlink"/>
                </a:solidFill>
                <a:latin typeface="Times New Roman" pitchFamily="18" charset="0"/>
              </a:rPr>
              <a:t>sánh</a:t>
            </a:r>
            <a:r>
              <a:rPr lang="en-US" sz="2400" b="1" i="1" dirty="0">
                <a:solidFill>
                  <a:schemeClr val="hlink"/>
                </a:solidFill>
                <a:latin typeface="Times New Roman" pitchFamily="18" charset="0"/>
              </a:rPr>
              <a:t> </a:t>
            </a:r>
            <a:r>
              <a:rPr lang="en-US" sz="2400" b="1" i="1" dirty="0" err="1">
                <a:solidFill>
                  <a:schemeClr val="hlink"/>
                </a:solidFill>
                <a:latin typeface="Times New Roman" pitchFamily="18" charset="0"/>
              </a:rPr>
              <a:t>sáng</a:t>
            </a:r>
            <a:endParaRPr lang="en-US" sz="2400" b="1" i="1" dirty="0">
              <a:solidFill>
                <a:schemeClr val="hlink"/>
              </a:solidFill>
              <a:latin typeface="Times New Roman" pitchFamily="18" charset="0"/>
            </a:endParaRPr>
          </a:p>
        </p:txBody>
      </p:sp>
      <p:sp>
        <p:nvSpPr>
          <p:cNvPr id="3" name="Rectangle 2"/>
          <p:cNvSpPr/>
          <p:nvPr/>
        </p:nvSpPr>
        <p:spPr>
          <a:xfrm>
            <a:off x="152401" y="838200"/>
            <a:ext cx="6352180" cy="461665"/>
          </a:xfrm>
          <a:prstGeom prst="rect">
            <a:avLst/>
          </a:prstGeom>
        </p:spPr>
        <p:txBody>
          <a:bodyPr wrap="square">
            <a:spAutoFit/>
          </a:bodyPr>
          <a:lstStyle/>
          <a:p>
            <a:pPr marL="812800" indent="-812800"/>
            <a:r>
              <a:rPr lang="en-US" sz="2400" b="1" i="1" dirty="0" err="1">
                <a:latin typeface="Times New Roman" pitchFamily="18" charset="0"/>
              </a:rPr>
              <a:t>a.Điều</a:t>
            </a:r>
            <a:r>
              <a:rPr lang="en-US" sz="2400" b="1" i="1" dirty="0">
                <a:latin typeface="Times New Roman" pitchFamily="18" charset="0"/>
              </a:rPr>
              <a:t> </a:t>
            </a:r>
            <a:r>
              <a:rPr lang="en-US" sz="2400" b="1" i="1" dirty="0" err="1">
                <a:latin typeface="Times New Roman" pitchFamily="18" charset="0"/>
              </a:rPr>
              <a:t>kiện</a:t>
            </a:r>
            <a:r>
              <a:rPr lang="en-US" sz="2400" b="1" i="1" dirty="0">
                <a:latin typeface="Times New Roman" pitchFamily="18" charset="0"/>
              </a:rPr>
              <a:t> </a:t>
            </a:r>
            <a:r>
              <a:rPr lang="en-US" sz="2400" b="1" i="1" dirty="0" err="1">
                <a:latin typeface="Times New Roman" pitchFamily="18" charset="0"/>
              </a:rPr>
              <a:t>cực</a:t>
            </a:r>
            <a:r>
              <a:rPr lang="en-US" sz="2400" b="1" i="1" dirty="0">
                <a:latin typeface="Times New Roman" pitchFamily="18" charset="0"/>
              </a:rPr>
              <a:t> </a:t>
            </a:r>
            <a:r>
              <a:rPr lang="en-US" sz="2400" b="1" i="1" dirty="0" err="1">
                <a:latin typeface="Times New Roman" pitchFamily="18" charset="0"/>
              </a:rPr>
              <a:t>đại</a:t>
            </a:r>
            <a:r>
              <a:rPr lang="en-US" sz="2400" b="1" i="1" dirty="0">
                <a:latin typeface="Times New Roman" pitchFamily="18" charset="0"/>
              </a:rPr>
              <a:t>, </a:t>
            </a:r>
            <a:r>
              <a:rPr lang="en-US" sz="2400" b="1" i="1" dirty="0" err="1">
                <a:latin typeface="Times New Roman" pitchFamily="18" charset="0"/>
              </a:rPr>
              <a:t>cực</a:t>
            </a:r>
            <a:r>
              <a:rPr lang="en-US" sz="2400" b="1" i="1" dirty="0">
                <a:latin typeface="Times New Roman" pitchFamily="18" charset="0"/>
              </a:rPr>
              <a:t> </a:t>
            </a:r>
            <a:r>
              <a:rPr lang="en-US" sz="2400" b="1" i="1" dirty="0" err="1">
                <a:latin typeface="Times New Roman" pitchFamily="18" charset="0"/>
              </a:rPr>
              <a:t>tiểu</a:t>
            </a:r>
            <a:r>
              <a:rPr lang="en-US" sz="2400" b="1" i="1" dirty="0">
                <a:latin typeface="Times New Roman" pitchFamily="18" charset="0"/>
              </a:rPr>
              <a:t> </a:t>
            </a:r>
            <a:r>
              <a:rPr lang="en-US" sz="2400" b="1" i="1" dirty="0" err="1">
                <a:latin typeface="Times New Roman" pitchFamily="18" charset="0"/>
              </a:rPr>
              <a:t>giao</a:t>
            </a:r>
            <a:r>
              <a:rPr lang="en-US" sz="2400" b="1" i="1" dirty="0">
                <a:latin typeface="Times New Roman" pitchFamily="18" charset="0"/>
              </a:rPr>
              <a:t> </a:t>
            </a:r>
            <a:r>
              <a:rPr lang="en-US" sz="2400" b="1" i="1" dirty="0" err="1">
                <a:latin typeface="Times New Roman" pitchFamily="18" charset="0"/>
              </a:rPr>
              <a:t>thoa</a:t>
            </a:r>
            <a:endParaRPr lang="en-US" sz="2400" b="1" i="1" dirty="0">
              <a:latin typeface="Times New Roman" pitchFamily="18" charset="0"/>
            </a:endParaRPr>
          </a:p>
        </p:txBody>
      </p:sp>
      <p:sp>
        <p:nvSpPr>
          <p:cNvPr id="6" name="Rectangle 5"/>
          <p:cNvSpPr/>
          <p:nvPr/>
        </p:nvSpPr>
        <p:spPr>
          <a:xfrm>
            <a:off x="152401" y="1219200"/>
            <a:ext cx="8839199" cy="830997"/>
          </a:xfrm>
          <a:prstGeom prst="rect">
            <a:avLst/>
          </a:prstGeom>
        </p:spPr>
        <p:txBody>
          <a:bodyPr wrap="square">
            <a:spAutoFit/>
          </a:bodyPr>
          <a:lstStyle/>
          <a:p>
            <a:pPr algn="just"/>
            <a:r>
              <a:rPr lang="en-US" sz="2400" dirty="0" err="1">
                <a:latin typeface="Times New Roman" pitchFamily="18" charset="0"/>
              </a:rPr>
              <a:t>Xét</a:t>
            </a:r>
            <a:r>
              <a:rPr lang="en-US" sz="2400" dirty="0">
                <a:latin typeface="Times New Roman" pitchFamily="18" charset="0"/>
              </a:rPr>
              <a:t> </a:t>
            </a:r>
            <a:r>
              <a:rPr lang="en-US" sz="2400" dirty="0" err="1">
                <a:latin typeface="Times New Roman" pitchFamily="18" charset="0"/>
              </a:rPr>
              <a:t>hai</a:t>
            </a:r>
            <a:r>
              <a:rPr lang="en-US" sz="2400" dirty="0">
                <a:latin typeface="Times New Roman" pitchFamily="18" charset="0"/>
              </a:rPr>
              <a:t> </a:t>
            </a:r>
            <a:r>
              <a:rPr lang="en-US" sz="2400" dirty="0" err="1">
                <a:latin typeface="Times New Roman" pitchFamily="18" charset="0"/>
              </a:rPr>
              <a:t>nguồn</a:t>
            </a:r>
            <a:r>
              <a:rPr lang="en-US" sz="2400" dirty="0">
                <a:latin typeface="Times New Roman" pitchFamily="18" charset="0"/>
              </a:rPr>
              <a:t> </a:t>
            </a:r>
            <a:r>
              <a:rPr lang="en-US" sz="2400" dirty="0" err="1">
                <a:latin typeface="Times New Roman" pitchFamily="18" charset="0"/>
              </a:rPr>
              <a:t>sóng</a:t>
            </a:r>
            <a:r>
              <a:rPr lang="en-US" sz="2400" dirty="0">
                <a:latin typeface="Times New Roman" pitchFamily="18" charset="0"/>
              </a:rPr>
              <a:t> </a:t>
            </a:r>
            <a:r>
              <a:rPr lang="en-US" sz="2400" dirty="0" err="1">
                <a:latin typeface="Times New Roman" pitchFamily="18" charset="0"/>
              </a:rPr>
              <a:t>ánh</a:t>
            </a:r>
            <a:r>
              <a:rPr lang="en-US" sz="2400" dirty="0">
                <a:latin typeface="Times New Roman" pitchFamily="18" charset="0"/>
              </a:rPr>
              <a:t> </a:t>
            </a:r>
            <a:r>
              <a:rPr lang="en-US" sz="2400" dirty="0" err="1">
                <a:latin typeface="Times New Roman" pitchFamily="18" charset="0"/>
              </a:rPr>
              <a:t>sáng</a:t>
            </a:r>
            <a:r>
              <a:rPr lang="en-US" sz="2400" dirty="0">
                <a:latin typeface="Times New Roman" pitchFamily="18" charset="0"/>
              </a:rPr>
              <a:t> </a:t>
            </a:r>
            <a:r>
              <a:rPr lang="en-US" sz="2400" dirty="0" err="1">
                <a:latin typeface="Times New Roman" pitchFamily="18" charset="0"/>
              </a:rPr>
              <a:t>kết</a:t>
            </a:r>
            <a:r>
              <a:rPr lang="en-US" sz="2400" dirty="0">
                <a:latin typeface="Times New Roman" pitchFamily="18" charset="0"/>
              </a:rPr>
              <a:t> </a:t>
            </a:r>
            <a:r>
              <a:rPr lang="en-US" sz="2400" dirty="0" err="1">
                <a:latin typeface="Times New Roman" pitchFamily="18" charset="0"/>
              </a:rPr>
              <a:t>hợp</a:t>
            </a:r>
            <a:r>
              <a:rPr lang="en-US" sz="2400" dirty="0">
                <a:latin typeface="Times New Roman" pitchFamily="18" charset="0"/>
              </a:rPr>
              <a:t> </a:t>
            </a:r>
            <a:r>
              <a:rPr lang="en-US" sz="2400" dirty="0" err="1">
                <a:latin typeface="Times New Roman" pitchFamily="18" charset="0"/>
              </a:rPr>
              <a:t>phát</a:t>
            </a:r>
            <a:r>
              <a:rPr lang="en-US" sz="2400" dirty="0">
                <a:latin typeface="Times New Roman" pitchFamily="18" charset="0"/>
              </a:rPr>
              <a:t> </a:t>
            </a:r>
            <a:r>
              <a:rPr lang="en-US" sz="2400" dirty="0" err="1">
                <a:latin typeface="Times New Roman" pitchFamily="18" charset="0"/>
              </a:rPr>
              <a:t>ra</a:t>
            </a:r>
            <a:r>
              <a:rPr lang="en-US" sz="2400" dirty="0">
                <a:latin typeface="Times New Roman" pitchFamily="18" charset="0"/>
              </a:rPr>
              <a:t> </a:t>
            </a:r>
            <a:r>
              <a:rPr lang="en-US" sz="2400" dirty="0" err="1">
                <a:latin typeface="Times New Roman" pitchFamily="18" charset="0"/>
              </a:rPr>
              <a:t>ánh</a:t>
            </a:r>
            <a:r>
              <a:rPr lang="en-US" sz="2400" dirty="0">
                <a:latin typeface="Times New Roman" pitchFamily="18" charset="0"/>
              </a:rPr>
              <a:t> </a:t>
            </a:r>
            <a:r>
              <a:rPr lang="en-US" sz="2400" dirty="0" err="1">
                <a:latin typeface="Times New Roman" pitchFamily="18" charset="0"/>
              </a:rPr>
              <a:t>sáng</a:t>
            </a:r>
            <a:r>
              <a:rPr lang="en-US" sz="2400" dirty="0">
                <a:latin typeface="Times New Roman" pitchFamily="18" charset="0"/>
              </a:rPr>
              <a:t> </a:t>
            </a:r>
            <a:r>
              <a:rPr lang="en-US" sz="2400" dirty="0" err="1">
                <a:latin typeface="Times New Roman" pitchFamily="18" charset="0"/>
              </a:rPr>
              <a:t>đơn</a:t>
            </a:r>
            <a:r>
              <a:rPr lang="en-US" sz="2400" dirty="0">
                <a:latin typeface="Times New Roman" pitchFamily="18" charset="0"/>
              </a:rPr>
              <a:t> </a:t>
            </a:r>
            <a:r>
              <a:rPr lang="en-US" sz="2400" dirty="0" err="1">
                <a:latin typeface="Times New Roman" pitchFamily="18" charset="0"/>
              </a:rPr>
              <a:t>sắc</a:t>
            </a:r>
            <a:r>
              <a:rPr lang="en-US" sz="2400" dirty="0">
                <a:latin typeface="Times New Roman" pitchFamily="18" charset="0"/>
              </a:rPr>
              <a:t> </a:t>
            </a:r>
            <a:r>
              <a:rPr lang="en-US" sz="2400" dirty="0" err="1">
                <a:latin typeface="Times New Roman" pitchFamily="18" charset="0"/>
              </a:rPr>
              <a:t>bước</a:t>
            </a:r>
            <a:r>
              <a:rPr lang="en-US" sz="2400" dirty="0">
                <a:latin typeface="Times New Roman" pitchFamily="18" charset="0"/>
              </a:rPr>
              <a:t> </a:t>
            </a:r>
            <a:r>
              <a:rPr lang="en-US" sz="2400" dirty="0" err="1">
                <a:latin typeface="Times New Roman" pitchFamily="18" charset="0"/>
              </a:rPr>
              <a:t>sóng</a:t>
            </a:r>
            <a:r>
              <a:rPr lang="en-US" sz="2400" dirty="0">
                <a:latin typeface="Times New Roman" pitchFamily="18" charset="0"/>
              </a:rPr>
              <a:t> </a:t>
            </a:r>
            <a:r>
              <a:rPr lang="el-GR" sz="2400" dirty="0">
                <a:latin typeface="Times New Roman" pitchFamily="18" charset="0"/>
                <a:cs typeface="Times New Roman" pitchFamily="18" charset="0"/>
              </a:rPr>
              <a:t>λ</a:t>
            </a:r>
            <a:r>
              <a:rPr lang="en-US" sz="2400" dirty="0">
                <a:latin typeface="Times New Roman" pitchFamily="18" charset="0"/>
                <a:cs typeface="Times New Roman" pitchFamily="18" charset="0"/>
              </a:rPr>
              <a:t>,</a:t>
            </a:r>
          </a:p>
        </p:txBody>
      </p:sp>
      <p:sp>
        <p:nvSpPr>
          <p:cNvPr id="7" name="Rectangle 6"/>
          <p:cNvSpPr/>
          <p:nvPr/>
        </p:nvSpPr>
        <p:spPr>
          <a:xfrm>
            <a:off x="242167" y="2057400"/>
            <a:ext cx="6119744" cy="461665"/>
          </a:xfrm>
          <a:prstGeom prst="rect">
            <a:avLst/>
          </a:prstGeom>
        </p:spPr>
        <p:txBody>
          <a:bodyPr wrap="square">
            <a:spAutoFit/>
          </a:bodyPr>
          <a:lstStyle/>
          <a:p>
            <a:pPr marL="812800" indent="-812800"/>
            <a:r>
              <a:rPr lang="en-US" sz="2400" dirty="0" err="1">
                <a:latin typeface="Times New Roman" pitchFamily="18" charset="0"/>
                <a:cs typeface="Times New Roman" pitchFamily="18" charset="0"/>
              </a:rPr>
              <a:t>Phương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trình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dao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động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sáng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tại</a:t>
            </a:r>
            <a:r>
              <a:rPr lang="en-US" sz="2400" dirty="0">
                <a:latin typeface="Times New Roman" pitchFamily="18" charset="0"/>
                <a:cs typeface="Times New Roman" pitchFamily="18" charset="0"/>
              </a:rPr>
              <a:t> S</a:t>
            </a:r>
            <a:r>
              <a:rPr lang="en-US" sz="2400" baseline="-25000" dirty="0">
                <a:latin typeface="Times New Roman" pitchFamily="18" charset="0"/>
                <a:cs typeface="Times New Roman" pitchFamily="18" charset="0"/>
              </a:rPr>
              <a:t>1</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và</a:t>
            </a:r>
            <a:r>
              <a:rPr lang="en-US" sz="2400" dirty="0">
                <a:latin typeface="Times New Roman" pitchFamily="18" charset="0"/>
                <a:cs typeface="Times New Roman" pitchFamily="18" charset="0"/>
              </a:rPr>
              <a:t> S</a:t>
            </a:r>
            <a:r>
              <a:rPr lang="en-US" sz="2400" baseline="-25000" dirty="0">
                <a:latin typeface="Times New Roman" pitchFamily="18" charset="0"/>
                <a:cs typeface="Times New Roman" pitchFamily="18" charset="0"/>
              </a:rPr>
              <a:t>2</a:t>
            </a:r>
          </a:p>
        </p:txBody>
      </p:sp>
      <p:graphicFrame>
        <p:nvGraphicFramePr>
          <p:cNvPr id="8" name="Object 7"/>
          <p:cNvGraphicFramePr>
            <a:graphicFrameLocks noChangeAspect="1"/>
          </p:cNvGraphicFramePr>
          <p:nvPr>
            <p:extLst>
              <p:ext uri="{D42A27DB-BD31-4B8C-83A1-F6EECF244321}">
                <p14:modId xmlns:p14="http://schemas.microsoft.com/office/powerpoint/2010/main" val="2522402549"/>
              </p:ext>
            </p:extLst>
          </p:nvPr>
        </p:nvGraphicFramePr>
        <p:xfrm>
          <a:off x="533400" y="2514600"/>
          <a:ext cx="2109787" cy="415925"/>
        </p:xfrm>
        <a:graphic>
          <a:graphicData uri="http://schemas.openxmlformats.org/presentationml/2006/ole">
            <mc:AlternateContent xmlns:mc="http://schemas.openxmlformats.org/markup-compatibility/2006">
              <mc:Choice xmlns:v="urn:schemas-microsoft-com:vml" Requires="v">
                <p:oleObj spid="_x0000_s3755" name="Equation" r:id="rId3" imgW="1091880" imgH="215640" progId="Equation.3">
                  <p:embed/>
                </p:oleObj>
              </mc:Choice>
              <mc:Fallback>
                <p:oleObj name="Equation" r:id="rId3" imgW="1091880" imgH="215640" progId="Equation.3">
                  <p:embed/>
                  <p:pic>
                    <p:nvPicPr>
                      <p:cNvPr id="0" name="Object 4"/>
                      <p:cNvPicPr>
                        <a:picLocks noChangeAspect="1" noChangeArrowheads="1"/>
                      </p:cNvPicPr>
                      <p:nvPr/>
                    </p:nvPicPr>
                    <p:blipFill>
                      <a:blip r:embed="rId4"/>
                      <a:srcRect/>
                      <a:stretch>
                        <a:fillRect/>
                      </a:stretch>
                    </p:blipFill>
                    <p:spPr bwMode="auto">
                      <a:xfrm>
                        <a:off x="533400" y="2514600"/>
                        <a:ext cx="2109787" cy="415925"/>
                      </a:xfrm>
                      <a:prstGeom prst="rect">
                        <a:avLst/>
                      </a:prstGeom>
                      <a:noFill/>
                      <a:ln>
                        <a:noFill/>
                      </a:ln>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846293352"/>
              </p:ext>
            </p:extLst>
          </p:nvPr>
        </p:nvGraphicFramePr>
        <p:xfrm>
          <a:off x="2743200" y="2514600"/>
          <a:ext cx="2387600" cy="436562"/>
        </p:xfrm>
        <a:graphic>
          <a:graphicData uri="http://schemas.openxmlformats.org/presentationml/2006/ole">
            <mc:AlternateContent xmlns:mc="http://schemas.openxmlformats.org/markup-compatibility/2006">
              <mc:Choice xmlns:v="urn:schemas-microsoft-com:vml" Requires="v">
                <p:oleObj spid="_x0000_s3756" name="Equation" r:id="rId5" imgW="1193760" imgH="215640" progId="Equation.3">
                  <p:embed/>
                </p:oleObj>
              </mc:Choice>
              <mc:Fallback>
                <p:oleObj name="Equation" r:id="rId5" imgW="1193760" imgH="215640" progId="Equation.3">
                  <p:embed/>
                  <p:pic>
                    <p:nvPicPr>
                      <p:cNvPr id="0" name="Object 6"/>
                      <p:cNvPicPr>
                        <a:picLocks noChangeAspect="1" noChangeArrowheads="1"/>
                      </p:cNvPicPr>
                      <p:nvPr/>
                    </p:nvPicPr>
                    <p:blipFill>
                      <a:blip r:embed="rId6"/>
                      <a:srcRect/>
                      <a:stretch>
                        <a:fillRect/>
                      </a:stretch>
                    </p:blipFill>
                    <p:spPr bwMode="auto">
                      <a:xfrm>
                        <a:off x="2743200" y="2514600"/>
                        <a:ext cx="2387600" cy="436562"/>
                      </a:xfrm>
                      <a:prstGeom prst="rect">
                        <a:avLst/>
                      </a:prstGeom>
                      <a:noFill/>
                      <a:ln>
                        <a:noFill/>
                      </a:ln>
                    </p:spPr>
                  </p:pic>
                </p:oleObj>
              </mc:Fallback>
            </mc:AlternateContent>
          </a:graphicData>
        </a:graphic>
      </p:graphicFrame>
      <p:sp>
        <p:nvSpPr>
          <p:cNvPr id="10" name="Rectangle 9"/>
          <p:cNvSpPr/>
          <p:nvPr/>
        </p:nvSpPr>
        <p:spPr>
          <a:xfrm>
            <a:off x="197283" y="2895600"/>
            <a:ext cx="6209511" cy="461665"/>
          </a:xfrm>
          <a:prstGeom prst="rect">
            <a:avLst/>
          </a:prstGeom>
        </p:spPr>
        <p:txBody>
          <a:bodyPr wrap="square">
            <a:spAutoFit/>
          </a:bodyPr>
          <a:lstStyle/>
          <a:p>
            <a:r>
              <a:rPr lang="en-US" sz="2400" dirty="0">
                <a:latin typeface="Times New Roman" pitchFamily="18" charset="0"/>
              </a:rPr>
              <a:t>PT </a:t>
            </a:r>
            <a:r>
              <a:rPr lang="en-US" sz="2400" dirty="0" err="1">
                <a:latin typeface="Times New Roman" pitchFamily="18" charset="0"/>
              </a:rPr>
              <a:t>dao</a:t>
            </a:r>
            <a:r>
              <a:rPr lang="en-US" sz="2400" dirty="0">
                <a:latin typeface="Times New Roman" pitchFamily="18" charset="0"/>
              </a:rPr>
              <a:t> </a:t>
            </a:r>
            <a:r>
              <a:rPr lang="en-US" sz="2400" dirty="0" err="1">
                <a:latin typeface="Times New Roman" pitchFamily="18" charset="0"/>
              </a:rPr>
              <a:t>động</a:t>
            </a:r>
            <a:r>
              <a:rPr lang="en-US" sz="2400" dirty="0">
                <a:latin typeface="Times New Roman" pitchFamily="18" charset="0"/>
              </a:rPr>
              <a:t> </a:t>
            </a:r>
            <a:r>
              <a:rPr lang="en-US" sz="2400" dirty="0" err="1">
                <a:latin typeface="Times New Roman" pitchFamily="18" charset="0"/>
              </a:rPr>
              <a:t>sáng</a:t>
            </a:r>
            <a:r>
              <a:rPr lang="en-US" sz="2400" dirty="0">
                <a:latin typeface="Times New Roman" pitchFamily="18" charset="0"/>
              </a:rPr>
              <a:t> </a:t>
            </a:r>
            <a:r>
              <a:rPr lang="en-US" sz="2400" dirty="0" err="1">
                <a:latin typeface="Times New Roman" pitchFamily="18" charset="0"/>
              </a:rPr>
              <a:t>tại</a:t>
            </a:r>
            <a:r>
              <a:rPr lang="en-US" sz="2400" dirty="0">
                <a:latin typeface="Times New Roman" pitchFamily="18" charset="0"/>
              </a:rPr>
              <a:t> M do S</a:t>
            </a:r>
            <a:r>
              <a:rPr lang="en-US" sz="2400" baseline="-25000" dirty="0">
                <a:latin typeface="Times New Roman" pitchFamily="18" charset="0"/>
              </a:rPr>
              <a:t>1</a:t>
            </a:r>
            <a:r>
              <a:rPr lang="en-US" sz="2400" dirty="0">
                <a:latin typeface="Times New Roman" pitchFamily="18" charset="0"/>
              </a:rPr>
              <a:t> </a:t>
            </a:r>
            <a:r>
              <a:rPr lang="en-US" sz="2400" dirty="0" err="1">
                <a:latin typeface="Times New Roman" pitchFamily="18" charset="0"/>
              </a:rPr>
              <a:t>và</a:t>
            </a:r>
            <a:r>
              <a:rPr lang="en-US" sz="2400" dirty="0">
                <a:latin typeface="Times New Roman" pitchFamily="18" charset="0"/>
              </a:rPr>
              <a:t> S</a:t>
            </a:r>
            <a:r>
              <a:rPr lang="en-US" sz="2400" baseline="-25000" dirty="0">
                <a:latin typeface="Times New Roman" pitchFamily="18" charset="0"/>
              </a:rPr>
              <a:t>2</a:t>
            </a:r>
            <a:r>
              <a:rPr lang="en-US" sz="2400" dirty="0">
                <a:latin typeface="Times New Roman" pitchFamily="18" charset="0"/>
              </a:rPr>
              <a:t> </a:t>
            </a:r>
            <a:r>
              <a:rPr lang="en-US" sz="2400" dirty="0" err="1">
                <a:latin typeface="Times New Roman" pitchFamily="18" charset="0"/>
              </a:rPr>
              <a:t>gửi</a:t>
            </a:r>
            <a:r>
              <a:rPr lang="en-US" sz="2400" dirty="0">
                <a:latin typeface="Times New Roman" pitchFamily="18" charset="0"/>
              </a:rPr>
              <a:t> :</a:t>
            </a:r>
          </a:p>
        </p:txBody>
      </p:sp>
      <p:graphicFrame>
        <p:nvGraphicFramePr>
          <p:cNvPr id="11" name="Object 10"/>
          <p:cNvGraphicFramePr>
            <a:graphicFrameLocks noChangeAspect="1"/>
          </p:cNvGraphicFramePr>
          <p:nvPr>
            <p:extLst>
              <p:ext uri="{D42A27DB-BD31-4B8C-83A1-F6EECF244321}">
                <p14:modId xmlns:p14="http://schemas.microsoft.com/office/powerpoint/2010/main" val="1595783917"/>
              </p:ext>
            </p:extLst>
          </p:nvPr>
        </p:nvGraphicFramePr>
        <p:xfrm>
          <a:off x="185738" y="3276600"/>
          <a:ext cx="2622550" cy="701675"/>
        </p:xfrm>
        <a:graphic>
          <a:graphicData uri="http://schemas.openxmlformats.org/presentationml/2006/ole">
            <mc:AlternateContent xmlns:mc="http://schemas.openxmlformats.org/markup-compatibility/2006">
              <mc:Choice xmlns:v="urn:schemas-microsoft-com:vml" Requires="v">
                <p:oleObj spid="_x0000_s3757" name="Equation" r:id="rId7" imgW="1460160" imgH="393480" progId="Equation.3">
                  <p:embed/>
                </p:oleObj>
              </mc:Choice>
              <mc:Fallback>
                <p:oleObj name="Equation" r:id="rId7" imgW="1460160" imgH="393480" progId="Equation.3">
                  <p:embed/>
                  <p:pic>
                    <p:nvPicPr>
                      <p:cNvPr id="0" name="Object 4"/>
                      <p:cNvPicPr>
                        <a:picLocks noChangeAspect="1" noChangeArrowheads="1"/>
                      </p:cNvPicPr>
                      <p:nvPr/>
                    </p:nvPicPr>
                    <p:blipFill>
                      <a:blip r:embed="rId8"/>
                      <a:srcRect/>
                      <a:stretch>
                        <a:fillRect/>
                      </a:stretch>
                    </p:blipFill>
                    <p:spPr bwMode="auto">
                      <a:xfrm>
                        <a:off x="185738" y="3276600"/>
                        <a:ext cx="2622550" cy="701675"/>
                      </a:xfrm>
                      <a:prstGeom prst="rect">
                        <a:avLst/>
                      </a:prstGeom>
                      <a:noFill/>
                      <a:ln>
                        <a:noFill/>
                      </a:ln>
                    </p:spPr>
                  </p:pic>
                </p:oleObj>
              </mc:Fallback>
            </mc:AlternateContent>
          </a:graphicData>
        </a:graphic>
      </p:graphicFrame>
      <p:graphicFrame>
        <p:nvGraphicFramePr>
          <p:cNvPr id="12" name="Object 11"/>
          <p:cNvGraphicFramePr>
            <a:graphicFrameLocks noChangeAspect="1"/>
          </p:cNvGraphicFramePr>
          <p:nvPr>
            <p:extLst>
              <p:ext uri="{D42A27DB-BD31-4B8C-83A1-F6EECF244321}">
                <p14:modId xmlns:p14="http://schemas.microsoft.com/office/powerpoint/2010/main" val="280139587"/>
              </p:ext>
            </p:extLst>
          </p:nvPr>
        </p:nvGraphicFramePr>
        <p:xfrm>
          <a:off x="2744788" y="3276600"/>
          <a:ext cx="2863850" cy="704850"/>
        </p:xfrm>
        <a:graphic>
          <a:graphicData uri="http://schemas.openxmlformats.org/presentationml/2006/ole">
            <mc:AlternateContent xmlns:mc="http://schemas.openxmlformats.org/markup-compatibility/2006">
              <mc:Choice xmlns:v="urn:schemas-microsoft-com:vml" Requires="v">
                <p:oleObj spid="_x0000_s3758" name="Equation" r:id="rId9" imgW="1587240" imgH="393480" progId="Equation.3">
                  <p:embed/>
                </p:oleObj>
              </mc:Choice>
              <mc:Fallback>
                <p:oleObj name="Equation" r:id="rId9" imgW="1587240" imgH="393480" progId="Equation.3">
                  <p:embed/>
                  <p:pic>
                    <p:nvPicPr>
                      <p:cNvPr id="0" name="Object 6"/>
                      <p:cNvPicPr>
                        <a:picLocks noChangeAspect="1" noChangeArrowheads="1"/>
                      </p:cNvPicPr>
                      <p:nvPr/>
                    </p:nvPicPr>
                    <p:blipFill>
                      <a:blip r:embed="rId10"/>
                      <a:srcRect/>
                      <a:stretch>
                        <a:fillRect/>
                      </a:stretch>
                    </p:blipFill>
                    <p:spPr bwMode="auto">
                      <a:xfrm>
                        <a:off x="2744788" y="3276600"/>
                        <a:ext cx="2863850"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Rectangle 13"/>
          <p:cNvSpPr/>
          <p:nvPr/>
        </p:nvSpPr>
        <p:spPr>
          <a:xfrm>
            <a:off x="152400" y="3810000"/>
            <a:ext cx="6209511" cy="461665"/>
          </a:xfrm>
          <a:prstGeom prst="rect">
            <a:avLst/>
          </a:prstGeom>
        </p:spPr>
        <p:txBody>
          <a:bodyPr wrap="square">
            <a:spAutoFit/>
          </a:bodyPr>
          <a:lstStyle/>
          <a:p>
            <a:r>
              <a:rPr lang="en-US" sz="2400" dirty="0">
                <a:latin typeface="Times New Roman" pitchFamily="18" charset="0"/>
              </a:rPr>
              <a:t>PT </a:t>
            </a:r>
            <a:r>
              <a:rPr lang="en-US" sz="2400" dirty="0" err="1">
                <a:latin typeface="Times New Roman" pitchFamily="18" charset="0"/>
              </a:rPr>
              <a:t>dao</a:t>
            </a:r>
            <a:r>
              <a:rPr lang="en-US" sz="2400" dirty="0">
                <a:latin typeface="Times New Roman" pitchFamily="18" charset="0"/>
              </a:rPr>
              <a:t> </a:t>
            </a:r>
            <a:r>
              <a:rPr lang="en-US" sz="2400" dirty="0" err="1">
                <a:latin typeface="Times New Roman" pitchFamily="18" charset="0"/>
              </a:rPr>
              <a:t>động</a:t>
            </a:r>
            <a:r>
              <a:rPr lang="en-US" sz="2400" dirty="0">
                <a:latin typeface="Times New Roman" pitchFamily="18" charset="0"/>
              </a:rPr>
              <a:t> </a:t>
            </a:r>
            <a:r>
              <a:rPr lang="en-US" sz="2400" dirty="0" err="1">
                <a:latin typeface="Times New Roman" pitchFamily="18" charset="0"/>
              </a:rPr>
              <a:t>sáng</a:t>
            </a:r>
            <a:r>
              <a:rPr lang="en-US" sz="2400" dirty="0">
                <a:latin typeface="Times New Roman" pitchFamily="18" charset="0"/>
              </a:rPr>
              <a:t> </a:t>
            </a:r>
            <a:r>
              <a:rPr lang="en-US" sz="2400" dirty="0" err="1">
                <a:latin typeface="Times New Roman" pitchFamily="18" charset="0"/>
              </a:rPr>
              <a:t>tổng</a:t>
            </a:r>
            <a:r>
              <a:rPr lang="en-US" sz="2400" dirty="0">
                <a:latin typeface="Times New Roman" pitchFamily="18" charset="0"/>
              </a:rPr>
              <a:t> </a:t>
            </a:r>
            <a:r>
              <a:rPr lang="en-US" sz="2400" dirty="0" err="1">
                <a:latin typeface="Times New Roman" pitchFamily="18" charset="0"/>
              </a:rPr>
              <a:t>hợp</a:t>
            </a:r>
            <a:r>
              <a:rPr lang="en-US" sz="2400" dirty="0">
                <a:latin typeface="Times New Roman" pitchFamily="18" charset="0"/>
              </a:rPr>
              <a:t> </a:t>
            </a:r>
            <a:r>
              <a:rPr lang="en-US" sz="2400" dirty="0" err="1">
                <a:latin typeface="Times New Roman" pitchFamily="18" charset="0"/>
              </a:rPr>
              <a:t>tại</a:t>
            </a:r>
            <a:r>
              <a:rPr lang="en-US" sz="2400" dirty="0">
                <a:latin typeface="Times New Roman" pitchFamily="18" charset="0"/>
              </a:rPr>
              <a:t> M:</a:t>
            </a:r>
          </a:p>
        </p:txBody>
      </p:sp>
      <p:graphicFrame>
        <p:nvGraphicFramePr>
          <p:cNvPr id="13" name="Object 12"/>
          <p:cNvGraphicFramePr>
            <a:graphicFrameLocks noChangeAspect="1"/>
          </p:cNvGraphicFramePr>
          <p:nvPr>
            <p:extLst>
              <p:ext uri="{D42A27DB-BD31-4B8C-83A1-F6EECF244321}">
                <p14:modId xmlns:p14="http://schemas.microsoft.com/office/powerpoint/2010/main" val="80459462"/>
              </p:ext>
            </p:extLst>
          </p:nvPr>
        </p:nvGraphicFramePr>
        <p:xfrm>
          <a:off x="76200" y="4267200"/>
          <a:ext cx="3024188" cy="398462"/>
        </p:xfrm>
        <a:graphic>
          <a:graphicData uri="http://schemas.openxmlformats.org/presentationml/2006/ole">
            <mc:AlternateContent xmlns:mc="http://schemas.openxmlformats.org/markup-compatibility/2006">
              <mc:Choice xmlns:v="urn:schemas-microsoft-com:vml" Requires="v">
                <p:oleObj spid="_x0000_s3759" name="Equation" r:id="rId11" imgW="1663560" imgH="215640" progId="Equation.3">
                  <p:embed/>
                </p:oleObj>
              </mc:Choice>
              <mc:Fallback>
                <p:oleObj name="Equation" r:id="rId11" imgW="1663560" imgH="215640" progId="Equation.3">
                  <p:embed/>
                  <p:pic>
                    <p:nvPicPr>
                      <p:cNvPr id="0" name="Object 8"/>
                      <p:cNvPicPr>
                        <a:picLocks noChangeAspect="1" noChangeArrowheads="1"/>
                      </p:cNvPicPr>
                      <p:nvPr/>
                    </p:nvPicPr>
                    <p:blipFill>
                      <a:blip r:embed="rId12"/>
                      <a:srcRect/>
                      <a:stretch>
                        <a:fillRect/>
                      </a:stretch>
                    </p:blipFill>
                    <p:spPr bwMode="auto">
                      <a:xfrm>
                        <a:off x="76200" y="4267200"/>
                        <a:ext cx="3024188"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Object 14"/>
          <p:cNvGraphicFramePr>
            <a:graphicFrameLocks noChangeAspect="1"/>
          </p:cNvGraphicFramePr>
          <p:nvPr>
            <p:extLst>
              <p:ext uri="{D42A27DB-BD31-4B8C-83A1-F6EECF244321}">
                <p14:modId xmlns:p14="http://schemas.microsoft.com/office/powerpoint/2010/main" val="3173244270"/>
              </p:ext>
            </p:extLst>
          </p:nvPr>
        </p:nvGraphicFramePr>
        <p:xfrm>
          <a:off x="3276600" y="4191000"/>
          <a:ext cx="4746625" cy="479425"/>
        </p:xfrm>
        <a:graphic>
          <a:graphicData uri="http://schemas.openxmlformats.org/presentationml/2006/ole">
            <mc:AlternateContent xmlns:mc="http://schemas.openxmlformats.org/markup-compatibility/2006">
              <mc:Choice xmlns:v="urn:schemas-microsoft-com:vml" Requires="v">
                <p:oleObj spid="_x0000_s3760" name="Equation" r:id="rId13" imgW="2768400" imgH="279360" progId="Equation.3">
                  <p:embed/>
                </p:oleObj>
              </mc:Choice>
              <mc:Fallback>
                <p:oleObj name="Equation" r:id="rId13" imgW="2768400" imgH="279360" progId="Equation.3">
                  <p:embed/>
                  <p:pic>
                    <p:nvPicPr>
                      <p:cNvPr id="0" name="Object 11"/>
                      <p:cNvPicPr>
                        <a:picLocks noChangeAspect="1" noChangeArrowheads="1"/>
                      </p:cNvPicPr>
                      <p:nvPr/>
                    </p:nvPicPr>
                    <p:blipFill>
                      <a:blip r:embed="rId14"/>
                      <a:srcRect/>
                      <a:stretch>
                        <a:fillRect/>
                      </a:stretch>
                    </p:blipFill>
                    <p:spPr bwMode="auto">
                      <a:xfrm>
                        <a:off x="3276600" y="4191000"/>
                        <a:ext cx="4746625" cy="479425"/>
                      </a:xfrm>
                      <a:prstGeom prst="rect">
                        <a:avLst/>
                      </a:prstGeom>
                      <a:noFill/>
                      <a:ln w="9525">
                        <a:noFill/>
                        <a:miter lim="800000"/>
                        <a:headEnd/>
                        <a:tailEnd/>
                      </a:ln>
                    </p:spPr>
                  </p:pic>
                </p:oleObj>
              </mc:Fallback>
            </mc:AlternateContent>
          </a:graphicData>
        </a:graphic>
      </p:graphicFrame>
      <p:sp>
        <p:nvSpPr>
          <p:cNvPr id="16" name="TextBox 15"/>
          <p:cNvSpPr txBox="1"/>
          <p:nvPr/>
        </p:nvSpPr>
        <p:spPr>
          <a:xfrm>
            <a:off x="1143000" y="1677089"/>
            <a:ext cx="2438400" cy="461665"/>
          </a:xfrm>
          <a:prstGeom prst="rect">
            <a:avLst/>
          </a:prstGeom>
          <a:noFill/>
        </p:spPr>
        <p:txBody>
          <a:bodyPr wrap="square" rtlCol="0">
            <a:spAutoFit/>
          </a:bodyPr>
          <a:lstStyle/>
          <a:p>
            <a:r>
              <a:rPr lang="en-US" sz="2400" dirty="0" err="1">
                <a:latin typeface="Times New Roman" pitchFamily="18" charset="0"/>
                <a:cs typeface="Times New Roman" pitchFamily="18" charset="0"/>
              </a:rPr>
              <a:t>điều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kiện</a:t>
            </a:r>
            <a:r>
              <a:rPr lang="en-US" sz="2400" dirty="0">
                <a:latin typeface="Times New Roman" pitchFamily="18" charset="0"/>
                <a:cs typeface="Times New Roman" pitchFamily="18" charset="0"/>
              </a:rPr>
              <a:t> </a:t>
            </a:r>
            <a:r>
              <a:rPr lang="en-US" sz="2400" i="1" dirty="0">
                <a:latin typeface="Times New Roman" pitchFamily="18" charset="0"/>
                <a:cs typeface="Times New Roman" pitchFamily="18" charset="0"/>
              </a:rPr>
              <a:t>l &lt;&lt; D, </a:t>
            </a:r>
            <a:endParaRPr lang="en-US" dirty="0"/>
          </a:p>
        </p:txBody>
      </p:sp>
      <p:pic>
        <p:nvPicPr>
          <p:cNvPr id="17" name="Picture 16">
            <a:extLst>
              <a:ext uri="{FF2B5EF4-FFF2-40B4-BE49-F238E27FC236}">
                <a16:creationId xmlns:a16="http://schemas.microsoft.com/office/drawing/2014/main" id="{395F1AF2-C7F9-4075-8270-86C57C0BD182}"/>
              </a:ext>
            </a:extLst>
          </p:cNvPr>
          <p:cNvPicPr>
            <a:picLocks noChangeAspect="1"/>
          </p:cNvPicPr>
          <p:nvPr/>
        </p:nvPicPr>
        <p:blipFill>
          <a:blip r:embed="rId15"/>
          <a:stretch>
            <a:fillRect/>
          </a:stretch>
        </p:blipFill>
        <p:spPr>
          <a:xfrm>
            <a:off x="6000750" y="1695450"/>
            <a:ext cx="2762250" cy="2517116"/>
          </a:xfrm>
          <a:prstGeom prst="rect">
            <a:avLst/>
          </a:prstGeom>
        </p:spPr>
      </p:pic>
      <p:sp>
        <p:nvSpPr>
          <p:cNvPr id="21" name="Rectangle 20">
            <a:extLst>
              <a:ext uri="{FF2B5EF4-FFF2-40B4-BE49-F238E27FC236}">
                <a16:creationId xmlns:a16="http://schemas.microsoft.com/office/drawing/2014/main" id="{55CF5439-36F8-453B-8020-078BA9335622}"/>
              </a:ext>
            </a:extLst>
          </p:cNvPr>
          <p:cNvSpPr/>
          <p:nvPr/>
        </p:nvSpPr>
        <p:spPr>
          <a:xfrm>
            <a:off x="413188" y="4572000"/>
            <a:ext cx="5835212" cy="461665"/>
          </a:xfrm>
          <a:prstGeom prst="rect">
            <a:avLst/>
          </a:prstGeom>
        </p:spPr>
        <p:txBody>
          <a:bodyPr wrap="square">
            <a:spAutoFit/>
          </a:bodyPr>
          <a:lstStyle/>
          <a:p>
            <a:r>
              <a:rPr lang="en-US" sz="2400" i="1" dirty="0" err="1">
                <a:solidFill>
                  <a:srgbClr val="FF0000"/>
                </a:solidFill>
                <a:latin typeface="Times New Roman" pitchFamily="18" charset="0"/>
              </a:rPr>
              <a:t>Điều</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kiện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cực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đại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giao</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thoa</a:t>
            </a:r>
            <a:r>
              <a:rPr lang="en-US" sz="2400" i="1" dirty="0">
                <a:solidFill>
                  <a:srgbClr val="FF0000"/>
                </a:solidFill>
                <a:latin typeface="Times New Roman" pitchFamily="18" charset="0"/>
              </a:rPr>
              <a:t>:</a:t>
            </a:r>
          </a:p>
        </p:txBody>
      </p:sp>
      <p:graphicFrame>
        <p:nvGraphicFramePr>
          <p:cNvPr id="22" name="Object 21">
            <a:extLst>
              <a:ext uri="{FF2B5EF4-FFF2-40B4-BE49-F238E27FC236}">
                <a16:creationId xmlns:a16="http://schemas.microsoft.com/office/drawing/2014/main" id="{C755F60E-AEDC-4CC0-8E24-FBF74EF49700}"/>
              </a:ext>
            </a:extLst>
          </p:cNvPr>
          <p:cNvGraphicFramePr>
            <a:graphicFrameLocks noChangeAspect="1"/>
          </p:cNvGraphicFramePr>
          <p:nvPr>
            <p:extLst>
              <p:ext uri="{D42A27DB-BD31-4B8C-83A1-F6EECF244321}">
                <p14:modId xmlns:p14="http://schemas.microsoft.com/office/powerpoint/2010/main" val="551161502"/>
              </p:ext>
            </p:extLst>
          </p:nvPr>
        </p:nvGraphicFramePr>
        <p:xfrm>
          <a:off x="392113" y="4953000"/>
          <a:ext cx="5856287" cy="714375"/>
        </p:xfrm>
        <a:graphic>
          <a:graphicData uri="http://schemas.openxmlformats.org/presentationml/2006/ole">
            <mc:AlternateContent xmlns:mc="http://schemas.openxmlformats.org/markup-compatibility/2006">
              <mc:Choice xmlns:v="urn:schemas-microsoft-com:vml" Requires="v">
                <p:oleObj spid="_x0000_s3761" name="Equation" r:id="rId16" imgW="3288960" imgH="393480" progId="Equation.3">
                  <p:embed/>
                </p:oleObj>
              </mc:Choice>
              <mc:Fallback>
                <p:oleObj name="Equation" r:id="rId16" imgW="3288960" imgH="393480" progId="Equation.3">
                  <p:embed/>
                  <p:pic>
                    <p:nvPicPr>
                      <p:cNvPr id="6" name="Object 5"/>
                      <p:cNvPicPr>
                        <a:picLocks noChangeAspect="1" noChangeArrowheads="1"/>
                      </p:cNvPicPr>
                      <p:nvPr/>
                    </p:nvPicPr>
                    <p:blipFill>
                      <a:blip r:embed="rId17"/>
                      <a:srcRect/>
                      <a:stretch>
                        <a:fillRect/>
                      </a:stretch>
                    </p:blipFill>
                    <p:spPr bwMode="auto">
                      <a:xfrm>
                        <a:off x="392113" y="4953000"/>
                        <a:ext cx="5856287" cy="714375"/>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Rectangle 22">
            <a:extLst>
              <a:ext uri="{FF2B5EF4-FFF2-40B4-BE49-F238E27FC236}">
                <a16:creationId xmlns:a16="http://schemas.microsoft.com/office/drawing/2014/main" id="{B2931FAC-811E-49DE-BAED-F2AA288C3D95}"/>
              </a:ext>
            </a:extLst>
          </p:cNvPr>
          <p:cNvSpPr/>
          <p:nvPr/>
        </p:nvSpPr>
        <p:spPr>
          <a:xfrm>
            <a:off x="463740" y="5562600"/>
            <a:ext cx="5937060" cy="461665"/>
          </a:xfrm>
          <a:prstGeom prst="rect">
            <a:avLst/>
          </a:prstGeom>
        </p:spPr>
        <p:txBody>
          <a:bodyPr wrap="square">
            <a:spAutoFit/>
          </a:bodyPr>
          <a:lstStyle/>
          <a:p>
            <a:r>
              <a:rPr lang="en-US" sz="2400" i="1" dirty="0" err="1">
                <a:solidFill>
                  <a:srgbClr val="FF0000"/>
                </a:solidFill>
                <a:latin typeface="Times New Roman" pitchFamily="18" charset="0"/>
              </a:rPr>
              <a:t>Điều</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kiện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cực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tiểu</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giao</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thoa</a:t>
            </a:r>
            <a:r>
              <a:rPr lang="en-US" sz="2400" i="1" dirty="0">
                <a:solidFill>
                  <a:srgbClr val="FF0000"/>
                </a:solidFill>
                <a:latin typeface="Times New Roman" pitchFamily="18" charset="0"/>
              </a:rPr>
              <a:t>:</a:t>
            </a:r>
          </a:p>
        </p:txBody>
      </p:sp>
      <p:graphicFrame>
        <p:nvGraphicFramePr>
          <p:cNvPr id="24" name="Object 23">
            <a:extLst>
              <a:ext uri="{FF2B5EF4-FFF2-40B4-BE49-F238E27FC236}">
                <a16:creationId xmlns:a16="http://schemas.microsoft.com/office/drawing/2014/main" id="{27E73B43-7081-43A8-9CB2-AB07EF0820F5}"/>
              </a:ext>
            </a:extLst>
          </p:cNvPr>
          <p:cNvGraphicFramePr>
            <a:graphicFrameLocks noChangeAspect="1"/>
          </p:cNvGraphicFramePr>
          <p:nvPr>
            <p:extLst>
              <p:ext uri="{D42A27DB-BD31-4B8C-83A1-F6EECF244321}">
                <p14:modId xmlns:p14="http://schemas.microsoft.com/office/powerpoint/2010/main" val="4106314754"/>
              </p:ext>
            </p:extLst>
          </p:nvPr>
        </p:nvGraphicFramePr>
        <p:xfrm>
          <a:off x="441325" y="6019800"/>
          <a:ext cx="7483475" cy="692150"/>
        </p:xfrm>
        <a:graphic>
          <a:graphicData uri="http://schemas.openxmlformats.org/presentationml/2006/ole">
            <mc:AlternateContent xmlns:mc="http://schemas.openxmlformats.org/markup-compatibility/2006">
              <mc:Choice xmlns:v="urn:schemas-microsoft-com:vml" Requires="v">
                <p:oleObj spid="_x0000_s3762" name="Equation" r:id="rId18" imgW="4267080" imgH="393480" progId="Equation.3">
                  <p:embed/>
                </p:oleObj>
              </mc:Choice>
              <mc:Fallback>
                <p:oleObj name="Equation" r:id="rId18" imgW="4267080" imgH="393480" progId="Equation.3">
                  <p:embed/>
                  <p:pic>
                    <p:nvPicPr>
                      <p:cNvPr id="8" name="Object 7"/>
                      <p:cNvPicPr>
                        <a:picLocks noChangeAspect="1" noChangeArrowheads="1"/>
                      </p:cNvPicPr>
                      <p:nvPr/>
                    </p:nvPicPr>
                    <p:blipFill>
                      <a:blip r:embed="rId19"/>
                      <a:srcRect/>
                      <a:stretch>
                        <a:fillRect/>
                      </a:stretch>
                    </p:blipFill>
                    <p:spPr bwMode="auto">
                      <a:xfrm>
                        <a:off x="441325" y="6019800"/>
                        <a:ext cx="7483475" cy="692150"/>
                      </a:xfrm>
                      <a:prstGeom prst="rect">
                        <a:avLst/>
                      </a:prstGeom>
                      <a:noFill/>
                      <a:ln w="9525">
                        <a:solidFill>
                          <a:schemeClr val="folHlink"/>
                        </a:solidFill>
                        <a:miter lim="800000"/>
                        <a:headEnd/>
                        <a:tailEnd/>
                      </a:ln>
                    </p:spPr>
                  </p:pic>
                </p:oleObj>
              </mc:Fallback>
            </mc:AlternateContent>
          </a:graphicData>
        </a:graphic>
      </p:graphicFrame>
    </p:spTree>
    <p:extLst>
      <p:ext uri="{BB962C8B-B14F-4D97-AF65-F5344CB8AC3E}">
        <p14:creationId xmlns:p14="http://schemas.microsoft.com/office/powerpoint/2010/main" val="879839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down)">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down)">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down)">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down)">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down)">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down)">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wipe(down)">
                                      <p:cBhvr>
                                        <p:cTn id="52" dur="5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wipe(down)">
                                      <p:cBhvr>
                                        <p:cTn id="57" dur="500"/>
                                        <p:tgtEl>
                                          <p:spTgt spid="1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wipe(down)">
                                      <p:cBhvr>
                                        <p:cTn id="62" dur="500"/>
                                        <p:tgtEl>
                                          <p:spTgt spid="15"/>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nodeType="click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wipe(down)">
                                      <p:cBhvr>
                                        <p:cTn id="67" dur="500"/>
                                        <p:tgtEl>
                                          <p:spTgt spid="22"/>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grpId="0" nodeType="click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wipe(down)">
                                      <p:cBhvr>
                                        <p:cTn id="72" dur="500"/>
                                        <p:tgtEl>
                                          <p:spTgt spid="23"/>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nodeType="clickEffect">
                                  <p:stCondLst>
                                    <p:cond delay="0"/>
                                  </p:stCondLst>
                                  <p:childTnLst>
                                    <p:set>
                                      <p:cBhvr>
                                        <p:cTn id="76" dur="1" fill="hold">
                                          <p:stCondLst>
                                            <p:cond delay="0"/>
                                          </p:stCondLst>
                                        </p:cTn>
                                        <p:tgtEl>
                                          <p:spTgt spid="24"/>
                                        </p:tgtEl>
                                        <p:attrNameLst>
                                          <p:attrName>style.visibility</p:attrName>
                                        </p:attrNameLst>
                                      </p:cBhvr>
                                      <p:to>
                                        <p:strVal val="visible"/>
                                      </p:to>
                                    </p:set>
                                    <p:animEffect transition="in" filter="wipe(down)">
                                      <p:cBhvr>
                                        <p:cTn id="7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7" grpId="0"/>
      <p:bldP spid="10" grpId="0"/>
      <p:bldP spid="14" grpId="0"/>
      <p:bldP spid="16" grpId="0"/>
      <p:bldP spid="2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 y="0"/>
            <a:ext cx="8915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0"/>
            <a:ext cx="89154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§1. GIAO THOA ÁNH SÁNG</a:t>
            </a:r>
          </a:p>
        </p:txBody>
      </p:sp>
      <p:sp>
        <p:nvSpPr>
          <p:cNvPr id="7" name="Rectangle 6"/>
          <p:cNvSpPr/>
          <p:nvPr/>
        </p:nvSpPr>
        <p:spPr>
          <a:xfrm>
            <a:off x="76200" y="609600"/>
            <a:ext cx="5937060" cy="461665"/>
          </a:xfrm>
          <a:prstGeom prst="rect">
            <a:avLst/>
          </a:prstGeom>
        </p:spPr>
        <p:txBody>
          <a:bodyPr wrap="square">
            <a:spAutoFit/>
          </a:bodyPr>
          <a:lstStyle/>
          <a:p>
            <a:r>
              <a:rPr lang="en-US" sz="2400" b="1" dirty="0">
                <a:solidFill>
                  <a:srgbClr val="0070C0"/>
                </a:solidFill>
                <a:latin typeface="Times New Roman" pitchFamily="18" charset="0"/>
              </a:rPr>
              <a:t>b</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Vị</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trí</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vân</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giao</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thoa</a:t>
            </a:r>
            <a:r>
              <a:rPr lang="en-US" sz="2400" b="1" i="1" dirty="0">
                <a:solidFill>
                  <a:srgbClr val="0070C0"/>
                </a:solidFill>
                <a:latin typeface="Times New Roman" pitchFamily="18" charset="0"/>
              </a:rPr>
              <a:t>.</a:t>
            </a:r>
          </a:p>
        </p:txBody>
      </p:sp>
      <p:sp>
        <p:nvSpPr>
          <p:cNvPr id="2" name="Rectangle 1"/>
          <p:cNvSpPr/>
          <p:nvPr/>
        </p:nvSpPr>
        <p:spPr>
          <a:xfrm>
            <a:off x="152400" y="1066800"/>
            <a:ext cx="6705600" cy="461665"/>
          </a:xfrm>
          <a:prstGeom prst="rect">
            <a:avLst/>
          </a:prstGeom>
        </p:spPr>
        <p:txBody>
          <a:bodyPr wrap="square">
            <a:spAutoFit/>
          </a:bodyPr>
          <a:lstStyle/>
          <a:p>
            <a:r>
              <a:rPr lang="en-US" sz="2400" dirty="0" err="1">
                <a:latin typeface="Times New Roman" pitchFamily="18" charset="0"/>
              </a:rPr>
              <a:t>Xét</a:t>
            </a:r>
            <a:r>
              <a:rPr lang="en-US" sz="2400" dirty="0">
                <a:latin typeface="Times New Roman" pitchFamily="18" charset="0"/>
              </a:rPr>
              <a:t> </a:t>
            </a:r>
            <a:r>
              <a:rPr lang="en-US" sz="2400" dirty="0" err="1">
                <a:latin typeface="Times New Roman" pitchFamily="18" charset="0"/>
              </a:rPr>
              <a:t>hệ</a:t>
            </a:r>
            <a:r>
              <a:rPr lang="en-US" sz="2400" dirty="0">
                <a:latin typeface="Times New Roman" pitchFamily="18" charset="0"/>
              </a:rPr>
              <a:t> </a:t>
            </a:r>
            <a:r>
              <a:rPr lang="en-US" sz="2400" dirty="0" err="1">
                <a:latin typeface="Times New Roman" pitchFamily="18" charset="0"/>
              </a:rPr>
              <a:t>thống</a:t>
            </a:r>
            <a:r>
              <a:rPr lang="en-US" sz="2400" dirty="0">
                <a:latin typeface="Times New Roman" pitchFamily="18" charset="0"/>
              </a:rPr>
              <a:t> </a:t>
            </a:r>
            <a:r>
              <a:rPr lang="en-US" sz="2400" dirty="0" err="1">
                <a:latin typeface="Times New Roman" pitchFamily="18" charset="0"/>
              </a:rPr>
              <a:t>đặt</a:t>
            </a:r>
            <a:r>
              <a:rPr lang="en-US" sz="2400" dirty="0">
                <a:latin typeface="Times New Roman" pitchFamily="18" charset="0"/>
              </a:rPr>
              <a:t> </a:t>
            </a:r>
            <a:r>
              <a:rPr lang="en-US" sz="2400" dirty="0" err="1">
                <a:solidFill>
                  <a:srgbClr val="FF0000"/>
                </a:solidFill>
                <a:latin typeface="Times New Roman" pitchFamily="18" charset="0"/>
              </a:rPr>
              <a:t>trong</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không</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khí</a:t>
            </a:r>
            <a:r>
              <a:rPr lang="en-US" sz="2400" dirty="0">
                <a:solidFill>
                  <a:srgbClr val="FF0000"/>
                </a:solidFill>
                <a:latin typeface="Times New Roman" pitchFamily="18" charset="0"/>
              </a:rPr>
              <a:t>:</a:t>
            </a:r>
            <a:endParaRPr lang="en-US" sz="2400" dirty="0">
              <a:solidFill>
                <a:srgbClr val="FF0000"/>
              </a:solidFill>
            </a:endParaRPr>
          </a:p>
        </p:txBody>
      </p:sp>
      <p:sp>
        <p:nvSpPr>
          <p:cNvPr id="3" name="Rectangle 2"/>
          <p:cNvSpPr/>
          <p:nvPr/>
        </p:nvSpPr>
        <p:spPr>
          <a:xfrm>
            <a:off x="269088" y="1524000"/>
            <a:ext cx="5141112" cy="461665"/>
          </a:xfrm>
          <a:prstGeom prst="rect">
            <a:avLst/>
          </a:prstGeom>
        </p:spPr>
        <p:txBody>
          <a:bodyPr wrap="square">
            <a:spAutoFit/>
          </a:bodyPr>
          <a:lstStyle/>
          <a:p>
            <a:r>
              <a:rPr lang="en-US" sz="2400" dirty="0">
                <a:latin typeface="Times New Roman" pitchFamily="18" charset="0"/>
              </a:rPr>
              <a:t>L</a:t>
            </a:r>
            <a:r>
              <a:rPr lang="en-US" sz="2400" baseline="-25000" dirty="0">
                <a:latin typeface="Times New Roman" pitchFamily="18" charset="0"/>
              </a:rPr>
              <a:t>2</a:t>
            </a:r>
            <a:r>
              <a:rPr lang="en-US" sz="2400" dirty="0">
                <a:latin typeface="Times New Roman" pitchFamily="18" charset="0"/>
              </a:rPr>
              <a:t> - L</a:t>
            </a:r>
            <a:r>
              <a:rPr lang="en-US" sz="2400" baseline="-25000" dirty="0">
                <a:latin typeface="Times New Roman" pitchFamily="18" charset="0"/>
              </a:rPr>
              <a:t>1</a:t>
            </a:r>
            <a:r>
              <a:rPr lang="en-US" sz="2400" dirty="0">
                <a:latin typeface="Times New Roman" pitchFamily="18" charset="0"/>
              </a:rPr>
              <a:t>= r</a:t>
            </a:r>
            <a:r>
              <a:rPr lang="en-US" sz="2400" baseline="-25000" dirty="0">
                <a:latin typeface="Times New Roman" pitchFamily="18" charset="0"/>
              </a:rPr>
              <a:t>2</a:t>
            </a:r>
            <a:r>
              <a:rPr lang="en-US" sz="2400" dirty="0">
                <a:latin typeface="Times New Roman" pitchFamily="18" charset="0"/>
              </a:rPr>
              <a:t>- r</a:t>
            </a:r>
            <a:r>
              <a:rPr lang="en-US" sz="2400" baseline="-25000" dirty="0">
                <a:latin typeface="Times New Roman" pitchFamily="18" charset="0"/>
              </a:rPr>
              <a:t>1</a:t>
            </a:r>
          </a:p>
        </p:txBody>
      </p:sp>
      <p:graphicFrame>
        <p:nvGraphicFramePr>
          <p:cNvPr id="8" name="Object 7"/>
          <p:cNvGraphicFramePr>
            <a:graphicFrameLocks noChangeAspect="1"/>
          </p:cNvGraphicFramePr>
          <p:nvPr>
            <p:extLst>
              <p:ext uri="{D42A27DB-BD31-4B8C-83A1-F6EECF244321}">
                <p14:modId xmlns:p14="http://schemas.microsoft.com/office/powerpoint/2010/main" val="1884840900"/>
              </p:ext>
            </p:extLst>
          </p:nvPr>
        </p:nvGraphicFramePr>
        <p:xfrm>
          <a:off x="381000" y="2057400"/>
          <a:ext cx="1544637" cy="406400"/>
        </p:xfrm>
        <a:graphic>
          <a:graphicData uri="http://schemas.openxmlformats.org/presentationml/2006/ole">
            <mc:AlternateContent xmlns:mc="http://schemas.openxmlformats.org/markup-compatibility/2006">
              <mc:Choice xmlns:v="urn:schemas-microsoft-com:vml" Requires="v">
                <p:oleObj spid="_x0000_s5926" name="Equation" r:id="rId3" imgW="812520" imgH="215640" progId="Equation.3">
                  <p:embed/>
                </p:oleObj>
              </mc:Choice>
              <mc:Fallback>
                <p:oleObj name="Equation" r:id="rId3" imgW="812520" imgH="215640" progId="Equation.3">
                  <p:embed/>
                  <p:pic>
                    <p:nvPicPr>
                      <p:cNvPr id="0" name="Object 5"/>
                      <p:cNvPicPr>
                        <a:picLocks noChangeAspect="1" noChangeArrowheads="1"/>
                      </p:cNvPicPr>
                      <p:nvPr/>
                    </p:nvPicPr>
                    <p:blipFill>
                      <a:blip r:embed="rId4"/>
                      <a:srcRect/>
                      <a:stretch>
                        <a:fillRect/>
                      </a:stretch>
                    </p:blipFill>
                    <p:spPr bwMode="auto">
                      <a:xfrm>
                        <a:off x="381000" y="2057400"/>
                        <a:ext cx="1544637"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8"/>
          <p:cNvSpPr/>
          <p:nvPr/>
        </p:nvSpPr>
        <p:spPr>
          <a:xfrm>
            <a:off x="269089" y="2667000"/>
            <a:ext cx="5116596" cy="461665"/>
          </a:xfrm>
          <a:prstGeom prst="rect">
            <a:avLst/>
          </a:prstGeom>
        </p:spPr>
        <p:txBody>
          <a:bodyPr wrap="square">
            <a:spAutoFit/>
          </a:bodyPr>
          <a:lstStyle/>
          <a:p>
            <a:r>
              <a:rPr lang="en-US" sz="2400" i="1" dirty="0" err="1">
                <a:solidFill>
                  <a:srgbClr val="FF0000"/>
                </a:solidFill>
                <a:latin typeface="Times New Roman" pitchFamily="18" charset="0"/>
              </a:rPr>
              <a:t>Vị</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trí</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vân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sáng</a:t>
            </a:r>
            <a:r>
              <a:rPr lang="en-US" sz="2400" i="1" dirty="0">
                <a:solidFill>
                  <a:srgbClr val="FF0000"/>
                </a:solidFill>
                <a:latin typeface="Times New Roman" pitchFamily="18" charset="0"/>
              </a:rPr>
              <a:t>:</a:t>
            </a:r>
          </a:p>
        </p:txBody>
      </p:sp>
      <p:graphicFrame>
        <p:nvGraphicFramePr>
          <p:cNvPr id="10" name="Object 9"/>
          <p:cNvGraphicFramePr>
            <a:graphicFrameLocks noChangeAspect="1"/>
          </p:cNvGraphicFramePr>
          <p:nvPr>
            <p:extLst>
              <p:ext uri="{D42A27DB-BD31-4B8C-83A1-F6EECF244321}">
                <p14:modId xmlns:p14="http://schemas.microsoft.com/office/powerpoint/2010/main" val="921888946"/>
              </p:ext>
            </p:extLst>
          </p:nvPr>
        </p:nvGraphicFramePr>
        <p:xfrm>
          <a:off x="392113" y="3135313"/>
          <a:ext cx="1881187" cy="685800"/>
        </p:xfrm>
        <a:graphic>
          <a:graphicData uri="http://schemas.openxmlformats.org/presentationml/2006/ole">
            <mc:AlternateContent xmlns:mc="http://schemas.openxmlformats.org/markup-compatibility/2006">
              <mc:Choice xmlns:v="urn:schemas-microsoft-com:vml" Requires="v">
                <p:oleObj spid="_x0000_s5927" name="Equation" r:id="rId5" imgW="1091880" imgH="393480" progId="Equation.3">
                  <p:embed/>
                </p:oleObj>
              </mc:Choice>
              <mc:Fallback>
                <p:oleObj name="Equation" r:id="rId5" imgW="1091880" imgH="393480" progId="Equation.3">
                  <p:embed/>
                  <p:pic>
                    <p:nvPicPr>
                      <p:cNvPr id="0" name="Object 8"/>
                      <p:cNvPicPr>
                        <a:picLocks noChangeAspect="1" noChangeArrowheads="1"/>
                      </p:cNvPicPr>
                      <p:nvPr/>
                    </p:nvPicPr>
                    <p:blipFill>
                      <a:blip r:embed="rId6"/>
                      <a:srcRect/>
                      <a:stretch>
                        <a:fillRect/>
                      </a:stretch>
                    </p:blipFill>
                    <p:spPr bwMode="auto">
                      <a:xfrm>
                        <a:off x="392113" y="3135313"/>
                        <a:ext cx="1881187"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3496879026"/>
              </p:ext>
            </p:extLst>
          </p:nvPr>
        </p:nvGraphicFramePr>
        <p:xfrm>
          <a:off x="2514600" y="3201988"/>
          <a:ext cx="3806825" cy="684212"/>
        </p:xfrm>
        <a:graphic>
          <a:graphicData uri="http://schemas.openxmlformats.org/presentationml/2006/ole">
            <mc:AlternateContent xmlns:mc="http://schemas.openxmlformats.org/markup-compatibility/2006">
              <mc:Choice xmlns:v="urn:schemas-microsoft-com:vml" Requires="v">
                <p:oleObj spid="_x0000_s5928" name="Equation" r:id="rId7" imgW="2184120" imgH="393480" progId="Equation.3">
                  <p:embed/>
                </p:oleObj>
              </mc:Choice>
              <mc:Fallback>
                <p:oleObj name="Equation" r:id="rId7" imgW="2184120" imgH="393480" progId="Equation.3">
                  <p:embed/>
                  <p:pic>
                    <p:nvPicPr>
                      <p:cNvPr id="0" name="Object 10"/>
                      <p:cNvPicPr>
                        <a:picLocks noChangeAspect="1" noChangeArrowheads="1"/>
                      </p:cNvPicPr>
                      <p:nvPr/>
                    </p:nvPicPr>
                    <p:blipFill>
                      <a:blip r:embed="rId8"/>
                      <a:srcRect/>
                      <a:stretch>
                        <a:fillRect/>
                      </a:stretch>
                    </p:blipFill>
                    <p:spPr bwMode="auto">
                      <a:xfrm>
                        <a:off x="2514600" y="3201988"/>
                        <a:ext cx="3806825" cy="684212"/>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Rectangle 11"/>
          <p:cNvSpPr/>
          <p:nvPr/>
        </p:nvSpPr>
        <p:spPr>
          <a:xfrm>
            <a:off x="228600" y="3881735"/>
            <a:ext cx="5116596" cy="461665"/>
          </a:xfrm>
          <a:prstGeom prst="rect">
            <a:avLst/>
          </a:prstGeom>
        </p:spPr>
        <p:txBody>
          <a:bodyPr wrap="square">
            <a:spAutoFit/>
          </a:bodyPr>
          <a:lstStyle/>
          <a:p>
            <a:r>
              <a:rPr lang="en-US" sz="2400" i="1" dirty="0" err="1">
                <a:solidFill>
                  <a:srgbClr val="FF0000"/>
                </a:solidFill>
                <a:latin typeface="Times New Roman" pitchFamily="18" charset="0"/>
              </a:rPr>
              <a:t>Vị</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trí</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vân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tối</a:t>
            </a:r>
            <a:r>
              <a:rPr lang="en-US" sz="2400" i="1" dirty="0">
                <a:solidFill>
                  <a:srgbClr val="FF0000"/>
                </a:solidFill>
                <a:latin typeface="Times New Roman" pitchFamily="18" charset="0"/>
              </a:rPr>
              <a:t>:</a:t>
            </a:r>
          </a:p>
        </p:txBody>
      </p:sp>
      <p:graphicFrame>
        <p:nvGraphicFramePr>
          <p:cNvPr id="13" name="Object 12"/>
          <p:cNvGraphicFramePr>
            <a:graphicFrameLocks noChangeAspect="1"/>
          </p:cNvGraphicFramePr>
          <p:nvPr>
            <p:extLst>
              <p:ext uri="{D42A27DB-BD31-4B8C-83A1-F6EECF244321}">
                <p14:modId xmlns:p14="http://schemas.microsoft.com/office/powerpoint/2010/main" val="877358810"/>
              </p:ext>
            </p:extLst>
          </p:nvPr>
        </p:nvGraphicFramePr>
        <p:xfrm>
          <a:off x="263525" y="4343400"/>
          <a:ext cx="2632075" cy="719137"/>
        </p:xfrm>
        <a:graphic>
          <a:graphicData uri="http://schemas.openxmlformats.org/presentationml/2006/ole">
            <mc:AlternateContent xmlns:mc="http://schemas.openxmlformats.org/markup-compatibility/2006">
              <mc:Choice xmlns:v="urn:schemas-microsoft-com:vml" Requires="v">
                <p:oleObj spid="_x0000_s5929" name="Equation" r:id="rId9" imgW="1447560" imgH="393480" progId="Equation.3">
                  <p:embed/>
                </p:oleObj>
              </mc:Choice>
              <mc:Fallback>
                <p:oleObj name="Equation" r:id="rId9" imgW="1447560" imgH="393480" progId="Equation.3">
                  <p:embed/>
                  <p:pic>
                    <p:nvPicPr>
                      <p:cNvPr id="0" name="Object 13"/>
                      <p:cNvPicPr>
                        <a:picLocks noChangeAspect="1" noChangeArrowheads="1"/>
                      </p:cNvPicPr>
                      <p:nvPr/>
                    </p:nvPicPr>
                    <p:blipFill>
                      <a:blip r:embed="rId10"/>
                      <a:srcRect/>
                      <a:stretch>
                        <a:fillRect/>
                      </a:stretch>
                    </p:blipFill>
                    <p:spPr bwMode="auto">
                      <a:xfrm>
                        <a:off x="263525" y="4343400"/>
                        <a:ext cx="2632075"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13"/>
          <p:cNvGraphicFramePr>
            <a:graphicFrameLocks noChangeAspect="1"/>
          </p:cNvGraphicFramePr>
          <p:nvPr>
            <p:extLst>
              <p:ext uri="{D42A27DB-BD31-4B8C-83A1-F6EECF244321}">
                <p14:modId xmlns:p14="http://schemas.microsoft.com/office/powerpoint/2010/main" val="1582286860"/>
              </p:ext>
            </p:extLst>
          </p:nvPr>
        </p:nvGraphicFramePr>
        <p:xfrm>
          <a:off x="3036643" y="4400551"/>
          <a:ext cx="4167188" cy="661988"/>
        </p:xfrm>
        <a:graphic>
          <a:graphicData uri="http://schemas.openxmlformats.org/presentationml/2006/ole">
            <mc:AlternateContent xmlns:mc="http://schemas.openxmlformats.org/markup-compatibility/2006">
              <mc:Choice xmlns:v="urn:schemas-microsoft-com:vml" Requires="v">
                <p:oleObj spid="_x0000_s5930" name="Equation" r:id="rId11" imgW="2514600" imgH="393480" progId="Equation.3">
                  <p:embed/>
                </p:oleObj>
              </mc:Choice>
              <mc:Fallback>
                <p:oleObj name="Equation" r:id="rId11" imgW="2514600" imgH="393480" progId="Equation.3">
                  <p:embed/>
                  <p:pic>
                    <p:nvPicPr>
                      <p:cNvPr id="0" name="Object 15"/>
                      <p:cNvPicPr>
                        <a:picLocks noChangeAspect="1" noChangeArrowheads="1"/>
                      </p:cNvPicPr>
                      <p:nvPr/>
                    </p:nvPicPr>
                    <p:blipFill>
                      <a:blip r:embed="rId12"/>
                      <a:srcRect/>
                      <a:stretch>
                        <a:fillRect/>
                      </a:stretch>
                    </p:blipFill>
                    <p:spPr bwMode="auto">
                      <a:xfrm>
                        <a:off x="3036643" y="4400551"/>
                        <a:ext cx="4167188" cy="661988"/>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Rectangle 14"/>
          <p:cNvSpPr/>
          <p:nvPr/>
        </p:nvSpPr>
        <p:spPr>
          <a:xfrm>
            <a:off x="228600" y="5181600"/>
            <a:ext cx="5116596" cy="461665"/>
          </a:xfrm>
          <a:prstGeom prst="rect">
            <a:avLst/>
          </a:prstGeom>
        </p:spPr>
        <p:txBody>
          <a:bodyPr wrap="square">
            <a:spAutoFit/>
          </a:bodyPr>
          <a:lstStyle/>
          <a:p>
            <a:r>
              <a:rPr lang="en-US" sz="2400" i="1" dirty="0" err="1">
                <a:solidFill>
                  <a:srgbClr val="FF0000"/>
                </a:solidFill>
                <a:latin typeface="Times New Roman" pitchFamily="18" charset="0"/>
              </a:rPr>
              <a:t>Khoảng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vân</a:t>
            </a:r>
            <a:r>
              <a:rPr lang="en-US" sz="2400" i="1" dirty="0">
                <a:solidFill>
                  <a:srgbClr val="FF0000"/>
                </a:solidFill>
                <a:latin typeface="Times New Roman" pitchFamily="18" charset="0"/>
              </a:rPr>
              <a:t>:</a:t>
            </a:r>
          </a:p>
        </p:txBody>
      </p:sp>
      <p:graphicFrame>
        <p:nvGraphicFramePr>
          <p:cNvPr id="16" name="Object 15"/>
          <p:cNvGraphicFramePr>
            <a:graphicFrameLocks noChangeAspect="1"/>
          </p:cNvGraphicFramePr>
          <p:nvPr>
            <p:extLst>
              <p:ext uri="{D42A27DB-BD31-4B8C-83A1-F6EECF244321}">
                <p14:modId xmlns:p14="http://schemas.microsoft.com/office/powerpoint/2010/main" val="1707235487"/>
              </p:ext>
            </p:extLst>
          </p:nvPr>
        </p:nvGraphicFramePr>
        <p:xfrm>
          <a:off x="1625600" y="5772150"/>
          <a:ext cx="4927600" cy="781050"/>
        </p:xfrm>
        <a:graphic>
          <a:graphicData uri="http://schemas.openxmlformats.org/presentationml/2006/ole">
            <mc:AlternateContent xmlns:mc="http://schemas.openxmlformats.org/markup-compatibility/2006">
              <mc:Choice xmlns:v="urn:schemas-microsoft-com:vml" Requires="v">
                <p:oleObj spid="_x0000_s5931" name="Equation" r:id="rId13" imgW="2463480" imgH="393480" progId="Equation.3">
                  <p:embed/>
                </p:oleObj>
              </mc:Choice>
              <mc:Fallback>
                <p:oleObj name="Equation" r:id="rId13" imgW="2463480" imgH="393480" progId="Equation.3">
                  <p:embed/>
                  <p:pic>
                    <p:nvPicPr>
                      <p:cNvPr id="0" name="Object 24"/>
                      <p:cNvPicPr>
                        <a:picLocks noChangeAspect="1" noChangeArrowheads="1"/>
                      </p:cNvPicPr>
                      <p:nvPr/>
                    </p:nvPicPr>
                    <p:blipFill>
                      <a:blip r:embed="rId14"/>
                      <a:srcRect/>
                      <a:stretch>
                        <a:fillRect/>
                      </a:stretch>
                    </p:blipFill>
                    <p:spPr bwMode="auto">
                      <a:xfrm>
                        <a:off x="1625600" y="5772150"/>
                        <a:ext cx="4927600" cy="781050"/>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Object 16"/>
          <p:cNvGraphicFramePr>
            <a:graphicFrameLocks noChangeAspect="1"/>
          </p:cNvGraphicFramePr>
          <p:nvPr>
            <p:extLst>
              <p:ext uri="{D42A27DB-BD31-4B8C-83A1-F6EECF244321}">
                <p14:modId xmlns:p14="http://schemas.microsoft.com/office/powerpoint/2010/main" val="443582484"/>
              </p:ext>
            </p:extLst>
          </p:nvPr>
        </p:nvGraphicFramePr>
        <p:xfrm>
          <a:off x="1828800" y="2101850"/>
          <a:ext cx="2027237" cy="334963"/>
        </p:xfrm>
        <a:graphic>
          <a:graphicData uri="http://schemas.openxmlformats.org/presentationml/2006/ole">
            <mc:AlternateContent xmlns:mc="http://schemas.openxmlformats.org/markup-compatibility/2006">
              <mc:Choice xmlns:v="urn:schemas-microsoft-com:vml" Requires="v">
                <p:oleObj spid="_x0000_s5932" name="Equation" r:id="rId15" imgW="1066680" imgH="177480" progId="Equation.3">
                  <p:embed/>
                </p:oleObj>
              </mc:Choice>
              <mc:Fallback>
                <p:oleObj name="Equation" r:id="rId15" imgW="1066680" imgH="177480" progId="Equation.3">
                  <p:embed/>
                  <p:pic>
                    <p:nvPicPr>
                      <p:cNvPr id="0" name="Object 7"/>
                      <p:cNvPicPr>
                        <a:picLocks noChangeAspect="1" noChangeArrowheads="1"/>
                      </p:cNvPicPr>
                      <p:nvPr/>
                    </p:nvPicPr>
                    <p:blipFill>
                      <a:blip r:embed="rId16"/>
                      <a:srcRect/>
                      <a:stretch>
                        <a:fillRect/>
                      </a:stretch>
                    </p:blipFill>
                    <p:spPr bwMode="auto">
                      <a:xfrm>
                        <a:off x="1828800" y="2101850"/>
                        <a:ext cx="2027237"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Object 18"/>
          <p:cNvGraphicFramePr>
            <a:graphicFrameLocks noChangeAspect="1"/>
          </p:cNvGraphicFramePr>
          <p:nvPr>
            <p:extLst>
              <p:ext uri="{D42A27DB-BD31-4B8C-83A1-F6EECF244321}">
                <p14:modId xmlns:p14="http://schemas.microsoft.com/office/powerpoint/2010/main" val="3803646884"/>
              </p:ext>
            </p:extLst>
          </p:nvPr>
        </p:nvGraphicFramePr>
        <p:xfrm>
          <a:off x="3810000" y="1925637"/>
          <a:ext cx="579437" cy="741363"/>
        </p:xfrm>
        <a:graphic>
          <a:graphicData uri="http://schemas.openxmlformats.org/presentationml/2006/ole">
            <mc:AlternateContent xmlns:mc="http://schemas.openxmlformats.org/markup-compatibility/2006">
              <mc:Choice xmlns:v="urn:schemas-microsoft-com:vml" Requires="v">
                <p:oleObj spid="_x0000_s5933" name="Equation" r:id="rId17" imgW="304560" imgH="393480" progId="Equation.3">
                  <p:embed/>
                </p:oleObj>
              </mc:Choice>
              <mc:Fallback>
                <p:oleObj name="Equation" r:id="rId17" imgW="304560" imgH="393480" progId="Equation.3">
                  <p:embed/>
                  <p:pic>
                    <p:nvPicPr>
                      <p:cNvPr id="0" name="Object 7"/>
                      <p:cNvPicPr>
                        <a:picLocks noChangeAspect="1" noChangeArrowheads="1"/>
                      </p:cNvPicPr>
                      <p:nvPr/>
                    </p:nvPicPr>
                    <p:blipFill>
                      <a:blip r:embed="rId18"/>
                      <a:srcRect/>
                      <a:stretch>
                        <a:fillRect/>
                      </a:stretch>
                    </p:blipFill>
                    <p:spPr bwMode="auto">
                      <a:xfrm>
                        <a:off x="3810000" y="1925637"/>
                        <a:ext cx="579437"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0" name="Picture 19">
            <a:extLst>
              <a:ext uri="{FF2B5EF4-FFF2-40B4-BE49-F238E27FC236}">
                <a16:creationId xmlns:a16="http://schemas.microsoft.com/office/drawing/2014/main" id="{4DCD1DC1-5774-4C77-B85A-3D817C2F1BA8}"/>
              </a:ext>
            </a:extLst>
          </p:cNvPr>
          <p:cNvPicPr>
            <a:picLocks noChangeAspect="1"/>
          </p:cNvPicPr>
          <p:nvPr/>
        </p:nvPicPr>
        <p:blipFill>
          <a:blip r:embed="rId19"/>
          <a:stretch>
            <a:fillRect/>
          </a:stretch>
        </p:blipFill>
        <p:spPr>
          <a:xfrm>
            <a:off x="4953000" y="976016"/>
            <a:ext cx="4038599" cy="2152004"/>
          </a:xfrm>
          <a:prstGeom prst="rect">
            <a:avLst/>
          </a:prstGeom>
        </p:spPr>
      </p:pic>
    </p:spTree>
    <p:extLst>
      <p:ext uri="{BB962C8B-B14F-4D97-AF65-F5344CB8AC3E}">
        <p14:creationId xmlns:p14="http://schemas.microsoft.com/office/powerpoint/2010/main" val="879839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arn(inVertic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down)">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down)">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down)">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down)">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down)">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down)">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wipe(down)">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wipe(down)">
                                      <p:cBhvr>
                                        <p:cTn id="57" dur="500"/>
                                        <p:tgtEl>
                                          <p:spTgt spid="1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wipe(down)">
                                      <p:cBhvr>
                                        <p:cTn id="62" dur="500"/>
                                        <p:tgtEl>
                                          <p:spTgt spid="15"/>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nodeType="click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wipe(down)">
                                      <p:cBhvr>
                                        <p:cTn id="6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9" grpId="0"/>
      <p:bldP spid="12" grpId="0"/>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0" descr="hinh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1818" y="1066800"/>
            <a:ext cx="5811982" cy="4262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76200" y="0"/>
            <a:ext cx="8915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76200" y="0"/>
            <a:ext cx="89154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§1. GIAO THOA ÁNH SÁNG</a:t>
            </a:r>
          </a:p>
        </p:txBody>
      </p:sp>
    </p:spTree>
    <p:extLst>
      <p:ext uri="{BB962C8B-B14F-4D97-AF65-F5344CB8AC3E}">
        <p14:creationId xmlns:p14="http://schemas.microsoft.com/office/powerpoint/2010/main" val="610352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0"/>
            <a:ext cx="89154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§1. GIAO THOA ÁNH SÁNG</a:t>
            </a:r>
          </a:p>
        </p:txBody>
      </p:sp>
      <p:sp>
        <p:nvSpPr>
          <p:cNvPr id="6" name="TextBox 5"/>
          <p:cNvSpPr txBox="1"/>
          <p:nvPr/>
        </p:nvSpPr>
        <p:spPr>
          <a:xfrm>
            <a:off x="76200" y="762000"/>
            <a:ext cx="8915400" cy="461665"/>
          </a:xfrm>
          <a:prstGeom prst="rect">
            <a:avLst/>
          </a:prstGeom>
          <a:noFill/>
        </p:spPr>
        <p:txBody>
          <a:bodyPr wrap="square" rtlCol="0">
            <a:spAutoFit/>
          </a:bodyPr>
          <a:lstStyle/>
          <a:p>
            <a:r>
              <a:rPr lang="en-US" sz="2400" dirty="0" err="1">
                <a:solidFill>
                  <a:srgbClr val="FF0000"/>
                </a:solidFill>
                <a:latin typeface="Times New Roman" pitchFamily="18" charset="0"/>
                <a:cs typeface="Times New Roman" pitchFamily="18" charset="0"/>
              </a:rPr>
              <a:t>Giao</a:t>
            </a:r>
            <a:r>
              <a:rPr lang="en-US" sz="2400" dirty="0">
                <a:solidFill>
                  <a:srgbClr val="FF0000"/>
                </a:solidFill>
                <a:latin typeface="Times New Roman" pitchFamily="18" charset="0"/>
                <a:cs typeface="Times New Roman" pitchFamily="18" charset="0"/>
              </a:rPr>
              <a:t> </a:t>
            </a:r>
            <a:r>
              <a:rPr lang="en-US" sz="2400" dirty="0" err="1">
                <a:solidFill>
                  <a:srgbClr val="FF0000"/>
                </a:solidFill>
                <a:latin typeface="Times New Roman" pitchFamily="18" charset="0"/>
                <a:cs typeface="Times New Roman" pitchFamily="18" charset="0"/>
              </a:rPr>
              <a:t>thoa</a:t>
            </a:r>
            <a:r>
              <a:rPr lang="en-US" sz="2400" dirty="0">
                <a:solidFill>
                  <a:srgbClr val="FF0000"/>
                </a:solidFill>
                <a:latin typeface="Times New Roman" pitchFamily="18" charset="0"/>
                <a:cs typeface="Times New Roman" pitchFamily="18" charset="0"/>
              </a:rPr>
              <a:t>  </a:t>
            </a:r>
            <a:r>
              <a:rPr lang="en-US" sz="2400" dirty="0" err="1">
                <a:solidFill>
                  <a:srgbClr val="FF0000"/>
                </a:solidFill>
                <a:latin typeface="Times New Roman" pitchFamily="18" charset="0"/>
                <a:cs typeface="Times New Roman" pitchFamily="18" charset="0"/>
              </a:rPr>
              <a:t>gây</a:t>
            </a:r>
            <a:r>
              <a:rPr lang="en-US" sz="2400" dirty="0">
                <a:solidFill>
                  <a:srgbClr val="FF0000"/>
                </a:solidFill>
                <a:latin typeface="Times New Roman" pitchFamily="18" charset="0"/>
                <a:cs typeface="Times New Roman" pitchFamily="18" charset="0"/>
              </a:rPr>
              <a:t> </a:t>
            </a:r>
            <a:r>
              <a:rPr lang="en-US" sz="2400" dirty="0" err="1">
                <a:solidFill>
                  <a:srgbClr val="FF0000"/>
                </a:solidFill>
                <a:latin typeface="Times New Roman" pitchFamily="18" charset="0"/>
                <a:cs typeface="Times New Roman" pitchFamily="18" charset="0"/>
              </a:rPr>
              <a:t>bởi</a:t>
            </a:r>
            <a:r>
              <a:rPr lang="en-US" sz="2400" dirty="0">
                <a:solidFill>
                  <a:srgbClr val="FF0000"/>
                </a:solidFill>
                <a:latin typeface="Times New Roman" pitchFamily="18" charset="0"/>
                <a:cs typeface="Times New Roman" pitchFamily="18" charset="0"/>
              </a:rPr>
              <a:t> </a:t>
            </a:r>
            <a:r>
              <a:rPr lang="en-US" sz="2400" dirty="0" err="1">
                <a:solidFill>
                  <a:srgbClr val="FF0000"/>
                </a:solidFill>
                <a:latin typeface="Times New Roman" pitchFamily="18" charset="0"/>
                <a:cs typeface="Times New Roman" pitchFamily="18" charset="0"/>
              </a:rPr>
              <a:t>ánh</a:t>
            </a:r>
            <a:r>
              <a:rPr lang="en-US" sz="2400" dirty="0">
                <a:solidFill>
                  <a:srgbClr val="FF0000"/>
                </a:solidFill>
                <a:latin typeface="Times New Roman" pitchFamily="18" charset="0"/>
                <a:cs typeface="Times New Roman" pitchFamily="18" charset="0"/>
              </a:rPr>
              <a:t> </a:t>
            </a:r>
            <a:r>
              <a:rPr lang="en-US" sz="2400" dirty="0" err="1">
                <a:solidFill>
                  <a:srgbClr val="FF0000"/>
                </a:solidFill>
                <a:latin typeface="Times New Roman" pitchFamily="18" charset="0"/>
                <a:cs typeface="Times New Roman" pitchFamily="18" charset="0"/>
              </a:rPr>
              <a:t>sáng</a:t>
            </a:r>
            <a:r>
              <a:rPr lang="en-US" sz="2400" dirty="0">
                <a:solidFill>
                  <a:srgbClr val="FF0000"/>
                </a:solidFill>
                <a:latin typeface="Times New Roman" pitchFamily="18" charset="0"/>
                <a:cs typeface="Times New Roman" pitchFamily="18" charset="0"/>
              </a:rPr>
              <a:t> </a:t>
            </a:r>
            <a:r>
              <a:rPr lang="en-US" sz="2400" dirty="0" err="1">
                <a:solidFill>
                  <a:srgbClr val="FF0000"/>
                </a:solidFill>
                <a:latin typeface="Times New Roman" pitchFamily="18" charset="0"/>
                <a:cs typeface="Times New Roman" pitchFamily="18" charset="0"/>
              </a:rPr>
              <a:t>trắng</a:t>
            </a:r>
            <a:endParaRPr lang="en-US" sz="2400" dirty="0">
              <a:solidFill>
                <a:srgbClr val="FF0000"/>
              </a:solidFill>
              <a:latin typeface="Times New Roman" pitchFamily="18" charset="0"/>
              <a:cs typeface="Times New Roman"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355" y="2057400"/>
            <a:ext cx="8951090" cy="2209800"/>
          </a:xfrm>
          <a:prstGeom prst="rect">
            <a:avLst/>
          </a:prstGeom>
        </p:spPr>
      </p:pic>
    </p:spTree>
    <p:extLst>
      <p:ext uri="{BB962C8B-B14F-4D97-AF65-F5344CB8AC3E}">
        <p14:creationId xmlns:p14="http://schemas.microsoft.com/office/powerpoint/2010/main" val="1539273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 y="0"/>
            <a:ext cx="8915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0"/>
            <a:ext cx="89154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§1. GIAO THOA ÁNH SÁNG</a:t>
            </a:r>
          </a:p>
        </p:txBody>
      </p:sp>
      <p:pic>
        <p:nvPicPr>
          <p:cNvPr id="6" name="Picture 5"/>
          <p:cNvPicPr/>
          <p:nvPr/>
        </p:nvPicPr>
        <p:blipFill>
          <a:blip r:embed="rId2">
            <a:extLst>
              <a:ext uri="{28A0092B-C50C-407E-A947-70E740481C1C}">
                <a14:useLocalDpi xmlns:a14="http://schemas.microsoft.com/office/drawing/2010/main" val="0"/>
              </a:ext>
            </a:extLst>
          </a:blip>
          <a:stretch>
            <a:fillRect/>
          </a:stretch>
        </p:blipFill>
        <p:spPr>
          <a:xfrm>
            <a:off x="78828" y="1981200"/>
            <a:ext cx="4724400" cy="2667000"/>
          </a:xfrm>
          <a:prstGeom prst="rect">
            <a:avLst/>
          </a:prstGeom>
        </p:spPr>
      </p:pic>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5277507" y="1914525"/>
            <a:ext cx="3695700" cy="2809875"/>
          </a:xfrm>
          <a:prstGeom prst="rect">
            <a:avLst/>
          </a:prstGeom>
        </p:spPr>
      </p:pic>
    </p:spTree>
    <p:extLst>
      <p:ext uri="{BB962C8B-B14F-4D97-AF65-F5344CB8AC3E}">
        <p14:creationId xmlns:p14="http://schemas.microsoft.com/office/powerpoint/2010/main" val="6278692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 y="0"/>
            <a:ext cx="8915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0"/>
            <a:ext cx="89154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§1. GIAO THOA ÁNH SÁNG</a:t>
            </a:r>
          </a:p>
        </p:txBody>
      </p:sp>
      <p:sp>
        <p:nvSpPr>
          <p:cNvPr id="2" name="Rectangle 1"/>
          <p:cNvSpPr/>
          <p:nvPr/>
        </p:nvSpPr>
        <p:spPr>
          <a:xfrm>
            <a:off x="76200" y="609600"/>
            <a:ext cx="5719853" cy="461665"/>
          </a:xfrm>
          <a:prstGeom prst="rect">
            <a:avLst/>
          </a:prstGeom>
        </p:spPr>
        <p:txBody>
          <a:bodyPr wrap="square">
            <a:spAutoFit/>
          </a:bodyPr>
          <a:lstStyle/>
          <a:p>
            <a:pPr marL="812800" indent="-812800"/>
            <a:r>
              <a:rPr lang="en-US" sz="2400" b="1" dirty="0">
                <a:solidFill>
                  <a:srgbClr val="FF0000"/>
                </a:solidFill>
                <a:latin typeface="Times New Roman" pitchFamily="18" charset="0"/>
              </a:rPr>
              <a:t>IV. </a:t>
            </a:r>
            <a:r>
              <a:rPr lang="en-US" sz="2400" b="1" dirty="0" err="1">
                <a:solidFill>
                  <a:srgbClr val="FF0000"/>
                </a:solidFill>
                <a:latin typeface="Times New Roman" pitchFamily="18" charset="0"/>
              </a:rPr>
              <a:t>Giao</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thoa</a:t>
            </a:r>
            <a:r>
              <a:rPr lang="en-US" sz="2400" b="1" dirty="0">
                <a:solidFill>
                  <a:srgbClr val="FF0000"/>
                </a:solidFill>
                <a:latin typeface="Times New Roman" pitchFamily="18" charset="0"/>
              </a:rPr>
              <a:t> do </a:t>
            </a:r>
            <a:r>
              <a:rPr lang="en-US" sz="2400" b="1" dirty="0" err="1">
                <a:solidFill>
                  <a:srgbClr val="FF0000"/>
                </a:solidFill>
                <a:latin typeface="Times New Roman" pitchFamily="18" charset="0"/>
              </a:rPr>
              <a:t>phản</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xạ</a:t>
            </a:r>
            <a:endParaRPr lang="en-US" sz="2400" b="1" dirty="0">
              <a:solidFill>
                <a:srgbClr val="FF0000"/>
              </a:solidFill>
              <a:latin typeface="Times New Roman" pitchFamily="18" charset="0"/>
            </a:endParaRPr>
          </a:p>
        </p:txBody>
      </p:sp>
      <p:sp>
        <p:nvSpPr>
          <p:cNvPr id="3" name="Rectangle 2"/>
          <p:cNvSpPr/>
          <p:nvPr/>
        </p:nvSpPr>
        <p:spPr>
          <a:xfrm>
            <a:off x="152401" y="1071265"/>
            <a:ext cx="5383966" cy="461665"/>
          </a:xfrm>
          <a:prstGeom prst="rect">
            <a:avLst/>
          </a:prstGeom>
        </p:spPr>
        <p:txBody>
          <a:bodyPr wrap="square">
            <a:spAutoFit/>
          </a:bodyPr>
          <a:lstStyle/>
          <a:p>
            <a:pPr marL="812800" indent="-812800"/>
            <a:r>
              <a:rPr lang="en-US" sz="2400" b="1" i="1" dirty="0">
                <a:solidFill>
                  <a:srgbClr val="00B0F0"/>
                </a:solidFill>
                <a:latin typeface="Times New Roman" pitchFamily="18" charset="0"/>
              </a:rPr>
              <a:t>1. </a:t>
            </a:r>
            <a:r>
              <a:rPr lang="en-US" sz="2400" b="1" i="1" dirty="0" err="1">
                <a:solidFill>
                  <a:srgbClr val="00B0F0"/>
                </a:solidFill>
                <a:latin typeface="Times New Roman" pitchFamily="18" charset="0"/>
              </a:rPr>
              <a:t>Thí</a:t>
            </a:r>
            <a:r>
              <a:rPr lang="en-US" sz="2400" b="1" i="1" dirty="0">
                <a:solidFill>
                  <a:srgbClr val="00B0F0"/>
                </a:solidFill>
                <a:latin typeface="Times New Roman" pitchFamily="18" charset="0"/>
              </a:rPr>
              <a:t> </a:t>
            </a:r>
            <a:r>
              <a:rPr lang="en-US" sz="2400" b="1" i="1" dirty="0" err="1">
                <a:solidFill>
                  <a:srgbClr val="00B0F0"/>
                </a:solidFill>
                <a:latin typeface="Times New Roman" pitchFamily="18" charset="0"/>
              </a:rPr>
              <a:t>nghiệm</a:t>
            </a:r>
            <a:r>
              <a:rPr lang="en-US" sz="2400" b="1" i="1" dirty="0">
                <a:solidFill>
                  <a:srgbClr val="00B0F0"/>
                </a:solidFill>
                <a:latin typeface="Times New Roman" pitchFamily="18" charset="0"/>
              </a:rPr>
              <a:t> Lloyd</a:t>
            </a:r>
            <a:r>
              <a:rPr lang="en-US" sz="2400" dirty="0">
                <a:latin typeface="Times New Roman" pitchFamily="18" charset="0"/>
              </a:rPr>
              <a:t>:</a:t>
            </a:r>
          </a:p>
        </p:txBody>
      </p:sp>
      <p:sp>
        <p:nvSpPr>
          <p:cNvPr id="7" name="Rectangle 6"/>
          <p:cNvSpPr/>
          <p:nvPr/>
        </p:nvSpPr>
        <p:spPr>
          <a:xfrm>
            <a:off x="152401" y="4004608"/>
            <a:ext cx="5029199" cy="1938992"/>
          </a:xfrm>
          <a:prstGeom prst="rect">
            <a:avLst/>
          </a:prstGeom>
        </p:spPr>
        <p:txBody>
          <a:bodyPr wrap="square">
            <a:spAutoFit/>
          </a:bodyPr>
          <a:lstStyle/>
          <a:p>
            <a:r>
              <a:rPr lang="en-US" sz="2400" i="1" dirty="0" err="1">
                <a:solidFill>
                  <a:srgbClr val="FF0000"/>
                </a:solidFill>
                <a:latin typeface="Times New Roman" pitchFamily="18" charset="0"/>
              </a:rPr>
              <a:t>Khi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phản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xạ</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trên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môi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trường</a:t>
            </a:r>
            <a:r>
              <a:rPr lang="en-US" sz="2400" i="1" dirty="0">
                <a:solidFill>
                  <a:srgbClr val="FF0000"/>
                </a:solidFill>
                <a:latin typeface="Times New Roman" pitchFamily="18" charset="0"/>
              </a:rPr>
              <a:t> </a:t>
            </a:r>
            <a:r>
              <a:rPr lang="en-US" sz="2400" i="1" dirty="0" err="1">
                <a:latin typeface="Times New Roman" pitchFamily="18" charset="0"/>
              </a:rPr>
              <a:t>chiết</a:t>
            </a:r>
            <a:r>
              <a:rPr lang="en-US" sz="2400" i="1" dirty="0">
                <a:latin typeface="Times New Roman" pitchFamily="18" charset="0"/>
              </a:rPr>
              <a:t> </a:t>
            </a:r>
            <a:r>
              <a:rPr lang="en-US" sz="2400" i="1" dirty="0" err="1">
                <a:latin typeface="Times New Roman" pitchFamily="18" charset="0"/>
              </a:rPr>
              <a:t>quang</a:t>
            </a:r>
            <a:r>
              <a:rPr lang="en-US" sz="2400" i="1" dirty="0">
                <a:latin typeface="Times New Roman" pitchFamily="18" charset="0"/>
              </a:rPr>
              <a:t> </a:t>
            </a:r>
            <a:r>
              <a:rPr lang="en-US" sz="2400" i="1" dirty="0" err="1">
                <a:latin typeface="Times New Roman" pitchFamily="18" charset="0"/>
              </a:rPr>
              <a:t>hơn</a:t>
            </a:r>
            <a:r>
              <a:rPr lang="en-US" sz="2400" i="1" dirty="0">
                <a:latin typeface="Times New Roman" pitchFamily="18" charset="0"/>
              </a:rPr>
              <a:t> </a:t>
            </a:r>
            <a:r>
              <a:rPr lang="en-US" sz="2400" i="1" dirty="0" err="1">
                <a:latin typeface="Times New Roman" pitchFamily="18" charset="0"/>
              </a:rPr>
              <a:t>môi</a:t>
            </a:r>
            <a:r>
              <a:rPr lang="en-US" sz="2400" i="1" dirty="0">
                <a:latin typeface="Times New Roman" pitchFamily="18" charset="0"/>
              </a:rPr>
              <a:t> </a:t>
            </a:r>
            <a:r>
              <a:rPr lang="en-US" sz="2400" i="1" dirty="0" err="1">
                <a:latin typeface="Times New Roman" pitchFamily="18" charset="0"/>
              </a:rPr>
              <a:t>trường</a:t>
            </a:r>
            <a:r>
              <a:rPr lang="en-US" sz="2400" i="1" dirty="0">
                <a:latin typeface="Times New Roman" pitchFamily="18" charset="0"/>
              </a:rPr>
              <a:t> </a:t>
            </a:r>
            <a:r>
              <a:rPr lang="en-US" sz="2400" i="1" dirty="0" err="1">
                <a:latin typeface="Times New Roman" pitchFamily="18" charset="0"/>
              </a:rPr>
              <a:t>chứa</a:t>
            </a:r>
            <a:r>
              <a:rPr lang="en-US" sz="2400" i="1" dirty="0">
                <a:latin typeface="Times New Roman" pitchFamily="18" charset="0"/>
              </a:rPr>
              <a:t> </a:t>
            </a:r>
            <a:r>
              <a:rPr lang="en-US" sz="2400" i="1" dirty="0" err="1">
                <a:latin typeface="Times New Roman" pitchFamily="18" charset="0"/>
              </a:rPr>
              <a:t>tia</a:t>
            </a:r>
            <a:r>
              <a:rPr lang="en-US" sz="2400" i="1" dirty="0">
                <a:latin typeface="Times New Roman" pitchFamily="18" charset="0"/>
              </a:rPr>
              <a:t> </a:t>
            </a:r>
            <a:r>
              <a:rPr lang="en-US" sz="2400" i="1" dirty="0" err="1">
                <a:latin typeface="Times New Roman" pitchFamily="18" charset="0"/>
              </a:rPr>
              <a:t>tới</a:t>
            </a:r>
            <a:r>
              <a:rPr lang="en-US" sz="2400" i="1" dirty="0">
                <a:latin typeface="Times New Roman" pitchFamily="18" charset="0"/>
              </a:rPr>
              <a:t>, </a:t>
            </a:r>
            <a:r>
              <a:rPr lang="en-US" sz="2400" i="1" dirty="0" err="1">
                <a:solidFill>
                  <a:srgbClr val="FF0000"/>
                </a:solidFill>
                <a:latin typeface="Times New Roman" pitchFamily="18" charset="0"/>
              </a:rPr>
              <a:t>pha</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dao</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động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của</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tia</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phản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xạ</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thay</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đổi</a:t>
            </a:r>
            <a:r>
              <a:rPr lang="en-US" sz="2400" i="1" dirty="0">
                <a:solidFill>
                  <a:srgbClr val="FF0000"/>
                </a:solidFill>
                <a:latin typeface="Times New Roman" pitchFamily="18" charset="0"/>
              </a:rPr>
              <a:t> </a:t>
            </a:r>
            <a:r>
              <a:rPr lang="el-GR" sz="2400" i="1" dirty="0">
                <a:solidFill>
                  <a:srgbClr val="FF0000"/>
                </a:solidFill>
                <a:latin typeface="Times New Roman" pitchFamily="18" charset="0"/>
              </a:rPr>
              <a:t>π</a:t>
            </a:r>
            <a:r>
              <a:rPr lang="en-US" sz="2400" i="1" dirty="0">
                <a:solidFill>
                  <a:srgbClr val="FF0000"/>
                </a:solidFill>
                <a:latin typeface="Times New Roman" pitchFamily="18" charset="0"/>
              </a:rPr>
              <a:t>, hay </a:t>
            </a:r>
            <a:r>
              <a:rPr lang="en-US" sz="2400" i="1" dirty="0" err="1">
                <a:solidFill>
                  <a:srgbClr val="FF0000"/>
                </a:solidFill>
                <a:latin typeface="Times New Roman" pitchFamily="18" charset="0"/>
              </a:rPr>
              <a:t>quang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lộ</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của</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tia</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phản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xạ</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dài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thêm</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một</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đoạn</a:t>
            </a:r>
            <a:r>
              <a:rPr lang="en-US" sz="2400" i="1" dirty="0">
                <a:solidFill>
                  <a:srgbClr val="FF0000"/>
                </a:solidFill>
                <a:latin typeface="Times New Roman" pitchFamily="18" charset="0"/>
              </a:rPr>
              <a:t> </a:t>
            </a:r>
            <a:r>
              <a:rPr lang="el-GR" sz="2400" i="1" dirty="0">
                <a:solidFill>
                  <a:srgbClr val="FF0000"/>
                </a:solidFill>
                <a:latin typeface="Times New Roman" pitchFamily="18" charset="0"/>
                <a:cs typeface="Times New Roman" pitchFamily="18" charset="0"/>
              </a:rPr>
              <a:t>λ</a:t>
            </a:r>
            <a:r>
              <a:rPr lang="en-US" sz="2400" i="1" dirty="0">
                <a:solidFill>
                  <a:srgbClr val="FF0000"/>
                </a:solidFill>
                <a:latin typeface="Times New Roman" pitchFamily="18" charset="0"/>
                <a:cs typeface="Times New Roman" pitchFamily="18" charset="0"/>
              </a:rPr>
              <a:t>/2</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3864" y="1500003"/>
            <a:ext cx="5744377" cy="2638793"/>
          </a:xfrm>
          <a:prstGeom prst="rect">
            <a:avLst/>
          </a:prstGeom>
        </p:spPr>
      </p:pic>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36126" y="1500003"/>
            <a:ext cx="5622908" cy="2517574"/>
          </a:xfrm>
          <a:prstGeom prst="rect">
            <a:avLst/>
          </a:prstGeom>
        </p:spPr>
      </p:pic>
      <p:pic>
        <p:nvPicPr>
          <p:cNvPr id="14" name="Picture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52801" y="1500003"/>
            <a:ext cx="5206234" cy="2533033"/>
          </a:xfrm>
          <a:prstGeom prst="rect">
            <a:avLst/>
          </a:prstGeom>
        </p:spPr>
      </p:pic>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34000" y="3606833"/>
            <a:ext cx="1981200" cy="2412967"/>
          </a:xfrm>
          <a:prstGeom prst="rect">
            <a:avLst/>
          </a:prstGeom>
        </p:spPr>
      </p:pic>
      <p:sp>
        <p:nvSpPr>
          <p:cNvPr id="9" name="TextBox 8"/>
          <p:cNvSpPr txBox="1"/>
          <p:nvPr/>
        </p:nvSpPr>
        <p:spPr>
          <a:xfrm>
            <a:off x="5181600" y="6019800"/>
            <a:ext cx="2438400" cy="707886"/>
          </a:xfrm>
          <a:prstGeom prst="rect">
            <a:avLst/>
          </a:prstGeom>
          <a:noFill/>
        </p:spPr>
        <p:txBody>
          <a:bodyPr wrap="square" rtlCol="0">
            <a:spAutoFit/>
          </a:bodyPr>
          <a:lstStyle/>
          <a:p>
            <a:pPr algn="ctr"/>
            <a:r>
              <a:rPr lang="en-US" sz="2000">
                <a:latin typeface="Times" pitchFamily="18" charset="0"/>
              </a:rPr>
              <a:t>Humphrey Lloyd 1800 – 1881(Ireland)</a:t>
            </a:r>
          </a:p>
        </p:txBody>
      </p:sp>
    </p:spTree>
    <p:extLst>
      <p:ext uri="{BB962C8B-B14F-4D97-AF65-F5344CB8AC3E}">
        <p14:creationId xmlns:p14="http://schemas.microsoft.com/office/powerpoint/2010/main" val="147328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down)">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down)">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down)">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 y="0"/>
            <a:ext cx="8915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0"/>
            <a:ext cx="89154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§1. GIAO THOA ÁNH SÁNG</a:t>
            </a:r>
          </a:p>
        </p:txBody>
      </p:sp>
      <p:sp>
        <p:nvSpPr>
          <p:cNvPr id="2" name="Rectangle 1"/>
          <p:cNvSpPr/>
          <p:nvPr/>
        </p:nvSpPr>
        <p:spPr>
          <a:xfrm>
            <a:off x="216487" y="1226403"/>
            <a:ext cx="6260513" cy="830997"/>
          </a:xfrm>
          <a:prstGeom prst="rect">
            <a:avLst/>
          </a:prstGeom>
        </p:spPr>
        <p:txBody>
          <a:bodyPr wrap="square">
            <a:spAutoFit/>
          </a:bodyPr>
          <a:lstStyle/>
          <a:p>
            <a:r>
              <a:rPr lang="en-US" sz="2400" b="1" i="1" dirty="0" err="1">
                <a:solidFill>
                  <a:schemeClr val="hlink"/>
                </a:solidFill>
                <a:latin typeface="Times New Roman" pitchFamily="18" charset="0"/>
              </a:rPr>
              <a:t>a.Giao</a:t>
            </a:r>
            <a:r>
              <a:rPr lang="en-US" sz="2400" b="1" i="1" dirty="0">
                <a:solidFill>
                  <a:schemeClr val="hlink"/>
                </a:solidFill>
                <a:latin typeface="Times New Roman" pitchFamily="18" charset="0"/>
              </a:rPr>
              <a:t> </a:t>
            </a:r>
            <a:r>
              <a:rPr lang="en-US" sz="2400" b="1" i="1" dirty="0" err="1">
                <a:solidFill>
                  <a:schemeClr val="hlink"/>
                </a:solidFill>
                <a:latin typeface="Times New Roman" pitchFamily="18" charset="0"/>
              </a:rPr>
              <a:t>thoa</a:t>
            </a:r>
            <a:r>
              <a:rPr lang="en-US" sz="2400" b="1" i="1" dirty="0">
                <a:solidFill>
                  <a:schemeClr val="hlink"/>
                </a:solidFill>
                <a:latin typeface="Times New Roman" pitchFamily="18" charset="0"/>
              </a:rPr>
              <a:t> </a:t>
            </a:r>
            <a:r>
              <a:rPr lang="en-US" sz="2400" b="1" i="1" dirty="0" err="1">
                <a:solidFill>
                  <a:schemeClr val="hlink"/>
                </a:solidFill>
                <a:latin typeface="Times New Roman" pitchFamily="18" charset="0"/>
              </a:rPr>
              <a:t>gây</a:t>
            </a:r>
            <a:r>
              <a:rPr lang="en-US" sz="2400" b="1" i="1" dirty="0">
                <a:solidFill>
                  <a:schemeClr val="hlink"/>
                </a:solidFill>
                <a:latin typeface="Times New Roman" pitchFamily="18" charset="0"/>
              </a:rPr>
              <a:t> </a:t>
            </a:r>
            <a:r>
              <a:rPr lang="en-US" sz="2400" b="1" i="1" dirty="0" err="1">
                <a:solidFill>
                  <a:schemeClr val="hlink"/>
                </a:solidFill>
                <a:latin typeface="Times New Roman" pitchFamily="18" charset="0"/>
              </a:rPr>
              <a:t>bởi</a:t>
            </a:r>
            <a:r>
              <a:rPr lang="en-US" sz="2400" b="1" i="1" dirty="0">
                <a:solidFill>
                  <a:schemeClr val="hlink"/>
                </a:solidFill>
                <a:latin typeface="Times New Roman" pitchFamily="18" charset="0"/>
              </a:rPr>
              <a:t> </a:t>
            </a:r>
            <a:r>
              <a:rPr lang="en-US" sz="2400" b="1" i="1" dirty="0" err="1">
                <a:solidFill>
                  <a:schemeClr val="hlink"/>
                </a:solidFill>
                <a:latin typeface="Times New Roman" pitchFamily="18" charset="0"/>
              </a:rPr>
              <a:t>nêm</a:t>
            </a:r>
            <a:r>
              <a:rPr lang="en-US" sz="2400" b="1" i="1" dirty="0">
                <a:solidFill>
                  <a:schemeClr val="hlink"/>
                </a:solidFill>
                <a:latin typeface="Times New Roman" pitchFamily="18" charset="0"/>
              </a:rPr>
              <a:t> </a:t>
            </a:r>
            <a:r>
              <a:rPr lang="en-US" sz="2400" b="1" i="1" dirty="0" err="1">
                <a:solidFill>
                  <a:schemeClr val="hlink"/>
                </a:solidFill>
                <a:latin typeface="Times New Roman" pitchFamily="18" charset="0"/>
              </a:rPr>
              <a:t>không</a:t>
            </a:r>
            <a:r>
              <a:rPr lang="en-US" sz="2400" b="1" i="1" dirty="0">
                <a:solidFill>
                  <a:schemeClr val="hlink"/>
                </a:solidFill>
                <a:latin typeface="Times New Roman" pitchFamily="18" charset="0"/>
              </a:rPr>
              <a:t> </a:t>
            </a:r>
            <a:r>
              <a:rPr lang="en-US" sz="2400" b="1" i="1" dirty="0" err="1">
                <a:solidFill>
                  <a:schemeClr val="hlink"/>
                </a:solidFill>
                <a:latin typeface="Times New Roman" pitchFamily="18" charset="0"/>
              </a:rPr>
              <a:t>khí</a:t>
            </a:r>
            <a:r>
              <a:rPr lang="en-US" sz="2400" b="1" i="1" dirty="0">
                <a:solidFill>
                  <a:schemeClr val="hlink"/>
                </a:solidFill>
                <a:latin typeface="Times New Roman" pitchFamily="18" charset="0"/>
              </a:rPr>
              <a:t> </a:t>
            </a:r>
          </a:p>
          <a:p>
            <a:endParaRPr lang="en-US" sz="2400" b="1" dirty="0">
              <a:solidFill>
                <a:schemeClr val="hlink"/>
              </a:solidFill>
              <a:latin typeface="Times New Roman" pitchFamily="18" charset="0"/>
            </a:endParaRPr>
          </a:p>
        </p:txBody>
      </p:sp>
      <p:sp>
        <p:nvSpPr>
          <p:cNvPr id="3" name="Rectangle 2"/>
          <p:cNvSpPr/>
          <p:nvPr/>
        </p:nvSpPr>
        <p:spPr>
          <a:xfrm>
            <a:off x="204435" y="1752600"/>
            <a:ext cx="5111030" cy="1200329"/>
          </a:xfrm>
          <a:prstGeom prst="rect">
            <a:avLst/>
          </a:prstGeom>
        </p:spPr>
        <p:txBody>
          <a:bodyPr wrap="square">
            <a:spAutoFit/>
          </a:bodyPr>
          <a:lstStyle/>
          <a:p>
            <a:pPr algn="just"/>
            <a:r>
              <a:rPr lang="en-US" sz="2400" dirty="0" err="1">
                <a:latin typeface="Times New Roman" pitchFamily="18" charset="0"/>
              </a:rPr>
              <a:t>Đó</a:t>
            </a:r>
            <a:r>
              <a:rPr lang="en-US" sz="2400" dirty="0">
                <a:latin typeface="Times New Roman" pitchFamily="18" charset="0"/>
              </a:rPr>
              <a:t> </a:t>
            </a:r>
            <a:r>
              <a:rPr lang="en-US" sz="2400" dirty="0" err="1">
                <a:latin typeface="Times New Roman" pitchFamily="18" charset="0"/>
              </a:rPr>
              <a:t>là</a:t>
            </a:r>
            <a:r>
              <a:rPr lang="en-US" sz="2400" dirty="0">
                <a:latin typeface="Times New Roman" pitchFamily="18" charset="0"/>
              </a:rPr>
              <a:t> </a:t>
            </a:r>
            <a:r>
              <a:rPr lang="en-US" sz="2400" dirty="0" err="1">
                <a:latin typeface="Times New Roman" pitchFamily="18" charset="0"/>
              </a:rPr>
              <a:t>lớp</a:t>
            </a:r>
            <a:r>
              <a:rPr lang="en-US" sz="2400" dirty="0">
                <a:latin typeface="Times New Roman" pitchFamily="18" charset="0"/>
              </a:rPr>
              <a:t> </a:t>
            </a:r>
            <a:r>
              <a:rPr lang="en-US" sz="2400" dirty="0" err="1">
                <a:latin typeface="Times New Roman" pitchFamily="18" charset="0"/>
              </a:rPr>
              <a:t>không</a:t>
            </a:r>
            <a:r>
              <a:rPr lang="en-US" sz="2400" dirty="0">
                <a:latin typeface="Times New Roman" pitchFamily="18" charset="0"/>
              </a:rPr>
              <a:t> </a:t>
            </a:r>
            <a:r>
              <a:rPr lang="en-US" sz="2400" dirty="0" err="1">
                <a:latin typeface="Times New Roman" pitchFamily="18" charset="0"/>
              </a:rPr>
              <a:t>khí</a:t>
            </a:r>
            <a:r>
              <a:rPr lang="en-US" sz="2400" dirty="0">
                <a:latin typeface="Times New Roman" pitchFamily="18" charset="0"/>
              </a:rPr>
              <a:t> </a:t>
            </a:r>
            <a:r>
              <a:rPr lang="en-US" sz="2400" dirty="0" err="1">
                <a:latin typeface="Times New Roman" pitchFamily="18" charset="0"/>
              </a:rPr>
              <a:t>hình</a:t>
            </a:r>
            <a:r>
              <a:rPr lang="en-US" sz="2400" dirty="0">
                <a:latin typeface="Times New Roman" pitchFamily="18" charset="0"/>
              </a:rPr>
              <a:t> </a:t>
            </a:r>
            <a:r>
              <a:rPr lang="en-US" sz="2400" dirty="0" err="1">
                <a:latin typeface="Times New Roman" pitchFamily="18" charset="0"/>
              </a:rPr>
              <a:t>nêm</a:t>
            </a:r>
            <a:r>
              <a:rPr lang="en-US" sz="2400" dirty="0">
                <a:latin typeface="Times New Roman" pitchFamily="18" charset="0"/>
              </a:rPr>
              <a:t> </a:t>
            </a:r>
            <a:r>
              <a:rPr lang="en-US" sz="2400" dirty="0" err="1">
                <a:latin typeface="Times New Roman" pitchFamily="18" charset="0"/>
              </a:rPr>
              <a:t>giới</a:t>
            </a:r>
            <a:r>
              <a:rPr lang="en-US" sz="2400" dirty="0">
                <a:latin typeface="Times New Roman" pitchFamily="18" charset="0"/>
              </a:rPr>
              <a:t> </a:t>
            </a:r>
            <a:r>
              <a:rPr lang="en-US" sz="2400" dirty="0" err="1">
                <a:latin typeface="Times New Roman" pitchFamily="18" charset="0"/>
              </a:rPr>
              <a:t>hạn</a:t>
            </a:r>
            <a:r>
              <a:rPr lang="en-US" sz="2400" dirty="0">
                <a:latin typeface="Times New Roman" pitchFamily="18" charset="0"/>
              </a:rPr>
              <a:t> </a:t>
            </a:r>
            <a:r>
              <a:rPr lang="en-US" sz="2400" dirty="0" err="1">
                <a:latin typeface="Times New Roman" pitchFamily="18" charset="0"/>
              </a:rPr>
              <a:t>giữa</a:t>
            </a:r>
            <a:r>
              <a:rPr lang="en-US" sz="2400" dirty="0">
                <a:latin typeface="Times New Roman" pitchFamily="18" charset="0"/>
              </a:rPr>
              <a:t> </a:t>
            </a:r>
            <a:r>
              <a:rPr lang="en-US" sz="2400" dirty="0" err="1">
                <a:latin typeface="Times New Roman" pitchFamily="18" charset="0"/>
              </a:rPr>
              <a:t>hai</a:t>
            </a:r>
            <a:r>
              <a:rPr lang="en-US" sz="2400" dirty="0">
                <a:latin typeface="Times New Roman" pitchFamily="18" charset="0"/>
              </a:rPr>
              <a:t> </a:t>
            </a:r>
            <a:r>
              <a:rPr lang="en-US" sz="2400" dirty="0" err="1">
                <a:latin typeface="Times New Roman" pitchFamily="18" charset="0"/>
              </a:rPr>
              <a:t>bản</a:t>
            </a:r>
            <a:r>
              <a:rPr lang="en-US" sz="2400" dirty="0">
                <a:latin typeface="Times New Roman" pitchFamily="18" charset="0"/>
              </a:rPr>
              <a:t> </a:t>
            </a:r>
            <a:r>
              <a:rPr lang="en-US" sz="2400" dirty="0" err="1">
                <a:latin typeface="Times New Roman" pitchFamily="18" charset="0"/>
              </a:rPr>
              <a:t>thủy</a:t>
            </a:r>
            <a:r>
              <a:rPr lang="en-US" sz="2400" dirty="0">
                <a:latin typeface="Times New Roman" pitchFamily="18" charset="0"/>
              </a:rPr>
              <a:t> </a:t>
            </a:r>
            <a:r>
              <a:rPr lang="en-US" sz="2400" dirty="0" err="1">
                <a:latin typeface="Times New Roman" pitchFamily="18" charset="0"/>
              </a:rPr>
              <a:t>tinh</a:t>
            </a:r>
            <a:r>
              <a:rPr lang="en-US" sz="2400" dirty="0">
                <a:latin typeface="Times New Roman" pitchFamily="18" charset="0"/>
              </a:rPr>
              <a:t> </a:t>
            </a:r>
            <a:r>
              <a:rPr lang="en-US" sz="2400" dirty="0" err="1">
                <a:latin typeface="Times New Roman" pitchFamily="18" charset="0"/>
              </a:rPr>
              <a:t>phẳng</a:t>
            </a:r>
            <a:r>
              <a:rPr lang="en-US" sz="2400" dirty="0">
                <a:latin typeface="Times New Roman" pitchFamily="18" charset="0"/>
              </a:rPr>
              <a:t> </a:t>
            </a:r>
            <a:r>
              <a:rPr lang="en-US" sz="2400" dirty="0" err="1">
                <a:latin typeface="Times New Roman" pitchFamily="18" charset="0"/>
              </a:rPr>
              <a:t>đặt</a:t>
            </a:r>
            <a:r>
              <a:rPr lang="en-US" sz="2400" dirty="0">
                <a:latin typeface="Times New Roman" pitchFamily="18" charset="0"/>
              </a:rPr>
              <a:t> </a:t>
            </a:r>
            <a:r>
              <a:rPr lang="en-US" sz="2400" dirty="0" err="1">
                <a:latin typeface="Times New Roman" pitchFamily="18" charset="0"/>
              </a:rPr>
              <a:t>nghiêng</a:t>
            </a:r>
            <a:r>
              <a:rPr lang="en-US" sz="2400" dirty="0">
                <a:latin typeface="Times New Roman" pitchFamily="18" charset="0"/>
              </a:rPr>
              <a:t> </a:t>
            </a:r>
            <a:r>
              <a:rPr lang="en-US" sz="2400" dirty="0" err="1">
                <a:latin typeface="Times New Roman" pitchFamily="18" charset="0"/>
              </a:rPr>
              <a:t>với</a:t>
            </a:r>
            <a:r>
              <a:rPr lang="en-US" sz="2400" dirty="0">
                <a:latin typeface="Times New Roman" pitchFamily="18" charset="0"/>
              </a:rPr>
              <a:t> </a:t>
            </a:r>
            <a:r>
              <a:rPr lang="en-US" sz="2400" dirty="0" err="1">
                <a:latin typeface="Times New Roman" pitchFamily="18" charset="0"/>
              </a:rPr>
              <a:t>nhau</a:t>
            </a:r>
            <a:r>
              <a:rPr lang="en-US" sz="2400" dirty="0">
                <a:latin typeface="Times New Roman" pitchFamily="18" charset="0"/>
              </a:rPr>
              <a:t> </a:t>
            </a:r>
            <a:r>
              <a:rPr lang="en-US" sz="2400" dirty="0" err="1">
                <a:latin typeface="Times New Roman" pitchFamily="18" charset="0"/>
              </a:rPr>
              <a:t>một</a:t>
            </a:r>
            <a:r>
              <a:rPr lang="en-US" sz="2400" dirty="0">
                <a:latin typeface="Times New Roman" pitchFamily="18" charset="0"/>
              </a:rPr>
              <a:t> </a:t>
            </a:r>
            <a:r>
              <a:rPr lang="en-US" sz="2400" dirty="0" err="1">
                <a:latin typeface="Times New Roman" pitchFamily="18" charset="0"/>
              </a:rPr>
              <a:t>góc</a:t>
            </a:r>
            <a:r>
              <a:rPr lang="en-US" sz="2400" dirty="0">
                <a:latin typeface="Times New Roman" pitchFamily="18" charset="0"/>
              </a:rPr>
              <a:t> </a:t>
            </a:r>
            <a:r>
              <a:rPr lang="el-GR" sz="2400" dirty="0">
                <a:latin typeface="Times New Roman" pitchFamily="18" charset="0"/>
                <a:cs typeface="Times New Roman" pitchFamily="18" charset="0"/>
              </a:rPr>
              <a:t>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rất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nhỏ</a:t>
            </a:r>
            <a:endParaRPr lang="en-US" sz="2400" dirty="0">
              <a:latin typeface="Times New Roman" pitchFamily="18" charset="0"/>
              <a:cs typeface="Times New Roman" pitchFamily="18" charset="0"/>
            </a:endParaRPr>
          </a:p>
        </p:txBody>
      </p:sp>
      <p:sp>
        <p:nvSpPr>
          <p:cNvPr id="7" name="Rectangle 6"/>
          <p:cNvSpPr/>
          <p:nvPr/>
        </p:nvSpPr>
        <p:spPr>
          <a:xfrm>
            <a:off x="216487" y="3048000"/>
            <a:ext cx="5410200" cy="1200329"/>
          </a:xfrm>
          <a:prstGeom prst="rect">
            <a:avLst/>
          </a:prstGeom>
        </p:spPr>
        <p:txBody>
          <a:bodyPr wrap="square">
            <a:spAutoFit/>
          </a:bodyPr>
          <a:lstStyle/>
          <a:p>
            <a:r>
              <a:rPr lang="en-US" sz="2400" dirty="0" err="1">
                <a:latin typeface="Times New Roman" pitchFamily="18" charset="0"/>
                <a:cs typeface="Times New Roman" pitchFamily="18" charset="0"/>
              </a:rPr>
              <a:t>Chiếu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một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chùm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ánh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sáng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sắc</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song </a:t>
            </a:r>
            <a:r>
              <a:rPr lang="en-US" sz="2400" dirty="0" err="1">
                <a:latin typeface="Times New Roman" pitchFamily="18" charset="0"/>
                <a:cs typeface="Times New Roman" pitchFamily="18" charset="0"/>
              </a:rPr>
              <a:t>song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vuông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góc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với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mặt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dưới</a:t>
            </a:r>
            <a:r>
              <a:rPr lang="en-US" sz="2400" dirty="0">
                <a:latin typeface="Times New Roman" pitchFamily="18" charset="0"/>
                <a:cs typeface="Times New Roman" pitchFamily="18" charset="0"/>
              </a:rPr>
              <a:t> </a:t>
            </a:r>
          </a:p>
          <a:p>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nêm</a:t>
            </a:r>
            <a:r>
              <a:rPr lang="en-US" sz="2400" dirty="0">
                <a:latin typeface="Times New Roman" pitchFamily="18" charset="0"/>
                <a:cs typeface="Times New Roman" pitchFamily="18" charset="0"/>
              </a:rPr>
              <a:t>.</a:t>
            </a:r>
          </a:p>
        </p:txBody>
      </p:sp>
      <p:sp>
        <p:nvSpPr>
          <p:cNvPr id="8" name="Rectangle 7"/>
          <p:cNvSpPr/>
          <p:nvPr/>
        </p:nvSpPr>
        <p:spPr>
          <a:xfrm>
            <a:off x="115330" y="4357240"/>
            <a:ext cx="5103822" cy="830997"/>
          </a:xfrm>
          <a:prstGeom prst="rect">
            <a:avLst/>
          </a:prstGeom>
        </p:spPr>
        <p:txBody>
          <a:bodyPr wrap="square">
            <a:spAutoFit/>
          </a:bodyPr>
          <a:lstStyle/>
          <a:p>
            <a:r>
              <a:rPr lang="en-US" sz="2400" dirty="0" err="1">
                <a:latin typeface="Times New Roman" pitchFamily="18" charset="0"/>
                <a:cs typeface="Times New Roman" pitchFamily="18" charset="0"/>
              </a:rPr>
              <a:t>Tại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điểm</a:t>
            </a:r>
            <a:r>
              <a:rPr lang="en-US" sz="2400" dirty="0">
                <a:latin typeface="Times New Roman" pitchFamily="18" charset="0"/>
                <a:cs typeface="Times New Roman" pitchFamily="18" charset="0"/>
              </a:rPr>
              <a:t> M ở </a:t>
            </a:r>
            <a:r>
              <a:rPr lang="en-US" sz="2400" dirty="0" err="1">
                <a:latin typeface="Times New Roman" pitchFamily="18" charset="0"/>
                <a:cs typeface="Times New Roman" pitchFamily="18" charset="0"/>
              </a:rPr>
              <a:t>mặt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trên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lớp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không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khí</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sát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thấy</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vân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giao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thoa</a:t>
            </a:r>
            <a:r>
              <a:rPr lang="en-US" sz="2400" dirty="0">
                <a:latin typeface="Times New Roman" pitchFamily="18" charset="0"/>
                <a:cs typeface="Times New Roman" pitchFamily="18" charset="0"/>
              </a:rPr>
              <a:t> :</a:t>
            </a:r>
          </a:p>
        </p:txBody>
      </p:sp>
      <p:graphicFrame>
        <p:nvGraphicFramePr>
          <p:cNvPr id="10" name="Object 9"/>
          <p:cNvGraphicFramePr>
            <a:graphicFrameLocks noChangeAspect="1"/>
          </p:cNvGraphicFramePr>
          <p:nvPr>
            <p:extLst>
              <p:ext uri="{D42A27DB-BD31-4B8C-83A1-F6EECF244321}">
                <p14:modId xmlns:p14="http://schemas.microsoft.com/office/powerpoint/2010/main" val="4182951795"/>
              </p:ext>
            </p:extLst>
          </p:nvPr>
        </p:nvGraphicFramePr>
        <p:xfrm>
          <a:off x="1842465" y="5334000"/>
          <a:ext cx="2398713" cy="754063"/>
        </p:xfrm>
        <a:graphic>
          <a:graphicData uri="http://schemas.openxmlformats.org/presentationml/2006/ole">
            <mc:AlternateContent xmlns:mc="http://schemas.openxmlformats.org/markup-compatibility/2006">
              <mc:Choice xmlns:v="urn:schemas-microsoft-com:vml" Requires="v">
                <p:oleObj spid="_x0000_s20545" name="Equation" r:id="rId3" imgW="1244520" imgH="393480" progId="Equation.3">
                  <p:embed/>
                </p:oleObj>
              </mc:Choice>
              <mc:Fallback>
                <p:oleObj name="Equation" r:id="rId3" imgW="1244520" imgH="393480" progId="Equation.3">
                  <p:embed/>
                  <p:pic>
                    <p:nvPicPr>
                      <p:cNvPr id="0" name=""/>
                      <p:cNvPicPr>
                        <a:picLocks noChangeAspect="1" noChangeArrowheads="1"/>
                      </p:cNvPicPr>
                      <p:nvPr/>
                    </p:nvPicPr>
                    <p:blipFill>
                      <a:blip r:embed="rId4"/>
                      <a:srcRect/>
                      <a:stretch>
                        <a:fillRect/>
                      </a:stretch>
                    </p:blipFill>
                    <p:spPr bwMode="auto">
                      <a:xfrm>
                        <a:off x="1842465" y="5334000"/>
                        <a:ext cx="2398713" cy="75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28679" y="2057400"/>
            <a:ext cx="3915321" cy="2457793"/>
          </a:xfrm>
          <a:prstGeom prst="rect">
            <a:avLst/>
          </a:prstGeom>
        </p:spPr>
      </p:pic>
      <p:pic>
        <p:nvPicPr>
          <p:cNvPr id="12" name="Picture 1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219152" y="2113462"/>
            <a:ext cx="3924848" cy="2457793"/>
          </a:xfrm>
          <a:prstGeom prst="rect">
            <a:avLst/>
          </a:prstGeom>
        </p:spPr>
      </p:pic>
      <p:pic>
        <p:nvPicPr>
          <p:cNvPr id="13" name="Picture 1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334000" y="2113463"/>
            <a:ext cx="3783724" cy="2659276"/>
          </a:xfrm>
          <a:prstGeom prst="rect">
            <a:avLst/>
          </a:prstGeom>
        </p:spPr>
      </p:pic>
      <p:sp>
        <p:nvSpPr>
          <p:cNvPr id="6" name="TextBox 5"/>
          <p:cNvSpPr txBox="1"/>
          <p:nvPr/>
        </p:nvSpPr>
        <p:spPr>
          <a:xfrm>
            <a:off x="127687" y="609600"/>
            <a:ext cx="5771635" cy="461665"/>
          </a:xfrm>
          <a:prstGeom prst="rect">
            <a:avLst/>
          </a:prstGeom>
          <a:noFill/>
        </p:spPr>
        <p:txBody>
          <a:bodyPr wrap="square" rtlCol="0">
            <a:spAutoFit/>
          </a:bodyPr>
          <a:lstStyle/>
          <a:p>
            <a:r>
              <a:rPr lang="en-US" sz="2400" b="1" i="1" dirty="0">
                <a:solidFill>
                  <a:srgbClr val="0070C0"/>
                </a:solidFill>
                <a:latin typeface="Times" pitchFamily="18" charset="0"/>
                <a:cs typeface="Times" pitchFamily="18" charset="0"/>
              </a:rPr>
              <a:t>2. </a:t>
            </a:r>
            <a:r>
              <a:rPr lang="en-US" sz="2400" b="1" i="1" dirty="0" err="1">
                <a:solidFill>
                  <a:srgbClr val="0070C0"/>
                </a:solidFill>
                <a:latin typeface="Times" pitchFamily="18" charset="0"/>
                <a:cs typeface="Times" pitchFamily="18" charset="0"/>
              </a:rPr>
              <a:t>Giao</a:t>
            </a:r>
            <a:r>
              <a:rPr lang="en-US" sz="2400" b="1" i="1" dirty="0">
                <a:solidFill>
                  <a:srgbClr val="0070C0"/>
                </a:solidFill>
                <a:latin typeface="Times" pitchFamily="18" charset="0"/>
                <a:cs typeface="Times" pitchFamily="18" charset="0"/>
              </a:rPr>
              <a:t> </a:t>
            </a:r>
            <a:r>
              <a:rPr lang="en-US" sz="2400" b="1" i="1" dirty="0" err="1">
                <a:solidFill>
                  <a:srgbClr val="0070C0"/>
                </a:solidFill>
                <a:latin typeface="Times" pitchFamily="18" charset="0"/>
                <a:cs typeface="Times" pitchFamily="18" charset="0"/>
              </a:rPr>
              <a:t>thoa</a:t>
            </a:r>
            <a:r>
              <a:rPr lang="en-US" sz="2400" b="1" i="1" dirty="0">
                <a:solidFill>
                  <a:srgbClr val="0070C0"/>
                </a:solidFill>
                <a:latin typeface="Times" pitchFamily="18" charset="0"/>
                <a:cs typeface="Times" pitchFamily="18" charset="0"/>
              </a:rPr>
              <a:t> </a:t>
            </a:r>
            <a:r>
              <a:rPr lang="en-US" sz="2400" b="1" i="1" dirty="0" err="1">
                <a:solidFill>
                  <a:srgbClr val="0070C0"/>
                </a:solidFill>
                <a:latin typeface="Times" pitchFamily="18" charset="0"/>
                <a:cs typeface="Times" pitchFamily="18" charset="0"/>
              </a:rPr>
              <a:t>gây</a:t>
            </a:r>
            <a:r>
              <a:rPr lang="en-US" sz="2400" b="1" i="1" dirty="0">
                <a:solidFill>
                  <a:srgbClr val="0070C0"/>
                </a:solidFill>
                <a:latin typeface="Times" pitchFamily="18" charset="0"/>
                <a:cs typeface="Times" pitchFamily="18" charset="0"/>
              </a:rPr>
              <a:t> </a:t>
            </a:r>
            <a:r>
              <a:rPr lang="en-US" sz="2400" b="1" i="1" dirty="0" err="1">
                <a:solidFill>
                  <a:srgbClr val="0070C0"/>
                </a:solidFill>
                <a:latin typeface="Times" pitchFamily="18" charset="0"/>
                <a:cs typeface="Times" pitchFamily="18" charset="0"/>
              </a:rPr>
              <a:t>bởi</a:t>
            </a:r>
            <a:r>
              <a:rPr lang="en-US" sz="2400" b="1" i="1" dirty="0">
                <a:solidFill>
                  <a:srgbClr val="0070C0"/>
                </a:solidFill>
                <a:latin typeface="Times" pitchFamily="18" charset="0"/>
                <a:cs typeface="Times" pitchFamily="18" charset="0"/>
              </a:rPr>
              <a:t> </a:t>
            </a:r>
            <a:r>
              <a:rPr lang="en-US" sz="2400" b="1" i="1" dirty="0" err="1">
                <a:solidFill>
                  <a:srgbClr val="0070C0"/>
                </a:solidFill>
                <a:latin typeface="Times" pitchFamily="18" charset="0"/>
                <a:cs typeface="Times" pitchFamily="18" charset="0"/>
              </a:rPr>
              <a:t>bản</a:t>
            </a:r>
            <a:r>
              <a:rPr lang="en-US" sz="2400" b="1" i="1" dirty="0">
                <a:solidFill>
                  <a:srgbClr val="0070C0"/>
                </a:solidFill>
                <a:latin typeface="Times" pitchFamily="18" charset="0"/>
                <a:cs typeface="Times" pitchFamily="18" charset="0"/>
              </a:rPr>
              <a:t> </a:t>
            </a:r>
            <a:r>
              <a:rPr lang="en-US" sz="2400" b="1" i="1" dirty="0" err="1">
                <a:solidFill>
                  <a:srgbClr val="0070C0"/>
                </a:solidFill>
                <a:latin typeface="Times" pitchFamily="18" charset="0"/>
                <a:cs typeface="Times" pitchFamily="18" charset="0"/>
              </a:rPr>
              <a:t>mỏng</a:t>
            </a:r>
            <a:endParaRPr lang="en-US" sz="2400" b="1" i="1" dirty="0">
              <a:solidFill>
                <a:srgbClr val="0070C0"/>
              </a:solidFill>
              <a:latin typeface="Times" pitchFamily="18" charset="0"/>
              <a:cs typeface="Times" pitchFamily="18" charset="0"/>
            </a:endParaRPr>
          </a:p>
        </p:txBody>
      </p:sp>
    </p:spTree>
    <p:extLst>
      <p:ext uri="{BB962C8B-B14F-4D97-AF65-F5344CB8AC3E}">
        <p14:creationId xmlns:p14="http://schemas.microsoft.com/office/powerpoint/2010/main" val="624945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dow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down)">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down)">
                                      <p:cBhvr>
                                        <p:cTn id="23" dur="5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wipe(down)">
                                      <p:cBhvr>
                                        <p:cTn id="28" dur="50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wipe(down)">
                                      <p:cBhvr>
                                        <p:cTn id="33" dur="500"/>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wipe(down)">
                                      <p:cBhvr>
                                        <p:cTn id="3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 y="0"/>
            <a:ext cx="8915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0"/>
            <a:ext cx="89154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§1. GIAO THOA ÁNH SÁNG</a:t>
            </a:r>
          </a:p>
        </p:txBody>
      </p:sp>
      <p:graphicFrame>
        <p:nvGraphicFramePr>
          <p:cNvPr id="6" name="Object 5"/>
          <p:cNvGraphicFramePr>
            <a:graphicFrameLocks noChangeAspect="1"/>
          </p:cNvGraphicFramePr>
          <p:nvPr>
            <p:extLst>
              <p:ext uri="{D42A27DB-BD31-4B8C-83A1-F6EECF244321}">
                <p14:modId xmlns:p14="http://schemas.microsoft.com/office/powerpoint/2010/main" val="4171119354"/>
              </p:ext>
            </p:extLst>
          </p:nvPr>
        </p:nvGraphicFramePr>
        <p:xfrm>
          <a:off x="1130300" y="1866296"/>
          <a:ext cx="3403600" cy="831850"/>
        </p:xfrm>
        <a:graphic>
          <a:graphicData uri="http://schemas.openxmlformats.org/presentationml/2006/ole">
            <mc:AlternateContent xmlns:mc="http://schemas.openxmlformats.org/markup-compatibility/2006">
              <mc:Choice xmlns:v="urn:schemas-microsoft-com:vml" Requires="v">
                <p:oleObj spid="_x0000_s8763" name="Equation" r:id="rId3" imgW="1701720" imgH="431640" progId="Equation.3">
                  <p:embed/>
                </p:oleObj>
              </mc:Choice>
              <mc:Fallback>
                <p:oleObj name="Equation" r:id="rId3" imgW="1701720" imgH="431640" progId="Equation.3">
                  <p:embed/>
                  <p:pic>
                    <p:nvPicPr>
                      <p:cNvPr id="0" name="Object 4"/>
                      <p:cNvPicPr>
                        <a:picLocks noChangeAspect="1" noChangeArrowheads="1"/>
                      </p:cNvPicPr>
                      <p:nvPr/>
                    </p:nvPicPr>
                    <p:blipFill>
                      <a:blip r:embed="rId4"/>
                      <a:srcRect/>
                      <a:stretch>
                        <a:fillRect/>
                      </a:stretch>
                    </p:blipFill>
                    <p:spPr bwMode="auto">
                      <a:xfrm>
                        <a:off x="1130300" y="1866296"/>
                        <a:ext cx="34036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6"/>
          <p:cNvSpPr/>
          <p:nvPr/>
        </p:nvSpPr>
        <p:spPr>
          <a:xfrm>
            <a:off x="76201" y="2891135"/>
            <a:ext cx="6753788" cy="461665"/>
          </a:xfrm>
          <a:prstGeom prst="rect">
            <a:avLst/>
          </a:prstGeom>
        </p:spPr>
        <p:txBody>
          <a:bodyPr wrap="square">
            <a:spAutoFit/>
          </a:bodyPr>
          <a:lstStyle/>
          <a:p>
            <a:r>
              <a:rPr lang="en-US" sz="2400" dirty="0" err="1">
                <a:latin typeface="Times New Roman" pitchFamily="18" charset="0"/>
              </a:rPr>
              <a:t>Điều</a:t>
            </a:r>
            <a:r>
              <a:rPr lang="en-US" sz="2400" dirty="0">
                <a:latin typeface="Times New Roman" pitchFamily="18" charset="0"/>
              </a:rPr>
              <a:t> </a:t>
            </a:r>
            <a:r>
              <a:rPr lang="en-US" sz="2400" dirty="0" err="1">
                <a:latin typeface="Times New Roman" pitchFamily="18" charset="0"/>
              </a:rPr>
              <a:t>kiện</a:t>
            </a:r>
            <a:r>
              <a:rPr lang="en-US" sz="2400" dirty="0">
                <a:latin typeface="Times New Roman" pitchFamily="18" charset="0"/>
              </a:rPr>
              <a:t> </a:t>
            </a:r>
            <a:r>
              <a:rPr lang="en-US" sz="2400" dirty="0" err="1">
                <a:latin typeface="Times New Roman" pitchFamily="18" charset="0"/>
              </a:rPr>
              <a:t>cực</a:t>
            </a:r>
            <a:r>
              <a:rPr lang="en-US" sz="2400" dirty="0">
                <a:latin typeface="Times New Roman" pitchFamily="18" charset="0"/>
              </a:rPr>
              <a:t> </a:t>
            </a:r>
            <a:r>
              <a:rPr lang="en-US" sz="2400" dirty="0" err="1">
                <a:latin typeface="Times New Roman" pitchFamily="18" charset="0"/>
              </a:rPr>
              <a:t>đại</a:t>
            </a:r>
            <a:r>
              <a:rPr lang="en-US" sz="2400" dirty="0">
                <a:latin typeface="Times New Roman" pitchFamily="18" charset="0"/>
              </a:rPr>
              <a:t> </a:t>
            </a:r>
            <a:r>
              <a:rPr lang="en-US" sz="2400" dirty="0" err="1">
                <a:latin typeface="Times New Roman" pitchFamily="18" charset="0"/>
              </a:rPr>
              <a:t>giao</a:t>
            </a:r>
            <a:r>
              <a:rPr lang="en-US" sz="2400" dirty="0">
                <a:latin typeface="Times New Roman" pitchFamily="18" charset="0"/>
              </a:rPr>
              <a:t> </a:t>
            </a:r>
            <a:r>
              <a:rPr lang="en-US" sz="2400" dirty="0" err="1">
                <a:latin typeface="Times New Roman" pitchFamily="18" charset="0"/>
              </a:rPr>
              <a:t>thoa</a:t>
            </a:r>
            <a:r>
              <a:rPr lang="en-US" sz="2400" dirty="0">
                <a:latin typeface="Times New Roman" pitchFamily="18" charset="0"/>
              </a:rPr>
              <a:t>:</a:t>
            </a:r>
          </a:p>
        </p:txBody>
      </p:sp>
      <p:graphicFrame>
        <p:nvGraphicFramePr>
          <p:cNvPr id="8" name="Object 7"/>
          <p:cNvGraphicFramePr>
            <a:graphicFrameLocks noChangeAspect="1"/>
          </p:cNvGraphicFramePr>
          <p:nvPr>
            <p:extLst>
              <p:ext uri="{D42A27DB-BD31-4B8C-83A1-F6EECF244321}">
                <p14:modId xmlns:p14="http://schemas.microsoft.com/office/powerpoint/2010/main" val="301167747"/>
              </p:ext>
            </p:extLst>
          </p:nvPr>
        </p:nvGraphicFramePr>
        <p:xfrm>
          <a:off x="982663" y="3395663"/>
          <a:ext cx="3252787" cy="708025"/>
        </p:xfrm>
        <a:graphic>
          <a:graphicData uri="http://schemas.openxmlformats.org/presentationml/2006/ole">
            <mc:AlternateContent xmlns:mc="http://schemas.openxmlformats.org/markup-compatibility/2006">
              <mc:Choice xmlns:v="urn:schemas-microsoft-com:vml" Requires="v">
                <p:oleObj spid="_x0000_s8764" name="Equation" r:id="rId5" imgW="1790640" imgH="393480" progId="Equation.3">
                  <p:embed/>
                </p:oleObj>
              </mc:Choice>
              <mc:Fallback>
                <p:oleObj name="Equation" r:id="rId5" imgW="1790640" imgH="393480" progId="Equation.3">
                  <p:embed/>
                  <p:pic>
                    <p:nvPicPr>
                      <p:cNvPr id="0" name="Object 7"/>
                      <p:cNvPicPr>
                        <a:picLocks noChangeAspect="1" noChangeArrowheads="1"/>
                      </p:cNvPicPr>
                      <p:nvPr/>
                    </p:nvPicPr>
                    <p:blipFill>
                      <a:blip r:embed="rId6"/>
                      <a:srcRect/>
                      <a:stretch>
                        <a:fillRect/>
                      </a:stretch>
                    </p:blipFill>
                    <p:spPr bwMode="auto">
                      <a:xfrm>
                        <a:off x="982663" y="3395663"/>
                        <a:ext cx="325278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1725556692"/>
              </p:ext>
            </p:extLst>
          </p:nvPr>
        </p:nvGraphicFramePr>
        <p:xfrm>
          <a:off x="833438" y="4267200"/>
          <a:ext cx="3700462" cy="754063"/>
        </p:xfrm>
        <a:graphic>
          <a:graphicData uri="http://schemas.openxmlformats.org/presentationml/2006/ole">
            <mc:AlternateContent xmlns:mc="http://schemas.openxmlformats.org/markup-compatibility/2006">
              <mc:Choice xmlns:v="urn:schemas-microsoft-com:vml" Requires="v">
                <p:oleObj spid="_x0000_s8765" name="Equation" r:id="rId7" imgW="2108160" imgH="431640" progId="Equation.3">
                  <p:embed/>
                </p:oleObj>
              </mc:Choice>
              <mc:Fallback>
                <p:oleObj name="Equation" r:id="rId7" imgW="2108160" imgH="431640" progId="Equation.3">
                  <p:embed/>
                  <p:pic>
                    <p:nvPicPr>
                      <p:cNvPr id="0" name="Object 9"/>
                      <p:cNvPicPr>
                        <a:picLocks noChangeAspect="1" noChangeArrowheads="1"/>
                      </p:cNvPicPr>
                      <p:nvPr/>
                    </p:nvPicPr>
                    <p:blipFill>
                      <a:blip r:embed="rId8"/>
                      <a:srcRect/>
                      <a:stretch>
                        <a:fillRect/>
                      </a:stretch>
                    </p:blipFill>
                    <p:spPr bwMode="auto">
                      <a:xfrm>
                        <a:off x="833438" y="4267200"/>
                        <a:ext cx="3700462" cy="75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939802234"/>
              </p:ext>
            </p:extLst>
          </p:nvPr>
        </p:nvGraphicFramePr>
        <p:xfrm>
          <a:off x="1482725" y="1071563"/>
          <a:ext cx="3462338" cy="687387"/>
        </p:xfrm>
        <a:graphic>
          <a:graphicData uri="http://schemas.openxmlformats.org/presentationml/2006/ole">
            <mc:AlternateContent xmlns:mc="http://schemas.openxmlformats.org/markup-compatibility/2006">
              <mc:Choice xmlns:v="urn:schemas-microsoft-com:vml" Requires="v">
                <p:oleObj spid="_x0000_s8766" name="Equation" r:id="rId9" imgW="1968480" imgH="393480" progId="Equation.3">
                  <p:embed/>
                </p:oleObj>
              </mc:Choice>
              <mc:Fallback>
                <p:oleObj name="Equation" r:id="rId9" imgW="1968480" imgH="393480" progId="Equation.3">
                  <p:embed/>
                  <p:pic>
                    <p:nvPicPr>
                      <p:cNvPr id="0" name="Object 9"/>
                      <p:cNvPicPr>
                        <a:picLocks noChangeAspect="1" noChangeArrowheads="1"/>
                      </p:cNvPicPr>
                      <p:nvPr/>
                    </p:nvPicPr>
                    <p:blipFill>
                      <a:blip r:embed="rId10"/>
                      <a:srcRect/>
                      <a:stretch>
                        <a:fillRect/>
                      </a:stretch>
                    </p:blipFill>
                    <p:spPr bwMode="auto">
                      <a:xfrm>
                        <a:off x="1482725" y="1071563"/>
                        <a:ext cx="3462338" cy="687387"/>
                      </a:xfrm>
                      <a:prstGeom prst="rect">
                        <a:avLst/>
                      </a:prstGeom>
                      <a:noFill/>
                      <a:ln>
                        <a:noFill/>
                      </a:ln>
                    </p:spPr>
                  </p:pic>
                </p:oleObj>
              </mc:Fallback>
            </mc:AlternateContent>
          </a:graphicData>
        </a:graphic>
      </p:graphicFrame>
      <p:sp>
        <p:nvSpPr>
          <p:cNvPr id="12" name="Rectangle 11"/>
          <p:cNvSpPr/>
          <p:nvPr/>
        </p:nvSpPr>
        <p:spPr>
          <a:xfrm>
            <a:off x="76200" y="609600"/>
            <a:ext cx="6753788" cy="461665"/>
          </a:xfrm>
          <a:prstGeom prst="rect">
            <a:avLst/>
          </a:prstGeom>
        </p:spPr>
        <p:txBody>
          <a:bodyPr wrap="square">
            <a:spAutoFit/>
          </a:bodyPr>
          <a:lstStyle/>
          <a:p>
            <a:r>
              <a:rPr lang="en-US" sz="2400" dirty="0" err="1">
                <a:latin typeface="Times New Roman" pitchFamily="18" charset="0"/>
              </a:rPr>
              <a:t>Điều</a:t>
            </a:r>
            <a:r>
              <a:rPr lang="en-US" sz="2400" dirty="0">
                <a:latin typeface="Times New Roman" pitchFamily="18" charset="0"/>
              </a:rPr>
              <a:t> </a:t>
            </a:r>
            <a:r>
              <a:rPr lang="en-US" sz="2400" dirty="0" err="1">
                <a:latin typeface="Times New Roman" pitchFamily="18" charset="0"/>
              </a:rPr>
              <a:t>kiện</a:t>
            </a:r>
            <a:r>
              <a:rPr lang="en-US" sz="2400" dirty="0">
                <a:latin typeface="Times New Roman" pitchFamily="18" charset="0"/>
              </a:rPr>
              <a:t> </a:t>
            </a:r>
            <a:r>
              <a:rPr lang="en-US" sz="2400" dirty="0" err="1">
                <a:latin typeface="Times New Roman" pitchFamily="18" charset="0"/>
              </a:rPr>
              <a:t>cực</a:t>
            </a:r>
            <a:r>
              <a:rPr lang="en-US" sz="2400" dirty="0">
                <a:latin typeface="Times New Roman" pitchFamily="18" charset="0"/>
              </a:rPr>
              <a:t> </a:t>
            </a:r>
            <a:r>
              <a:rPr lang="en-US" sz="2400" dirty="0" err="1">
                <a:latin typeface="Times New Roman" pitchFamily="18" charset="0"/>
              </a:rPr>
              <a:t>tiểu</a:t>
            </a:r>
            <a:r>
              <a:rPr lang="en-US" sz="2400" dirty="0">
                <a:latin typeface="Times New Roman" pitchFamily="18" charset="0"/>
              </a:rPr>
              <a:t> </a:t>
            </a:r>
            <a:r>
              <a:rPr lang="en-US" sz="2400" dirty="0" err="1">
                <a:latin typeface="Times New Roman" pitchFamily="18" charset="0"/>
              </a:rPr>
              <a:t>giao</a:t>
            </a:r>
            <a:r>
              <a:rPr lang="en-US" sz="2400" dirty="0">
                <a:latin typeface="Times New Roman" pitchFamily="18" charset="0"/>
              </a:rPr>
              <a:t> </a:t>
            </a:r>
            <a:r>
              <a:rPr lang="en-US" sz="2400" dirty="0" err="1">
                <a:latin typeface="Times New Roman" pitchFamily="18" charset="0"/>
              </a:rPr>
              <a:t>thoa</a:t>
            </a:r>
            <a:r>
              <a:rPr lang="en-US" sz="2400" dirty="0">
                <a:latin typeface="Times New Roman" pitchFamily="18" charset="0"/>
              </a:rPr>
              <a:t>:</a:t>
            </a:r>
          </a:p>
        </p:txBody>
      </p:sp>
      <p:sp>
        <p:nvSpPr>
          <p:cNvPr id="13" name="Rectangle 12"/>
          <p:cNvSpPr/>
          <p:nvPr/>
        </p:nvSpPr>
        <p:spPr>
          <a:xfrm>
            <a:off x="76200" y="5177135"/>
            <a:ext cx="6753788" cy="461665"/>
          </a:xfrm>
          <a:prstGeom prst="rect">
            <a:avLst/>
          </a:prstGeom>
        </p:spPr>
        <p:txBody>
          <a:bodyPr wrap="square">
            <a:spAutoFit/>
          </a:bodyPr>
          <a:lstStyle/>
          <a:p>
            <a:r>
              <a:rPr lang="en-US" sz="2400" dirty="0" err="1">
                <a:latin typeface="Times New Roman" pitchFamily="18" charset="0"/>
              </a:rPr>
              <a:t>Khoảng</a:t>
            </a:r>
            <a:r>
              <a:rPr lang="en-US" sz="2400" dirty="0">
                <a:latin typeface="Times New Roman" pitchFamily="18" charset="0"/>
              </a:rPr>
              <a:t> </a:t>
            </a:r>
            <a:r>
              <a:rPr lang="en-US" sz="2400" dirty="0" err="1">
                <a:latin typeface="Times New Roman" pitchFamily="18" charset="0"/>
              </a:rPr>
              <a:t>vân</a:t>
            </a:r>
            <a:r>
              <a:rPr lang="en-US" sz="2400" dirty="0">
                <a:latin typeface="Times New Roman" pitchFamily="18" charset="0"/>
              </a:rPr>
              <a:t> </a:t>
            </a:r>
            <a:r>
              <a:rPr lang="en-US" sz="2400" dirty="0" err="1">
                <a:latin typeface="Times New Roman" pitchFamily="18" charset="0"/>
              </a:rPr>
              <a:t>giao</a:t>
            </a:r>
            <a:r>
              <a:rPr lang="en-US" sz="2400" dirty="0">
                <a:latin typeface="Times New Roman" pitchFamily="18" charset="0"/>
              </a:rPr>
              <a:t> </a:t>
            </a:r>
            <a:r>
              <a:rPr lang="en-US" sz="2400" dirty="0" err="1">
                <a:latin typeface="Times New Roman" pitchFamily="18" charset="0"/>
              </a:rPr>
              <a:t>thoa</a:t>
            </a:r>
            <a:r>
              <a:rPr lang="en-US" sz="2400" dirty="0">
                <a:latin typeface="Times New Roman" pitchFamily="18" charset="0"/>
              </a:rPr>
              <a:t>:</a:t>
            </a:r>
          </a:p>
        </p:txBody>
      </p:sp>
      <p:graphicFrame>
        <p:nvGraphicFramePr>
          <p:cNvPr id="14" name="Object 13"/>
          <p:cNvGraphicFramePr>
            <a:graphicFrameLocks noChangeAspect="1"/>
          </p:cNvGraphicFramePr>
          <p:nvPr>
            <p:extLst>
              <p:ext uri="{D42A27DB-BD31-4B8C-83A1-F6EECF244321}">
                <p14:modId xmlns:p14="http://schemas.microsoft.com/office/powerpoint/2010/main" val="1569164112"/>
              </p:ext>
            </p:extLst>
          </p:nvPr>
        </p:nvGraphicFramePr>
        <p:xfrm>
          <a:off x="-84138" y="5762625"/>
          <a:ext cx="4900613" cy="754063"/>
        </p:xfrm>
        <a:graphic>
          <a:graphicData uri="http://schemas.openxmlformats.org/presentationml/2006/ole">
            <mc:AlternateContent xmlns:mc="http://schemas.openxmlformats.org/markup-compatibility/2006">
              <mc:Choice xmlns:v="urn:schemas-microsoft-com:vml" Requires="v">
                <p:oleObj spid="_x0000_s8767" name="Equation" r:id="rId11" imgW="2793960" imgH="431640" progId="Equation.3">
                  <p:embed/>
                </p:oleObj>
              </mc:Choice>
              <mc:Fallback>
                <p:oleObj name="Equation" r:id="rId11" imgW="2793960" imgH="431640" progId="Equation.3">
                  <p:embed/>
                  <p:pic>
                    <p:nvPicPr>
                      <p:cNvPr id="0" name="Object 9"/>
                      <p:cNvPicPr>
                        <a:picLocks noChangeAspect="1" noChangeArrowheads="1"/>
                      </p:cNvPicPr>
                      <p:nvPr/>
                    </p:nvPicPr>
                    <p:blipFill>
                      <a:blip r:embed="rId12"/>
                      <a:srcRect/>
                      <a:stretch>
                        <a:fillRect/>
                      </a:stretch>
                    </p:blipFill>
                    <p:spPr bwMode="auto">
                      <a:xfrm>
                        <a:off x="-84138" y="5762625"/>
                        <a:ext cx="4900613" cy="75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1" name="Picture 20"/>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257800" y="4114800"/>
            <a:ext cx="3692651" cy="2479478"/>
          </a:xfrm>
          <a:prstGeom prst="rect">
            <a:avLst/>
          </a:prstGeom>
        </p:spPr>
      </p:pic>
      <p:pic>
        <p:nvPicPr>
          <p:cNvPr id="2" name="Picture 1"/>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5638800" y="672662"/>
            <a:ext cx="3464051" cy="3219118"/>
          </a:xfrm>
          <a:prstGeom prst="rect">
            <a:avLst/>
          </a:prstGeom>
        </p:spPr>
      </p:pic>
    </p:spTree>
    <p:extLst>
      <p:ext uri="{BB962C8B-B14F-4D97-AF65-F5344CB8AC3E}">
        <p14:creationId xmlns:p14="http://schemas.microsoft.com/office/powerpoint/2010/main" val="879839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down)">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down)">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wipe(down)">
                                      <p:cBhvr>
                                        <p:cTn id="37" dur="500"/>
                                        <p:tgtEl>
                                          <p:spTgt spid="2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wipe(down)">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wipe(down)">
                                      <p:cBhvr>
                                        <p:cTn id="4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 y="0"/>
            <a:ext cx="8915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0"/>
            <a:ext cx="89154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§1. GIAO THOA ÁNH SÁNG</a:t>
            </a:r>
          </a:p>
        </p:txBody>
      </p:sp>
      <p:sp>
        <p:nvSpPr>
          <p:cNvPr id="2" name="Rectangle 1"/>
          <p:cNvSpPr/>
          <p:nvPr/>
        </p:nvSpPr>
        <p:spPr>
          <a:xfrm>
            <a:off x="76201" y="609600"/>
            <a:ext cx="5440930" cy="461665"/>
          </a:xfrm>
          <a:prstGeom prst="rect">
            <a:avLst/>
          </a:prstGeom>
        </p:spPr>
        <p:txBody>
          <a:bodyPr wrap="square">
            <a:spAutoFit/>
          </a:bodyPr>
          <a:lstStyle/>
          <a:p>
            <a:r>
              <a:rPr lang="en-US" sz="2400" b="1" i="1" dirty="0">
                <a:solidFill>
                  <a:schemeClr val="hlink"/>
                </a:solidFill>
                <a:latin typeface="Times New Roman" pitchFamily="18" charset="0"/>
              </a:rPr>
              <a:t>b. </a:t>
            </a:r>
            <a:r>
              <a:rPr lang="en-US" sz="2400" b="1" i="1" dirty="0" err="1">
                <a:solidFill>
                  <a:schemeClr val="hlink"/>
                </a:solidFill>
                <a:latin typeface="Times New Roman" pitchFamily="18" charset="0"/>
              </a:rPr>
              <a:t>Vân</a:t>
            </a:r>
            <a:r>
              <a:rPr lang="en-US" sz="2400" b="1" i="1" dirty="0">
                <a:solidFill>
                  <a:schemeClr val="hlink"/>
                </a:solidFill>
                <a:latin typeface="Times New Roman" pitchFamily="18" charset="0"/>
              </a:rPr>
              <a:t> </a:t>
            </a:r>
            <a:r>
              <a:rPr lang="en-US" sz="2400" b="1" i="1" dirty="0" err="1">
                <a:solidFill>
                  <a:schemeClr val="hlink"/>
                </a:solidFill>
                <a:latin typeface="Times New Roman" pitchFamily="18" charset="0"/>
              </a:rPr>
              <a:t>tròn</a:t>
            </a:r>
            <a:r>
              <a:rPr lang="en-US" sz="2400" b="1" i="1" dirty="0">
                <a:solidFill>
                  <a:schemeClr val="hlink"/>
                </a:solidFill>
                <a:latin typeface="Times New Roman" pitchFamily="18" charset="0"/>
              </a:rPr>
              <a:t> Newton</a:t>
            </a:r>
            <a:endParaRPr lang="en-US" sz="2400" i="1" dirty="0"/>
          </a:p>
        </p:txBody>
      </p:sp>
      <p:sp>
        <p:nvSpPr>
          <p:cNvPr id="3" name="Rectangle 2"/>
          <p:cNvSpPr/>
          <p:nvPr/>
        </p:nvSpPr>
        <p:spPr>
          <a:xfrm>
            <a:off x="76200" y="990600"/>
            <a:ext cx="8763000" cy="461665"/>
          </a:xfrm>
          <a:prstGeom prst="rect">
            <a:avLst/>
          </a:prstGeom>
        </p:spPr>
        <p:txBody>
          <a:bodyPr wrap="square">
            <a:spAutoFit/>
          </a:bodyPr>
          <a:lstStyle/>
          <a:p>
            <a:r>
              <a:rPr lang="en-US" sz="2400" dirty="0" err="1">
                <a:latin typeface="Times New Roman" pitchFamily="18" charset="0"/>
              </a:rPr>
              <a:t>Một</a:t>
            </a:r>
            <a:r>
              <a:rPr lang="en-US" sz="2400" dirty="0">
                <a:latin typeface="Times New Roman" pitchFamily="18" charset="0"/>
              </a:rPr>
              <a:t> </a:t>
            </a:r>
            <a:r>
              <a:rPr lang="en-US" sz="2400" dirty="0" err="1">
                <a:latin typeface="Times New Roman" pitchFamily="18" charset="0"/>
              </a:rPr>
              <a:t>thấu</a:t>
            </a:r>
            <a:r>
              <a:rPr lang="en-US" sz="2400" dirty="0">
                <a:latin typeface="Times New Roman" pitchFamily="18" charset="0"/>
              </a:rPr>
              <a:t> </a:t>
            </a:r>
            <a:r>
              <a:rPr lang="en-US" sz="2400" dirty="0" err="1">
                <a:latin typeface="Times New Roman" pitchFamily="18" charset="0"/>
              </a:rPr>
              <a:t>kính</a:t>
            </a:r>
            <a:r>
              <a:rPr lang="en-US" sz="2400" dirty="0">
                <a:latin typeface="Times New Roman" pitchFamily="18" charset="0"/>
              </a:rPr>
              <a:t> </a:t>
            </a:r>
            <a:r>
              <a:rPr lang="en-US" sz="2400" dirty="0" err="1">
                <a:latin typeface="Times New Roman" pitchFamily="18" charset="0"/>
              </a:rPr>
              <a:t>phẳng</a:t>
            </a:r>
            <a:r>
              <a:rPr lang="en-US" sz="2400" dirty="0">
                <a:latin typeface="Times New Roman" pitchFamily="18" charset="0"/>
              </a:rPr>
              <a:t> – </a:t>
            </a:r>
            <a:r>
              <a:rPr lang="en-US" sz="2400" dirty="0" err="1">
                <a:latin typeface="Times New Roman" pitchFamily="18" charset="0"/>
              </a:rPr>
              <a:t>lồi</a:t>
            </a:r>
            <a:r>
              <a:rPr lang="en-US" sz="2400" dirty="0">
                <a:latin typeface="Times New Roman" pitchFamily="18" charset="0"/>
              </a:rPr>
              <a:t> </a:t>
            </a:r>
            <a:r>
              <a:rPr lang="en-US" sz="2400" dirty="0" err="1">
                <a:latin typeface="Times New Roman" pitchFamily="18" charset="0"/>
              </a:rPr>
              <a:t>đặt</a:t>
            </a:r>
            <a:r>
              <a:rPr lang="en-US" sz="2400" dirty="0">
                <a:latin typeface="Times New Roman" pitchFamily="18" charset="0"/>
              </a:rPr>
              <a:t> </a:t>
            </a:r>
            <a:r>
              <a:rPr lang="en-US" sz="2400" dirty="0" err="1">
                <a:latin typeface="Times New Roman" pitchFamily="18" charset="0"/>
              </a:rPr>
              <a:t>tiếp</a:t>
            </a:r>
            <a:r>
              <a:rPr lang="en-US" sz="2400" dirty="0">
                <a:latin typeface="Times New Roman" pitchFamily="18" charset="0"/>
              </a:rPr>
              <a:t> </a:t>
            </a:r>
            <a:r>
              <a:rPr lang="en-US" sz="2400" dirty="0" err="1">
                <a:latin typeface="Times New Roman" pitchFamily="18" charset="0"/>
              </a:rPr>
              <a:t>xúc</a:t>
            </a:r>
            <a:r>
              <a:rPr lang="en-US" sz="2400" dirty="0">
                <a:latin typeface="Times New Roman" pitchFamily="18" charset="0"/>
              </a:rPr>
              <a:t>  </a:t>
            </a:r>
            <a:r>
              <a:rPr lang="en-US" sz="2400" dirty="0" err="1">
                <a:latin typeface="Times New Roman" pitchFamily="18" charset="0"/>
              </a:rPr>
              <a:t>với</a:t>
            </a:r>
            <a:r>
              <a:rPr lang="en-US" sz="2400" dirty="0">
                <a:latin typeface="Times New Roman" pitchFamily="18" charset="0"/>
              </a:rPr>
              <a:t> </a:t>
            </a:r>
            <a:r>
              <a:rPr lang="en-US" sz="2400" dirty="0" err="1">
                <a:latin typeface="Times New Roman" pitchFamily="18" charset="0"/>
              </a:rPr>
              <a:t>tấm</a:t>
            </a:r>
            <a:r>
              <a:rPr lang="en-US" sz="2400" dirty="0">
                <a:latin typeface="Times New Roman" pitchFamily="18" charset="0"/>
              </a:rPr>
              <a:t> </a:t>
            </a:r>
            <a:r>
              <a:rPr lang="en-US" sz="2400" dirty="0" err="1">
                <a:latin typeface="Times New Roman" pitchFamily="18" charset="0"/>
              </a:rPr>
              <a:t>thủy</a:t>
            </a:r>
            <a:r>
              <a:rPr lang="en-US" sz="2400" dirty="0">
                <a:latin typeface="Times New Roman" pitchFamily="18" charset="0"/>
              </a:rPr>
              <a:t> </a:t>
            </a:r>
            <a:r>
              <a:rPr lang="en-US" sz="2400" dirty="0" err="1">
                <a:latin typeface="Times New Roman" pitchFamily="18" charset="0"/>
              </a:rPr>
              <a:t>tinh</a:t>
            </a:r>
            <a:r>
              <a:rPr lang="en-US" sz="2400" dirty="0">
                <a:latin typeface="Times New Roman" pitchFamily="18" charset="0"/>
              </a:rPr>
              <a:t> </a:t>
            </a:r>
            <a:r>
              <a:rPr lang="en-US" sz="2400" dirty="0" err="1">
                <a:latin typeface="Times New Roman" pitchFamily="18" charset="0"/>
              </a:rPr>
              <a:t>phẳng</a:t>
            </a:r>
            <a:endParaRPr lang="en-US" sz="2400" dirty="0">
              <a:latin typeface="Times New Roman" pitchFamily="18" charset="0"/>
            </a:endParaRPr>
          </a:p>
        </p:txBody>
      </p:sp>
      <p:sp>
        <p:nvSpPr>
          <p:cNvPr id="13" name="Rectangle 12"/>
          <p:cNvSpPr/>
          <p:nvPr/>
        </p:nvSpPr>
        <p:spPr>
          <a:xfrm>
            <a:off x="76202" y="1452265"/>
            <a:ext cx="5440930" cy="1569660"/>
          </a:xfrm>
          <a:prstGeom prst="rect">
            <a:avLst/>
          </a:prstGeom>
        </p:spPr>
        <p:txBody>
          <a:bodyPr wrap="square">
            <a:spAutoFit/>
          </a:bodyPr>
          <a:lstStyle/>
          <a:p>
            <a:pPr algn="just"/>
            <a:r>
              <a:rPr lang="en-US" sz="2400" dirty="0" err="1">
                <a:latin typeface="Times New Roman" pitchFamily="18" charset="0"/>
              </a:rPr>
              <a:t>Chiếu</a:t>
            </a:r>
            <a:r>
              <a:rPr lang="en-US" sz="2400" dirty="0">
                <a:latin typeface="Times New Roman" pitchFamily="18" charset="0"/>
              </a:rPr>
              <a:t> </a:t>
            </a:r>
            <a:r>
              <a:rPr lang="en-US" sz="2400" dirty="0" err="1">
                <a:latin typeface="Times New Roman" pitchFamily="18" charset="0"/>
              </a:rPr>
              <a:t>một</a:t>
            </a:r>
            <a:r>
              <a:rPr lang="en-US" sz="2400" dirty="0">
                <a:latin typeface="Times New Roman" pitchFamily="18" charset="0"/>
              </a:rPr>
              <a:t> </a:t>
            </a:r>
            <a:r>
              <a:rPr lang="en-US" sz="2400" dirty="0" err="1">
                <a:latin typeface="Times New Roman" pitchFamily="18" charset="0"/>
              </a:rPr>
              <a:t>chùm</a:t>
            </a:r>
            <a:r>
              <a:rPr lang="en-US" sz="2400" dirty="0">
                <a:latin typeface="Times New Roman" pitchFamily="18" charset="0"/>
              </a:rPr>
              <a:t> </a:t>
            </a:r>
            <a:r>
              <a:rPr lang="en-US" sz="2400" dirty="0" err="1">
                <a:latin typeface="Times New Roman" pitchFamily="18" charset="0"/>
              </a:rPr>
              <a:t>tia</a:t>
            </a:r>
            <a:r>
              <a:rPr lang="en-US" sz="2400" dirty="0">
                <a:latin typeface="Times New Roman" pitchFamily="18" charset="0"/>
              </a:rPr>
              <a:t> </a:t>
            </a:r>
            <a:r>
              <a:rPr lang="en-US" sz="2400" dirty="0" err="1">
                <a:latin typeface="Times New Roman" pitchFamily="18" charset="0"/>
              </a:rPr>
              <a:t>sáng</a:t>
            </a:r>
            <a:r>
              <a:rPr lang="en-US" sz="2400" dirty="0">
                <a:latin typeface="Times New Roman" pitchFamily="18" charset="0"/>
              </a:rPr>
              <a:t> </a:t>
            </a:r>
            <a:r>
              <a:rPr lang="en-US" sz="2400" dirty="0" err="1">
                <a:latin typeface="Times New Roman" pitchFamily="18" charset="0"/>
              </a:rPr>
              <a:t>đơn</a:t>
            </a:r>
            <a:r>
              <a:rPr lang="en-US" sz="2400" dirty="0">
                <a:latin typeface="Times New Roman" pitchFamily="18" charset="0"/>
              </a:rPr>
              <a:t> </a:t>
            </a:r>
            <a:r>
              <a:rPr lang="en-US" sz="2400" dirty="0" err="1">
                <a:latin typeface="Times New Roman" pitchFamily="18" charset="0"/>
              </a:rPr>
              <a:t>sắc</a:t>
            </a:r>
            <a:r>
              <a:rPr lang="en-US" sz="2400" dirty="0">
                <a:latin typeface="Times New Roman" pitchFamily="18" charset="0"/>
              </a:rPr>
              <a:t> song </a:t>
            </a:r>
            <a:r>
              <a:rPr lang="en-US" sz="2400" dirty="0" err="1">
                <a:latin typeface="Times New Roman" pitchFamily="18" charset="0"/>
              </a:rPr>
              <a:t>song</a:t>
            </a:r>
            <a:r>
              <a:rPr lang="en-US" sz="2400" dirty="0">
                <a:latin typeface="Times New Roman" pitchFamily="18" charset="0"/>
              </a:rPr>
              <a:t> </a:t>
            </a:r>
            <a:r>
              <a:rPr lang="en-US" sz="2400" dirty="0" err="1">
                <a:latin typeface="Times New Roman" pitchFamily="18" charset="0"/>
              </a:rPr>
              <a:t>vuông</a:t>
            </a:r>
            <a:r>
              <a:rPr lang="en-US" sz="2400" dirty="0">
                <a:latin typeface="Times New Roman" pitchFamily="18" charset="0"/>
              </a:rPr>
              <a:t> </a:t>
            </a:r>
            <a:r>
              <a:rPr lang="en-US" sz="2400" dirty="0" err="1">
                <a:latin typeface="Times New Roman" pitchFamily="18" charset="0"/>
              </a:rPr>
              <a:t>góc</a:t>
            </a:r>
            <a:r>
              <a:rPr lang="en-US" sz="2400" dirty="0">
                <a:latin typeface="Times New Roman" pitchFamily="18" charset="0"/>
              </a:rPr>
              <a:t> </a:t>
            </a:r>
            <a:r>
              <a:rPr lang="en-US" sz="2400" dirty="0" err="1">
                <a:latin typeface="Times New Roman" pitchFamily="18" charset="0"/>
              </a:rPr>
              <a:t>với</a:t>
            </a:r>
            <a:r>
              <a:rPr lang="en-US" sz="2400" dirty="0">
                <a:latin typeface="Times New Roman" pitchFamily="18" charset="0"/>
              </a:rPr>
              <a:t> </a:t>
            </a:r>
            <a:r>
              <a:rPr lang="en-US" sz="2400" dirty="0" err="1">
                <a:latin typeface="Times New Roman" pitchFamily="18" charset="0"/>
              </a:rPr>
              <a:t>bản</a:t>
            </a:r>
            <a:r>
              <a:rPr lang="en-US" sz="2400" dirty="0">
                <a:latin typeface="Times New Roman" pitchFamily="18" charset="0"/>
              </a:rPr>
              <a:t> </a:t>
            </a:r>
            <a:r>
              <a:rPr lang="en-US" sz="2400" dirty="0" err="1">
                <a:latin typeface="Times New Roman" pitchFamily="18" charset="0"/>
              </a:rPr>
              <a:t>thủy</a:t>
            </a:r>
            <a:r>
              <a:rPr lang="en-US" sz="2400" dirty="0">
                <a:latin typeface="Times New Roman" pitchFamily="18" charset="0"/>
              </a:rPr>
              <a:t> </a:t>
            </a:r>
            <a:r>
              <a:rPr lang="en-US" sz="2400" dirty="0" err="1">
                <a:latin typeface="Times New Roman" pitchFamily="18" charset="0"/>
              </a:rPr>
              <a:t>tinh</a:t>
            </a:r>
            <a:r>
              <a:rPr lang="en-US" sz="2400" dirty="0">
                <a:latin typeface="Times New Roman" pitchFamily="18" charset="0"/>
              </a:rPr>
              <a:t>, </a:t>
            </a:r>
            <a:r>
              <a:rPr lang="en-US" sz="2400" dirty="0" err="1">
                <a:latin typeface="Times New Roman" pitchFamily="18" charset="0"/>
              </a:rPr>
              <a:t>tại</a:t>
            </a:r>
            <a:r>
              <a:rPr lang="en-US" sz="2400" dirty="0">
                <a:latin typeface="Times New Roman" pitchFamily="18" charset="0"/>
              </a:rPr>
              <a:t> </a:t>
            </a:r>
            <a:r>
              <a:rPr lang="en-US" sz="2400" dirty="0" err="1">
                <a:latin typeface="Times New Roman" pitchFamily="18" charset="0"/>
              </a:rPr>
              <a:t>mọi</a:t>
            </a:r>
            <a:r>
              <a:rPr lang="en-US" sz="2400" dirty="0">
                <a:latin typeface="Times New Roman" pitchFamily="18" charset="0"/>
              </a:rPr>
              <a:t> </a:t>
            </a:r>
            <a:r>
              <a:rPr lang="en-US" sz="2400" dirty="0" err="1">
                <a:latin typeface="Times New Roman" pitchFamily="18" charset="0"/>
              </a:rPr>
              <a:t>điểm</a:t>
            </a:r>
            <a:r>
              <a:rPr lang="en-US" sz="2400" dirty="0">
                <a:latin typeface="Times New Roman" pitchFamily="18" charset="0"/>
              </a:rPr>
              <a:t> </a:t>
            </a:r>
            <a:r>
              <a:rPr lang="en-US" sz="2400" dirty="0" err="1">
                <a:latin typeface="Times New Roman" pitchFamily="18" charset="0"/>
              </a:rPr>
              <a:t>mặt</a:t>
            </a:r>
            <a:r>
              <a:rPr lang="en-US" sz="2400" dirty="0">
                <a:latin typeface="Times New Roman" pitchFamily="18" charset="0"/>
              </a:rPr>
              <a:t> </a:t>
            </a:r>
            <a:r>
              <a:rPr lang="en-US" sz="2400" dirty="0" err="1">
                <a:latin typeface="Times New Roman" pitchFamily="18" charset="0"/>
              </a:rPr>
              <a:t>trên</a:t>
            </a:r>
            <a:r>
              <a:rPr lang="en-US" sz="2400" dirty="0">
                <a:latin typeface="Times New Roman" pitchFamily="18" charset="0"/>
              </a:rPr>
              <a:t> </a:t>
            </a:r>
            <a:r>
              <a:rPr lang="en-US" sz="2400" dirty="0" err="1">
                <a:latin typeface="Times New Roman" pitchFamily="18" charset="0"/>
              </a:rPr>
              <a:t>lớp</a:t>
            </a:r>
            <a:r>
              <a:rPr lang="en-US" sz="2400" dirty="0">
                <a:latin typeface="Times New Roman" pitchFamily="18" charset="0"/>
              </a:rPr>
              <a:t> </a:t>
            </a:r>
            <a:r>
              <a:rPr lang="en-US" sz="2400" dirty="0" err="1">
                <a:latin typeface="Times New Roman" pitchFamily="18" charset="0"/>
              </a:rPr>
              <a:t>không</a:t>
            </a:r>
            <a:r>
              <a:rPr lang="en-US" sz="2400" dirty="0">
                <a:latin typeface="Times New Roman" pitchFamily="18" charset="0"/>
              </a:rPr>
              <a:t> </a:t>
            </a:r>
            <a:r>
              <a:rPr lang="en-US" sz="2400" dirty="0" err="1">
                <a:latin typeface="Times New Roman" pitchFamily="18" charset="0"/>
              </a:rPr>
              <a:t>khí</a:t>
            </a:r>
            <a:r>
              <a:rPr lang="en-US" sz="2400" dirty="0">
                <a:latin typeface="Times New Roman" pitchFamily="18" charset="0"/>
              </a:rPr>
              <a:t> </a:t>
            </a:r>
            <a:r>
              <a:rPr lang="en-US" sz="2400" dirty="0" err="1">
                <a:latin typeface="Times New Roman" pitchFamily="18" charset="0"/>
              </a:rPr>
              <a:t>quan</a:t>
            </a:r>
            <a:r>
              <a:rPr lang="en-US" sz="2400" dirty="0">
                <a:latin typeface="Times New Roman" pitchFamily="18" charset="0"/>
              </a:rPr>
              <a:t> </a:t>
            </a:r>
            <a:r>
              <a:rPr lang="en-US" sz="2400" dirty="0" err="1">
                <a:latin typeface="Times New Roman" pitchFamily="18" charset="0"/>
              </a:rPr>
              <a:t>sát</a:t>
            </a:r>
            <a:r>
              <a:rPr lang="en-US" sz="2400" dirty="0">
                <a:latin typeface="Times New Roman" pitchFamily="18" charset="0"/>
              </a:rPr>
              <a:t> </a:t>
            </a:r>
            <a:r>
              <a:rPr lang="en-US" sz="2400" dirty="0" err="1">
                <a:latin typeface="Times New Roman" pitchFamily="18" charset="0"/>
              </a:rPr>
              <a:t>thấy</a:t>
            </a:r>
            <a:r>
              <a:rPr lang="en-US" sz="2400" dirty="0">
                <a:latin typeface="Times New Roman" pitchFamily="18" charset="0"/>
              </a:rPr>
              <a:t> </a:t>
            </a:r>
            <a:r>
              <a:rPr lang="en-US" sz="2400" dirty="0" err="1">
                <a:latin typeface="Times New Roman" pitchFamily="18" charset="0"/>
              </a:rPr>
              <a:t>giao</a:t>
            </a:r>
            <a:r>
              <a:rPr lang="en-US" sz="2400" dirty="0">
                <a:latin typeface="Times New Roman" pitchFamily="18" charset="0"/>
              </a:rPr>
              <a:t> </a:t>
            </a:r>
            <a:r>
              <a:rPr lang="en-US" sz="2400" dirty="0" err="1">
                <a:latin typeface="Times New Roman" pitchFamily="18" charset="0"/>
              </a:rPr>
              <a:t>thoa</a:t>
            </a:r>
            <a:r>
              <a:rPr lang="en-US" sz="2400" dirty="0">
                <a:latin typeface="Times New Roman" pitchFamily="18" charset="0"/>
              </a:rPr>
              <a:t>.</a:t>
            </a:r>
          </a:p>
        </p:txBody>
      </p:sp>
      <p:graphicFrame>
        <p:nvGraphicFramePr>
          <p:cNvPr id="15" name="Object 14"/>
          <p:cNvGraphicFramePr>
            <a:graphicFrameLocks noChangeAspect="1"/>
          </p:cNvGraphicFramePr>
          <p:nvPr>
            <p:extLst>
              <p:ext uri="{D42A27DB-BD31-4B8C-83A1-F6EECF244321}">
                <p14:modId xmlns:p14="http://schemas.microsoft.com/office/powerpoint/2010/main" val="356599398"/>
              </p:ext>
            </p:extLst>
          </p:nvPr>
        </p:nvGraphicFramePr>
        <p:xfrm>
          <a:off x="1596517" y="3276600"/>
          <a:ext cx="2400300" cy="754063"/>
        </p:xfrm>
        <a:graphic>
          <a:graphicData uri="http://schemas.openxmlformats.org/presentationml/2006/ole">
            <mc:AlternateContent xmlns:mc="http://schemas.openxmlformats.org/markup-compatibility/2006">
              <mc:Choice xmlns:v="urn:schemas-microsoft-com:vml" Requires="v">
                <p:oleObj spid="_x0000_s9551" name="Equation" r:id="rId3" imgW="1244520" imgH="393480" progId="Equation.3">
                  <p:embed/>
                </p:oleObj>
              </mc:Choice>
              <mc:Fallback>
                <p:oleObj name="Equation" r:id="rId3" imgW="1244520" imgH="393480" progId="Equation.3">
                  <p:embed/>
                  <p:pic>
                    <p:nvPicPr>
                      <p:cNvPr id="0" name="Object 9"/>
                      <p:cNvPicPr>
                        <a:picLocks noChangeAspect="1" noChangeArrowheads="1"/>
                      </p:cNvPicPr>
                      <p:nvPr/>
                    </p:nvPicPr>
                    <p:blipFill>
                      <a:blip r:embed="rId4"/>
                      <a:srcRect/>
                      <a:stretch>
                        <a:fillRect/>
                      </a:stretch>
                    </p:blipFill>
                    <p:spPr bwMode="auto">
                      <a:xfrm>
                        <a:off x="1596517" y="3276600"/>
                        <a:ext cx="2400300" cy="75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Rectangle 15"/>
          <p:cNvSpPr/>
          <p:nvPr/>
        </p:nvSpPr>
        <p:spPr>
          <a:xfrm>
            <a:off x="76200" y="4415135"/>
            <a:ext cx="6753788" cy="461665"/>
          </a:xfrm>
          <a:prstGeom prst="rect">
            <a:avLst/>
          </a:prstGeom>
        </p:spPr>
        <p:txBody>
          <a:bodyPr wrap="square">
            <a:spAutoFit/>
          </a:bodyPr>
          <a:lstStyle/>
          <a:p>
            <a:r>
              <a:rPr lang="en-US" sz="2400" dirty="0" err="1">
                <a:latin typeface="Times New Roman" pitchFamily="18" charset="0"/>
              </a:rPr>
              <a:t>Điều</a:t>
            </a:r>
            <a:r>
              <a:rPr lang="en-US" sz="2400" dirty="0">
                <a:latin typeface="Times New Roman" pitchFamily="18" charset="0"/>
              </a:rPr>
              <a:t> </a:t>
            </a:r>
            <a:r>
              <a:rPr lang="en-US" sz="2400" dirty="0" err="1">
                <a:latin typeface="Times New Roman" pitchFamily="18" charset="0"/>
              </a:rPr>
              <a:t>kiện</a:t>
            </a:r>
            <a:r>
              <a:rPr lang="en-US" sz="2400" dirty="0">
                <a:latin typeface="Times New Roman" pitchFamily="18" charset="0"/>
              </a:rPr>
              <a:t> </a:t>
            </a:r>
            <a:r>
              <a:rPr lang="en-US" sz="2400" dirty="0" err="1">
                <a:latin typeface="Times New Roman" pitchFamily="18" charset="0"/>
              </a:rPr>
              <a:t>cực</a:t>
            </a:r>
            <a:r>
              <a:rPr lang="en-US" sz="2400" dirty="0">
                <a:latin typeface="Times New Roman" pitchFamily="18" charset="0"/>
              </a:rPr>
              <a:t> </a:t>
            </a:r>
            <a:r>
              <a:rPr lang="en-US" sz="2400" dirty="0" err="1">
                <a:latin typeface="Times New Roman" pitchFamily="18" charset="0"/>
              </a:rPr>
              <a:t>tiểu</a:t>
            </a:r>
            <a:r>
              <a:rPr lang="en-US" sz="2400" dirty="0">
                <a:latin typeface="Times New Roman" pitchFamily="18" charset="0"/>
              </a:rPr>
              <a:t> </a:t>
            </a:r>
            <a:r>
              <a:rPr lang="en-US" sz="2400" dirty="0" err="1">
                <a:latin typeface="Times New Roman" pitchFamily="18" charset="0"/>
              </a:rPr>
              <a:t>giao</a:t>
            </a:r>
            <a:r>
              <a:rPr lang="en-US" sz="2400" dirty="0">
                <a:latin typeface="Times New Roman" pitchFamily="18" charset="0"/>
              </a:rPr>
              <a:t> </a:t>
            </a:r>
            <a:r>
              <a:rPr lang="en-US" sz="2400" dirty="0" err="1">
                <a:latin typeface="Times New Roman" pitchFamily="18" charset="0"/>
              </a:rPr>
              <a:t>thoa</a:t>
            </a:r>
            <a:r>
              <a:rPr lang="en-US" sz="2400" dirty="0">
                <a:latin typeface="Times New Roman" pitchFamily="18" charset="0"/>
              </a:rPr>
              <a:t>:</a:t>
            </a:r>
          </a:p>
        </p:txBody>
      </p:sp>
      <p:graphicFrame>
        <p:nvGraphicFramePr>
          <p:cNvPr id="17" name="Object 16"/>
          <p:cNvGraphicFramePr>
            <a:graphicFrameLocks noChangeAspect="1"/>
          </p:cNvGraphicFramePr>
          <p:nvPr>
            <p:extLst>
              <p:ext uri="{D42A27DB-BD31-4B8C-83A1-F6EECF244321}">
                <p14:modId xmlns:p14="http://schemas.microsoft.com/office/powerpoint/2010/main" val="2351624128"/>
              </p:ext>
            </p:extLst>
          </p:nvPr>
        </p:nvGraphicFramePr>
        <p:xfrm>
          <a:off x="846138" y="4951413"/>
          <a:ext cx="3463925" cy="687387"/>
        </p:xfrm>
        <a:graphic>
          <a:graphicData uri="http://schemas.openxmlformats.org/presentationml/2006/ole">
            <mc:AlternateContent xmlns:mc="http://schemas.openxmlformats.org/markup-compatibility/2006">
              <mc:Choice xmlns:v="urn:schemas-microsoft-com:vml" Requires="v">
                <p:oleObj spid="_x0000_s9552" name="Equation" r:id="rId5" imgW="1968480" imgH="393480" progId="Equation.3">
                  <p:embed/>
                </p:oleObj>
              </mc:Choice>
              <mc:Fallback>
                <p:oleObj name="Equation" r:id="rId5" imgW="1968480" imgH="393480" progId="Equation.3">
                  <p:embed/>
                  <p:pic>
                    <p:nvPicPr>
                      <p:cNvPr id="0" name="Object 10"/>
                      <p:cNvPicPr>
                        <a:picLocks noChangeAspect="1" noChangeArrowheads="1"/>
                      </p:cNvPicPr>
                      <p:nvPr/>
                    </p:nvPicPr>
                    <p:blipFill>
                      <a:blip r:embed="rId6"/>
                      <a:srcRect/>
                      <a:stretch>
                        <a:fillRect/>
                      </a:stretch>
                    </p:blipFill>
                    <p:spPr bwMode="auto">
                      <a:xfrm>
                        <a:off x="846138" y="4951413"/>
                        <a:ext cx="3463925" cy="687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Object 18"/>
          <p:cNvGraphicFramePr>
            <a:graphicFrameLocks noChangeAspect="1"/>
          </p:cNvGraphicFramePr>
          <p:nvPr>
            <p:extLst>
              <p:ext uri="{D42A27DB-BD31-4B8C-83A1-F6EECF244321}">
                <p14:modId xmlns:p14="http://schemas.microsoft.com/office/powerpoint/2010/main" val="2186381496"/>
              </p:ext>
            </p:extLst>
          </p:nvPr>
        </p:nvGraphicFramePr>
        <p:xfrm>
          <a:off x="990600" y="5715000"/>
          <a:ext cx="3352800" cy="831850"/>
        </p:xfrm>
        <a:graphic>
          <a:graphicData uri="http://schemas.openxmlformats.org/presentationml/2006/ole">
            <mc:AlternateContent xmlns:mc="http://schemas.openxmlformats.org/markup-compatibility/2006">
              <mc:Choice xmlns:v="urn:schemas-microsoft-com:vml" Requires="v">
                <p:oleObj spid="_x0000_s9553" name="Equation" r:id="rId7" imgW="1676160" imgH="431640" progId="Equation.3">
                  <p:embed/>
                </p:oleObj>
              </mc:Choice>
              <mc:Fallback>
                <p:oleObj name="Equation" r:id="rId7" imgW="1676160" imgH="431640" progId="Equation.3">
                  <p:embed/>
                  <p:pic>
                    <p:nvPicPr>
                      <p:cNvPr id="0" name="Object 5"/>
                      <p:cNvPicPr>
                        <a:picLocks noChangeAspect="1" noChangeArrowheads="1"/>
                      </p:cNvPicPr>
                      <p:nvPr/>
                    </p:nvPicPr>
                    <p:blipFill>
                      <a:blip r:embed="rId8"/>
                      <a:srcRect/>
                      <a:stretch>
                        <a:fillRect/>
                      </a:stretch>
                    </p:blipFill>
                    <p:spPr bwMode="auto">
                      <a:xfrm>
                        <a:off x="990600" y="5715000"/>
                        <a:ext cx="33528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6" name="Picture 5"/>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557661" y="2214084"/>
            <a:ext cx="3600953" cy="2591162"/>
          </a:xfrm>
          <a:prstGeom prst="rect">
            <a:avLst/>
          </a:prstGeom>
        </p:spPr>
      </p:pic>
    </p:spTree>
    <p:extLst>
      <p:ext uri="{BB962C8B-B14F-4D97-AF65-F5344CB8AC3E}">
        <p14:creationId xmlns:p14="http://schemas.microsoft.com/office/powerpoint/2010/main" val="879839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down)">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down)">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down)">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wipe(down)">
                                      <p:cBhvr>
                                        <p:cTn id="3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3" grpId="0"/>
      <p:bldP spid="1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 y="0"/>
            <a:ext cx="8915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0"/>
            <a:ext cx="89154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§2. GIAO THOA ÁNH SÁNG</a:t>
            </a:r>
          </a:p>
        </p:txBody>
      </p:sp>
      <p:sp>
        <p:nvSpPr>
          <p:cNvPr id="6" name="Rectangle 5"/>
          <p:cNvSpPr/>
          <p:nvPr/>
        </p:nvSpPr>
        <p:spPr>
          <a:xfrm>
            <a:off x="76201" y="685800"/>
            <a:ext cx="6753788" cy="461665"/>
          </a:xfrm>
          <a:prstGeom prst="rect">
            <a:avLst/>
          </a:prstGeom>
        </p:spPr>
        <p:txBody>
          <a:bodyPr wrap="square">
            <a:spAutoFit/>
          </a:bodyPr>
          <a:lstStyle/>
          <a:p>
            <a:r>
              <a:rPr lang="en-US" sz="2400" dirty="0" err="1">
                <a:latin typeface="Times New Roman" pitchFamily="18" charset="0"/>
              </a:rPr>
              <a:t>Điều</a:t>
            </a:r>
            <a:r>
              <a:rPr lang="en-US" sz="2400" dirty="0">
                <a:latin typeface="Times New Roman" pitchFamily="18" charset="0"/>
              </a:rPr>
              <a:t> </a:t>
            </a:r>
            <a:r>
              <a:rPr lang="en-US" sz="2400" dirty="0" err="1">
                <a:latin typeface="Times New Roman" pitchFamily="18" charset="0"/>
              </a:rPr>
              <a:t>kiện</a:t>
            </a:r>
            <a:r>
              <a:rPr lang="en-US" sz="2400" dirty="0">
                <a:latin typeface="Times New Roman" pitchFamily="18" charset="0"/>
              </a:rPr>
              <a:t> </a:t>
            </a:r>
            <a:r>
              <a:rPr lang="en-US" sz="2400" dirty="0" err="1">
                <a:latin typeface="Times New Roman" pitchFamily="18" charset="0"/>
              </a:rPr>
              <a:t>cực</a:t>
            </a:r>
            <a:r>
              <a:rPr lang="en-US" sz="2400" dirty="0">
                <a:latin typeface="Times New Roman" pitchFamily="18" charset="0"/>
              </a:rPr>
              <a:t> </a:t>
            </a:r>
            <a:r>
              <a:rPr lang="en-US" sz="2400" dirty="0" err="1">
                <a:latin typeface="Times New Roman" pitchFamily="18" charset="0"/>
              </a:rPr>
              <a:t>đại</a:t>
            </a:r>
            <a:r>
              <a:rPr lang="en-US" sz="2400" dirty="0">
                <a:latin typeface="Times New Roman" pitchFamily="18" charset="0"/>
              </a:rPr>
              <a:t> </a:t>
            </a:r>
            <a:r>
              <a:rPr lang="en-US" sz="2400" dirty="0" err="1">
                <a:latin typeface="Times New Roman" pitchFamily="18" charset="0"/>
              </a:rPr>
              <a:t>giao</a:t>
            </a:r>
            <a:r>
              <a:rPr lang="en-US" sz="2400" dirty="0">
                <a:latin typeface="Times New Roman" pitchFamily="18" charset="0"/>
              </a:rPr>
              <a:t> </a:t>
            </a:r>
            <a:r>
              <a:rPr lang="en-US" sz="2400" dirty="0" err="1">
                <a:latin typeface="Times New Roman" pitchFamily="18" charset="0"/>
              </a:rPr>
              <a:t>thoa</a:t>
            </a:r>
            <a:r>
              <a:rPr lang="en-US" sz="2400" dirty="0">
                <a:latin typeface="Times New Roman" pitchFamily="18" charset="0"/>
              </a:rPr>
              <a:t>:</a:t>
            </a:r>
          </a:p>
        </p:txBody>
      </p:sp>
      <p:graphicFrame>
        <p:nvGraphicFramePr>
          <p:cNvPr id="2" name="Object 1"/>
          <p:cNvGraphicFramePr>
            <a:graphicFrameLocks noChangeAspect="1"/>
          </p:cNvGraphicFramePr>
          <p:nvPr>
            <p:extLst>
              <p:ext uri="{D42A27DB-BD31-4B8C-83A1-F6EECF244321}">
                <p14:modId xmlns:p14="http://schemas.microsoft.com/office/powerpoint/2010/main" val="1085268554"/>
              </p:ext>
            </p:extLst>
          </p:nvPr>
        </p:nvGraphicFramePr>
        <p:xfrm>
          <a:off x="982663" y="1143000"/>
          <a:ext cx="3252787" cy="708025"/>
        </p:xfrm>
        <a:graphic>
          <a:graphicData uri="http://schemas.openxmlformats.org/presentationml/2006/ole">
            <mc:AlternateContent xmlns:mc="http://schemas.openxmlformats.org/markup-compatibility/2006">
              <mc:Choice xmlns:v="urn:schemas-microsoft-com:vml" Requires="v">
                <p:oleObj spid="_x0000_s10765" name="Equation" r:id="rId3" imgW="1790640" imgH="393480" progId="Equation.3">
                  <p:embed/>
                </p:oleObj>
              </mc:Choice>
              <mc:Fallback>
                <p:oleObj name="Equation" r:id="rId3" imgW="1790640" imgH="393480" progId="Equation.3">
                  <p:embed/>
                  <p:pic>
                    <p:nvPicPr>
                      <p:cNvPr id="0" name="Object 7"/>
                      <p:cNvPicPr>
                        <a:picLocks noChangeAspect="1" noChangeArrowheads="1"/>
                      </p:cNvPicPr>
                      <p:nvPr/>
                    </p:nvPicPr>
                    <p:blipFill>
                      <a:blip r:embed="rId4"/>
                      <a:srcRect/>
                      <a:stretch>
                        <a:fillRect/>
                      </a:stretch>
                    </p:blipFill>
                    <p:spPr bwMode="auto">
                      <a:xfrm>
                        <a:off x="982663" y="1143000"/>
                        <a:ext cx="325278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Object 2"/>
          <p:cNvGraphicFramePr>
            <a:graphicFrameLocks noChangeAspect="1"/>
          </p:cNvGraphicFramePr>
          <p:nvPr>
            <p:extLst>
              <p:ext uri="{D42A27DB-BD31-4B8C-83A1-F6EECF244321}">
                <p14:modId xmlns:p14="http://schemas.microsoft.com/office/powerpoint/2010/main" val="2097782114"/>
              </p:ext>
            </p:extLst>
          </p:nvPr>
        </p:nvGraphicFramePr>
        <p:xfrm>
          <a:off x="762000" y="1981200"/>
          <a:ext cx="3498850" cy="754062"/>
        </p:xfrm>
        <a:graphic>
          <a:graphicData uri="http://schemas.openxmlformats.org/presentationml/2006/ole">
            <mc:AlternateContent xmlns:mc="http://schemas.openxmlformats.org/markup-compatibility/2006">
              <mc:Choice xmlns:v="urn:schemas-microsoft-com:vml" Requires="v">
                <p:oleObj spid="_x0000_s10766" name="Equation" r:id="rId5" imgW="1993680" imgH="431640" progId="Equation.3">
                  <p:embed/>
                </p:oleObj>
              </mc:Choice>
              <mc:Fallback>
                <p:oleObj name="Equation" r:id="rId5" imgW="1993680" imgH="431640" progId="Equation.3">
                  <p:embed/>
                  <p:pic>
                    <p:nvPicPr>
                      <p:cNvPr id="0" name="Object 9"/>
                      <p:cNvPicPr>
                        <a:picLocks noChangeAspect="1" noChangeArrowheads="1"/>
                      </p:cNvPicPr>
                      <p:nvPr/>
                    </p:nvPicPr>
                    <p:blipFill>
                      <a:blip r:embed="rId6"/>
                      <a:srcRect/>
                      <a:stretch>
                        <a:fillRect/>
                      </a:stretch>
                    </p:blipFill>
                    <p:spPr bwMode="auto">
                      <a:xfrm>
                        <a:off x="762000" y="1981200"/>
                        <a:ext cx="3498850" cy="75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8"/>
          <p:cNvSpPr/>
          <p:nvPr/>
        </p:nvSpPr>
        <p:spPr>
          <a:xfrm>
            <a:off x="88558" y="2840613"/>
            <a:ext cx="6753788" cy="461665"/>
          </a:xfrm>
          <a:prstGeom prst="rect">
            <a:avLst/>
          </a:prstGeom>
        </p:spPr>
        <p:txBody>
          <a:bodyPr wrap="square">
            <a:spAutoFit/>
          </a:bodyPr>
          <a:lstStyle/>
          <a:p>
            <a:r>
              <a:rPr lang="en-US" sz="2400" dirty="0" err="1">
                <a:latin typeface="Times New Roman" pitchFamily="18" charset="0"/>
              </a:rPr>
              <a:t>Bán</a:t>
            </a:r>
            <a:r>
              <a:rPr lang="en-US" sz="2400" dirty="0">
                <a:latin typeface="Times New Roman" pitchFamily="18" charset="0"/>
              </a:rPr>
              <a:t> </a:t>
            </a:r>
            <a:r>
              <a:rPr lang="en-US" sz="2400" dirty="0" err="1">
                <a:latin typeface="Times New Roman" pitchFamily="18" charset="0"/>
              </a:rPr>
              <a:t>kính</a:t>
            </a:r>
            <a:r>
              <a:rPr lang="en-US" sz="2400" dirty="0">
                <a:latin typeface="Times New Roman" pitchFamily="18" charset="0"/>
              </a:rPr>
              <a:t> </a:t>
            </a:r>
            <a:r>
              <a:rPr lang="en-US" sz="2400" dirty="0" err="1">
                <a:latin typeface="Times New Roman" pitchFamily="18" charset="0"/>
              </a:rPr>
              <a:t>vân</a:t>
            </a:r>
            <a:r>
              <a:rPr lang="en-US" sz="2400" dirty="0">
                <a:latin typeface="Times New Roman" pitchFamily="18" charset="0"/>
              </a:rPr>
              <a:t> </a:t>
            </a:r>
            <a:r>
              <a:rPr lang="en-US" sz="2400" dirty="0" err="1">
                <a:latin typeface="Times New Roman" pitchFamily="18" charset="0"/>
              </a:rPr>
              <a:t>giao</a:t>
            </a:r>
            <a:r>
              <a:rPr lang="en-US" sz="2400" dirty="0">
                <a:latin typeface="Times New Roman" pitchFamily="18" charset="0"/>
              </a:rPr>
              <a:t> </a:t>
            </a:r>
            <a:r>
              <a:rPr lang="en-US" sz="2400" dirty="0" err="1">
                <a:latin typeface="Times New Roman" pitchFamily="18" charset="0"/>
              </a:rPr>
              <a:t>thoa</a:t>
            </a:r>
            <a:r>
              <a:rPr lang="en-US" sz="2400" dirty="0">
                <a:latin typeface="Times New Roman" pitchFamily="18" charset="0"/>
              </a:rPr>
              <a:t>:</a:t>
            </a:r>
          </a:p>
        </p:txBody>
      </p:sp>
      <p:graphicFrame>
        <p:nvGraphicFramePr>
          <p:cNvPr id="10" name="Object 9"/>
          <p:cNvGraphicFramePr>
            <a:graphicFrameLocks noChangeAspect="1"/>
          </p:cNvGraphicFramePr>
          <p:nvPr>
            <p:extLst>
              <p:ext uri="{D42A27DB-BD31-4B8C-83A1-F6EECF244321}">
                <p14:modId xmlns:p14="http://schemas.microsoft.com/office/powerpoint/2010/main" val="1788656162"/>
              </p:ext>
            </p:extLst>
          </p:nvPr>
        </p:nvGraphicFramePr>
        <p:xfrm>
          <a:off x="193675" y="3636963"/>
          <a:ext cx="5838825" cy="420687"/>
        </p:xfrm>
        <a:graphic>
          <a:graphicData uri="http://schemas.openxmlformats.org/presentationml/2006/ole">
            <mc:AlternateContent xmlns:mc="http://schemas.openxmlformats.org/markup-compatibility/2006">
              <mc:Choice xmlns:v="urn:schemas-microsoft-com:vml" Requires="v">
                <p:oleObj spid="_x0000_s10767" name="Equation" r:id="rId7" imgW="3327120" imgH="241200" progId="Equation.3">
                  <p:embed/>
                </p:oleObj>
              </mc:Choice>
              <mc:Fallback>
                <p:oleObj name="Equation" r:id="rId7" imgW="3327120" imgH="241200" progId="Equation.3">
                  <p:embed/>
                  <p:pic>
                    <p:nvPicPr>
                      <p:cNvPr id="0" name="Object 2"/>
                      <p:cNvPicPr>
                        <a:picLocks noChangeAspect="1" noChangeArrowheads="1"/>
                      </p:cNvPicPr>
                      <p:nvPr/>
                    </p:nvPicPr>
                    <p:blipFill>
                      <a:blip r:embed="rId8"/>
                      <a:srcRect/>
                      <a:stretch>
                        <a:fillRect/>
                      </a:stretch>
                    </p:blipFill>
                    <p:spPr bwMode="auto">
                      <a:xfrm>
                        <a:off x="193675" y="3636963"/>
                        <a:ext cx="5838825"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Rectangle 10"/>
          <p:cNvSpPr/>
          <p:nvPr/>
        </p:nvSpPr>
        <p:spPr>
          <a:xfrm>
            <a:off x="76200" y="4110335"/>
            <a:ext cx="6753788" cy="461665"/>
          </a:xfrm>
          <a:prstGeom prst="rect">
            <a:avLst/>
          </a:prstGeom>
        </p:spPr>
        <p:txBody>
          <a:bodyPr wrap="square">
            <a:spAutoFit/>
          </a:bodyPr>
          <a:lstStyle/>
          <a:p>
            <a:r>
              <a:rPr lang="en-US" sz="2400" dirty="0" err="1">
                <a:latin typeface="Times New Roman" pitchFamily="18" charset="0"/>
              </a:rPr>
              <a:t>Bán</a:t>
            </a:r>
            <a:r>
              <a:rPr lang="en-US" sz="2400" dirty="0">
                <a:latin typeface="Times New Roman" pitchFamily="18" charset="0"/>
              </a:rPr>
              <a:t> </a:t>
            </a:r>
            <a:r>
              <a:rPr lang="en-US" sz="2400" dirty="0" err="1">
                <a:latin typeface="Times New Roman" pitchFamily="18" charset="0"/>
              </a:rPr>
              <a:t>kính</a:t>
            </a:r>
            <a:r>
              <a:rPr lang="en-US" sz="2400" dirty="0">
                <a:latin typeface="Times New Roman" pitchFamily="18" charset="0"/>
              </a:rPr>
              <a:t> </a:t>
            </a:r>
            <a:r>
              <a:rPr lang="en-US" sz="2400" dirty="0" err="1">
                <a:latin typeface="Times New Roman" pitchFamily="18" charset="0"/>
              </a:rPr>
              <a:t>vân</a:t>
            </a:r>
            <a:r>
              <a:rPr lang="en-US" sz="2400" dirty="0">
                <a:latin typeface="Times New Roman" pitchFamily="18" charset="0"/>
              </a:rPr>
              <a:t> </a:t>
            </a:r>
            <a:r>
              <a:rPr lang="en-US" sz="2400" dirty="0" err="1">
                <a:latin typeface="Times New Roman" pitchFamily="18" charset="0"/>
              </a:rPr>
              <a:t>tối</a:t>
            </a:r>
            <a:r>
              <a:rPr lang="en-US" sz="2400" dirty="0">
                <a:latin typeface="Times New Roman" pitchFamily="18" charset="0"/>
              </a:rPr>
              <a:t> </a:t>
            </a:r>
            <a:r>
              <a:rPr lang="en-US" sz="2400" dirty="0" err="1">
                <a:latin typeface="Times New Roman" pitchFamily="18" charset="0"/>
              </a:rPr>
              <a:t>giao</a:t>
            </a:r>
            <a:r>
              <a:rPr lang="en-US" sz="2400" dirty="0">
                <a:latin typeface="Times New Roman" pitchFamily="18" charset="0"/>
              </a:rPr>
              <a:t> </a:t>
            </a:r>
            <a:r>
              <a:rPr lang="en-US" sz="2400" dirty="0" err="1">
                <a:latin typeface="Times New Roman" pitchFamily="18" charset="0"/>
              </a:rPr>
              <a:t>thoa</a:t>
            </a:r>
            <a:r>
              <a:rPr lang="en-US" sz="2400" dirty="0">
                <a:latin typeface="Times New Roman" pitchFamily="18" charset="0"/>
              </a:rPr>
              <a:t>:</a:t>
            </a:r>
          </a:p>
        </p:txBody>
      </p:sp>
      <p:graphicFrame>
        <p:nvGraphicFramePr>
          <p:cNvPr id="14" name="Object 13"/>
          <p:cNvGraphicFramePr>
            <a:graphicFrameLocks noChangeAspect="1"/>
          </p:cNvGraphicFramePr>
          <p:nvPr>
            <p:extLst>
              <p:ext uri="{D42A27DB-BD31-4B8C-83A1-F6EECF244321}">
                <p14:modId xmlns:p14="http://schemas.microsoft.com/office/powerpoint/2010/main" val="3041263014"/>
              </p:ext>
            </p:extLst>
          </p:nvPr>
        </p:nvGraphicFramePr>
        <p:xfrm>
          <a:off x="1143000" y="4735513"/>
          <a:ext cx="3876675" cy="398462"/>
        </p:xfrm>
        <a:graphic>
          <a:graphicData uri="http://schemas.openxmlformats.org/presentationml/2006/ole">
            <mc:AlternateContent xmlns:mc="http://schemas.openxmlformats.org/markup-compatibility/2006">
              <mc:Choice xmlns:v="urn:schemas-microsoft-com:vml" Requires="v">
                <p:oleObj spid="_x0000_s10768" name="Equation" r:id="rId9" imgW="2209680" imgH="228600" progId="Equation.3">
                  <p:embed/>
                </p:oleObj>
              </mc:Choice>
              <mc:Fallback>
                <p:oleObj name="Equation" r:id="rId9" imgW="2209680" imgH="228600" progId="Equation.3">
                  <p:embed/>
                  <p:pic>
                    <p:nvPicPr>
                      <p:cNvPr id="0" name="Object 11"/>
                      <p:cNvPicPr>
                        <a:picLocks noChangeAspect="1" noChangeArrowheads="1"/>
                      </p:cNvPicPr>
                      <p:nvPr/>
                    </p:nvPicPr>
                    <p:blipFill>
                      <a:blip r:embed="rId10"/>
                      <a:srcRect/>
                      <a:stretch>
                        <a:fillRect/>
                      </a:stretch>
                    </p:blipFill>
                    <p:spPr bwMode="auto">
                      <a:xfrm>
                        <a:off x="1143000" y="4735513"/>
                        <a:ext cx="3876675"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2" name="Picture 11"/>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628806" y="1150093"/>
            <a:ext cx="3362794" cy="4944165"/>
          </a:xfrm>
          <a:prstGeom prst="rect">
            <a:avLst/>
          </a:prstGeom>
        </p:spPr>
      </p:pic>
      <p:graphicFrame>
        <p:nvGraphicFramePr>
          <p:cNvPr id="8" name="Object 7"/>
          <p:cNvGraphicFramePr>
            <a:graphicFrameLocks noChangeAspect="1"/>
          </p:cNvGraphicFramePr>
          <p:nvPr>
            <p:extLst>
              <p:ext uri="{D42A27DB-BD31-4B8C-83A1-F6EECF244321}">
                <p14:modId xmlns:p14="http://schemas.microsoft.com/office/powerpoint/2010/main" val="3315343911"/>
              </p:ext>
            </p:extLst>
          </p:nvPr>
        </p:nvGraphicFramePr>
        <p:xfrm>
          <a:off x="1512888" y="5295900"/>
          <a:ext cx="2562225" cy="419100"/>
        </p:xfrm>
        <a:graphic>
          <a:graphicData uri="http://schemas.openxmlformats.org/presentationml/2006/ole">
            <mc:AlternateContent xmlns:mc="http://schemas.openxmlformats.org/markup-compatibility/2006">
              <mc:Choice xmlns:v="urn:schemas-microsoft-com:vml" Requires="v">
                <p:oleObj spid="_x0000_s10769" name="Equation" r:id="rId12" imgW="1460160" imgH="241200" progId="Equation.3">
                  <p:embed/>
                </p:oleObj>
              </mc:Choice>
              <mc:Fallback>
                <p:oleObj name="Equation" r:id="rId12" imgW="1460160" imgH="241200" progId="Equation.3">
                  <p:embed/>
                  <p:pic>
                    <p:nvPicPr>
                      <p:cNvPr id="0" name="Object 13"/>
                      <p:cNvPicPr>
                        <a:picLocks noChangeAspect="1" noChangeArrowheads="1"/>
                      </p:cNvPicPr>
                      <p:nvPr/>
                    </p:nvPicPr>
                    <p:blipFill>
                      <a:blip r:embed="rId13"/>
                      <a:srcRect/>
                      <a:stretch>
                        <a:fillRect/>
                      </a:stretch>
                    </p:blipFill>
                    <p:spPr bwMode="auto">
                      <a:xfrm>
                        <a:off x="1512888" y="5295900"/>
                        <a:ext cx="256222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879839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down)">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down)">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down)">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down)">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down)">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wipe(down)">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wipe(down)">
                                      <p:cBhvr>
                                        <p:cTn id="4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 y="0"/>
            <a:ext cx="8915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0"/>
            <a:ext cx="89154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VÍ DỤ</a:t>
            </a:r>
          </a:p>
        </p:txBody>
      </p:sp>
      <p:sp>
        <p:nvSpPr>
          <p:cNvPr id="2" name="Rectangle 1"/>
          <p:cNvSpPr/>
          <p:nvPr/>
        </p:nvSpPr>
        <p:spPr>
          <a:xfrm>
            <a:off x="0" y="685800"/>
            <a:ext cx="9067800" cy="1938992"/>
          </a:xfrm>
          <a:prstGeom prst="rect">
            <a:avLst/>
          </a:prstGeom>
        </p:spPr>
        <p:txBody>
          <a:bodyPr wrap="square">
            <a:spAutoFit/>
          </a:bodyPr>
          <a:lstStyle/>
          <a:p>
            <a:r>
              <a:rPr lang="de-DE" sz="2000" dirty="0">
                <a:latin typeface="Times New Roman" pitchFamily="18" charset="0"/>
                <a:cs typeface="Times New Roman" pitchFamily="18" charset="0"/>
              </a:rPr>
              <a:t>Ví dụ 1.Hai khe Young cách nhau </a:t>
            </a:r>
            <a:r>
              <a:rPr lang="de-DE" sz="2000" i="1" dirty="0">
                <a:latin typeface="Times New Roman" pitchFamily="18" charset="0"/>
                <a:cs typeface="Times New Roman" pitchFamily="18" charset="0"/>
              </a:rPr>
              <a:t>l</a:t>
            </a:r>
            <a:r>
              <a:rPr lang="de-DE" sz="2000" dirty="0">
                <a:latin typeface="Times New Roman" pitchFamily="18" charset="0"/>
                <a:cs typeface="Times New Roman" pitchFamily="18" charset="0"/>
              </a:rPr>
              <a:t> = 2mm, được chiếu bằng ánh sáng đơn sắc có bước sóng </a:t>
            </a:r>
            <a:r>
              <a:rPr lang="nl-NL" sz="2000" dirty="0">
                <a:latin typeface="Times New Roman" pitchFamily="18" charset="0"/>
                <a:cs typeface="Times New Roman" pitchFamily="18" charset="0"/>
                <a:sym typeface="Symbol"/>
              </a:rPr>
              <a:t></a:t>
            </a:r>
            <a:r>
              <a:rPr lang="fr-FR" sz="2000" dirty="0">
                <a:latin typeface="Times New Roman" pitchFamily="18" charset="0"/>
                <a:cs typeface="Times New Roman" pitchFamily="18" charset="0"/>
              </a:rPr>
              <a:t> = 0,6</a:t>
            </a:r>
            <a:r>
              <a:rPr lang="nl-NL" sz="2000" dirty="0">
                <a:latin typeface="Times New Roman" pitchFamily="18" charset="0"/>
                <a:cs typeface="Times New Roman" pitchFamily="18" charset="0"/>
                <a:sym typeface="Symbol"/>
              </a:rPr>
              <a:t></a:t>
            </a:r>
            <a:r>
              <a:rPr lang="fr-FR" sz="2000" dirty="0">
                <a:latin typeface="Times New Roman" pitchFamily="18" charset="0"/>
                <a:cs typeface="Times New Roman" pitchFamily="18" charset="0"/>
              </a:rPr>
              <a:t>m. </a:t>
            </a:r>
            <a:r>
              <a:rPr lang="fr-FR" sz="2000" dirty="0" err="1">
                <a:latin typeface="Times New Roman" pitchFamily="18" charset="0"/>
                <a:cs typeface="Times New Roman" pitchFamily="18" charset="0"/>
              </a:rPr>
              <a:t>Màn</a:t>
            </a:r>
            <a:r>
              <a:rPr lang="fr-FR" sz="2000" dirty="0">
                <a:latin typeface="Times New Roman" pitchFamily="18" charset="0"/>
                <a:cs typeface="Times New Roman" pitchFamily="18" charset="0"/>
              </a:rPr>
              <a:t> </a:t>
            </a:r>
            <a:r>
              <a:rPr lang="fr-FR" sz="2000" dirty="0" err="1">
                <a:latin typeface="Times New Roman" pitchFamily="18" charset="0"/>
                <a:cs typeface="Times New Roman" pitchFamily="18" charset="0"/>
              </a:rPr>
              <a:t>quan</a:t>
            </a:r>
            <a:r>
              <a:rPr lang="fr-FR" sz="2000" dirty="0">
                <a:latin typeface="Times New Roman" pitchFamily="18" charset="0"/>
                <a:cs typeface="Times New Roman" pitchFamily="18" charset="0"/>
              </a:rPr>
              <a:t> </a:t>
            </a:r>
            <a:r>
              <a:rPr lang="fr-FR" sz="2000" dirty="0" err="1">
                <a:latin typeface="Times New Roman" pitchFamily="18" charset="0"/>
                <a:cs typeface="Times New Roman" pitchFamily="18" charset="0"/>
              </a:rPr>
              <a:t>sát</a:t>
            </a:r>
            <a:r>
              <a:rPr lang="fr-FR" sz="2000" dirty="0">
                <a:latin typeface="Times New Roman" pitchFamily="18" charset="0"/>
                <a:cs typeface="Times New Roman" pitchFamily="18" charset="0"/>
              </a:rPr>
              <a:t> </a:t>
            </a:r>
            <a:r>
              <a:rPr lang="fr-FR" sz="2000" dirty="0" err="1">
                <a:latin typeface="Times New Roman" pitchFamily="18" charset="0"/>
                <a:cs typeface="Times New Roman" pitchFamily="18" charset="0"/>
              </a:rPr>
              <a:t>được</a:t>
            </a:r>
            <a:r>
              <a:rPr lang="fr-FR" sz="2000" dirty="0">
                <a:latin typeface="Times New Roman" pitchFamily="18" charset="0"/>
                <a:cs typeface="Times New Roman" pitchFamily="18" charset="0"/>
              </a:rPr>
              <a:t> </a:t>
            </a:r>
            <a:r>
              <a:rPr lang="fr-FR" sz="2000" dirty="0" err="1">
                <a:latin typeface="Times New Roman" pitchFamily="18" charset="0"/>
                <a:cs typeface="Times New Roman" pitchFamily="18" charset="0"/>
              </a:rPr>
              <a:t>đặt</a:t>
            </a:r>
            <a:r>
              <a:rPr lang="fr-FR" sz="2000" dirty="0">
                <a:latin typeface="Times New Roman" pitchFamily="18" charset="0"/>
                <a:cs typeface="Times New Roman" pitchFamily="18" charset="0"/>
              </a:rPr>
              <a:t> </a:t>
            </a:r>
            <a:r>
              <a:rPr lang="fr-FR" sz="2000" dirty="0" err="1">
                <a:latin typeface="Times New Roman" pitchFamily="18" charset="0"/>
                <a:cs typeface="Times New Roman" pitchFamily="18" charset="0"/>
              </a:rPr>
              <a:t>cách</a:t>
            </a:r>
            <a:r>
              <a:rPr lang="fr-FR" sz="2000" dirty="0">
                <a:latin typeface="Times New Roman" pitchFamily="18" charset="0"/>
                <a:cs typeface="Times New Roman" pitchFamily="18" charset="0"/>
              </a:rPr>
              <a:t> </a:t>
            </a:r>
            <a:r>
              <a:rPr lang="fr-FR" sz="2000" dirty="0" err="1">
                <a:latin typeface="Times New Roman" pitchFamily="18" charset="0"/>
                <a:cs typeface="Times New Roman" pitchFamily="18" charset="0"/>
              </a:rPr>
              <a:t>mặt</a:t>
            </a:r>
            <a:r>
              <a:rPr lang="fr-FR" sz="2000" dirty="0">
                <a:latin typeface="Times New Roman" pitchFamily="18" charset="0"/>
                <a:cs typeface="Times New Roman" pitchFamily="18" charset="0"/>
              </a:rPr>
              <a:t> </a:t>
            </a:r>
            <a:r>
              <a:rPr lang="fr-FR" sz="2000" dirty="0" err="1">
                <a:latin typeface="Times New Roman" pitchFamily="18" charset="0"/>
                <a:cs typeface="Times New Roman" pitchFamily="18" charset="0"/>
              </a:rPr>
              <a:t>phẳng</a:t>
            </a:r>
            <a:r>
              <a:rPr lang="fr-FR" sz="2000" dirty="0">
                <a:latin typeface="Times New Roman" pitchFamily="18" charset="0"/>
                <a:cs typeface="Times New Roman" pitchFamily="18" charset="0"/>
              </a:rPr>
              <a:t> </a:t>
            </a:r>
            <a:r>
              <a:rPr lang="fr-FR" sz="2000" dirty="0" err="1">
                <a:latin typeface="Times New Roman" pitchFamily="18" charset="0"/>
                <a:cs typeface="Times New Roman" pitchFamily="18" charset="0"/>
              </a:rPr>
              <a:t>chứa</a:t>
            </a:r>
            <a:r>
              <a:rPr lang="fr-FR" sz="2000" dirty="0">
                <a:latin typeface="Times New Roman" pitchFamily="18" charset="0"/>
                <a:cs typeface="Times New Roman" pitchFamily="18" charset="0"/>
              </a:rPr>
              <a:t> </a:t>
            </a:r>
            <a:r>
              <a:rPr lang="fr-FR" sz="2000" dirty="0" err="1">
                <a:latin typeface="Times New Roman" pitchFamily="18" charset="0"/>
                <a:cs typeface="Times New Roman" pitchFamily="18" charset="0"/>
              </a:rPr>
              <a:t>hai</a:t>
            </a:r>
            <a:r>
              <a:rPr lang="fr-FR" sz="2000" dirty="0">
                <a:latin typeface="Times New Roman" pitchFamily="18" charset="0"/>
                <a:cs typeface="Times New Roman" pitchFamily="18" charset="0"/>
              </a:rPr>
              <a:t> </a:t>
            </a:r>
            <a:r>
              <a:rPr lang="fr-FR" sz="2000" dirty="0" err="1">
                <a:latin typeface="Times New Roman" pitchFamily="18" charset="0"/>
                <a:cs typeface="Times New Roman" pitchFamily="18" charset="0"/>
              </a:rPr>
              <a:t>khe</a:t>
            </a:r>
            <a:r>
              <a:rPr lang="fr-FR" sz="2000" dirty="0">
                <a:latin typeface="Times New Roman" pitchFamily="18" charset="0"/>
                <a:cs typeface="Times New Roman" pitchFamily="18" charset="0"/>
              </a:rPr>
              <a:t> </a:t>
            </a:r>
            <a:r>
              <a:rPr lang="fr-FR" sz="2000" dirty="0" err="1">
                <a:latin typeface="Times New Roman" pitchFamily="18" charset="0"/>
                <a:cs typeface="Times New Roman" pitchFamily="18" charset="0"/>
              </a:rPr>
              <a:t>một</a:t>
            </a:r>
            <a:r>
              <a:rPr lang="fr-FR" sz="2000" dirty="0">
                <a:latin typeface="Times New Roman" pitchFamily="18" charset="0"/>
                <a:cs typeface="Times New Roman" pitchFamily="18" charset="0"/>
              </a:rPr>
              <a:t> </a:t>
            </a:r>
            <a:r>
              <a:rPr lang="fr-FR" sz="2000" dirty="0" err="1">
                <a:latin typeface="Times New Roman" pitchFamily="18" charset="0"/>
                <a:cs typeface="Times New Roman" pitchFamily="18" charset="0"/>
              </a:rPr>
              <a:t>đoạn</a:t>
            </a:r>
            <a:r>
              <a:rPr lang="fr-FR" sz="2000" dirty="0">
                <a:latin typeface="Times New Roman" pitchFamily="18" charset="0"/>
                <a:cs typeface="Times New Roman" pitchFamily="18" charset="0"/>
              </a:rPr>
              <a:t>  D = 1m.</a:t>
            </a:r>
            <a:endParaRPr lang="en-US" sz="2000" dirty="0">
              <a:latin typeface="Times New Roman" pitchFamily="18" charset="0"/>
              <a:cs typeface="Times New Roman" pitchFamily="18" charset="0"/>
            </a:endParaRPr>
          </a:p>
          <a:p>
            <a:r>
              <a:rPr lang="de-DE" sz="2000" dirty="0">
                <a:latin typeface="Times New Roman" pitchFamily="18" charset="0"/>
                <a:cs typeface="Times New Roman" pitchFamily="18" charset="0"/>
              </a:rPr>
              <a:t>a. Tìm vị trí vân sáng thứ tư và vân tối thứ năm.</a:t>
            </a:r>
            <a:endParaRPr lang="en-US" sz="2000" dirty="0">
              <a:latin typeface="Times New Roman" pitchFamily="18" charset="0"/>
              <a:cs typeface="Times New Roman" pitchFamily="18" charset="0"/>
            </a:endParaRPr>
          </a:p>
          <a:p>
            <a:r>
              <a:rPr lang="de-DE" sz="2000" dirty="0">
                <a:latin typeface="Times New Roman" pitchFamily="18" charset="0"/>
                <a:cs typeface="Times New Roman" pitchFamily="18" charset="0"/>
              </a:rPr>
              <a:t>b. Đặt trước một trong hai khe một bản mỏng song song, trong suốt, chiết suất n = 1,5; hệ vân giao thoa trên màn quan sát dịch một khoảng 2mm. Tìm bề dày của bản mỏng.</a:t>
            </a:r>
            <a:endParaRPr lang="en-US" sz="2000" dirty="0">
              <a:latin typeface="Times New Roman" pitchFamily="18" charset="0"/>
              <a:cs typeface="Times New Roman" pitchFamily="18" charset="0"/>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76179642"/>
              </p:ext>
            </p:extLst>
          </p:nvPr>
        </p:nvGraphicFramePr>
        <p:xfrm>
          <a:off x="460375" y="2516187"/>
          <a:ext cx="4491038" cy="684213"/>
        </p:xfrm>
        <a:graphic>
          <a:graphicData uri="http://schemas.openxmlformats.org/presentationml/2006/ole">
            <mc:AlternateContent xmlns:mc="http://schemas.openxmlformats.org/markup-compatibility/2006">
              <mc:Choice xmlns:v="urn:schemas-microsoft-com:vml" Requires="v">
                <p:oleObj spid="_x0000_s14849" name="Equation" r:id="rId3" imgW="2577960" imgH="393480" progId="Equation.3">
                  <p:embed/>
                </p:oleObj>
              </mc:Choice>
              <mc:Fallback>
                <p:oleObj name="Equation" r:id="rId3" imgW="2577960" imgH="393480" progId="Equation.3">
                  <p:embed/>
                  <p:pic>
                    <p:nvPicPr>
                      <p:cNvPr id="0" name="Object 10"/>
                      <p:cNvPicPr>
                        <a:picLocks noChangeAspect="1" noChangeArrowheads="1"/>
                      </p:cNvPicPr>
                      <p:nvPr/>
                    </p:nvPicPr>
                    <p:blipFill>
                      <a:blip r:embed="rId4"/>
                      <a:srcRect/>
                      <a:stretch>
                        <a:fillRect/>
                      </a:stretch>
                    </p:blipFill>
                    <p:spPr bwMode="auto">
                      <a:xfrm>
                        <a:off x="460375" y="2516187"/>
                        <a:ext cx="4491038" cy="684213"/>
                      </a:xfrm>
                      <a:prstGeom prst="rect">
                        <a:avLst/>
                      </a:prstGeom>
                      <a:noFill/>
                      <a:ln w="9525">
                        <a:noFill/>
                        <a:miter lim="800000"/>
                        <a:headEnd/>
                        <a:tailEnd/>
                      </a:ln>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3627082116"/>
              </p:ext>
            </p:extLst>
          </p:nvPr>
        </p:nvGraphicFramePr>
        <p:xfrm>
          <a:off x="457200" y="3148012"/>
          <a:ext cx="4862512" cy="661988"/>
        </p:xfrm>
        <a:graphic>
          <a:graphicData uri="http://schemas.openxmlformats.org/presentationml/2006/ole">
            <mc:AlternateContent xmlns:mc="http://schemas.openxmlformats.org/markup-compatibility/2006">
              <mc:Choice xmlns:v="urn:schemas-microsoft-com:vml" Requires="v">
                <p:oleObj spid="_x0000_s14850" name="Equation" r:id="rId5" imgW="2933640" imgH="393480" progId="Equation.3">
                  <p:embed/>
                </p:oleObj>
              </mc:Choice>
              <mc:Fallback>
                <p:oleObj name="Equation" r:id="rId5" imgW="2933640" imgH="393480" progId="Equation.3">
                  <p:embed/>
                  <p:pic>
                    <p:nvPicPr>
                      <p:cNvPr id="0" name="Object 13"/>
                      <p:cNvPicPr>
                        <a:picLocks noChangeAspect="1" noChangeArrowheads="1"/>
                      </p:cNvPicPr>
                      <p:nvPr/>
                    </p:nvPicPr>
                    <p:blipFill>
                      <a:blip r:embed="rId6"/>
                      <a:srcRect/>
                      <a:stretch>
                        <a:fillRect/>
                      </a:stretch>
                    </p:blipFill>
                    <p:spPr bwMode="auto">
                      <a:xfrm>
                        <a:off x="457200" y="3148012"/>
                        <a:ext cx="4862512" cy="661988"/>
                      </a:xfrm>
                      <a:prstGeom prst="rect">
                        <a:avLst/>
                      </a:prstGeom>
                      <a:noFill/>
                      <a:ln w="9525">
                        <a:noFill/>
                        <a:miter lim="800000"/>
                        <a:headEnd/>
                        <a:tailEnd/>
                      </a:ln>
                    </p:spPr>
                  </p:pic>
                </p:oleObj>
              </mc:Fallback>
            </mc:AlternateContent>
          </a:graphicData>
        </a:graphic>
      </p:graphicFrame>
      <p:sp>
        <p:nvSpPr>
          <p:cNvPr id="11" name="Rectangle 10"/>
          <p:cNvSpPr/>
          <p:nvPr/>
        </p:nvSpPr>
        <p:spPr>
          <a:xfrm>
            <a:off x="257365" y="3805535"/>
            <a:ext cx="5141112" cy="461665"/>
          </a:xfrm>
          <a:prstGeom prst="rect">
            <a:avLst/>
          </a:prstGeom>
        </p:spPr>
        <p:txBody>
          <a:bodyPr wrap="square">
            <a:spAutoFit/>
          </a:bodyPr>
          <a:lstStyle/>
          <a:p>
            <a:r>
              <a:rPr lang="en-US" sz="2400" i="1" dirty="0">
                <a:latin typeface="Times New Roman" pitchFamily="18" charset="0"/>
              </a:rPr>
              <a:t>L</a:t>
            </a:r>
            <a:r>
              <a:rPr lang="en-US" sz="2400" i="1" baseline="-25000" dirty="0">
                <a:latin typeface="Times New Roman" pitchFamily="18" charset="0"/>
              </a:rPr>
              <a:t>2</a:t>
            </a:r>
            <a:r>
              <a:rPr lang="en-US" sz="2400" i="1" dirty="0">
                <a:latin typeface="Times New Roman" pitchFamily="18" charset="0"/>
              </a:rPr>
              <a:t> - L</a:t>
            </a:r>
            <a:r>
              <a:rPr lang="en-US" sz="2400" i="1" baseline="-25000" dirty="0">
                <a:latin typeface="Times New Roman" pitchFamily="18" charset="0"/>
              </a:rPr>
              <a:t>1</a:t>
            </a:r>
            <a:r>
              <a:rPr lang="en-US" sz="2400" i="1" dirty="0">
                <a:latin typeface="Times New Roman" pitchFamily="18" charset="0"/>
              </a:rPr>
              <a:t>= r</a:t>
            </a:r>
            <a:r>
              <a:rPr lang="en-US" sz="2400" i="1" baseline="-25000" dirty="0">
                <a:latin typeface="Times New Roman" pitchFamily="18" charset="0"/>
              </a:rPr>
              <a:t>2</a:t>
            </a:r>
            <a:r>
              <a:rPr lang="en-US" sz="2400" i="1" dirty="0">
                <a:latin typeface="Times New Roman" pitchFamily="18" charset="0"/>
              </a:rPr>
              <a:t>- r</a:t>
            </a:r>
            <a:r>
              <a:rPr lang="en-US" sz="2400" i="1" baseline="-25000" dirty="0">
                <a:latin typeface="Times New Roman" pitchFamily="18" charset="0"/>
              </a:rPr>
              <a:t>1</a:t>
            </a:r>
            <a:r>
              <a:rPr lang="en-US" sz="2400" i="1" dirty="0">
                <a:latin typeface="Times New Roman" pitchFamily="18" charset="0"/>
              </a:rPr>
              <a:t>+(n-1)e</a:t>
            </a:r>
            <a:endParaRPr lang="en-US" sz="2400" i="1" baseline="-25000" dirty="0">
              <a:latin typeface="Times New Roman" pitchFamily="18" charset="0"/>
            </a:endParaRPr>
          </a:p>
        </p:txBody>
      </p:sp>
      <p:graphicFrame>
        <p:nvGraphicFramePr>
          <p:cNvPr id="12" name="Object 11"/>
          <p:cNvGraphicFramePr>
            <a:graphicFrameLocks noChangeAspect="1"/>
          </p:cNvGraphicFramePr>
          <p:nvPr>
            <p:extLst>
              <p:ext uri="{D42A27DB-BD31-4B8C-83A1-F6EECF244321}">
                <p14:modId xmlns:p14="http://schemas.microsoft.com/office/powerpoint/2010/main" val="2772451523"/>
              </p:ext>
            </p:extLst>
          </p:nvPr>
        </p:nvGraphicFramePr>
        <p:xfrm>
          <a:off x="228600" y="4191000"/>
          <a:ext cx="4098925" cy="741363"/>
        </p:xfrm>
        <a:graphic>
          <a:graphicData uri="http://schemas.openxmlformats.org/presentationml/2006/ole">
            <mc:AlternateContent xmlns:mc="http://schemas.openxmlformats.org/markup-compatibility/2006">
              <mc:Choice xmlns:v="urn:schemas-microsoft-com:vml" Requires="v">
                <p:oleObj spid="_x0000_s14851" name="Equation" r:id="rId7" imgW="2158920" imgH="393480" progId="Equation.3">
                  <p:embed/>
                </p:oleObj>
              </mc:Choice>
              <mc:Fallback>
                <p:oleObj name="Equation" r:id="rId7" imgW="2158920" imgH="393480" progId="Equation.3">
                  <p:embed/>
                  <p:pic>
                    <p:nvPicPr>
                      <p:cNvPr id="0" name="Object 7"/>
                      <p:cNvPicPr>
                        <a:picLocks noChangeAspect="1" noChangeArrowheads="1"/>
                      </p:cNvPicPr>
                      <p:nvPr/>
                    </p:nvPicPr>
                    <p:blipFill>
                      <a:blip r:embed="rId8"/>
                      <a:srcRect/>
                      <a:stretch>
                        <a:fillRect/>
                      </a:stretch>
                    </p:blipFill>
                    <p:spPr bwMode="auto">
                      <a:xfrm>
                        <a:off x="228600" y="4191000"/>
                        <a:ext cx="4098925"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TextBox 12"/>
          <p:cNvSpPr txBox="1"/>
          <p:nvPr/>
        </p:nvSpPr>
        <p:spPr>
          <a:xfrm>
            <a:off x="152400" y="5105400"/>
            <a:ext cx="2257235" cy="369332"/>
          </a:xfrm>
          <a:prstGeom prst="rect">
            <a:avLst/>
          </a:prstGeom>
          <a:noFill/>
        </p:spPr>
        <p:txBody>
          <a:bodyPr wrap="square" rtlCol="0">
            <a:spAutoFit/>
          </a:bodyPr>
          <a:lstStyle/>
          <a:p>
            <a:r>
              <a:rPr lang="en-US" dirty="0" err="1"/>
              <a:t>Vị</a:t>
            </a:r>
            <a:r>
              <a:rPr lang="en-US" dirty="0"/>
              <a:t> </a:t>
            </a:r>
            <a:r>
              <a:rPr lang="en-US" dirty="0" err="1"/>
              <a:t>trí</a:t>
            </a:r>
            <a:r>
              <a:rPr lang="en-US" dirty="0"/>
              <a:t> </a:t>
            </a:r>
            <a:r>
              <a:rPr lang="en-US" dirty="0" err="1"/>
              <a:t>vân</a:t>
            </a:r>
            <a:r>
              <a:rPr lang="en-US" dirty="0"/>
              <a:t> </a:t>
            </a:r>
            <a:r>
              <a:rPr lang="en-US" dirty="0" err="1"/>
              <a:t>sáng</a:t>
            </a:r>
            <a:r>
              <a:rPr lang="en-US" dirty="0"/>
              <a:t> </a:t>
            </a:r>
            <a:r>
              <a:rPr lang="en-US" dirty="0" err="1"/>
              <a:t>bậc</a:t>
            </a:r>
            <a:r>
              <a:rPr lang="en-US" dirty="0"/>
              <a:t> k: </a:t>
            </a:r>
          </a:p>
        </p:txBody>
      </p:sp>
      <p:graphicFrame>
        <p:nvGraphicFramePr>
          <p:cNvPr id="14" name="Object 13"/>
          <p:cNvGraphicFramePr>
            <a:graphicFrameLocks noChangeAspect="1"/>
          </p:cNvGraphicFramePr>
          <p:nvPr>
            <p:extLst>
              <p:ext uri="{D42A27DB-BD31-4B8C-83A1-F6EECF244321}">
                <p14:modId xmlns:p14="http://schemas.microsoft.com/office/powerpoint/2010/main" val="3389100710"/>
              </p:ext>
            </p:extLst>
          </p:nvPr>
        </p:nvGraphicFramePr>
        <p:xfrm>
          <a:off x="2286000" y="4961914"/>
          <a:ext cx="5930900" cy="741363"/>
        </p:xfrm>
        <a:graphic>
          <a:graphicData uri="http://schemas.openxmlformats.org/presentationml/2006/ole">
            <mc:AlternateContent xmlns:mc="http://schemas.openxmlformats.org/markup-compatibility/2006">
              <mc:Choice xmlns:v="urn:schemas-microsoft-com:vml" Requires="v">
                <p:oleObj spid="_x0000_s14852" name="Equation" r:id="rId9" imgW="3124080" imgH="393480" progId="Equation.3">
                  <p:embed/>
                </p:oleObj>
              </mc:Choice>
              <mc:Fallback>
                <p:oleObj name="Equation" r:id="rId9" imgW="3124080" imgH="393480" progId="Equation.3">
                  <p:embed/>
                  <p:pic>
                    <p:nvPicPr>
                      <p:cNvPr id="0" name="Object 11"/>
                      <p:cNvPicPr>
                        <a:picLocks noChangeAspect="1" noChangeArrowheads="1"/>
                      </p:cNvPicPr>
                      <p:nvPr/>
                    </p:nvPicPr>
                    <p:blipFill>
                      <a:blip r:embed="rId10"/>
                      <a:srcRect/>
                      <a:stretch>
                        <a:fillRect/>
                      </a:stretch>
                    </p:blipFill>
                    <p:spPr bwMode="auto">
                      <a:xfrm>
                        <a:off x="2286000" y="4961914"/>
                        <a:ext cx="5930900"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TextBox 14"/>
          <p:cNvSpPr txBox="1"/>
          <p:nvPr/>
        </p:nvSpPr>
        <p:spPr>
          <a:xfrm>
            <a:off x="152400" y="5955268"/>
            <a:ext cx="2819400" cy="369332"/>
          </a:xfrm>
          <a:prstGeom prst="rect">
            <a:avLst/>
          </a:prstGeom>
          <a:noFill/>
        </p:spPr>
        <p:txBody>
          <a:bodyPr wrap="square" rtlCol="0">
            <a:spAutoFit/>
          </a:bodyPr>
          <a:lstStyle/>
          <a:p>
            <a:r>
              <a:rPr lang="en-US" dirty="0" err="1"/>
              <a:t>Độ</a:t>
            </a:r>
            <a:r>
              <a:rPr lang="en-US" dirty="0"/>
              <a:t> </a:t>
            </a:r>
            <a:r>
              <a:rPr lang="en-US" dirty="0" err="1"/>
              <a:t>dịch</a:t>
            </a:r>
            <a:r>
              <a:rPr lang="en-US" dirty="0"/>
              <a:t> </a:t>
            </a:r>
            <a:r>
              <a:rPr lang="en-US" dirty="0" err="1"/>
              <a:t>chuyển</a:t>
            </a:r>
            <a:r>
              <a:rPr lang="en-US" dirty="0"/>
              <a:t> </a:t>
            </a:r>
            <a:r>
              <a:rPr lang="en-US" dirty="0" err="1"/>
              <a:t>của</a:t>
            </a:r>
            <a:r>
              <a:rPr lang="en-US" dirty="0"/>
              <a:t> </a:t>
            </a:r>
            <a:r>
              <a:rPr lang="en-US" dirty="0" err="1"/>
              <a:t>hệ</a:t>
            </a:r>
            <a:r>
              <a:rPr lang="en-US" dirty="0"/>
              <a:t> </a:t>
            </a:r>
            <a:r>
              <a:rPr lang="en-US" dirty="0" err="1"/>
              <a:t>vân</a:t>
            </a:r>
            <a:r>
              <a:rPr lang="en-US" dirty="0"/>
              <a:t>: </a:t>
            </a:r>
          </a:p>
        </p:txBody>
      </p:sp>
      <p:graphicFrame>
        <p:nvGraphicFramePr>
          <p:cNvPr id="16" name="Object 15"/>
          <p:cNvGraphicFramePr>
            <a:graphicFrameLocks noChangeAspect="1"/>
          </p:cNvGraphicFramePr>
          <p:nvPr>
            <p:extLst>
              <p:ext uri="{D42A27DB-BD31-4B8C-83A1-F6EECF244321}">
                <p14:modId xmlns:p14="http://schemas.microsoft.com/office/powerpoint/2010/main" val="3650443008"/>
              </p:ext>
            </p:extLst>
          </p:nvPr>
        </p:nvGraphicFramePr>
        <p:xfrm>
          <a:off x="2971800" y="5914237"/>
          <a:ext cx="1758950" cy="741363"/>
        </p:xfrm>
        <a:graphic>
          <a:graphicData uri="http://schemas.openxmlformats.org/presentationml/2006/ole">
            <mc:AlternateContent xmlns:mc="http://schemas.openxmlformats.org/markup-compatibility/2006">
              <mc:Choice xmlns:v="urn:schemas-microsoft-com:vml" Requires="v">
                <p:oleObj spid="_x0000_s14853" name="Equation" r:id="rId11" imgW="927000" imgH="393480" progId="Equation.3">
                  <p:embed/>
                </p:oleObj>
              </mc:Choice>
              <mc:Fallback>
                <p:oleObj name="Equation" r:id="rId11" imgW="927000" imgH="393480" progId="Equation.3">
                  <p:embed/>
                  <p:pic>
                    <p:nvPicPr>
                      <p:cNvPr id="0" name="Object 13"/>
                      <p:cNvPicPr>
                        <a:picLocks noChangeAspect="1" noChangeArrowheads="1"/>
                      </p:cNvPicPr>
                      <p:nvPr/>
                    </p:nvPicPr>
                    <p:blipFill>
                      <a:blip r:embed="rId12"/>
                      <a:srcRect/>
                      <a:stretch>
                        <a:fillRect/>
                      </a:stretch>
                    </p:blipFill>
                    <p:spPr bwMode="auto">
                      <a:xfrm>
                        <a:off x="2971800" y="5914237"/>
                        <a:ext cx="1758950"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157124" y="2598516"/>
            <a:ext cx="3952717" cy="2354484"/>
          </a:xfrm>
          <a:prstGeom prst="rect">
            <a:avLst/>
          </a:prstGeom>
        </p:spPr>
      </p:pic>
    </p:spTree>
    <p:extLst>
      <p:ext uri="{BB962C8B-B14F-4D97-AF65-F5344CB8AC3E}">
        <p14:creationId xmlns:p14="http://schemas.microsoft.com/office/powerpoint/2010/main" val="879839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arn(inVertical)">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arn(inVertical)">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barn(inVertical)">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barn(inVertical)">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barn(inVertical)">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barn(inVertical)">
                                      <p:cBhvr>
                                        <p:cTn id="4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938992"/>
          </a:xfrm>
          <a:prstGeom prst="rect">
            <a:avLst/>
          </a:prstGeom>
        </p:spPr>
        <p:txBody>
          <a:bodyPr wrap="square">
            <a:spAutoFit/>
          </a:bodyPr>
          <a:lstStyle/>
          <a:p>
            <a:pPr algn="just"/>
            <a:r>
              <a:rPr lang="pt-BR" sz="2000" dirty="0">
                <a:latin typeface="Times" pitchFamily="18" charset="0"/>
                <a:cs typeface="Times" pitchFamily="18" charset="0"/>
              </a:rPr>
              <a:t>Ví dụ 2. Mặt cầu của một thấu kính một mặt phẳng, một mặt lồi được đặt tiếp xúc với một bản thủy tinh phẳng. Chiết suất của thấu kính và của bản thủy tinh lần lượt bằng n</a:t>
            </a:r>
            <a:r>
              <a:rPr lang="pt-BR" sz="2000" baseline="-25000" dirty="0">
                <a:latin typeface="Times" pitchFamily="18" charset="0"/>
                <a:cs typeface="Times" pitchFamily="18" charset="0"/>
              </a:rPr>
              <a:t>1</a:t>
            </a:r>
            <a:r>
              <a:rPr lang="pt-BR" sz="2000" dirty="0">
                <a:latin typeface="Times" pitchFamily="18" charset="0"/>
                <a:cs typeface="Times" pitchFamily="18" charset="0"/>
              </a:rPr>
              <a:t> = 1,5 và n</a:t>
            </a:r>
            <a:r>
              <a:rPr lang="pt-BR" sz="2000" baseline="-25000" dirty="0">
                <a:latin typeface="Times" pitchFamily="18" charset="0"/>
                <a:cs typeface="Times" pitchFamily="18" charset="0"/>
              </a:rPr>
              <a:t>2</a:t>
            </a:r>
            <a:r>
              <a:rPr lang="pt-BR" sz="2000" dirty="0">
                <a:latin typeface="Times" pitchFamily="18" charset="0"/>
                <a:cs typeface="Times" pitchFamily="18" charset="0"/>
              </a:rPr>
              <a:t> = 1,7.  Bán kính cong của mặt cầu của thấu kính là  R = 100 cm, khoảng không gian giữa thấu kính và bản phẳng chứa đầy một chất có chiết suất n = 1,63. Xác định bán kính của vân tối Newton thứ 5 nếu quan sát vân giao thoa bằng ánh sáng phản xạ. Cho bước sóng của ánh sáng </a:t>
            </a:r>
            <a:r>
              <a:rPr lang="en-US" sz="2000" dirty="0">
                <a:latin typeface="Times" pitchFamily="18" charset="0"/>
                <a:cs typeface="Times" pitchFamily="18" charset="0"/>
              </a:rPr>
              <a:t>λ</a:t>
            </a:r>
            <a:r>
              <a:rPr lang="pt-BR" sz="2000" dirty="0">
                <a:latin typeface="Times" pitchFamily="18" charset="0"/>
                <a:cs typeface="Times" pitchFamily="18" charset="0"/>
              </a:rPr>
              <a:t>= 0,5 </a:t>
            </a:r>
            <a:r>
              <a:rPr lang="en-US" sz="2000" dirty="0">
                <a:latin typeface="Times" pitchFamily="18" charset="0"/>
                <a:cs typeface="Times" pitchFamily="18" charset="0"/>
              </a:rPr>
              <a:t>μ</a:t>
            </a:r>
            <a:r>
              <a:rPr lang="pt-BR" sz="2000" dirty="0">
                <a:latin typeface="Times" pitchFamily="18" charset="0"/>
                <a:cs typeface="Times" pitchFamily="18" charset="0"/>
              </a:rPr>
              <a:t>m.</a:t>
            </a:r>
            <a:endParaRPr lang="en-US" sz="2000" dirty="0">
              <a:latin typeface="Times" pitchFamily="18" charset="0"/>
              <a:cs typeface="Times" pitchFamily="18" charset="0"/>
            </a:endParaRPr>
          </a:p>
        </p:txBody>
      </p:sp>
      <p:cxnSp>
        <p:nvCxnSpPr>
          <p:cNvPr id="14" name="Straight Connector 13"/>
          <p:cNvCxnSpPr/>
          <p:nvPr/>
        </p:nvCxnSpPr>
        <p:spPr>
          <a:xfrm>
            <a:off x="8153400" y="3537466"/>
            <a:ext cx="76200" cy="0"/>
          </a:xfrm>
          <a:prstGeom prst="line">
            <a:avLst/>
          </a:prstGeom>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76202" y="2052935"/>
            <a:ext cx="3350597" cy="461665"/>
          </a:xfrm>
          <a:prstGeom prst="rect">
            <a:avLst/>
          </a:prstGeom>
        </p:spPr>
        <p:txBody>
          <a:bodyPr wrap="none">
            <a:spAutoFit/>
          </a:bodyPr>
          <a:lstStyle/>
          <a:p>
            <a:r>
              <a:rPr lang="en-US" sz="2400" dirty="0" err="1">
                <a:latin typeface="Times New Roman" pitchFamily="18" charset="0"/>
                <a:cs typeface="Times New Roman" pitchFamily="18" charset="0"/>
              </a:rPr>
              <a:t>Hiệu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quang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lộ</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hai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tia</a:t>
            </a:r>
            <a:r>
              <a:rPr lang="en-US" sz="2400" dirty="0">
                <a:latin typeface="Times New Roman" pitchFamily="18" charset="0"/>
                <a:cs typeface="Times New Roman" pitchFamily="18" charset="0"/>
              </a:rPr>
              <a:t>:</a:t>
            </a:r>
          </a:p>
        </p:txBody>
      </p:sp>
      <p:graphicFrame>
        <p:nvGraphicFramePr>
          <p:cNvPr id="22" name="Object 21"/>
          <p:cNvGraphicFramePr>
            <a:graphicFrameLocks noChangeAspect="1"/>
          </p:cNvGraphicFramePr>
          <p:nvPr>
            <p:extLst>
              <p:ext uri="{D42A27DB-BD31-4B8C-83A1-F6EECF244321}">
                <p14:modId xmlns:p14="http://schemas.microsoft.com/office/powerpoint/2010/main" val="3420552783"/>
              </p:ext>
            </p:extLst>
          </p:nvPr>
        </p:nvGraphicFramePr>
        <p:xfrm>
          <a:off x="228600" y="2446338"/>
          <a:ext cx="3379788" cy="754062"/>
        </p:xfrm>
        <a:graphic>
          <a:graphicData uri="http://schemas.openxmlformats.org/presentationml/2006/ole">
            <mc:AlternateContent xmlns:mc="http://schemas.openxmlformats.org/markup-compatibility/2006">
              <mc:Choice xmlns:v="urn:schemas-microsoft-com:vml" Requires="v">
                <p:oleObj spid="_x0000_s16686" name="Equation" r:id="rId3" imgW="1752480" imgH="393480" progId="Equation.3">
                  <p:embed/>
                </p:oleObj>
              </mc:Choice>
              <mc:Fallback>
                <p:oleObj name="Equation" r:id="rId3" imgW="1752480" imgH="393480" progId="Equation.3">
                  <p:embed/>
                  <p:pic>
                    <p:nvPicPr>
                      <p:cNvPr id="0" name="Object 14"/>
                      <p:cNvPicPr>
                        <a:picLocks noChangeAspect="1" noChangeArrowheads="1"/>
                      </p:cNvPicPr>
                      <p:nvPr/>
                    </p:nvPicPr>
                    <p:blipFill>
                      <a:blip r:embed="rId4"/>
                      <a:srcRect/>
                      <a:stretch>
                        <a:fillRect/>
                      </a:stretch>
                    </p:blipFill>
                    <p:spPr bwMode="auto">
                      <a:xfrm>
                        <a:off x="228600" y="2446338"/>
                        <a:ext cx="3379788" cy="75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 name="Rectangle 22"/>
          <p:cNvSpPr/>
          <p:nvPr/>
        </p:nvSpPr>
        <p:spPr>
          <a:xfrm>
            <a:off x="76200" y="3200400"/>
            <a:ext cx="6753788" cy="461665"/>
          </a:xfrm>
          <a:prstGeom prst="rect">
            <a:avLst/>
          </a:prstGeom>
        </p:spPr>
        <p:txBody>
          <a:bodyPr wrap="square">
            <a:spAutoFit/>
          </a:bodyPr>
          <a:lstStyle/>
          <a:p>
            <a:r>
              <a:rPr lang="en-US" sz="2400" dirty="0" err="1">
                <a:latin typeface="Times New Roman" pitchFamily="18" charset="0"/>
              </a:rPr>
              <a:t>Điều</a:t>
            </a:r>
            <a:r>
              <a:rPr lang="en-US" sz="2400" dirty="0">
                <a:latin typeface="Times New Roman" pitchFamily="18" charset="0"/>
              </a:rPr>
              <a:t> </a:t>
            </a:r>
            <a:r>
              <a:rPr lang="en-US" sz="2400" dirty="0" err="1">
                <a:latin typeface="Times New Roman" pitchFamily="18" charset="0"/>
              </a:rPr>
              <a:t>kiện</a:t>
            </a:r>
            <a:r>
              <a:rPr lang="en-US" sz="2400" dirty="0">
                <a:latin typeface="Times New Roman" pitchFamily="18" charset="0"/>
              </a:rPr>
              <a:t> </a:t>
            </a:r>
            <a:r>
              <a:rPr lang="en-US" sz="2400" dirty="0" err="1">
                <a:latin typeface="Times New Roman" pitchFamily="18" charset="0"/>
              </a:rPr>
              <a:t>cực</a:t>
            </a:r>
            <a:r>
              <a:rPr lang="en-US" sz="2400" dirty="0">
                <a:latin typeface="Times New Roman" pitchFamily="18" charset="0"/>
              </a:rPr>
              <a:t> </a:t>
            </a:r>
            <a:r>
              <a:rPr lang="en-US" sz="2400" dirty="0" err="1">
                <a:latin typeface="Times New Roman" pitchFamily="18" charset="0"/>
              </a:rPr>
              <a:t>tiểu</a:t>
            </a:r>
            <a:r>
              <a:rPr lang="en-US" sz="2400" dirty="0">
                <a:latin typeface="Times New Roman" pitchFamily="18" charset="0"/>
              </a:rPr>
              <a:t> </a:t>
            </a:r>
            <a:r>
              <a:rPr lang="en-US" sz="2400" dirty="0" err="1">
                <a:latin typeface="Times New Roman" pitchFamily="18" charset="0"/>
              </a:rPr>
              <a:t>giao</a:t>
            </a:r>
            <a:r>
              <a:rPr lang="en-US" sz="2400" dirty="0">
                <a:latin typeface="Times New Roman" pitchFamily="18" charset="0"/>
              </a:rPr>
              <a:t> </a:t>
            </a:r>
            <a:r>
              <a:rPr lang="en-US" sz="2400" dirty="0" err="1">
                <a:latin typeface="Times New Roman" pitchFamily="18" charset="0"/>
              </a:rPr>
              <a:t>thoa</a:t>
            </a:r>
            <a:r>
              <a:rPr lang="en-US" sz="2400" dirty="0">
                <a:latin typeface="Times New Roman" pitchFamily="18" charset="0"/>
              </a:rPr>
              <a:t>:</a:t>
            </a:r>
          </a:p>
        </p:txBody>
      </p:sp>
      <p:graphicFrame>
        <p:nvGraphicFramePr>
          <p:cNvPr id="24" name="Object 23"/>
          <p:cNvGraphicFramePr>
            <a:graphicFrameLocks noChangeAspect="1"/>
          </p:cNvGraphicFramePr>
          <p:nvPr>
            <p:extLst>
              <p:ext uri="{D42A27DB-BD31-4B8C-83A1-F6EECF244321}">
                <p14:modId xmlns:p14="http://schemas.microsoft.com/office/powerpoint/2010/main" val="1991798999"/>
              </p:ext>
            </p:extLst>
          </p:nvPr>
        </p:nvGraphicFramePr>
        <p:xfrm>
          <a:off x="304800" y="3810000"/>
          <a:ext cx="4648200" cy="687388"/>
        </p:xfrm>
        <a:graphic>
          <a:graphicData uri="http://schemas.openxmlformats.org/presentationml/2006/ole">
            <mc:AlternateContent xmlns:mc="http://schemas.openxmlformats.org/markup-compatibility/2006">
              <mc:Choice xmlns:v="urn:schemas-microsoft-com:vml" Requires="v">
                <p:oleObj spid="_x0000_s16687" name="Equation" r:id="rId5" imgW="2641320" imgH="393480" progId="Equation.3">
                  <p:embed/>
                </p:oleObj>
              </mc:Choice>
              <mc:Fallback>
                <p:oleObj name="Equation" r:id="rId5" imgW="2641320" imgH="393480" progId="Equation.3">
                  <p:embed/>
                  <p:pic>
                    <p:nvPicPr>
                      <p:cNvPr id="0" name="Object 16"/>
                      <p:cNvPicPr>
                        <a:picLocks noChangeAspect="1" noChangeArrowheads="1"/>
                      </p:cNvPicPr>
                      <p:nvPr/>
                    </p:nvPicPr>
                    <p:blipFill>
                      <a:blip r:embed="rId6"/>
                      <a:srcRect/>
                      <a:stretch>
                        <a:fillRect/>
                      </a:stretch>
                    </p:blipFill>
                    <p:spPr bwMode="auto">
                      <a:xfrm>
                        <a:off x="304800" y="3810000"/>
                        <a:ext cx="4648200" cy="68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 name="Rectangle 24"/>
          <p:cNvSpPr/>
          <p:nvPr/>
        </p:nvSpPr>
        <p:spPr>
          <a:xfrm>
            <a:off x="76200" y="4567535"/>
            <a:ext cx="6753788" cy="461665"/>
          </a:xfrm>
          <a:prstGeom prst="rect">
            <a:avLst/>
          </a:prstGeom>
        </p:spPr>
        <p:txBody>
          <a:bodyPr wrap="square">
            <a:spAutoFit/>
          </a:bodyPr>
          <a:lstStyle/>
          <a:p>
            <a:r>
              <a:rPr lang="en-US" sz="2400" dirty="0" err="1">
                <a:latin typeface="Times New Roman" pitchFamily="18" charset="0"/>
              </a:rPr>
              <a:t>Bán</a:t>
            </a:r>
            <a:r>
              <a:rPr lang="en-US" sz="2400" dirty="0">
                <a:latin typeface="Times New Roman" pitchFamily="18" charset="0"/>
              </a:rPr>
              <a:t> </a:t>
            </a:r>
            <a:r>
              <a:rPr lang="en-US" sz="2400" dirty="0" err="1">
                <a:latin typeface="Times New Roman" pitchFamily="18" charset="0"/>
              </a:rPr>
              <a:t>kính</a:t>
            </a:r>
            <a:r>
              <a:rPr lang="en-US" sz="2400" dirty="0">
                <a:latin typeface="Times New Roman" pitchFamily="18" charset="0"/>
              </a:rPr>
              <a:t> </a:t>
            </a:r>
            <a:r>
              <a:rPr lang="en-US" sz="2400" dirty="0" err="1">
                <a:latin typeface="Times New Roman" pitchFamily="18" charset="0"/>
              </a:rPr>
              <a:t>vân</a:t>
            </a:r>
            <a:r>
              <a:rPr lang="en-US" sz="2400" dirty="0">
                <a:latin typeface="Times New Roman" pitchFamily="18" charset="0"/>
              </a:rPr>
              <a:t> </a:t>
            </a:r>
            <a:r>
              <a:rPr lang="en-US" sz="2400" dirty="0" err="1">
                <a:latin typeface="Times New Roman" pitchFamily="18" charset="0"/>
              </a:rPr>
              <a:t>tối</a:t>
            </a:r>
            <a:r>
              <a:rPr lang="en-US" sz="2400" dirty="0">
                <a:latin typeface="Times New Roman" pitchFamily="18" charset="0"/>
              </a:rPr>
              <a:t> </a:t>
            </a:r>
            <a:r>
              <a:rPr lang="en-US" sz="2400" dirty="0" err="1">
                <a:latin typeface="Times New Roman" pitchFamily="18" charset="0"/>
              </a:rPr>
              <a:t>giao</a:t>
            </a:r>
            <a:r>
              <a:rPr lang="en-US" sz="2400" dirty="0">
                <a:latin typeface="Times New Roman" pitchFamily="18" charset="0"/>
              </a:rPr>
              <a:t> </a:t>
            </a:r>
            <a:r>
              <a:rPr lang="en-US" sz="2400" dirty="0" err="1">
                <a:latin typeface="Times New Roman" pitchFamily="18" charset="0"/>
              </a:rPr>
              <a:t>thoa</a:t>
            </a:r>
            <a:r>
              <a:rPr lang="en-US" sz="2400" dirty="0">
                <a:latin typeface="Times New Roman" pitchFamily="18" charset="0"/>
              </a:rPr>
              <a:t>:</a:t>
            </a:r>
          </a:p>
        </p:txBody>
      </p:sp>
      <p:graphicFrame>
        <p:nvGraphicFramePr>
          <p:cNvPr id="26" name="Object 25"/>
          <p:cNvGraphicFramePr>
            <a:graphicFrameLocks noChangeAspect="1"/>
          </p:cNvGraphicFramePr>
          <p:nvPr>
            <p:extLst>
              <p:ext uri="{D42A27DB-BD31-4B8C-83A1-F6EECF244321}">
                <p14:modId xmlns:p14="http://schemas.microsoft.com/office/powerpoint/2010/main" val="3398245191"/>
              </p:ext>
            </p:extLst>
          </p:nvPr>
        </p:nvGraphicFramePr>
        <p:xfrm>
          <a:off x="2046288" y="5257800"/>
          <a:ext cx="1916112" cy="420688"/>
        </p:xfrm>
        <a:graphic>
          <a:graphicData uri="http://schemas.openxmlformats.org/presentationml/2006/ole">
            <mc:AlternateContent xmlns:mc="http://schemas.openxmlformats.org/markup-compatibility/2006">
              <mc:Choice xmlns:v="urn:schemas-microsoft-com:vml" Requires="v">
                <p:oleObj spid="_x0000_s16688" name="Equation" r:id="rId7" imgW="1091880" imgH="241200" progId="Equation.3">
                  <p:embed/>
                </p:oleObj>
              </mc:Choice>
              <mc:Fallback>
                <p:oleObj name="Equation" r:id="rId7" imgW="1091880" imgH="241200" progId="Equation.3">
                  <p:embed/>
                  <p:pic>
                    <p:nvPicPr>
                      <p:cNvPr id="0" name="Object 13"/>
                      <p:cNvPicPr>
                        <a:picLocks noChangeAspect="1" noChangeArrowheads="1"/>
                      </p:cNvPicPr>
                      <p:nvPr/>
                    </p:nvPicPr>
                    <p:blipFill>
                      <a:blip r:embed="rId8"/>
                      <a:srcRect/>
                      <a:stretch>
                        <a:fillRect/>
                      </a:stretch>
                    </p:blipFill>
                    <p:spPr bwMode="auto">
                      <a:xfrm>
                        <a:off x="2046288" y="5257800"/>
                        <a:ext cx="1916112"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 name="Picture 2"/>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195170" y="1679532"/>
            <a:ext cx="3600953" cy="2591162"/>
          </a:xfrm>
          <a:prstGeom prst="rect">
            <a:avLst/>
          </a:prstGeom>
        </p:spPr>
      </p:pic>
      <p:sp>
        <p:nvSpPr>
          <p:cNvPr id="4" name="TextBox 3"/>
          <p:cNvSpPr txBox="1"/>
          <p:nvPr/>
        </p:nvSpPr>
        <p:spPr>
          <a:xfrm>
            <a:off x="8153400" y="2983468"/>
            <a:ext cx="838200" cy="369332"/>
          </a:xfrm>
          <a:prstGeom prst="rect">
            <a:avLst/>
          </a:prstGeom>
          <a:noFill/>
        </p:spPr>
        <p:txBody>
          <a:bodyPr wrap="square" rtlCol="0">
            <a:spAutoFit/>
          </a:bodyPr>
          <a:lstStyle/>
          <a:p>
            <a:r>
              <a:rPr lang="en-US" dirty="0"/>
              <a:t>n</a:t>
            </a:r>
            <a:r>
              <a:rPr lang="en-US" baseline="-25000" dirty="0"/>
              <a:t>1</a:t>
            </a:r>
            <a:r>
              <a:rPr lang="en-US" dirty="0"/>
              <a:t>=1,5</a:t>
            </a:r>
          </a:p>
        </p:txBody>
      </p:sp>
      <p:cxnSp>
        <p:nvCxnSpPr>
          <p:cNvPr id="6" name="Straight Connector 5"/>
          <p:cNvCxnSpPr/>
          <p:nvPr/>
        </p:nvCxnSpPr>
        <p:spPr>
          <a:xfrm flipV="1">
            <a:off x="8001000" y="3352800"/>
            <a:ext cx="304800" cy="184666"/>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8153400" y="3886200"/>
            <a:ext cx="304800" cy="228600"/>
          </a:xfrm>
          <a:prstGeom prst="line">
            <a:avLst/>
          </a:prstGeom>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8305800" y="4050268"/>
            <a:ext cx="838200" cy="369332"/>
          </a:xfrm>
          <a:prstGeom prst="rect">
            <a:avLst/>
          </a:prstGeom>
          <a:noFill/>
        </p:spPr>
        <p:txBody>
          <a:bodyPr wrap="square" rtlCol="0">
            <a:spAutoFit/>
          </a:bodyPr>
          <a:lstStyle/>
          <a:p>
            <a:r>
              <a:rPr lang="en-US" dirty="0"/>
              <a:t>n</a:t>
            </a:r>
            <a:r>
              <a:rPr lang="en-US" baseline="-25000" dirty="0"/>
              <a:t>2</a:t>
            </a:r>
            <a:r>
              <a:rPr lang="en-US" dirty="0"/>
              <a:t>=1,7</a:t>
            </a:r>
          </a:p>
        </p:txBody>
      </p:sp>
      <p:sp>
        <p:nvSpPr>
          <p:cNvPr id="28" name="TextBox 27"/>
          <p:cNvSpPr txBox="1"/>
          <p:nvPr/>
        </p:nvSpPr>
        <p:spPr>
          <a:xfrm>
            <a:off x="8217074" y="3453194"/>
            <a:ext cx="838200" cy="369332"/>
          </a:xfrm>
          <a:prstGeom prst="rect">
            <a:avLst/>
          </a:prstGeom>
          <a:noFill/>
        </p:spPr>
        <p:txBody>
          <a:bodyPr wrap="square" rtlCol="0">
            <a:spAutoFit/>
          </a:bodyPr>
          <a:lstStyle/>
          <a:p>
            <a:r>
              <a:rPr lang="en-US" dirty="0"/>
              <a:t>n=1,63</a:t>
            </a:r>
          </a:p>
        </p:txBody>
      </p:sp>
    </p:spTree>
    <p:extLst>
      <p:ext uri="{BB962C8B-B14F-4D97-AF65-F5344CB8AC3E}">
        <p14:creationId xmlns:p14="http://schemas.microsoft.com/office/powerpoint/2010/main" val="3894070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arn(inVertical)">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barn(inVertical)">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barn(inVertical)">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barn(inVertical)">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barn(inVertical)">
                                      <p:cBhvr>
                                        <p:cTn id="27" dur="50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barn(inVertical)">
                                      <p:cBhvr>
                                        <p:cTn id="3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3" grpId="0"/>
      <p:bldP spid="2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4BF38-EA1E-4D9A-AFF0-7898BA774BAB}"/>
              </a:ext>
            </a:extLst>
          </p:cNvPr>
          <p:cNvSpPr>
            <a:spLocks noGrp="1"/>
          </p:cNvSpPr>
          <p:nvPr>
            <p:ph type="title"/>
          </p:nvPr>
        </p:nvSpPr>
        <p:spPr/>
        <p:txBody>
          <a:bodyPr/>
          <a:lstStyle/>
          <a:p>
            <a:endParaRPr lang="en-US" dirty="0"/>
          </a:p>
        </p:txBody>
      </p:sp>
      <p:sp>
        <p:nvSpPr>
          <p:cNvPr id="9" name="Content Placeholder 8">
            <a:extLst>
              <a:ext uri="{FF2B5EF4-FFF2-40B4-BE49-F238E27FC236}">
                <a16:creationId xmlns:a16="http://schemas.microsoft.com/office/drawing/2014/main" id="{62C5E883-63EE-46CE-A3A3-22031061BEDD}"/>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0672B2A1-E80B-44D6-806E-D5C1D11B51BA}"/>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8575" y="0"/>
            <a:ext cx="9201150" cy="6934199"/>
          </a:xfrm>
          <a:prstGeom prst="rect">
            <a:avLst/>
          </a:prstGeom>
          <a:noFill/>
          <a:ln>
            <a:noFill/>
          </a:ln>
        </p:spPr>
      </p:pic>
    </p:spTree>
    <p:extLst>
      <p:ext uri="{BB962C8B-B14F-4D97-AF65-F5344CB8AC3E}">
        <p14:creationId xmlns:p14="http://schemas.microsoft.com/office/powerpoint/2010/main" val="21861988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0"/>
            <a:ext cx="91440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§2. NHIỄU XẠ ÁNH SÁNG</a:t>
            </a:r>
          </a:p>
        </p:txBody>
      </p:sp>
      <p:sp>
        <p:nvSpPr>
          <p:cNvPr id="7" name="Rectangle 6"/>
          <p:cNvSpPr/>
          <p:nvPr/>
        </p:nvSpPr>
        <p:spPr>
          <a:xfrm>
            <a:off x="158262" y="5257800"/>
            <a:ext cx="8991600" cy="1200329"/>
          </a:xfrm>
          <a:prstGeom prst="rect">
            <a:avLst/>
          </a:prstGeom>
        </p:spPr>
        <p:txBody>
          <a:bodyPr wrap="square">
            <a:spAutoFit/>
          </a:bodyPr>
          <a:lstStyle/>
          <a:p>
            <a:r>
              <a:rPr lang="en-US" sz="2400" i="1" dirty="0" err="1">
                <a:solidFill>
                  <a:srgbClr val="FF0000"/>
                </a:solidFill>
                <a:latin typeface="Times New Roman" pitchFamily="18" charset="0"/>
              </a:rPr>
              <a:t>Nhiễu</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xạ</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ánh</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sáng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là</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hiện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tượng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tia</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sáng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bị</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lệch</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khỏi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phương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truyền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thẳng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khi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gặp</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vật</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cản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có</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kích</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thước</a:t>
            </a:r>
            <a:r>
              <a:rPr lang="en-US" sz="2400" i="1" dirty="0">
                <a:solidFill>
                  <a:srgbClr val="FF0000"/>
                </a:solidFill>
                <a:latin typeface="Times New Roman" pitchFamily="18" charset="0"/>
              </a:rPr>
              <a:t> </a:t>
            </a:r>
            <a:r>
              <a:rPr lang="vi-VN" sz="2400" i="1" dirty="0">
                <a:solidFill>
                  <a:srgbClr val="FF0000"/>
                </a:solidFill>
                <a:latin typeface="+mj-lt"/>
              </a:rPr>
              <a:t>của chúng tương đương hoặc nhỏ hơn bước sóng.</a:t>
            </a:r>
            <a:endParaRPr lang="en-US" sz="2400" i="1" dirty="0">
              <a:solidFill>
                <a:srgbClr val="FF0000"/>
              </a:solidFill>
              <a:latin typeface="+mj-lt"/>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30278" y="1371322"/>
            <a:ext cx="4037522" cy="2895877"/>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 y="1143000"/>
            <a:ext cx="3787413" cy="1788048"/>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1000" y="2943156"/>
            <a:ext cx="3861422" cy="1705044"/>
          </a:xfrm>
          <a:prstGeom prst="rect">
            <a:avLst/>
          </a:prstGeom>
        </p:spPr>
      </p:pic>
    </p:spTree>
    <p:extLst>
      <p:ext uri="{BB962C8B-B14F-4D97-AF65-F5344CB8AC3E}">
        <p14:creationId xmlns:p14="http://schemas.microsoft.com/office/powerpoint/2010/main" val="139989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additive="base">
                                        <p:cTn id="26" dur="500" fill="hold"/>
                                        <p:tgtEl>
                                          <p:spTgt spid="7"/>
                                        </p:tgtEl>
                                        <p:attrNameLst>
                                          <p:attrName>ppt_x</p:attrName>
                                        </p:attrNameLst>
                                      </p:cBhvr>
                                      <p:tavLst>
                                        <p:tav tm="0">
                                          <p:val>
                                            <p:strVal val="#ppt_x"/>
                                          </p:val>
                                        </p:tav>
                                        <p:tav tm="100000">
                                          <p:val>
                                            <p:strVal val="#ppt_x"/>
                                          </p:val>
                                        </p:tav>
                                      </p:tavLst>
                                    </p:anim>
                                    <p:anim calcmode="lin" valueType="num">
                                      <p:cBhvr additive="base">
                                        <p:cTn id="27"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Arrow Connector 6"/>
          <p:cNvCxnSpPr/>
          <p:nvPr/>
        </p:nvCxnSpPr>
        <p:spPr>
          <a:xfrm>
            <a:off x="3810000" y="1066800"/>
            <a:ext cx="0" cy="2438400"/>
          </a:xfrm>
          <a:prstGeom prst="straightConnector1">
            <a:avLst/>
          </a:prstGeom>
          <a:ln w="127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1371600" y="2296438"/>
            <a:ext cx="49530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2133600" y="2362200"/>
            <a:ext cx="381000" cy="369332"/>
          </a:xfrm>
          <a:prstGeom prst="rect">
            <a:avLst/>
          </a:prstGeom>
          <a:noFill/>
        </p:spPr>
        <p:txBody>
          <a:bodyPr wrap="square" rtlCol="0">
            <a:spAutoFit/>
          </a:bodyPr>
          <a:lstStyle/>
          <a:p>
            <a:r>
              <a:rPr lang="en-US" dirty="0"/>
              <a:t>F</a:t>
            </a:r>
          </a:p>
        </p:txBody>
      </p:sp>
      <p:sp>
        <p:nvSpPr>
          <p:cNvPr id="14" name="TextBox 13"/>
          <p:cNvSpPr txBox="1"/>
          <p:nvPr/>
        </p:nvSpPr>
        <p:spPr>
          <a:xfrm>
            <a:off x="5181600" y="2362200"/>
            <a:ext cx="381000" cy="369332"/>
          </a:xfrm>
          <a:prstGeom prst="rect">
            <a:avLst/>
          </a:prstGeom>
          <a:noFill/>
        </p:spPr>
        <p:txBody>
          <a:bodyPr wrap="square" rtlCol="0">
            <a:spAutoFit/>
          </a:bodyPr>
          <a:lstStyle/>
          <a:p>
            <a:r>
              <a:rPr lang="en-US" dirty="0"/>
              <a:t>F</a:t>
            </a:r>
          </a:p>
        </p:txBody>
      </p:sp>
      <p:cxnSp>
        <p:nvCxnSpPr>
          <p:cNvPr id="16" name="Straight Connector 15"/>
          <p:cNvCxnSpPr/>
          <p:nvPr/>
        </p:nvCxnSpPr>
        <p:spPr>
          <a:xfrm flipV="1">
            <a:off x="1828800" y="1447800"/>
            <a:ext cx="1981200" cy="457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2438400" y="1611682"/>
            <a:ext cx="609600" cy="15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2304788" y="1945708"/>
            <a:ext cx="2971800" cy="6858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5321996" y="1066800"/>
            <a:ext cx="0" cy="1251558"/>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3790688" y="1447800"/>
            <a:ext cx="1531308" cy="457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4264068" y="1604897"/>
            <a:ext cx="517742" cy="13308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0" y="0"/>
            <a:ext cx="91440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§2. NHIỄU XẠ ÁNH SÁNG</a:t>
            </a:r>
          </a:p>
        </p:txBody>
      </p:sp>
      <p:sp>
        <p:nvSpPr>
          <p:cNvPr id="31" name="TextBox 30"/>
          <p:cNvSpPr txBox="1"/>
          <p:nvPr/>
        </p:nvSpPr>
        <p:spPr>
          <a:xfrm>
            <a:off x="0" y="609600"/>
            <a:ext cx="6629400" cy="461665"/>
          </a:xfrm>
          <a:prstGeom prst="rect">
            <a:avLst/>
          </a:prstGeom>
          <a:noFill/>
        </p:spPr>
        <p:txBody>
          <a:bodyPr wrap="square" rtlCol="0">
            <a:spAutoFit/>
          </a:bodyPr>
          <a:lstStyle/>
          <a:p>
            <a:r>
              <a:rPr lang="en-US" sz="2400" dirty="0" err="1"/>
              <a:t>Đường</a:t>
            </a:r>
            <a:r>
              <a:rPr lang="en-US" sz="2400" dirty="0"/>
              <a:t> </a:t>
            </a:r>
            <a:r>
              <a:rPr lang="en-US" sz="2400" dirty="0" err="1"/>
              <a:t>truyền</a:t>
            </a:r>
            <a:r>
              <a:rPr lang="en-US" sz="2400" dirty="0"/>
              <a:t> </a:t>
            </a:r>
            <a:r>
              <a:rPr lang="en-US" sz="2400" dirty="0" err="1"/>
              <a:t>tia</a:t>
            </a:r>
            <a:r>
              <a:rPr lang="en-US" sz="2400" dirty="0"/>
              <a:t> </a:t>
            </a:r>
            <a:r>
              <a:rPr lang="en-US" sz="2400" dirty="0" err="1"/>
              <a:t>sáng</a:t>
            </a:r>
            <a:r>
              <a:rPr lang="en-US" sz="2400" dirty="0"/>
              <a:t> qua </a:t>
            </a:r>
            <a:r>
              <a:rPr lang="en-US" sz="2400" dirty="0" err="1"/>
              <a:t>thấu</a:t>
            </a:r>
            <a:r>
              <a:rPr lang="en-US" sz="2400" dirty="0"/>
              <a:t> </a:t>
            </a:r>
            <a:r>
              <a:rPr lang="en-US" sz="2400" dirty="0" err="1"/>
              <a:t>kính</a:t>
            </a:r>
            <a:r>
              <a:rPr lang="en-US" sz="2400" dirty="0"/>
              <a:t> </a:t>
            </a:r>
            <a:r>
              <a:rPr lang="en-US" sz="2400" dirty="0" err="1"/>
              <a:t>hội</a:t>
            </a:r>
            <a:r>
              <a:rPr lang="en-US" sz="2400" dirty="0"/>
              <a:t> </a:t>
            </a:r>
            <a:r>
              <a:rPr lang="en-US" sz="2400" dirty="0" err="1"/>
              <a:t>tụ</a:t>
            </a:r>
            <a:endParaRPr lang="en-US" sz="2400" dirty="0"/>
          </a:p>
        </p:txBody>
      </p:sp>
    </p:spTree>
    <p:extLst>
      <p:ext uri="{BB962C8B-B14F-4D97-AF65-F5344CB8AC3E}">
        <p14:creationId xmlns:p14="http://schemas.microsoft.com/office/powerpoint/2010/main" val="1731967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down)">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down)">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down)">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down)">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barn(inVertical)">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wipe(down)">
                                      <p:cBhvr>
                                        <p:cTn id="37" dur="500"/>
                                        <p:tgtEl>
                                          <p:spTgt spid="24"/>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barn(inVertical)">
                                      <p:cBhvr>
                                        <p:cTn id="42" dur="5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nodeType="click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barn(inVertical)">
                                      <p:cBhvr>
                                        <p:cTn id="47" dur="500"/>
                                        <p:tgtEl>
                                          <p:spTgt spid="2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wipe(down)">
                                      <p:cBhvr>
                                        <p:cTn id="5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0"/>
            <a:ext cx="91440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§2. NHIỄU XẠ ÁNH SÁNG</a:t>
            </a:r>
          </a:p>
        </p:txBody>
      </p:sp>
      <p:sp>
        <p:nvSpPr>
          <p:cNvPr id="2" name="Rectangle 1"/>
          <p:cNvSpPr/>
          <p:nvPr/>
        </p:nvSpPr>
        <p:spPr>
          <a:xfrm>
            <a:off x="0" y="685800"/>
            <a:ext cx="6850829" cy="461665"/>
          </a:xfrm>
          <a:prstGeom prst="rect">
            <a:avLst/>
          </a:prstGeom>
        </p:spPr>
        <p:txBody>
          <a:bodyPr wrap="square">
            <a:spAutoFit/>
          </a:bodyPr>
          <a:lstStyle/>
          <a:p>
            <a:pPr marL="812800" indent="-812800"/>
            <a:r>
              <a:rPr lang="en-US" sz="2400" b="1" dirty="0">
                <a:solidFill>
                  <a:schemeClr val="hlink"/>
                </a:solidFill>
                <a:latin typeface="Times New Roman" pitchFamily="18" charset="0"/>
              </a:rPr>
              <a:t>I. </a:t>
            </a:r>
            <a:r>
              <a:rPr lang="en-US" sz="2400" b="1" dirty="0" err="1">
                <a:solidFill>
                  <a:schemeClr val="hlink"/>
                </a:solidFill>
                <a:latin typeface="Times New Roman" pitchFamily="18" charset="0"/>
              </a:rPr>
              <a:t>Nhiễu</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xạ</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của</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sóng</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phẳng</a:t>
            </a:r>
            <a:r>
              <a:rPr lang="en-US" sz="2400" b="1" dirty="0">
                <a:solidFill>
                  <a:schemeClr val="hlink"/>
                </a:solidFill>
                <a:latin typeface="Times New Roman" pitchFamily="18" charset="0"/>
              </a:rPr>
              <a:t> qua </a:t>
            </a:r>
            <a:r>
              <a:rPr lang="en-US" sz="2400" b="1" dirty="0" err="1">
                <a:solidFill>
                  <a:schemeClr val="hlink"/>
                </a:solidFill>
                <a:latin typeface="Times New Roman" pitchFamily="18" charset="0"/>
              </a:rPr>
              <a:t>một</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khe</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hẹp</a:t>
            </a:r>
            <a:endParaRPr lang="en-US" sz="2400" b="1" dirty="0">
              <a:solidFill>
                <a:schemeClr val="hlink"/>
              </a:solidFill>
              <a:latin typeface="Times New Roman" pitchFamily="18" charset="0"/>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9004" y="1981201"/>
            <a:ext cx="7368195" cy="3915042"/>
          </a:xfrm>
          <a:prstGeom prst="rect">
            <a:avLst/>
          </a:prstGeom>
        </p:spPr>
      </p:pic>
    </p:spTree>
    <p:extLst>
      <p:ext uri="{BB962C8B-B14F-4D97-AF65-F5344CB8AC3E}">
        <p14:creationId xmlns:p14="http://schemas.microsoft.com/office/powerpoint/2010/main" val="39269512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0"/>
            <a:ext cx="91440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§2. NHIỄU XẠ ÁNH SÁNG</a:t>
            </a:r>
          </a:p>
        </p:txBody>
      </p:sp>
      <p:sp>
        <p:nvSpPr>
          <p:cNvPr id="2" name="Rectangle 1"/>
          <p:cNvSpPr/>
          <p:nvPr/>
        </p:nvSpPr>
        <p:spPr>
          <a:xfrm>
            <a:off x="-76200" y="609600"/>
            <a:ext cx="9296400" cy="830997"/>
          </a:xfrm>
          <a:prstGeom prst="rect">
            <a:avLst/>
          </a:prstGeom>
        </p:spPr>
        <p:txBody>
          <a:bodyPr wrap="square">
            <a:spAutoFit/>
          </a:bodyPr>
          <a:lstStyle/>
          <a:p>
            <a:r>
              <a:rPr lang="en-US" sz="2400" dirty="0" err="1">
                <a:latin typeface="Times New Roman" pitchFamily="18" charset="0"/>
              </a:rPr>
              <a:t>Chiếu</a:t>
            </a:r>
            <a:r>
              <a:rPr lang="en-US" sz="2400" dirty="0">
                <a:latin typeface="Times New Roman" pitchFamily="18" charset="0"/>
              </a:rPr>
              <a:t> </a:t>
            </a:r>
            <a:r>
              <a:rPr lang="en-US" sz="2400" dirty="0" err="1">
                <a:latin typeface="Times New Roman" pitchFamily="18" charset="0"/>
              </a:rPr>
              <a:t>chùm</a:t>
            </a:r>
            <a:r>
              <a:rPr lang="en-US" sz="2400" dirty="0">
                <a:latin typeface="Times New Roman" pitchFamily="18" charset="0"/>
              </a:rPr>
              <a:t> </a:t>
            </a:r>
            <a:r>
              <a:rPr lang="en-US" sz="2400" dirty="0" err="1">
                <a:latin typeface="Times New Roman" pitchFamily="18" charset="0"/>
              </a:rPr>
              <a:t>tia</a:t>
            </a:r>
            <a:r>
              <a:rPr lang="en-US" sz="2400" dirty="0">
                <a:latin typeface="Times New Roman" pitchFamily="18" charset="0"/>
              </a:rPr>
              <a:t> </a:t>
            </a:r>
            <a:r>
              <a:rPr lang="en-US" sz="2400" dirty="0" err="1">
                <a:latin typeface="Times New Roman" pitchFamily="18" charset="0"/>
              </a:rPr>
              <a:t>sáng</a:t>
            </a:r>
            <a:r>
              <a:rPr lang="en-US" sz="2400" dirty="0">
                <a:latin typeface="Times New Roman" pitchFamily="18" charset="0"/>
              </a:rPr>
              <a:t> </a:t>
            </a:r>
            <a:r>
              <a:rPr lang="en-US" sz="2400" dirty="0" err="1">
                <a:latin typeface="Times New Roman" pitchFamily="18" charset="0"/>
              </a:rPr>
              <a:t>đơn</a:t>
            </a:r>
            <a:r>
              <a:rPr lang="en-US" sz="2400" dirty="0">
                <a:latin typeface="Times New Roman" pitchFamily="18" charset="0"/>
              </a:rPr>
              <a:t> </a:t>
            </a:r>
            <a:r>
              <a:rPr lang="en-US" sz="2400" dirty="0" err="1">
                <a:latin typeface="Times New Roman" pitchFamily="18" charset="0"/>
              </a:rPr>
              <a:t>sắc</a:t>
            </a:r>
            <a:r>
              <a:rPr lang="en-US" sz="2400" dirty="0">
                <a:latin typeface="Times New Roman" pitchFamily="18" charset="0"/>
              </a:rPr>
              <a:t> song </a:t>
            </a:r>
            <a:r>
              <a:rPr lang="en-US" sz="2400" dirty="0" err="1">
                <a:latin typeface="Times New Roman" pitchFamily="18" charset="0"/>
              </a:rPr>
              <a:t>song</a:t>
            </a:r>
            <a:r>
              <a:rPr lang="en-US" sz="2400" dirty="0">
                <a:latin typeface="Times New Roman" pitchFamily="18" charset="0"/>
              </a:rPr>
              <a:t> </a:t>
            </a:r>
            <a:r>
              <a:rPr lang="en-US" sz="2400" dirty="0" err="1">
                <a:latin typeface="Times New Roman" pitchFamily="18" charset="0"/>
              </a:rPr>
              <a:t>vuông</a:t>
            </a:r>
            <a:r>
              <a:rPr lang="en-US" sz="2400" dirty="0">
                <a:latin typeface="Times New Roman" pitchFamily="18" charset="0"/>
              </a:rPr>
              <a:t> </a:t>
            </a:r>
            <a:r>
              <a:rPr lang="en-US" sz="2400" dirty="0" err="1">
                <a:latin typeface="Times New Roman" pitchFamily="18" charset="0"/>
              </a:rPr>
              <a:t>góc</a:t>
            </a:r>
            <a:r>
              <a:rPr lang="en-US" sz="2400" dirty="0">
                <a:latin typeface="Times New Roman" pitchFamily="18" charset="0"/>
              </a:rPr>
              <a:t> </a:t>
            </a:r>
            <a:r>
              <a:rPr lang="en-US" sz="2400" dirty="0" err="1">
                <a:latin typeface="Times New Roman" pitchFamily="18" charset="0"/>
              </a:rPr>
              <a:t>với</a:t>
            </a:r>
            <a:r>
              <a:rPr lang="en-US" sz="2400" dirty="0">
                <a:latin typeface="Times New Roman" pitchFamily="18" charset="0"/>
              </a:rPr>
              <a:t> </a:t>
            </a:r>
            <a:r>
              <a:rPr lang="en-US" sz="2400" dirty="0" err="1">
                <a:latin typeface="Times New Roman" pitchFamily="18" charset="0"/>
              </a:rPr>
              <a:t>khe</a:t>
            </a:r>
            <a:r>
              <a:rPr lang="en-US" sz="2400" dirty="0">
                <a:latin typeface="Times New Roman" pitchFamily="18" charset="0"/>
              </a:rPr>
              <a:t>  </a:t>
            </a:r>
            <a:r>
              <a:rPr lang="en-US" sz="2400" dirty="0" err="1">
                <a:latin typeface="Times New Roman" pitchFamily="18" charset="0"/>
              </a:rPr>
              <a:t>hẹp</a:t>
            </a:r>
            <a:r>
              <a:rPr lang="en-US" sz="2400" dirty="0">
                <a:latin typeface="Times New Roman" pitchFamily="18" charset="0"/>
              </a:rPr>
              <a:t> </a:t>
            </a:r>
            <a:r>
              <a:rPr lang="en-US" sz="2400" dirty="0" err="1">
                <a:latin typeface="Times New Roman" pitchFamily="18" charset="0"/>
              </a:rPr>
              <a:t>có</a:t>
            </a:r>
            <a:r>
              <a:rPr lang="en-US" sz="2400" dirty="0">
                <a:latin typeface="Times New Roman" pitchFamily="18" charset="0"/>
              </a:rPr>
              <a:t> </a:t>
            </a:r>
            <a:r>
              <a:rPr lang="en-US" sz="2400" b="1" i="1" dirty="0" err="1">
                <a:latin typeface="Times New Roman" pitchFamily="18" charset="0"/>
              </a:rPr>
              <a:t>độ</a:t>
            </a:r>
            <a:r>
              <a:rPr lang="en-US" sz="2400" b="1" i="1" dirty="0">
                <a:latin typeface="Times New Roman" pitchFamily="18" charset="0"/>
              </a:rPr>
              <a:t> </a:t>
            </a:r>
            <a:r>
              <a:rPr lang="en-US" sz="2400" b="1" i="1" dirty="0" err="1">
                <a:latin typeface="Times New Roman" pitchFamily="18" charset="0"/>
              </a:rPr>
              <a:t>rộng</a:t>
            </a:r>
            <a:r>
              <a:rPr lang="en-US" sz="2400" b="1" i="1" dirty="0">
                <a:latin typeface="Times New Roman" pitchFamily="18" charset="0"/>
              </a:rPr>
              <a:t> b,</a:t>
            </a:r>
            <a:r>
              <a:rPr lang="en-US" sz="2400" dirty="0">
                <a:latin typeface="Times New Roman" pitchFamily="18" charset="0"/>
              </a:rPr>
              <a:t> </a:t>
            </a:r>
            <a:r>
              <a:rPr lang="en-US" sz="2400" dirty="0" err="1">
                <a:latin typeface="Times New Roman" pitchFamily="18" charset="0"/>
              </a:rPr>
              <a:t>sau</a:t>
            </a:r>
            <a:r>
              <a:rPr lang="en-US" sz="2400" dirty="0">
                <a:latin typeface="Times New Roman" pitchFamily="18" charset="0"/>
              </a:rPr>
              <a:t> </a:t>
            </a:r>
            <a:r>
              <a:rPr lang="en-US" sz="2400" dirty="0" err="1">
                <a:latin typeface="Times New Roman" pitchFamily="18" charset="0"/>
              </a:rPr>
              <a:t>khi</a:t>
            </a:r>
            <a:r>
              <a:rPr lang="en-US" sz="2400" dirty="0">
                <a:latin typeface="Times New Roman" pitchFamily="18" charset="0"/>
              </a:rPr>
              <a:t> </a:t>
            </a:r>
            <a:r>
              <a:rPr lang="en-US" sz="2400" dirty="0" err="1">
                <a:latin typeface="Times New Roman" pitchFamily="18" charset="0"/>
              </a:rPr>
              <a:t>đi</a:t>
            </a:r>
            <a:r>
              <a:rPr lang="en-US" sz="2400" dirty="0">
                <a:latin typeface="Times New Roman" pitchFamily="18" charset="0"/>
              </a:rPr>
              <a:t> qua </a:t>
            </a:r>
            <a:r>
              <a:rPr lang="en-US" sz="2400" dirty="0" err="1">
                <a:latin typeface="Times New Roman" pitchFamily="18" charset="0"/>
              </a:rPr>
              <a:t>khe</a:t>
            </a:r>
            <a:r>
              <a:rPr lang="en-US" sz="2400" dirty="0">
                <a:latin typeface="Times New Roman" pitchFamily="18" charset="0"/>
              </a:rPr>
              <a:t> </a:t>
            </a:r>
            <a:r>
              <a:rPr lang="en-US" sz="2400" dirty="0" err="1">
                <a:latin typeface="Times New Roman" pitchFamily="18" charset="0"/>
              </a:rPr>
              <a:t>hẹp</a:t>
            </a:r>
            <a:r>
              <a:rPr lang="en-US" sz="2400" dirty="0">
                <a:latin typeface="Times New Roman" pitchFamily="18" charset="0"/>
              </a:rPr>
              <a:t> </a:t>
            </a:r>
            <a:r>
              <a:rPr lang="en-US" sz="2400" dirty="0" err="1">
                <a:latin typeface="Times New Roman" pitchFamily="18" charset="0"/>
              </a:rPr>
              <a:t>tia</a:t>
            </a:r>
            <a:r>
              <a:rPr lang="en-US" sz="2400" dirty="0">
                <a:latin typeface="Times New Roman" pitchFamily="18" charset="0"/>
              </a:rPr>
              <a:t> </a:t>
            </a:r>
            <a:r>
              <a:rPr lang="en-US" sz="2400" dirty="0" err="1">
                <a:latin typeface="Times New Roman" pitchFamily="18" charset="0"/>
              </a:rPr>
              <a:t>sáng</a:t>
            </a:r>
            <a:r>
              <a:rPr lang="en-US" sz="2400" dirty="0">
                <a:latin typeface="Times New Roman" pitchFamily="18" charset="0"/>
              </a:rPr>
              <a:t> </a:t>
            </a:r>
            <a:r>
              <a:rPr lang="en-US" sz="2400" dirty="0" err="1">
                <a:latin typeface="Times New Roman" pitchFamily="18" charset="0"/>
              </a:rPr>
              <a:t>bị</a:t>
            </a:r>
            <a:r>
              <a:rPr lang="en-US" sz="2400" dirty="0">
                <a:latin typeface="Times New Roman" pitchFamily="18" charset="0"/>
              </a:rPr>
              <a:t> </a:t>
            </a:r>
            <a:r>
              <a:rPr lang="en-US" sz="2400" dirty="0" err="1">
                <a:latin typeface="Times New Roman" pitchFamily="18" charset="0"/>
              </a:rPr>
              <a:t>lệch</a:t>
            </a:r>
            <a:r>
              <a:rPr lang="en-US" sz="2400" dirty="0">
                <a:latin typeface="Times New Roman" pitchFamily="18" charset="0"/>
              </a:rPr>
              <a:t>  </a:t>
            </a:r>
            <a:r>
              <a:rPr lang="en-US" sz="2400" dirty="0" err="1">
                <a:latin typeface="Times New Roman" pitchFamily="18" charset="0"/>
              </a:rPr>
              <a:t>theo</a:t>
            </a:r>
            <a:r>
              <a:rPr lang="en-US" sz="2400" dirty="0">
                <a:latin typeface="Times New Roman" pitchFamily="18" charset="0"/>
              </a:rPr>
              <a:t> </a:t>
            </a:r>
            <a:r>
              <a:rPr lang="en-US" sz="2400" dirty="0" err="1">
                <a:latin typeface="Times New Roman" pitchFamily="18" charset="0"/>
              </a:rPr>
              <a:t>các</a:t>
            </a:r>
            <a:r>
              <a:rPr lang="en-US" sz="2400" dirty="0">
                <a:latin typeface="Times New Roman" pitchFamily="18" charset="0"/>
              </a:rPr>
              <a:t> </a:t>
            </a:r>
            <a:r>
              <a:rPr lang="en-US" sz="2400" dirty="0" err="1">
                <a:latin typeface="Times New Roman" pitchFamily="18" charset="0"/>
              </a:rPr>
              <a:t>phương</a:t>
            </a:r>
            <a:r>
              <a:rPr lang="en-US" sz="2400" dirty="0">
                <a:latin typeface="Times New Roman" pitchFamily="18" charset="0"/>
              </a:rPr>
              <a:t> </a:t>
            </a:r>
            <a:r>
              <a:rPr lang="en-US" sz="2400" dirty="0" err="1">
                <a:latin typeface="Times New Roman" pitchFamily="18" charset="0"/>
              </a:rPr>
              <a:t>khác</a:t>
            </a:r>
            <a:r>
              <a:rPr lang="en-US" sz="2400" dirty="0">
                <a:latin typeface="Times New Roman" pitchFamily="18" charset="0"/>
              </a:rPr>
              <a:t> </a:t>
            </a:r>
            <a:r>
              <a:rPr lang="en-US" sz="2400" dirty="0" err="1">
                <a:latin typeface="Times New Roman" pitchFamily="18" charset="0"/>
              </a:rPr>
              <a:t>nhau</a:t>
            </a:r>
            <a:endParaRPr lang="en-US" sz="2400" dirty="0"/>
          </a:p>
        </p:txBody>
      </p:sp>
      <p:sp>
        <p:nvSpPr>
          <p:cNvPr id="3" name="Rectangle 2"/>
          <p:cNvSpPr/>
          <p:nvPr/>
        </p:nvSpPr>
        <p:spPr>
          <a:xfrm>
            <a:off x="64477" y="1371600"/>
            <a:ext cx="8991600" cy="830997"/>
          </a:xfrm>
          <a:prstGeom prst="rect">
            <a:avLst/>
          </a:prstGeom>
        </p:spPr>
        <p:txBody>
          <a:bodyPr wrap="square">
            <a:spAutoFit/>
          </a:bodyPr>
          <a:lstStyle/>
          <a:p>
            <a:r>
              <a:rPr lang="en-US" sz="2400" dirty="0">
                <a:latin typeface="Times New Roman" pitchFamily="18" charset="0"/>
              </a:rPr>
              <a:t>- </a:t>
            </a:r>
            <a:r>
              <a:rPr lang="en-US" sz="2400" dirty="0" err="1">
                <a:latin typeface="Times New Roman" pitchFamily="18" charset="0"/>
              </a:rPr>
              <a:t>Xét</a:t>
            </a:r>
            <a:r>
              <a:rPr lang="en-US" sz="2400" dirty="0">
                <a:latin typeface="Times New Roman" pitchFamily="18" charset="0"/>
              </a:rPr>
              <a:t> </a:t>
            </a:r>
            <a:r>
              <a:rPr lang="en-US" sz="2400" dirty="0" err="1">
                <a:latin typeface="Times New Roman" pitchFamily="18" charset="0"/>
              </a:rPr>
              <a:t>góc</a:t>
            </a:r>
            <a:r>
              <a:rPr lang="en-US" sz="2400" dirty="0">
                <a:latin typeface="Times New Roman" pitchFamily="18" charset="0"/>
              </a:rPr>
              <a:t> </a:t>
            </a:r>
            <a:r>
              <a:rPr lang="en-US" sz="2400" dirty="0" err="1">
                <a:latin typeface="Times New Roman" pitchFamily="18" charset="0"/>
              </a:rPr>
              <a:t>nhiễu</a:t>
            </a:r>
            <a:r>
              <a:rPr lang="en-US" sz="2400" dirty="0">
                <a:latin typeface="Times New Roman" pitchFamily="18" charset="0"/>
              </a:rPr>
              <a:t> </a:t>
            </a:r>
            <a:r>
              <a:rPr lang="en-US" sz="2400" dirty="0" err="1">
                <a:latin typeface="Times New Roman" pitchFamily="18" charset="0"/>
              </a:rPr>
              <a:t>xạ</a:t>
            </a:r>
            <a:r>
              <a:rPr lang="en-US" sz="2400" dirty="0">
                <a:latin typeface="Times New Roman" pitchFamily="18" charset="0"/>
              </a:rPr>
              <a:t> </a:t>
            </a:r>
            <a:r>
              <a:rPr lang="el-GR" sz="2400" dirty="0">
                <a:latin typeface="Times New Roman" pitchFamily="18" charset="0"/>
                <a:cs typeface="Times New Roman" pitchFamily="18" charset="0"/>
              </a:rPr>
              <a:t>φ</a:t>
            </a:r>
            <a:r>
              <a:rPr lang="en-US" sz="2400" dirty="0">
                <a:latin typeface="Times New Roman" pitchFamily="18" charset="0"/>
                <a:cs typeface="Times New Roman" pitchFamily="18" charset="0"/>
              </a:rPr>
              <a:t> = 0, </a:t>
            </a:r>
            <a:r>
              <a:rPr lang="en-US" sz="2400" dirty="0" err="1">
                <a:latin typeface="Times New Roman" pitchFamily="18" charset="0"/>
                <a:cs typeface="Times New Roman" pitchFamily="18" charset="0"/>
              </a:rPr>
              <a:t>các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tia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sáng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hội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tụ</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tại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tiêu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điểm</a:t>
            </a:r>
            <a:r>
              <a:rPr lang="en-US" sz="2400" dirty="0">
                <a:latin typeface="Times New Roman" pitchFamily="18" charset="0"/>
                <a:cs typeface="Times New Roman" pitchFamily="18" charset="0"/>
              </a:rPr>
              <a:t> F  </a:t>
            </a:r>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thấu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kính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Tại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đó</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sáng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nhất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gọi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là</a:t>
            </a:r>
            <a:r>
              <a:rPr lang="en-US" sz="2400" dirty="0">
                <a:latin typeface="Times New Roman" pitchFamily="18" charset="0"/>
                <a:cs typeface="Times New Roman" pitchFamily="18" charset="0"/>
              </a:rPr>
              <a:t> </a:t>
            </a:r>
            <a:r>
              <a:rPr lang="en-US" sz="2400" dirty="0" err="1">
                <a:solidFill>
                  <a:srgbClr val="FF0000"/>
                </a:solidFill>
                <a:latin typeface="Times New Roman" pitchFamily="18" charset="0"/>
                <a:cs typeface="Times New Roman" pitchFamily="18" charset="0"/>
              </a:rPr>
              <a:t>vân</a:t>
            </a:r>
            <a:r>
              <a:rPr lang="en-US" sz="2400" dirty="0">
                <a:solidFill>
                  <a:srgbClr val="FF0000"/>
                </a:solidFill>
                <a:latin typeface="Times New Roman" pitchFamily="18" charset="0"/>
                <a:cs typeface="Times New Roman" pitchFamily="18" charset="0"/>
              </a:rPr>
              <a:t> </a:t>
            </a:r>
            <a:r>
              <a:rPr lang="en-US" sz="2400" dirty="0" err="1">
                <a:solidFill>
                  <a:srgbClr val="FF0000"/>
                </a:solidFill>
                <a:latin typeface="Times New Roman" pitchFamily="18" charset="0"/>
                <a:cs typeface="Times New Roman" pitchFamily="18" charset="0"/>
              </a:rPr>
              <a:t>sáng</a:t>
            </a:r>
            <a:r>
              <a:rPr lang="en-US" sz="2400" dirty="0">
                <a:solidFill>
                  <a:srgbClr val="FF0000"/>
                </a:solidFill>
                <a:latin typeface="Times New Roman" pitchFamily="18" charset="0"/>
                <a:cs typeface="Times New Roman" pitchFamily="18" charset="0"/>
              </a:rPr>
              <a:t> </a:t>
            </a:r>
            <a:r>
              <a:rPr lang="en-US" sz="2400" dirty="0" err="1">
                <a:solidFill>
                  <a:srgbClr val="FF0000"/>
                </a:solidFill>
                <a:latin typeface="Times New Roman" pitchFamily="18" charset="0"/>
                <a:cs typeface="Times New Roman" pitchFamily="18" charset="0"/>
              </a:rPr>
              <a:t>trung</a:t>
            </a:r>
            <a:r>
              <a:rPr lang="en-US" sz="2400" dirty="0">
                <a:solidFill>
                  <a:srgbClr val="FF0000"/>
                </a:solidFill>
                <a:latin typeface="Times New Roman" pitchFamily="18" charset="0"/>
                <a:cs typeface="Times New Roman" pitchFamily="18" charset="0"/>
              </a:rPr>
              <a:t>  </a:t>
            </a:r>
            <a:r>
              <a:rPr lang="en-US" sz="2400" dirty="0" err="1">
                <a:solidFill>
                  <a:srgbClr val="FF0000"/>
                </a:solidFill>
                <a:latin typeface="Times New Roman" pitchFamily="18" charset="0"/>
                <a:cs typeface="Times New Roman" pitchFamily="18" charset="0"/>
              </a:rPr>
              <a:t>tâm</a:t>
            </a:r>
            <a:endParaRPr lang="en-US" sz="2400" dirty="0">
              <a:solidFill>
                <a:srgbClr val="FF0000"/>
              </a:solidFill>
              <a:latin typeface="Times New Roman" pitchFamily="18" charset="0"/>
              <a:cs typeface="Times New Roman" pitchFamily="18" charset="0"/>
            </a:endParaRPr>
          </a:p>
        </p:txBody>
      </p:sp>
      <p:sp>
        <p:nvSpPr>
          <p:cNvPr id="7" name="Rectangle 6"/>
          <p:cNvSpPr/>
          <p:nvPr/>
        </p:nvSpPr>
        <p:spPr>
          <a:xfrm>
            <a:off x="152400" y="4618672"/>
            <a:ext cx="8839200" cy="830997"/>
          </a:xfrm>
          <a:prstGeom prst="rect">
            <a:avLst/>
          </a:prstGeom>
        </p:spPr>
        <p:txBody>
          <a:bodyPr wrap="square">
            <a:spAutoFit/>
          </a:bodyPr>
          <a:lstStyle/>
          <a:p>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Xét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góc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nhiễu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xạ</a:t>
            </a:r>
            <a:r>
              <a:rPr lang="en-US" sz="2400" dirty="0">
                <a:latin typeface="Times New Roman" pitchFamily="18" charset="0"/>
                <a:cs typeface="Times New Roman" pitchFamily="18" charset="0"/>
              </a:rPr>
              <a:t> </a:t>
            </a:r>
            <a:r>
              <a:rPr lang="el-GR" sz="2400" dirty="0">
                <a:latin typeface="Times New Roman" pitchFamily="18" charset="0"/>
                <a:cs typeface="Times New Roman" pitchFamily="18" charset="0"/>
              </a:rPr>
              <a:t>φ</a:t>
            </a:r>
            <a:r>
              <a:rPr lang="en-US" sz="2400" dirty="0">
                <a:latin typeface="Times New Roman" pitchFamily="18" charset="0"/>
                <a:cs typeface="Times New Roman" pitchFamily="18" charset="0"/>
              </a:rPr>
              <a:t> </a:t>
            </a:r>
            <a:r>
              <a:rPr lang="el-GR" sz="2400" dirty="0">
                <a:latin typeface="Times New Roman" pitchFamily="18" charset="0"/>
                <a:cs typeface="Times New Roman" pitchFamily="18" charset="0"/>
              </a:rPr>
              <a:t>≠</a:t>
            </a:r>
            <a:r>
              <a:rPr lang="en-US" sz="2400" dirty="0">
                <a:latin typeface="Times New Roman" pitchFamily="18" charset="0"/>
                <a:cs typeface="Times New Roman" pitchFamily="18" charset="0"/>
              </a:rPr>
              <a:t> 0, </a:t>
            </a:r>
            <a:r>
              <a:rPr lang="en-US" sz="2400" dirty="0" err="1">
                <a:latin typeface="Times New Roman" pitchFamily="18" charset="0"/>
                <a:cs typeface="Times New Roman" pitchFamily="18" charset="0"/>
              </a:rPr>
              <a:t>dựng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các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mặt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phẳng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vuông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góc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tia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nhiễu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xạ</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cách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nhau</a:t>
            </a:r>
            <a:r>
              <a:rPr lang="en-US" sz="2400" dirty="0">
                <a:latin typeface="Times New Roman" pitchFamily="18" charset="0"/>
                <a:cs typeface="Times New Roman" pitchFamily="18" charset="0"/>
              </a:rPr>
              <a:t> </a:t>
            </a:r>
            <a:r>
              <a:rPr lang="el-GR" sz="2400" dirty="0">
                <a:latin typeface="Times New Roman" pitchFamily="18" charset="0"/>
                <a:cs typeface="Times New Roman" pitchFamily="18" charset="0"/>
              </a:rPr>
              <a:t>λ</a:t>
            </a:r>
            <a:r>
              <a:rPr lang="en-US" sz="2400" dirty="0">
                <a:latin typeface="Times New Roman" pitchFamily="18" charset="0"/>
                <a:cs typeface="Times New Roman" pitchFamily="18" charset="0"/>
              </a:rPr>
              <a:t>/2, </a:t>
            </a:r>
            <a:r>
              <a:rPr lang="en-US" sz="2400" dirty="0" err="1">
                <a:latin typeface="Times New Roman" pitchFamily="18" charset="0"/>
                <a:cs typeface="Times New Roman" pitchFamily="18" charset="0"/>
              </a:rPr>
              <a:t>chúng</a:t>
            </a:r>
            <a:r>
              <a:rPr lang="en-US" sz="2400" dirty="0">
                <a:latin typeface="Times New Roman" pitchFamily="18" charset="0"/>
                <a:cs typeface="Times New Roman" pitchFamily="18" charset="0"/>
              </a:rPr>
              <a:t> chia </a:t>
            </a:r>
            <a:r>
              <a:rPr lang="en-US" sz="2400" dirty="0" err="1">
                <a:latin typeface="Times New Roman" pitchFamily="18" charset="0"/>
                <a:cs typeface="Times New Roman" pitchFamily="18" charset="0"/>
              </a:rPr>
              <a:t>mặt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khe</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thành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các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dải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sáng</a:t>
            </a:r>
            <a:r>
              <a:rPr lang="en-US" sz="2400" dirty="0">
                <a:latin typeface="Times New Roman" pitchFamily="18" charset="0"/>
                <a:cs typeface="Times New Roman" pitchFamily="18" charset="0"/>
              </a:rPr>
              <a:t> </a:t>
            </a:r>
          </a:p>
        </p:txBody>
      </p:sp>
      <p:sp>
        <p:nvSpPr>
          <p:cNvPr id="8" name="Rectangle 7"/>
          <p:cNvSpPr/>
          <p:nvPr/>
        </p:nvSpPr>
        <p:spPr>
          <a:xfrm>
            <a:off x="64477" y="5470157"/>
            <a:ext cx="2209259" cy="461665"/>
          </a:xfrm>
          <a:prstGeom prst="rect">
            <a:avLst/>
          </a:prstGeom>
        </p:spPr>
        <p:txBody>
          <a:bodyPr wrap="none">
            <a:spAutoFit/>
          </a:bodyPr>
          <a:lstStyle/>
          <a:p>
            <a:r>
              <a:rPr lang="en-US" sz="2400" dirty="0" err="1">
                <a:latin typeface="Times New Roman" pitchFamily="18" charset="0"/>
                <a:cs typeface="Times New Roman" pitchFamily="18" charset="0"/>
              </a:rPr>
              <a:t>Độ</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rộng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một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dải</a:t>
            </a:r>
            <a:endParaRPr lang="en-US" sz="2400" dirty="0">
              <a:latin typeface="Times New Roman" pitchFamily="18" charset="0"/>
              <a:cs typeface="Times New Roman" pitchFamily="18" charset="0"/>
            </a:endParaRPr>
          </a:p>
        </p:txBody>
      </p:sp>
      <p:graphicFrame>
        <p:nvGraphicFramePr>
          <p:cNvPr id="9" name="Object 8"/>
          <p:cNvGraphicFramePr>
            <a:graphicFrameLocks noChangeAspect="1"/>
          </p:cNvGraphicFramePr>
          <p:nvPr>
            <p:extLst>
              <p:ext uri="{D42A27DB-BD31-4B8C-83A1-F6EECF244321}">
                <p14:modId xmlns:p14="http://schemas.microsoft.com/office/powerpoint/2010/main" val="4005215129"/>
              </p:ext>
            </p:extLst>
          </p:nvPr>
        </p:nvGraphicFramePr>
        <p:xfrm>
          <a:off x="3429000" y="5700989"/>
          <a:ext cx="1447800" cy="884238"/>
        </p:xfrm>
        <a:graphic>
          <a:graphicData uri="http://schemas.openxmlformats.org/presentationml/2006/ole">
            <mc:AlternateContent xmlns:mc="http://schemas.openxmlformats.org/markup-compatibility/2006">
              <mc:Choice xmlns:v="urn:schemas-microsoft-com:vml" Requires="v">
                <p:oleObj spid="_x0000_s24590" name="Equation" r:id="rId3" imgW="685800" imgH="419100" progId="Equation.3">
                  <p:embed/>
                </p:oleObj>
              </mc:Choice>
              <mc:Fallback>
                <p:oleObj name="Equation" r:id="rId3" imgW="685800" imgH="4191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9000" y="5700989"/>
                        <a:ext cx="1447800" cy="88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2664" y="2263942"/>
            <a:ext cx="4176936" cy="2155658"/>
          </a:xfrm>
          <a:prstGeom prst="rect">
            <a:avLst/>
          </a:prstGeom>
        </p:spPr>
      </p:pic>
      <p:pic>
        <p:nvPicPr>
          <p:cNvPr id="12" name="Picture 1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42664" y="2133810"/>
            <a:ext cx="4176936" cy="2466026"/>
          </a:xfrm>
          <a:prstGeom prst="rect">
            <a:avLst/>
          </a:prstGeom>
        </p:spPr>
      </p:pic>
      <p:pic>
        <p:nvPicPr>
          <p:cNvPr id="13" name="Picture 1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741202" y="2181430"/>
            <a:ext cx="3562510" cy="2390570"/>
          </a:xfrm>
          <a:prstGeom prst="rect">
            <a:avLst/>
          </a:prstGeom>
        </p:spPr>
      </p:pic>
    </p:spTree>
    <p:extLst>
      <p:ext uri="{BB962C8B-B14F-4D97-AF65-F5344CB8AC3E}">
        <p14:creationId xmlns:p14="http://schemas.microsoft.com/office/powerpoint/2010/main" val="1617878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arn(inVertical)">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down)">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down)">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down)">
                                      <p:cBhvr>
                                        <p:cTn id="3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0"/>
            <a:ext cx="91440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§2. NHIỄU XẠ ÁNH SÁNG</a:t>
            </a:r>
          </a:p>
        </p:txBody>
      </p:sp>
      <p:sp>
        <p:nvSpPr>
          <p:cNvPr id="2" name="Rectangle 1"/>
          <p:cNvSpPr/>
          <p:nvPr/>
        </p:nvSpPr>
        <p:spPr>
          <a:xfrm>
            <a:off x="76201" y="609600"/>
            <a:ext cx="5556346" cy="461665"/>
          </a:xfrm>
          <a:prstGeom prst="rect">
            <a:avLst/>
          </a:prstGeom>
        </p:spPr>
        <p:txBody>
          <a:bodyPr wrap="square">
            <a:spAutoFit/>
          </a:bodyPr>
          <a:lstStyle/>
          <a:p>
            <a:r>
              <a:rPr lang="en-US" sz="2400" dirty="0" err="1">
                <a:latin typeface="Times New Roman" pitchFamily="18" charset="0"/>
                <a:cs typeface="Times New Roman" pitchFamily="18" charset="0"/>
              </a:rPr>
              <a:t>Số</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dải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sáng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trên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khe</a:t>
            </a:r>
            <a:r>
              <a:rPr lang="en-US" sz="2400" dirty="0">
                <a:latin typeface="Times New Roman" pitchFamily="18" charset="0"/>
                <a:cs typeface="Times New Roman" pitchFamily="18" charset="0"/>
              </a:rPr>
              <a:t>:</a:t>
            </a:r>
            <a:endParaRPr lang="el-GR" sz="2400" dirty="0">
              <a:latin typeface="Times New Roman" pitchFamily="18" charset="0"/>
              <a:cs typeface="Times New Roman" pitchFamily="18" charset="0"/>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1746174653"/>
              </p:ext>
            </p:extLst>
          </p:nvPr>
        </p:nvGraphicFramePr>
        <p:xfrm>
          <a:off x="2825066" y="1071265"/>
          <a:ext cx="2219325" cy="804863"/>
        </p:xfrm>
        <a:graphic>
          <a:graphicData uri="http://schemas.openxmlformats.org/presentationml/2006/ole">
            <mc:AlternateContent xmlns:mc="http://schemas.openxmlformats.org/markup-compatibility/2006">
              <mc:Choice xmlns:v="urn:schemas-microsoft-com:vml" Requires="v">
                <p:oleObj spid="_x0000_s25638" name="Equation" r:id="rId3" imgW="1079032" imgH="393529" progId="Equation.3">
                  <p:embed/>
                </p:oleObj>
              </mc:Choice>
              <mc:Fallback>
                <p:oleObj name="Equation" r:id="rId3" imgW="1079032" imgH="39352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25066" y="1071265"/>
                        <a:ext cx="2219325" cy="8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Rectangle 5"/>
          <p:cNvSpPr/>
          <p:nvPr/>
        </p:nvSpPr>
        <p:spPr>
          <a:xfrm>
            <a:off x="76201" y="1912203"/>
            <a:ext cx="8991599" cy="830997"/>
          </a:xfrm>
          <a:prstGeom prst="rect">
            <a:avLst/>
          </a:prstGeom>
        </p:spPr>
        <p:txBody>
          <a:bodyPr wrap="square">
            <a:spAutoFit/>
          </a:bodyPr>
          <a:lstStyle/>
          <a:p>
            <a:r>
              <a:rPr lang="en-US" sz="2400" dirty="0" err="1">
                <a:latin typeface="Times New Roman" pitchFamily="18" charset="0"/>
              </a:rPr>
              <a:t>Hiệu</a:t>
            </a:r>
            <a:r>
              <a:rPr lang="en-US" sz="2400" dirty="0">
                <a:latin typeface="Times New Roman" pitchFamily="18" charset="0"/>
              </a:rPr>
              <a:t> </a:t>
            </a:r>
            <a:r>
              <a:rPr lang="en-US" sz="2400" dirty="0" err="1">
                <a:latin typeface="Times New Roman" pitchFamily="18" charset="0"/>
              </a:rPr>
              <a:t>quang</a:t>
            </a:r>
            <a:r>
              <a:rPr lang="en-US" sz="2400" dirty="0">
                <a:latin typeface="Times New Roman" pitchFamily="18" charset="0"/>
              </a:rPr>
              <a:t> </a:t>
            </a:r>
            <a:r>
              <a:rPr lang="en-US" sz="2400" dirty="0" err="1">
                <a:latin typeface="Times New Roman" pitchFamily="18" charset="0"/>
              </a:rPr>
              <a:t>lộ</a:t>
            </a:r>
            <a:r>
              <a:rPr lang="en-US" sz="2400" dirty="0">
                <a:latin typeface="Times New Roman" pitchFamily="18" charset="0"/>
              </a:rPr>
              <a:t> </a:t>
            </a:r>
            <a:r>
              <a:rPr lang="en-US" sz="2400" dirty="0" err="1">
                <a:latin typeface="Times New Roman" pitchFamily="18" charset="0"/>
              </a:rPr>
              <a:t>của</a:t>
            </a:r>
            <a:r>
              <a:rPr lang="en-US" sz="2400" dirty="0">
                <a:latin typeface="Times New Roman" pitchFamily="18" charset="0"/>
              </a:rPr>
              <a:t> 2 </a:t>
            </a:r>
            <a:r>
              <a:rPr lang="en-US" sz="2400" dirty="0" err="1">
                <a:latin typeface="Times New Roman" pitchFamily="18" charset="0"/>
              </a:rPr>
              <a:t>dải</a:t>
            </a:r>
            <a:r>
              <a:rPr lang="en-US" sz="2400" dirty="0">
                <a:latin typeface="Times New Roman" pitchFamily="18" charset="0"/>
              </a:rPr>
              <a:t> </a:t>
            </a:r>
            <a:r>
              <a:rPr lang="en-US" sz="2400" dirty="0" err="1">
                <a:latin typeface="Times New Roman" pitchFamily="18" charset="0"/>
              </a:rPr>
              <a:t>kế</a:t>
            </a:r>
            <a:r>
              <a:rPr lang="en-US" sz="2400" dirty="0">
                <a:latin typeface="Times New Roman" pitchFamily="18" charset="0"/>
              </a:rPr>
              <a:t> </a:t>
            </a:r>
            <a:r>
              <a:rPr lang="en-US" sz="2400" dirty="0" err="1">
                <a:latin typeface="Times New Roman" pitchFamily="18" charset="0"/>
              </a:rPr>
              <a:t>tiếp</a:t>
            </a:r>
            <a:r>
              <a:rPr lang="en-US" sz="2400" dirty="0">
                <a:latin typeface="Times New Roman" pitchFamily="18" charset="0"/>
              </a:rPr>
              <a:t> </a:t>
            </a:r>
            <a:r>
              <a:rPr lang="en-US" sz="2400" dirty="0" err="1">
                <a:latin typeface="Times New Roman" pitchFamily="18" charset="0"/>
              </a:rPr>
              <a:t>gửi</a:t>
            </a:r>
            <a:r>
              <a:rPr lang="en-US" sz="2400" dirty="0">
                <a:latin typeface="Times New Roman" pitchFamily="18" charset="0"/>
              </a:rPr>
              <a:t> </a:t>
            </a:r>
            <a:r>
              <a:rPr lang="en-US" sz="2400" dirty="0" err="1">
                <a:latin typeface="Times New Roman" pitchFamily="18" charset="0"/>
              </a:rPr>
              <a:t>đến</a:t>
            </a:r>
            <a:r>
              <a:rPr lang="en-US" sz="2400" dirty="0">
                <a:latin typeface="Times New Roman" pitchFamily="18" charset="0"/>
              </a:rPr>
              <a:t> M </a:t>
            </a:r>
            <a:r>
              <a:rPr lang="en-US" sz="2400" dirty="0" err="1">
                <a:latin typeface="Times New Roman" pitchFamily="18" charset="0"/>
              </a:rPr>
              <a:t>là</a:t>
            </a:r>
            <a:r>
              <a:rPr lang="en-US" sz="2400" dirty="0">
                <a:latin typeface="Times New Roman" pitchFamily="18" charset="0"/>
              </a:rPr>
              <a:t> </a:t>
            </a:r>
            <a:r>
              <a:rPr lang="el-GR" sz="2400" dirty="0">
                <a:latin typeface="Times New Roman" pitchFamily="18" charset="0"/>
                <a:cs typeface="Times New Roman" pitchFamily="18" charset="0"/>
              </a:rPr>
              <a:t>λ</a:t>
            </a:r>
            <a:r>
              <a:rPr lang="en-US" sz="2400" dirty="0">
                <a:latin typeface="Times New Roman" pitchFamily="18" charset="0"/>
                <a:cs typeface="Times New Roman" pitchFamily="18" charset="0"/>
              </a:rPr>
              <a:t>/2 </a:t>
            </a:r>
            <a:r>
              <a:rPr lang="en-US" sz="2400" dirty="0" err="1">
                <a:latin typeface="Times New Roman" pitchFamily="18" charset="0"/>
                <a:cs typeface="Times New Roman" pitchFamily="18" charset="0"/>
              </a:rPr>
              <a:t>nên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dao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động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sáng</a:t>
            </a:r>
            <a:r>
              <a:rPr lang="en-US" sz="2400" dirty="0">
                <a:latin typeface="Times New Roman" pitchFamily="18" charset="0"/>
                <a:cs typeface="Times New Roman" pitchFamily="18" charset="0"/>
              </a:rPr>
              <a:t> do 2 </a:t>
            </a:r>
            <a:r>
              <a:rPr lang="en-US" sz="2400" dirty="0" err="1">
                <a:latin typeface="Times New Roman" pitchFamily="18" charset="0"/>
                <a:cs typeface="Times New Roman" pitchFamily="18" charset="0"/>
              </a:rPr>
              <a:t>dải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kế</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tiếp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gửi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đến</a:t>
            </a:r>
            <a:r>
              <a:rPr lang="en-US" sz="2400" dirty="0">
                <a:latin typeface="Times New Roman" pitchFamily="18" charset="0"/>
                <a:cs typeface="Times New Roman" pitchFamily="18" charset="0"/>
              </a:rPr>
              <a:t> M </a:t>
            </a:r>
            <a:r>
              <a:rPr lang="en-US" sz="2400" dirty="0" err="1">
                <a:latin typeface="Times New Roman" pitchFamily="18" charset="0"/>
                <a:cs typeface="Times New Roman" pitchFamily="18" charset="0"/>
              </a:rPr>
              <a:t>ngược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nhau</a:t>
            </a:r>
            <a:r>
              <a:rPr lang="en-US" sz="2400" dirty="0">
                <a:latin typeface="Times New Roman" pitchFamily="18" charset="0"/>
                <a:cs typeface="Times New Roman" pitchFamily="18" charset="0"/>
              </a:rPr>
              <a:t>.</a:t>
            </a:r>
          </a:p>
        </p:txBody>
      </p:sp>
      <p:sp>
        <p:nvSpPr>
          <p:cNvPr id="7" name="Rectangle 6"/>
          <p:cNvSpPr/>
          <p:nvPr/>
        </p:nvSpPr>
        <p:spPr>
          <a:xfrm>
            <a:off x="76201" y="2952929"/>
            <a:ext cx="6133427" cy="461665"/>
          </a:xfrm>
          <a:prstGeom prst="rect">
            <a:avLst/>
          </a:prstGeom>
        </p:spPr>
        <p:txBody>
          <a:bodyPr wrap="square">
            <a:spAutoFit/>
          </a:bodyPr>
          <a:lstStyle/>
          <a:p>
            <a:r>
              <a:rPr lang="en-US" sz="2400" b="1" i="1" dirty="0" err="1">
                <a:latin typeface="Times New Roman" pitchFamily="18" charset="0"/>
                <a:cs typeface="Times New Roman" pitchFamily="18" charset="0"/>
              </a:rPr>
              <a:t>Điều</a:t>
            </a:r>
            <a:r>
              <a:rPr lang="en-US" sz="2400" b="1" i="1" dirty="0">
                <a:latin typeface="Times New Roman" pitchFamily="18" charset="0"/>
                <a:cs typeface="Times New Roman" pitchFamily="18" charset="0"/>
              </a:rPr>
              <a:t> </a:t>
            </a:r>
            <a:r>
              <a:rPr lang="en-US" sz="2400" b="1" i="1" dirty="0" err="1">
                <a:latin typeface="Times New Roman" pitchFamily="18" charset="0"/>
                <a:cs typeface="Times New Roman" pitchFamily="18" charset="0"/>
              </a:rPr>
              <a:t>kiện</a:t>
            </a:r>
            <a:r>
              <a:rPr lang="en-US" sz="2400" b="1" i="1" dirty="0">
                <a:latin typeface="Times New Roman" pitchFamily="18" charset="0"/>
                <a:cs typeface="Times New Roman" pitchFamily="18" charset="0"/>
              </a:rPr>
              <a:t> </a:t>
            </a:r>
            <a:r>
              <a:rPr lang="en-US" sz="2400" b="1" i="1" dirty="0" err="1">
                <a:latin typeface="Times New Roman" pitchFamily="18" charset="0"/>
                <a:cs typeface="Times New Roman" pitchFamily="18" charset="0"/>
              </a:rPr>
              <a:t>tại</a:t>
            </a:r>
            <a:r>
              <a:rPr lang="en-US" sz="2400" b="1" i="1" dirty="0">
                <a:latin typeface="Times New Roman" pitchFamily="18" charset="0"/>
                <a:cs typeface="Times New Roman" pitchFamily="18" charset="0"/>
              </a:rPr>
              <a:t> M </a:t>
            </a:r>
            <a:r>
              <a:rPr lang="en-US" sz="2400" b="1" i="1" dirty="0" err="1">
                <a:latin typeface="Times New Roman" pitchFamily="18" charset="0"/>
                <a:cs typeface="Times New Roman" pitchFamily="18" charset="0"/>
              </a:rPr>
              <a:t>là</a:t>
            </a:r>
            <a:r>
              <a:rPr lang="en-US" sz="2400" b="1" i="1" dirty="0">
                <a:latin typeface="Times New Roman" pitchFamily="18" charset="0"/>
                <a:cs typeface="Times New Roman" pitchFamily="18" charset="0"/>
              </a:rPr>
              <a:t> </a:t>
            </a:r>
            <a:r>
              <a:rPr lang="en-US" sz="2400" b="1" i="1" dirty="0" err="1">
                <a:latin typeface="Times New Roman" pitchFamily="18" charset="0"/>
                <a:cs typeface="Times New Roman" pitchFamily="18" charset="0"/>
              </a:rPr>
              <a:t>vân</a:t>
            </a:r>
            <a:r>
              <a:rPr lang="en-US" sz="2400" b="1" i="1" dirty="0">
                <a:latin typeface="Times New Roman" pitchFamily="18" charset="0"/>
                <a:cs typeface="Times New Roman" pitchFamily="18" charset="0"/>
              </a:rPr>
              <a:t> </a:t>
            </a:r>
            <a:r>
              <a:rPr lang="en-US" sz="2400" b="1" i="1" dirty="0" err="1">
                <a:latin typeface="Times New Roman" pitchFamily="18" charset="0"/>
                <a:cs typeface="Times New Roman" pitchFamily="18" charset="0"/>
              </a:rPr>
              <a:t>tối</a:t>
            </a:r>
            <a:r>
              <a:rPr lang="en-US" sz="2400" b="1" i="1" dirty="0">
                <a:latin typeface="Times New Roman" pitchFamily="18" charset="0"/>
                <a:cs typeface="Times New Roman" pitchFamily="18" charset="0"/>
              </a:rPr>
              <a:t>:</a:t>
            </a:r>
          </a:p>
        </p:txBody>
      </p:sp>
      <p:graphicFrame>
        <p:nvGraphicFramePr>
          <p:cNvPr id="8" name="Object 7"/>
          <p:cNvGraphicFramePr>
            <a:graphicFrameLocks noChangeAspect="1"/>
          </p:cNvGraphicFramePr>
          <p:nvPr>
            <p:extLst>
              <p:ext uri="{D42A27DB-BD31-4B8C-83A1-F6EECF244321}">
                <p14:modId xmlns:p14="http://schemas.microsoft.com/office/powerpoint/2010/main" val="3259786611"/>
              </p:ext>
            </p:extLst>
          </p:nvPr>
        </p:nvGraphicFramePr>
        <p:xfrm>
          <a:off x="1066800" y="3505200"/>
          <a:ext cx="6705600" cy="763588"/>
        </p:xfrm>
        <a:graphic>
          <a:graphicData uri="http://schemas.openxmlformats.org/presentationml/2006/ole">
            <mc:AlternateContent xmlns:mc="http://schemas.openxmlformats.org/markup-compatibility/2006">
              <mc:Choice xmlns:v="urn:schemas-microsoft-com:vml" Requires="v">
                <p:oleObj spid="_x0000_s25639" name="Equation" r:id="rId5" imgW="3429000" imgH="393700" progId="Equation.3">
                  <p:embed/>
                </p:oleObj>
              </mc:Choice>
              <mc:Fallback>
                <p:oleObj name="Equation" r:id="rId5" imgW="3429000" imgH="3937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6800" y="3505200"/>
                        <a:ext cx="6705600" cy="763588"/>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8"/>
          <p:cNvSpPr/>
          <p:nvPr/>
        </p:nvSpPr>
        <p:spPr>
          <a:xfrm>
            <a:off x="76200" y="4338935"/>
            <a:ext cx="6133427" cy="461665"/>
          </a:xfrm>
          <a:prstGeom prst="rect">
            <a:avLst/>
          </a:prstGeom>
        </p:spPr>
        <p:txBody>
          <a:bodyPr wrap="square">
            <a:spAutoFit/>
          </a:bodyPr>
          <a:lstStyle/>
          <a:p>
            <a:r>
              <a:rPr lang="en-US" sz="2400" b="1" i="1" dirty="0" err="1">
                <a:latin typeface="Times New Roman" pitchFamily="18" charset="0"/>
                <a:cs typeface="Times New Roman" pitchFamily="18" charset="0"/>
              </a:rPr>
              <a:t>Điều</a:t>
            </a:r>
            <a:r>
              <a:rPr lang="en-US" sz="2400" b="1" i="1" dirty="0">
                <a:latin typeface="Times New Roman" pitchFamily="18" charset="0"/>
                <a:cs typeface="Times New Roman" pitchFamily="18" charset="0"/>
              </a:rPr>
              <a:t> </a:t>
            </a:r>
            <a:r>
              <a:rPr lang="en-US" sz="2400" b="1" i="1" dirty="0" err="1">
                <a:latin typeface="Times New Roman" pitchFamily="18" charset="0"/>
                <a:cs typeface="Times New Roman" pitchFamily="18" charset="0"/>
              </a:rPr>
              <a:t>kiện</a:t>
            </a:r>
            <a:r>
              <a:rPr lang="en-US" sz="2400" b="1" i="1" dirty="0">
                <a:latin typeface="Times New Roman" pitchFamily="18" charset="0"/>
                <a:cs typeface="Times New Roman" pitchFamily="18" charset="0"/>
              </a:rPr>
              <a:t> </a:t>
            </a:r>
            <a:r>
              <a:rPr lang="en-US" sz="2400" b="1" i="1" dirty="0" err="1">
                <a:latin typeface="Times New Roman" pitchFamily="18" charset="0"/>
                <a:cs typeface="Times New Roman" pitchFamily="18" charset="0"/>
              </a:rPr>
              <a:t>tại</a:t>
            </a:r>
            <a:r>
              <a:rPr lang="en-US" sz="2400" b="1" i="1" dirty="0">
                <a:latin typeface="Times New Roman" pitchFamily="18" charset="0"/>
                <a:cs typeface="Times New Roman" pitchFamily="18" charset="0"/>
              </a:rPr>
              <a:t> M </a:t>
            </a:r>
            <a:r>
              <a:rPr lang="en-US" sz="2400" b="1" i="1" dirty="0" err="1">
                <a:latin typeface="Times New Roman" pitchFamily="18" charset="0"/>
                <a:cs typeface="Times New Roman" pitchFamily="18" charset="0"/>
              </a:rPr>
              <a:t>là</a:t>
            </a:r>
            <a:r>
              <a:rPr lang="en-US" sz="2400" b="1" i="1" dirty="0">
                <a:latin typeface="Times New Roman" pitchFamily="18" charset="0"/>
                <a:cs typeface="Times New Roman" pitchFamily="18" charset="0"/>
              </a:rPr>
              <a:t> </a:t>
            </a:r>
            <a:r>
              <a:rPr lang="en-US" sz="2400" b="1" i="1" dirty="0" err="1">
                <a:latin typeface="Times New Roman" pitchFamily="18" charset="0"/>
                <a:cs typeface="Times New Roman" pitchFamily="18" charset="0"/>
              </a:rPr>
              <a:t>vân</a:t>
            </a:r>
            <a:r>
              <a:rPr lang="en-US" sz="2400" b="1" i="1" dirty="0">
                <a:latin typeface="Times New Roman" pitchFamily="18" charset="0"/>
                <a:cs typeface="Times New Roman" pitchFamily="18" charset="0"/>
              </a:rPr>
              <a:t> </a:t>
            </a:r>
            <a:r>
              <a:rPr lang="en-US" sz="2400" b="1" i="1" dirty="0" err="1">
                <a:latin typeface="Times New Roman" pitchFamily="18" charset="0"/>
                <a:cs typeface="Times New Roman" pitchFamily="18" charset="0"/>
              </a:rPr>
              <a:t>sáng</a:t>
            </a:r>
            <a:r>
              <a:rPr lang="en-US" sz="2400" b="1" i="1" dirty="0">
                <a:latin typeface="Times New Roman" pitchFamily="18" charset="0"/>
                <a:cs typeface="Times New Roman" pitchFamily="18" charset="0"/>
              </a:rPr>
              <a:t>:</a:t>
            </a:r>
          </a:p>
        </p:txBody>
      </p:sp>
      <p:graphicFrame>
        <p:nvGraphicFramePr>
          <p:cNvPr id="10" name="Object 9"/>
          <p:cNvGraphicFramePr>
            <a:graphicFrameLocks noChangeAspect="1"/>
          </p:cNvGraphicFramePr>
          <p:nvPr>
            <p:extLst>
              <p:ext uri="{D42A27DB-BD31-4B8C-83A1-F6EECF244321}">
                <p14:modId xmlns:p14="http://schemas.microsoft.com/office/powerpoint/2010/main" val="3606425496"/>
              </p:ext>
            </p:extLst>
          </p:nvPr>
        </p:nvGraphicFramePr>
        <p:xfrm>
          <a:off x="914400" y="4972050"/>
          <a:ext cx="7315200" cy="742950"/>
        </p:xfrm>
        <a:graphic>
          <a:graphicData uri="http://schemas.openxmlformats.org/presentationml/2006/ole">
            <mc:AlternateContent xmlns:mc="http://schemas.openxmlformats.org/markup-compatibility/2006">
              <mc:Choice xmlns:v="urn:schemas-microsoft-com:vml" Requires="v">
                <p:oleObj spid="_x0000_s25640" name="Equation" r:id="rId7" imgW="3848100" imgH="393700" progId="Equation.3">
                  <p:embed/>
                </p:oleObj>
              </mc:Choice>
              <mc:Fallback>
                <p:oleObj name="Equation" r:id="rId7" imgW="3848100" imgH="3937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4400" y="4972050"/>
                        <a:ext cx="7315200" cy="742950"/>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712891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arn(inVertic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arn(inVertical)">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arn(inVertical)">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arn(inVertical)">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0"/>
            <a:ext cx="91440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§2. NHIỄU XẠ ÁNH SÁNG</a:t>
            </a:r>
          </a:p>
        </p:txBody>
      </p:sp>
      <p:sp>
        <p:nvSpPr>
          <p:cNvPr id="2" name="Rectangle 1"/>
          <p:cNvSpPr/>
          <p:nvPr/>
        </p:nvSpPr>
        <p:spPr>
          <a:xfrm>
            <a:off x="0" y="609600"/>
            <a:ext cx="5071495" cy="461665"/>
          </a:xfrm>
          <a:prstGeom prst="rect">
            <a:avLst/>
          </a:prstGeom>
        </p:spPr>
        <p:txBody>
          <a:bodyPr wrap="square">
            <a:spAutoFit/>
          </a:bodyPr>
          <a:lstStyle/>
          <a:p>
            <a:r>
              <a:rPr lang="en-US" sz="2400" b="1" i="1" dirty="0" err="1">
                <a:latin typeface="Times New Roman" pitchFamily="18" charset="0"/>
              </a:rPr>
              <a:t>Tóm</a:t>
            </a:r>
            <a:r>
              <a:rPr lang="en-US" sz="2400" b="1" i="1" dirty="0">
                <a:latin typeface="Times New Roman" pitchFamily="18" charset="0"/>
              </a:rPr>
              <a:t> </a:t>
            </a:r>
            <a:r>
              <a:rPr lang="en-US" sz="2400" b="1" i="1" dirty="0" err="1">
                <a:latin typeface="Times New Roman" pitchFamily="18" charset="0"/>
              </a:rPr>
              <a:t>lại</a:t>
            </a:r>
            <a:r>
              <a:rPr lang="en-US" sz="2400" b="1" i="1" dirty="0">
                <a:latin typeface="Times New Roman" pitchFamily="18" charset="0"/>
              </a:rPr>
              <a:t>:</a:t>
            </a:r>
          </a:p>
        </p:txBody>
      </p:sp>
      <p:sp>
        <p:nvSpPr>
          <p:cNvPr id="3" name="Rectangle 2"/>
          <p:cNvSpPr/>
          <p:nvPr/>
        </p:nvSpPr>
        <p:spPr>
          <a:xfrm>
            <a:off x="76200" y="1071265"/>
            <a:ext cx="5723059" cy="461665"/>
          </a:xfrm>
          <a:prstGeom prst="rect">
            <a:avLst/>
          </a:prstGeom>
        </p:spPr>
        <p:txBody>
          <a:bodyPr wrap="square">
            <a:spAutoFit/>
          </a:bodyPr>
          <a:lstStyle/>
          <a:p>
            <a:r>
              <a:rPr lang="en-US" sz="2400" dirty="0">
                <a:latin typeface="Times New Roman" pitchFamily="18" charset="0"/>
              </a:rPr>
              <a:t>- </a:t>
            </a:r>
            <a:r>
              <a:rPr lang="en-US" sz="2400" b="1" i="1" dirty="0" err="1">
                <a:latin typeface="Times New Roman" pitchFamily="18" charset="0"/>
              </a:rPr>
              <a:t>Cực</a:t>
            </a:r>
            <a:r>
              <a:rPr lang="en-US" sz="2400" b="1" i="1" dirty="0">
                <a:latin typeface="Times New Roman" pitchFamily="18" charset="0"/>
              </a:rPr>
              <a:t> </a:t>
            </a:r>
            <a:r>
              <a:rPr lang="en-US" sz="2400" b="1" i="1" dirty="0" err="1">
                <a:latin typeface="Times New Roman" pitchFamily="18" charset="0"/>
              </a:rPr>
              <a:t>đại</a:t>
            </a:r>
            <a:r>
              <a:rPr lang="en-US" sz="2400" b="1" i="1" dirty="0">
                <a:latin typeface="Times New Roman" pitchFamily="18" charset="0"/>
              </a:rPr>
              <a:t> </a:t>
            </a:r>
            <a:r>
              <a:rPr lang="en-US" sz="2400" b="1" i="1" dirty="0" err="1">
                <a:latin typeface="Times New Roman" pitchFamily="18" charset="0"/>
              </a:rPr>
              <a:t>giữa</a:t>
            </a:r>
            <a:r>
              <a:rPr lang="en-US" sz="2400" b="1" i="1" dirty="0">
                <a:latin typeface="Times New Roman" pitchFamily="18" charset="0"/>
              </a:rPr>
              <a:t>: </a:t>
            </a:r>
            <a:r>
              <a:rPr lang="en-US" sz="2400" dirty="0">
                <a:latin typeface="Times New Roman" pitchFamily="18" charset="0"/>
              </a:rPr>
              <a:t>sin</a:t>
            </a:r>
            <a:r>
              <a:rPr lang="en-US" sz="2400" dirty="0">
                <a:latin typeface="Times New Roman" pitchFamily="18" charset="0"/>
                <a:cs typeface="Times New Roman" pitchFamily="18" charset="0"/>
              </a:rPr>
              <a:t> = 0</a:t>
            </a:r>
          </a:p>
        </p:txBody>
      </p:sp>
      <p:sp>
        <p:nvSpPr>
          <p:cNvPr id="6" name="Rectangle 5"/>
          <p:cNvSpPr/>
          <p:nvPr/>
        </p:nvSpPr>
        <p:spPr>
          <a:xfrm>
            <a:off x="140677" y="1594339"/>
            <a:ext cx="5443277" cy="461665"/>
          </a:xfrm>
          <a:prstGeom prst="rect">
            <a:avLst/>
          </a:prstGeom>
        </p:spPr>
        <p:txBody>
          <a:bodyPr wrap="square">
            <a:spAutoFit/>
          </a:bodyPr>
          <a:lstStyle/>
          <a:p>
            <a:pPr>
              <a:buFontTx/>
              <a:buChar char="-"/>
            </a:pPr>
            <a:r>
              <a:rPr lang="en-US" sz="2400" b="1" i="1" dirty="0" err="1">
                <a:latin typeface="Times New Roman" pitchFamily="18" charset="0"/>
                <a:cs typeface="Times New Roman" pitchFamily="18" charset="0"/>
              </a:rPr>
              <a:t>Cực</a:t>
            </a:r>
            <a:r>
              <a:rPr lang="en-US" sz="2400" b="1" i="1" dirty="0">
                <a:latin typeface="Times New Roman" pitchFamily="18" charset="0"/>
                <a:cs typeface="Times New Roman" pitchFamily="18" charset="0"/>
              </a:rPr>
              <a:t> </a:t>
            </a:r>
            <a:r>
              <a:rPr lang="en-US" sz="2400" b="1" i="1" dirty="0" err="1">
                <a:latin typeface="Times New Roman" pitchFamily="18" charset="0"/>
                <a:cs typeface="Times New Roman" pitchFamily="18" charset="0"/>
              </a:rPr>
              <a:t>tiểu</a:t>
            </a:r>
            <a:r>
              <a:rPr lang="en-US" sz="2400" b="1" i="1" dirty="0">
                <a:latin typeface="Times New Roman" pitchFamily="18" charset="0"/>
                <a:cs typeface="Times New Roman" pitchFamily="18" charset="0"/>
              </a:rPr>
              <a:t> </a:t>
            </a:r>
            <a:r>
              <a:rPr lang="en-US" sz="2400" b="1" i="1" dirty="0" err="1">
                <a:latin typeface="Times New Roman" pitchFamily="18" charset="0"/>
                <a:cs typeface="Times New Roman" pitchFamily="18" charset="0"/>
              </a:rPr>
              <a:t>nhiễu</a:t>
            </a:r>
            <a:r>
              <a:rPr lang="en-US" sz="2400" b="1" i="1" dirty="0">
                <a:latin typeface="Times New Roman" pitchFamily="18" charset="0"/>
                <a:cs typeface="Times New Roman" pitchFamily="18" charset="0"/>
              </a:rPr>
              <a:t> </a:t>
            </a:r>
            <a:r>
              <a:rPr lang="en-US" sz="2400" b="1" i="1" dirty="0" err="1">
                <a:latin typeface="Times New Roman" pitchFamily="18" charset="0"/>
                <a:cs typeface="Times New Roman" pitchFamily="18" charset="0"/>
              </a:rPr>
              <a:t>xạ</a:t>
            </a:r>
            <a:r>
              <a:rPr lang="en-US" sz="2400" b="1" i="1" dirty="0">
                <a:latin typeface="Times New Roman" pitchFamily="18" charset="0"/>
                <a:cs typeface="Times New Roman" pitchFamily="18" charset="0"/>
              </a:rPr>
              <a:t>:</a:t>
            </a:r>
            <a:r>
              <a:rPr lang="el-GR" sz="2400" dirty="0">
                <a:latin typeface="Times New Roman" pitchFamily="18" charset="0"/>
                <a:cs typeface="Times New Roman" pitchFamily="18" charset="0"/>
              </a:rPr>
              <a:t>φ</a:t>
            </a:r>
            <a:endParaRPr lang="en-US" sz="2400" b="1" i="1" dirty="0">
              <a:latin typeface="Times New Roman" pitchFamily="18" charset="0"/>
              <a:cs typeface="Times New Roman" pitchFamily="18" charset="0"/>
            </a:endParaRPr>
          </a:p>
        </p:txBody>
      </p:sp>
      <p:graphicFrame>
        <p:nvGraphicFramePr>
          <p:cNvPr id="7" name="Object 6"/>
          <p:cNvGraphicFramePr>
            <a:graphicFrameLocks noChangeAspect="1"/>
          </p:cNvGraphicFramePr>
          <p:nvPr>
            <p:extLst>
              <p:ext uri="{D42A27DB-BD31-4B8C-83A1-F6EECF244321}">
                <p14:modId xmlns:p14="http://schemas.microsoft.com/office/powerpoint/2010/main" val="2335234542"/>
              </p:ext>
            </p:extLst>
          </p:nvPr>
        </p:nvGraphicFramePr>
        <p:xfrm>
          <a:off x="190500" y="2039938"/>
          <a:ext cx="5711825" cy="779462"/>
        </p:xfrm>
        <a:graphic>
          <a:graphicData uri="http://schemas.openxmlformats.org/presentationml/2006/ole">
            <mc:AlternateContent xmlns:mc="http://schemas.openxmlformats.org/markup-compatibility/2006">
              <mc:Choice xmlns:v="urn:schemas-microsoft-com:vml" Requires="v">
                <p:oleObj spid="_x0000_s26650" name="Equation" r:id="rId3" imgW="2869920" imgH="393480" progId="Equation.3">
                  <p:embed/>
                </p:oleObj>
              </mc:Choice>
              <mc:Fallback>
                <p:oleObj name="Equation" r:id="rId3" imgW="2869920" imgH="393480" progId="Equation.3">
                  <p:embed/>
                  <p:pic>
                    <p:nvPicPr>
                      <p:cNvPr id="0" name=""/>
                      <p:cNvPicPr>
                        <a:picLocks noChangeAspect="1" noChangeArrowheads="1"/>
                      </p:cNvPicPr>
                      <p:nvPr/>
                    </p:nvPicPr>
                    <p:blipFill>
                      <a:blip r:embed="rId4"/>
                      <a:srcRect/>
                      <a:stretch>
                        <a:fillRect/>
                      </a:stretch>
                    </p:blipFill>
                    <p:spPr bwMode="auto">
                      <a:xfrm>
                        <a:off x="190500" y="2039938"/>
                        <a:ext cx="5711825"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7"/>
          <p:cNvSpPr/>
          <p:nvPr/>
        </p:nvSpPr>
        <p:spPr>
          <a:xfrm>
            <a:off x="152400" y="2819400"/>
            <a:ext cx="5443277" cy="461665"/>
          </a:xfrm>
          <a:prstGeom prst="rect">
            <a:avLst/>
          </a:prstGeom>
        </p:spPr>
        <p:txBody>
          <a:bodyPr wrap="square">
            <a:spAutoFit/>
          </a:bodyPr>
          <a:lstStyle/>
          <a:p>
            <a:pPr>
              <a:buFontTx/>
              <a:buChar char="-"/>
            </a:pPr>
            <a:r>
              <a:rPr lang="en-US" sz="2400" b="1" i="1" dirty="0" err="1">
                <a:latin typeface="Times New Roman" pitchFamily="18" charset="0"/>
                <a:cs typeface="Times New Roman" pitchFamily="18" charset="0"/>
              </a:rPr>
              <a:t>Cực</a:t>
            </a:r>
            <a:r>
              <a:rPr lang="en-US" sz="2400" b="1" i="1" dirty="0">
                <a:latin typeface="Times New Roman" pitchFamily="18" charset="0"/>
                <a:cs typeface="Times New Roman" pitchFamily="18" charset="0"/>
              </a:rPr>
              <a:t> </a:t>
            </a:r>
            <a:r>
              <a:rPr lang="en-US" sz="2400" b="1" i="1" dirty="0" err="1">
                <a:latin typeface="Times New Roman" pitchFamily="18" charset="0"/>
                <a:cs typeface="Times New Roman" pitchFamily="18" charset="0"/>
              </a:rPr>
              <a:t>đại</a:t>
            </a:r>
            <a:r>
              <a:rPr lang="en-US" sz="2400" b="1" i="1" dirty="0">
                <a:latin typeface="Times New Roman" pitchFamily="18" charset="0"/>
                <a:cs typeface="Times New Roman" pitchFamily="18" charset="0"/>
              </a:rPr>
              <a:t> </a:t>
            </a:r>
            <a:r>
              <a:rPr lang="en-US" sz="2400" b="1" i="1" dirty="0" err="1">
                <a:latin typeface="Times New Roman" pitchFamily="18" charset="0"/>
                <a:cs typeface="Times New Roman" pitchFamily="18" charset="0"/>
              </a:rPr>
              <a:t>nhiễu</a:t>
            </a:r>
            <a:r>
              <a:rPr lang="en-US" sz="2400" b="1" i="1" dirty="0">
                <a:latin typeface="Times New Roman" pitchFamily="18" charset="0"/>
                <a:cs typeface="Times New Roman" pitchFamily="18" charset="0"/>
              </a:rPr>
              <a:t> </a:t>
            </a:r>
            <a:r>
              <a:rPr lang="en-US" sz="2400" b="1" i="1" dirty="0" err="1">
                <a:latin typeface="Times New Roman" pitchFamily="18" charset="0"/>
                <a:cs typeface="Times New Roman" pitchFamily="18" charset="0"/>
              </a:rPr>
              <a:t>xạ</a:t>
            </a:r>
            <a:r>
              <a:rPr lang="en-US" sz="2400" b="1" i="1" dirty="0">
                <a:latin typeface="Times New Roman" pitchFamily="18" charset="0"/>
                <a:cs typeface="Times New Roman" pitchFamily="18" charset="0"/>
              </a:rPr>
              <a:t>:</a:t>
            </a:r>
          </a:p>
        </p:txBody>
      </p:sp>
      <p:graphicFrame>
        <p:nvGraphicFramePr>
          <p:cNvPr id="9" name="Object 8"/>
          <p:cNvGraphicFramePr>
            <a:graphicFrameLocks noChangeAspect="1"/>
          </p:cNvGraphicFramePr>
          <p:nvPr>
            <p:extLst>
              <p:ext uri="{D42A27DB-BD31-4B8C-83A1-F6EECF244321}">
                <p14:modId xmlns:p14="http://schemas.microsoft.com/office/powerpoint/2010/main" val="2930112598"/>
              </p:ext>
            </p:extLst>
          </p:nvPr>
        </p:nvGraphicFramePr>
        <p:xfrm>
          <a:off x="550863" y="3565525"/>
          <a:ext cx="4033837" cy="1547813"/>
        </p:xfrm>
        <a:graphic>
          <a:graphicData uri="http://schemas.openxmlformats.org/presentationml/2006/ole">
            <mc:AlternateContent xmlns:mc="http://schemas.openxmlformats.org/markup-compatibility/2006">
              <mc:Choice xmlns:v="urn:schemas-microsoft-com:vml" Requires="v">
                <p:oleObj spid="_x0000_s26651" name="Equation" r:id="rId5" imgW="2108160" imgH="812520" progId="Equation.3">
                  <p:embed/>
                </p:oleObj>
              </mc:Choice>
              <mc:Fallback>
                <p:oleObj name="Equation" r:id="rId5" imgW="2108160" imgH="812520" progId="Equation.3">
                  <p:embed/>
                  <p:pic>
                    <p:nvPicPr>
                      <p:cNvPr id="0" name=""/>
                      <p:cNvPicPr>
                        <a:picLocks noChangeAspect="1" noChangeArrowheads="1"/>
                      </p:cNvPicPr>
                      <p:nvPr/>
                    </p:nvPicPr>
                    <p:blipFill>
                      <a:blip r:embed="rId6"/>
                      <a:srcRect/>
                      <a:stretch>
                        <a:fillRect/>
                      </a:stretch>
                    </p:blipFill>
                    <p:spPr bwMode="auto">
                      <a:xfrm>
                        <a:off x="550863" y="3565525"/>
                        <a:ext cx="4033837" cy="154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1" name="Picture 1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842895" y="3352800"/>
            <a:ext cx="4301105" cy="3426783"/>
          </a:xfrm>
          <a:prstGeom prst="rect">
            <a:avLst/>
          </a:prstGeom>
        </p:spPr>
      </p:pic>
    </p:spTree>
    <p:extLst>
      <p:ext uri="{BB962C8B-B14F-4D97-AF65-F5344CB8AC3E}">
        <p14:creationId xmlns:p14="http://schemas.microsoft.com/office/powerpoint/2010/main" val="3349624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arn(inVertic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arn(inVertical)">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arn(inVertical)">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0"/>
            <a:ext cx="91440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§2. NHIỄU XẠ ÁNH SÁNG</a:t>
            </a:r>
          </a:p>
        </p:txBody>
      </p:sp>
      <p:sp>
        <p:nvSpPr>
          <p:cNvPr id="6" name="Rectangle 5"/>
          <p:cNvSpPr/>
          <p:nvPr/>
        </p:nvSpPr>
        <p:spPr>
          <a:xfrm>
            <a:off x="76200" y="609601"/>
            <a:ext cx="6781800" cy="461665"/>
          </a:xfrm>
          <a:prstGeom prst="rect">
            <a:avLst/>
          </a:prstGeom>
        </p:spPr>
        <p:txBody>
          <a:bodyPr wrap="square">
            <a:spAutoFit/>
          </a:bodyPr>
          <a:lstStyle/>
          <a:p>
            <a:r>
              <a:rPr lang="en-US" sz="2400" b="1" dirty="0">
                <a:solidFill>
                  <a:schemeClr val="tx2"/>
                </a:solidFill>
                <a:latin typeface="Times New Roman" pitchFamily="18" charset="0"/>
              </a:rPr>
              <a:t>II. </a:t>
            </a:r>
            <a:r>
              <a:rPr lang="en-US" sz="2400" b="1" dirty="0" err="1">
                <a:solidFill>
                  <a:schemeClr val="tx2"/>
                </a:solidFill>
                <a:latin typeface="Times New Roman" pitchFamily="18" charset="0"/>
              </a:rPr>
              <a:t>Nhiễu</a:t>
            </a:r>
            <a:r>
              <a:rPr lang="en-US" sz="2400" b="1" dirty="0">
                <a:solidFill>
                  <a:schemeClr val="tx2"/>
                </a:solidFill>
                <a:latin typeface="Times New Roman" pitchFamily="18" charset="0"/>
              </a:rPr>
              <a:t> </a:t>
            </a:r>
            <a:r>
              <a:rPr lang="en-US" sz="2400" b="1" dirty="0" err="1">
                <a:solidFill>
                  <a:schemeClr val="tx2"/>
                </a:solidFill>
                <a:latin typeface="Times New Roman" pitchFamily="18" charset="0"/>
              </a:rPr>
              <a:t>xạ</a:t>
            </a:r>
            <a:r>
              <a:rPr lang="en-US" sz="2400" b="1" dirty="0">
                <a:solidFill>
                  <a:schemeClr val="tx2"/>
                </a:solidFill>
                <a:latin typeface="Times New Roman" pitchFamily="18" charset="0"/>
              </a:rPr>
              <a:t> </a:t>
            </a:r>
            <a:r>
              <a:rPr lang="en-US" sz="2400" b="1" dirty="0" err="1">
                <a:solidFill>
                  <a:schemeClr val="tx2"/>
                </a:solidFill>
                <a:latin typeface="Times New Roman" pitchFamily="18" charset="0"/>
              </a:rPr>
              <a:t>của</a:t>
            </a:r>
            <a:r>
              <a:rPr lang="en-US" sz="2400" b="1" dirty="0">
                <a:solidFill>
                  <a:schemeClr val="tx2"/>
                </a:solidFill>
                <a:latin typeface="Times New Roman" pitchFamily="18" charset="0"/>
              </a:rPr>
              <a:t> </a:t>
            </a:r>
            <a:r>
              <a:rPr lang="en-US" sz="2400" b="1" dirty="0" err="1">
                <a:solidFill>
                  <a:schemeClr val="tx2"/>
                </a:solidFill>
                <a:latin typeface="Times New Roman" pitchFamily="18" charset="0"/>
              </a:rPr>
              <a:t>sóng</a:t>
            </a:r>
            <a:r>
              <a:rPr lang="en-US" sz="2400" b="1" dirty="0">
                <a:solidFill>
                  <a:schemeClr val="tx2"/>
                </a:solidFill>
                <a:latin typeface="Times New Roman" pitchFamily="18" charset="0"/>
              </a:rPr>
              <a:t> </a:t>
            </a:r>
            <a:r>
              <a:rPr lang="en-US" sz="2400" b="1" dirty="0" err="1">
                <a:solidFill>
                  <a:schemeClr val="tx2"/>
                </a:solidFill>
                <a:latin typeface="Times New Roman" pitchFamily="18" charset="0"/>
              </a:rPr>
              <a:t>phẳng</a:t>
            </a:r>
            <a:r>
              <a:rPr lang="en-US" sz="2400" b="1" dirty="0">
                <a:solidFill>
                  <a:schemeClr val="tx2"/>
                </a:solidFill>
                <a:latin typeface="Times New Roman" pitchFamily="18" charset="0"/>
              </a:rPr>
              <a:t> qua </a:t>
            </a:r>
            <a:r>
              <a:rPr lang="en-US" sz="2400" b="1" dirty="0" err="1">
                <a:solidFill>
                  <a:schemeClr val="tx2"/>
                </a:solidFill>
                <a:latin typeface="Times New Roman" pitchFamily="18" charset="0"/>
              </a:rPr>
              <a:t>cách</a:t>
            </a:r>
            <a:r>
              <a:rPr lang="en-US" sz="2400" b="1" dirty="0">
                <a:solidFill>
                  <a:schemeClr val="tx2"/>
                </a:solidFill>
                <a:latin typeface="Times New Roman" pitchFamily="18" charset="0"/>
              </a:rPr>
              <a:t> </a:t>
            </a:r>
            <a:r>
              <a:rPr lang="en-US" sz="2400" b="1" dirty="0" err="1">
                <a:solidFill>
                  <a:schemeClr val="tx2"/>
                </a:solidFill>
                <a:latin typeface="Times New Roman" pitchFamily="18" charset="0"/>
              </a:rPr>
              <a:t>tử</a:t>
            </a:r>
            <a:r>
              <a:rPr lang="en-US" sz="2400" b="1" dirty="0">
                <a:solidFill>
                  <a:schemeClr val="tx2"/>
                </a:solidFill>
                <a:latin typeface="Times New Roman" pitchFamily="18" charset="0"/>
              </a:rPr>
              <a:t> </a:t>
            </a:r>
            <a:r>
              <a:rPr lang="en-US" sz="2400" b="1" dirty="0" err="1">
                <a:solidFill>
                  <a:schemeClr val="tx2"/>
                </a:solidFill>
                <a:latin typeface="Times New Roman" pitchFamily="18" charset="0"/>
              </a:rPr>
              <a:t>nhiễu</a:t>
            </a:r>
            <a:r>
              <a:rPr lang="en-US" sz="2400" b="1" dirty="0">
                <a:solidFill>
                  <a:schemeClr val="tx2"/>
                </a:solidFill>
                <a:latin typeface="Times New Roman" pitchFamily="18" charset="0"/>
              </a:rPr>
              <a:t> </a:t>
            </a:r>
            <a:r>
              <a:rPr lang="en-US" sz="2400" b="1" dirty="0" err="1">
                <a:solidFill>
                  <a:schemeClr val="tx2"/>
                </a:solidFill>
                <a:latin typeface="Times New Roman" pitchFamily="18" charset="0"/>
              </a:rPr>
              <a:t>xạ</a:t>
            </a:r>
            <a:endParaRPr lang="en-US" sz="2400" b="1" dirty="0">
              <a:solidFill>
                <a:schemeClr val="tx2"/>
              </a:solidFill>
              <a:latin typeface="Times New Roman" pitchFamily="18" charset="0"/>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1676401"/>
            <a:ext cx="6400800" cy="3595060"/>
          </a:xfrm>
          <a:prstGeom prst="rect">
            <a:avLst/>
          </a:prstGeom>
        </p:spPr>
      </p:pic>
    </p:spTree>
    <p:extLst>
      <p:ext uri="{BB962C8B-B14F-4D97-AF65-F5344CB8AC3E}">
        <p14:creationId xmlns:p14="http://schemas.microsoft.com/office/powerpoint/2010/main" val="36484508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0"/>
            <a:ext cx="91440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§2. NHIỄU XẠ ÁNH SÁNG</a:t>
            </a:r>
          </a:p>
        </p:txBody>
      </p:sp>
      <p:sp>
        <p:nvSpPr>
          <p:cNvPr id="3" name="Rectangle 2"/>
          <p:cNvSpPr/>
          <p:nvPr/>
        </p:nvSpPr>
        <p:spPr>
          <a:xfrm>
            <a:off x="228600" y="1071266"/>
            <a:ext cx="8839200" cy="830997"/>
          </a:xfrm>
          <a:prstGeom prst="rect">
            <a:avLst/>
          </a:prstGeom>
        </p:spPr>
        <p:txBody>
          <a:bodyPr wrap="square">
            <a:spAutoFit/>
          </a:bodyPr>
          <a:lstStyle/>
          <a:p>
            <a:pPr algn="just"/>
            <a:r>
              <a:rPr lang="en-US" sz="2400" i="1" dirty="0" err="1">
                <a:solidFill>
                  <a:srgbClr val="FF0000"/>
                </a:solidFill>
                <a:latin typeface="Times New Roman" pitchFamily="18" charset="0"/>
              </a:rPr>
              <a:t>Cách</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tử</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phẳng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truyền</a:t>
            </a:r>
            <a:r>
              <a:rPr lang="en-US" sz="2400" i="1" dirty="0">
                <a:solidFill>
                  <a:srgbClr val="FF0000"/>
                </a:solidFill>
                <a:latin typeface="Times New Roman" pitchFamily="18" charset="0"/>
              </a:rPr>
              <a:t> qua </a:t>
            </a:r>
            <a:r>
              <a:rPr lang="en-US" sz="2400" i="1" dirty="0" err="1">
                <a:solidFill>
                  <a:srgbClr val="FF0000"/>
                </a:solidFill>
                <a:latin typeface="Times New Roman" pitchFamily="18" charset="0"/>
              </a:rPr>
              <a:t>là</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hệ</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nhiều</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khe</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hẹp</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giống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nhau</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có</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độ</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rộng</a:t>
            </a:r>
            <a:r>
              <a:rPr lang="en-US" sz="2400" i="1" dirty="0">
                <a:solidFill>
                  <a:srgbClr val="FF0000"/>
                </a:solidFill>
                <a:latin typeface="Times New Roman" pitchFamily="18" charset="0"/>
              </a:rPr>
              <a:t> b, </a:t>
            </a:r>
            <a:r>
              <a:rPr lang="en-US" sz="2400" i="1" dirty="0" err="1">
                <a:solidFill>
                  <a:srgbClr val="FF0000"/>
                </a:solidFill>
                <a:latin typeface="Times New Roman" pitchFamily="18" charset="0"/>
              </a:rPr>
              <a:t>nằm</a:t>
            </a:r>
            <a:r>
              <a:rPr lang="en-US" sz="2400" i="1" dirty="0">
                <a:solidFill>
                  <a:srgbClr val="FF0000"/>
                </a:solidFill>
                <a:latin typeface="Times New Roman" pitchFamily="18" charset="0"/>
              </a:rPr>
              <a:t> song </a:t>
            </a:r>
            <a:r>
              <a:rPr lang="en-US" sz="2400" i="1" dirty="0" err="1">
                <a:solidFill>
                  <a:srgbClr val="FF0000"/>
                </a:solidFill>
                <a:latin typeface="Times New Roman" pitchFamily="18" charset="0"/>
              </a:rPr>
              <a:t>song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cách</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đều</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nhau</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trên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cùng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mặt</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phẳng</a:t>
            </a:r>
            <a:endParaRPr lang="en-US" sz="2400" i="1" dirty="0">
              <a:solidFill>
                <a:srgbClr val="FF0000"/>
              </a:solidFill>
              <a:latin typeface="Times New Roman" pitchFamily="18" charset="0"/>
            </a:endParaRPr>
          </a:p>
        </p:txBody>
      </p:sp>
      <p:sp>
        <p:nvSpPr>
          <p:cNvPr id="6" name="Rectangle 5"/>
          <p:cNvSpPr/>
          <p:nvPr/>
        </p:nvSpPr>
        <p:spPr>
          <a:xfrm>
            <a:off x="228600" y="4186535"/>
            <a:ext cx="8763000" cy="461665"/>
          </a:xfrm>
          <a:prstGeom prst="rect">
            <a:avLst/>
          </a:prstGeom>
        </p:spPr>
        <p:txBody>
          <a:bodyPr wrap="square">
            <a:spAutoFit/>
          </a:bodyPr>
          <a:lstStyle/>
          <a:p>
            <a:r>
              <a:rPr lang="en-US" sz="2400" dirty="0" err="1">
                <a:latin typeface="Times New Roman" pitchFamily="18" charset="0"/>
              </a:rPr>
              <a:t>Khoảng</a:t>
            </a:r>
            <a:r>
              <a:rPr lang="en-US" sz="2400" dirty="0">
                <a:latin typeface="Times New Roman" pitchFamily="18" charset="0"/>
              </a:rPr>
              <a:t> </a:t>
            </a:r>
            <a:r>
              <a:rPr lang="en-US" sz="2400" dirty="0" err="1">
                <a:latin typeface="Times New Roman" pitchFamily="18" charset="0"/>
              </a:rPr>
              <a:t>cách</a:t>
            </a:r>
            <a:r>
              <a:rPr lang="en-US" sz="2400" dirty="0">
                <a:latin typeface="Times New Roman" pitchFamily="18" charset="0"/>
              </a:rPr>
              <a:t> </a:t>
            </a:r>
            <a:r>
              <a:rPr lang="en-US" sz="2400" dirty="0" err="1">
                <a:latin typeface="Times New Roman" pitchFamily="18" charset="0"/>
              </a:rPr>
              <a:t>giữa</a:t>
            </a:r>
            <a:r>
              <a:rPr lang="en-US" sz="2400" dirty="0">
                <a:latin typeface="Times New Roman" pitchFamily="18" charset="0"/>
              </a:rPr>
              <a:t> </a:t>
            </a:r>
            <a:r>
              <a:rPr lang="en-US" sz="2400" dirty="0" err="1">
                <a:latin typeface="Times New Roman" pitchFamily="18" charset="0"/>
              </a:rPr>
              <a:t>hai</a:t>
            </a:r>
            <a:r>
              <a:rPr lang="en-US" sz="2400" dirty="0">
                <a:latin typeface="Times New Roman" pitchFamily="18" charset="0"/>
              </a:rPr>
              <a:t> </a:t>
            </a:r>
            <a:r>
              <a:rPr lang="en-US" sz="2400" dirty="0" err="1">
                <a:latin typeface="Times New Roman" pitchFamily="18" charset="0"/>
              </a:rPr>
              <a:t>khe</a:t>
            </a:r>
            <a:r>
              <a:rPr lang="en-US" sz="2400" dirty="0">
                <a:latin typeface="Times New Roman" pitchFamily="18" charset="0"/>
              </a:rPr>
              <a:t> </a:t>
            </a:r>
            <a:r>
              <a:rPr lang="en-US" sz="2400" dirty="0" err="1">
                <a:latin typeface="Times New Roman" pitchFamily="18" charset="0"/>
              </a:rPr>
              <a:t>hẹp</a:t>
            </a:r>
            <a:r>
              <a:rPr lang="en-US" sz="2400" dirty="0">
                <a:latin typeface="Times New Roman" pitchFamily="18" charset="0"/>
              </a:rPr>
              <a:t> </a:t>
            </a:r>
            <a:r>
              <a:rPr lang="en-US" sz="2400" dirty="0" err="1">
                <a:latin typeface="Times New Roman" pitchFamily="18" charset="0"/>
              </a:rPr>
              <a:t>liên</a:t>
            </a:r>
            <a:r>
              <a:rPr lang="en-US" sz="2400" dirty="0">
                <a:latin typeface="Times New Roman" pitchFamily="18" charset="0"/>
              </a:rPr>
              <a:t> </a:t>
            </a:r>
            <a:r>
              <a:rPr lang="en-US" sz="2400" dirty="0" err="1">
                <a:latin typeface="Times New Roman" pitchFamily="18" charset="0"/>
              </a:rPr>
              <a:t>tiếp</a:t>
            </a:r>
            <a:r>
              <a:rPr lang="en-US" sz="2400" dirty="0">
                <a:latin typeface="Times New Roman" pitchFamily="18" charset="0"/>
              </a:rPr>
              <a:t> </a:t>
            </a:r>
            <a:r>
              <a:rPr lang="en-US" sz="2400" dirty="0" err="1">
                <a:latin typeface="Times New Roman" pitchFamily="18" charset="0"/>
              </a:rPr>
              <a:t>gọi</a:t>
            </a:r>
            <a:r>
              <a:rPr lang="en-US" sz="2400" dirty="0">
                <a:latin typeface="Times New Roman" pitchFamily="18" charset="0"/>
              </a:rPr>
              <a:t> </a:t>
            </a:r>
            <a:r>
              <a:rPr lang="en-US" sz="2400" dirty="0" err="1">
                <a:latin typeface="Times New Roman" pitchFamily="18" charset="0"/>
              </a:rPr>
              <a:t>là</a:t>
            </a:r>
            <a:r>
              <a:rPr lang="en-US" sz="2400" dirty="0">
                <a:latin typeface="Times New Roman" pitchFamily="18" charset="0"/>
              </a:rPr>
              <a:t> </a:t>
            </a:r>
            <a:r>
              <a:rPr lang="en-US" sz="2400" b="1" i="1" dirty="0" err="1">
                <a:latin typeface="Times New Roman" pitchFamily="18" charset="0"/>
              </a:rPr>
              <a:t>chu</a:t>
            </a:r>
            <a:r>
              <a:rPr lang="en-US" sz="2400" b="1" i="1" dirty="0">
                <a:latin typeface="Times New Roman" pitchFamily="18" charset="0"/>
              </a:rPr>
              <a:t> </a:t>
            </a:r>
            <a:r>
              <a:rPr lang="en-US" sz="2400" b="1" i="1" dirty="0" err="1">
                <a:latin typeface="Times New Roman" pitchFamily="18" charset="0"/>
              </a:rPr>
              <a:t>kỳ</a:t>
            </a:r>
            <a:r>
              <a:rPr lang="en-US" sz="2400" b="1" i="1" dirty="0">
                <a:latin typeface="Times New Roman" pitchFamily="18" charset="0"/>
              </a:rPr>
              <a:t> </a:t>
            </a:r>
            <a:r>
              <a:rPr lang="en-US" sz="2400" b="1" i="1" dirty="0" err="1">
                <a:latin typeface="Times New Roman" pitchFamily="18" charset="0"/>
              </a:rPr>
              <a:t>cách</a:t>
            </a:r>
            <a:r>
              <a:rPr lang="en-US" sz="2400" b="1" i="1" dirty="0">
                <a:latin typeface="Times New Roman" pitchFamily="18" charset="0"/>
              </a:rPr>
              <a:t> </a:t>
            </a:r>
            <a:r>
              <a:rPr lang="en-US" sz="2400" b="1" i="1" dirty="0" err="1">
                <a:latin typeface="Times New Roman" pitchFamily="18" charset="0"/>
              </a:rPr>
              <a:t>tử</a:t>
            </a:r>
            <a:r>
              <a:rPr lang="en-US" sz="2400" b="1" i="1" dirty="0">
                <a:latin typeface="Times New Roman" pitchFamily="18" charset="0"/>
              </a:rPr>
              <a:t> </a:t>
            </a:r>
            <a:r>
              <a:rPr lang="en-US" sz="2400" b="1" dirty="0">
                <a:latin typeface="Times New Roman" pitchFamily="18" charset="0"/>
              </a:rPr>
              <a:t>d</a:t>
            </a:r>
          </a:p>
        </p:txBody>
      </p:sp>
      <p:sp>
        <p:nvSpPr>
          <p:cNvPr id="7" name="Rectangle 6"/>
          <p:cNvSpPr/>
          <p:nvPr/>
        </p:nvSpPr>
        <p:spPr>
          <a:xfrm>
            <a:off x="232636" y="4736068"/>
            <a:ext cx="4804520" cy="461665"/>
          </a:xfrm>
          <a:prstGeom prst="rect">
            <a:avLst/>
          </a:prstGeom>
        </p:spPr>
        <p:txBody>
          <a:bodyPr wrap="none">
            <a:spAutoFit/>
          </a:bodyPr>
          <a:lstStyle/>
          <a:p>
            <a:r>
              <a:rPr lang="en-US" sz="2400" dirty="0" err="1">
                <a:latin typeface="Times New Roman" pitchFamily="18" charset="0"/>
              </a:rPr>
              <a:t>Số</a:t>
            </a:r>
            <a:r>
              <a:rPr lang="en-US" sz="2400" dirty="0">
                <a:latin typeface="Times New Roman" pitchFamily="18" charset="0"/>
              </a:rPr>
              <a:t> </a:t>
            </a:r>
            <a:r>
              <a:rPr lang="en-US" sz="2400" dirty="0" err="1">
                <a:latin typeface="Times New Roman" pitchFamily="18" charset="0"/>
              </a:rPr>
              <a:t>khe</a:t>
            </a:r>
            <a:r>
              <a:rPr lang="en-US" sz="2400" dirty="0">
                <a:latin typeface="Times New Roman" pitchFamily="18" charset="0"/>
              </a:rPr>
              <a:t> </a:t>
            </a:r>
            <a:r>
              <a:rPr lang="en-US" sz="2400" dirty="0" err="1">
                <a:latin typeface="Times New Roman" pitchFamily="18" charset="0"/>
              </a:rPr>
              <a:t>hẹp</a:t>
            </a:r>
            <a:r>
              <a:rPr lang="en-US" sz="2400" dirty="0">
                <a:latin typeface="Times New Roman" pitchFamily="18" charset="0"/>
              </a:rPr>
              <a:t> </a:t>
            </a:r>
            <a:r>
              <a:rPr lang="en-US" sz="2400" dirty="0" err="1">
                <a:latin typeface="Times New Roman" pitchFamily="18" charset="0"/>
              </a:rPr>
              <a:t>trên</a:t>
            </a:r>
            <a:r>
              <a:rPr lang="en-US" sz="2400" dirty="0">
                <a:latin typeface="Times New Roman" pitchFamily="18" charset="0"/>
              </a:rPr>
              <a:t> </a:t>
            </a:r>
            <a:r>
              <a:rPr lang="en-US" sz="2400" dirty="0" err="1">
                <a:latin typeface="Times New Roman" pitchFamily="18" charset="0"/>
              </a:rPr>
              <a:t>một</a:t>
            </a:r>
            <a:r>
              <a:rPr lang="en-US" sz="2400" dirty="0">
                <a:latin typeface="Times New Roman" pitchFamily="18" charset="0"/>
              </a:rPr>
              <a:t> </a:t>
            </a:r>
            <a:r>
              <a:rPr lang="en-US" sz="2400" dirty="0" err="1">
                <a:latin typeface="Times New Roman" pitchFamily="18" charset="0"/>
              </a:rPr>
              <a:t>đơn</a:t>
            </a:r>
            <a:r>
              <a:rPr lang="en-US" sz="2400" dirty="0">
                <a:latin typeface="Times New Roman" pitchFamily="18" charset="0"/>
              </a:rPr>
              <a:t> </a:t>
            </a:r>
            <a:r>
              <a:rPr lang="en-US" sz="2400" dirty="0" err="1">
                <a:latin typeface="Times New Roman" pitchFamily="18" charset="0"/>
              </a:rPr>
              <a:t>vị</a:t>
            </a:r>
            <a:r>
              <a:rPr lang="en-US" sz="2400" dirty="0">
                <a:latin typeface="Times New Roman" pitchFamily="18" charset="0"/>
              </a:rPr>
              <a:t> </a:t>
            </a:r>
            <a:r>
              <a:rPr lang="en-US" sz="2400" dirty="0" err="1">
                <a:latin typeface="Times New Roman" pitchFamily="18" charset="0"/>
              </a:rPr>
              <a:t>chiều</a:t>
            </a:r>
            <a:r>
              <a:rPr lang="en-US" sz="2400" dirty="0">
                <a:latin typeface="Times New Roman" pitchFamily="18" charset="0"/>
              </a:rPr>
              <a:t> </a:t>
            </a:r>
            <a:r>
              <a:rPr lang="en-US" sz="2400" dirty="0" err="1">
                <a:latin typeface="Times New Roman" pitchFamily="18" charset="0"/>
              </a:rPr>
              <a:t>dài</a:t>
            </a:r>
            <a:r>
              <a:rPr lang="en-US" sz="2400" dirty="0">
                <a:latin typeface="Times New Roman" pitchFamily="18" charset="0"/>
              </a:rPr>
              <a:t>:</a:t>
            </a:r>
          </a:p>
        </p:txBody>
      </p:sp>
      <p:graphicFrame>
        <p:nvGraphicFramePr>
          <p:cNvPr id="8" name="Object 7"/>
          <p:cNvGraphicFramePr>
            <a:graphicFrameLocks noChangeAspect="1"/>
          </p:cNvGraphicFramePr>
          <p:nvPr>
            <p:extLst>
              <p:ext uri="{D42A27DB-BD31-4B8C-83A1-F6EECF244321}">
                <p14:modId xmlns:p14="http://schemas.microsoft.com/office/powerpoint/2010/main" val="4201451810"/>
              </p:ext>
            </p:extLst>
          </p:nvPr>
        </p:nvGraphicFramePr>
        <p:xfrm>
          <a:off x="4191000" y="5324475"/>
          <a:ext cx="847725" cy="847725"/>
        </p:xfrm>
        <a:graphic>
          <a:graphicData uri="http://schemas.openxmlformats.org/presentationml/2006/ole">
            <mc:AlternateContent xmlns:mc="http://schemas.openxmlformats.org/markup-compatibility/2006">
              <mc:Choice xmlns:v="urn:schemas-microsoft-com:vml" Requires="v">
                <p:oleObj spid="_x0000_s27662" name="Equation" r:id="rId3" imgW="393529" imgH="393529" progId="Equation.3">
                  <p:embed/>
                </p:oleObj>
              </mc:Choice>
              <mc:Fallback>
                <p:oleObj name="Equation" r:id="rId3" imgW="393529" imgH="39352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1000" y="5324475"/>
                        <a:ext cx="847725" cy="847725"/>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52800" y="2271595"/>
            <a:ext cx="3156310" cy="1728170"/>
          </a:xfrm>
          <a:prstGeom prst="rect">
            <a:avLst/>
          </a:prstGeom>
        </p:spPr>
      </p:pic>
    </p:spTree>
    <p:extLst>
      <p:ext uri="{BB962C8B-B14F-4D97-AF65-F5344CB8AC3E}">
        <p14:creationId xmlns:p14="http://schemas.microsoft.com/office/powerpoint/2010/main" val="1931739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down)">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0"/>
            <a:ext cx="91440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a:t>
            </a:r>
            <a:r>
              <a:rPr lang="vi-VN" sz="2400" dirty="0">
                <a:solidFill>
                  <a:srgbClr val="FFFF00"/>
                </a:solidFill>
                <a:latin typeface="Times New Roman" pitchFamily="18" charset="0"/>
                <a:cs typeface="Times New Roman" pitchFamily="18" charset="0"/>
              </a:rPr>
              <a:t>2</a:t>
            </a:r>
            <a:r>
              <a:rPr lang="en-US" sz="2400" dirty="0">
                <a:solidFill>
                  <a:srgbClr val="FFFF00"/>
                </a:solidFill>
                <a:latin typeface="Times New Roman" pitchFamily="18" charset="0"/>
                <a:cs typeface="Times New Roman" pitchFamily="18" charset="0"/>
              </a:rPr>
              <a:t>. NHIỄU XẠ ÁNH SÁNG</a:t>
            </a:r>
          </a:p>
        </p:txBody>
      </p:sp>
      <p:sp>
        <p:nvSpPr>
          <p:cNvPr id="2" name="Rectangle 1"/>
          <p:cNvSpPr/>
          <p:nvPr/>
        </p:nvSpPr>
        <p:spPr>
          <a:xfrm>
            <a:off x="76200" y="762000"/>
            <a:ext cx="8991600" cy="1569660"/>
          </a:xfrm>
          <a:prstGeom prst="rect">
            <a:avLst/>
          </a:prstGeom>
        </p:spPr>
        <p:txBody>
          <a:bodyPr wrap="square">
            <a:spAutoFit/>
          </a:bodyPr>
          <a:lstStyle/>
          <a:p>
            <a:pPr algn="just"/>
            <a:r>
              <a:rPr lang="en-US" sz="2400" dirty="0" err="1">
                <a:latin typeface="Times New Roman" pitchFamily="18" charset="0"/>
              </a:rPr>
              <a:t>Chiếu</a:t>
            </a:r>
            <a:r>
              <a:rPr lang="en-US" sz="2400" dirty="0">
                <a:latin typeface="Times New Roman" pitchFamily="18" charset="0"/>
              </a:rPr>
              <a:t> </a:t>
            </a:r>
            <a:r>
              <a:rPr lang="en-US" sz="2400" dirty="0" err="1">
                <a:latin typeface="Times New Roman" pitchFamily="18" charset="0"/>
              </a:rPr>
              <a:t>một</a:t>
            </a:r>
            <a:r>
              <a:rPr lang="en-US" sz="2400" dirty="0">
                <a:latin typeface="Times New Roman" pitchFamily="18" charset="0"/>
              </a:rPr>
              <a:t> </a:t>
            </a:r>
            <a:r>
              <a:rPr lang="en-US" sz="2400" dirty="0" err="1">
                <a:latin typeface="Times New Roman" pitchFamily="18" charset="0"/>
              </a:rPr>
              <a:t>chùm</a:t>
            </a:r>
            <a:r>
              <a:rPr lang="en-US" sz="2400" dirty="0">
                <a:latin typeface="Times New Roman" pitchFamily="18" charset="0"/>
              </a:rPr>
              <a:t> </a:t>
            </a:r>
            <a:r>
              <a:rPr lang="en-US" sz="2400" dirty="0" err="1">
                <a:latin typeface="Times New Roman" pitchFamily="18" charset="0"/>
              </a:rPr>
              <a:t>tia</a:t>
            </a:r>
            <a:r>
              <a:rPr lang="en-US" sz="2400" dirty="0">
                <a:latin typeface="Times New Roman" pitchFamily="18" charset="0"/>
              </a:rPr>
              <a:t> </a:t>
            </a:r>
            <a:r>
              <a:rPr lang="en-US" sz="2400" dirty="0" err="1">
                <a:latin typeface="Times New Roman" pitchFamily="18" charset="0"/>
              </a:rPr>
              <a:t>sáng</a:t>
            </a:r>
            <a:r>
              <a:rPr lang="en-US" sz="2400" dirty="0">
                <a:latin typeface="Times New Roman" pitchFamily="18" charset="0"/>
              </a:rPr>
              <a:t> </a:t>
            </a:r>
            <a:r>
              <a:rPr lang="en-US" sz="2400" dirty="0" err="1">
                <a:latin typeface="Times New Roman" pitchFamily="18" charset="0"/>
              </a:rPr>
              <a:t>đơn</a:t>
            </a:r>
            <a:r>
              <a:rPr lang="en-US" sz="2400" dirty="0">
                <a:latin typeface="Times New Roman" pitchFamily="18" charset="0"/>
              </a:rPr>
              <a:t> </a:t>
            </a:r>
            <a:r>
              <a:rPr lang="en-US" sz="2400" dirty="0" err="1">
                <a:latin typeface="Times New Roman" pitchFamily="18" charset="0"/>
              </a:rPr>
              <a:t>sắc</a:t>
            </a:r>
            <a:r>
              <a:rPr lang="en-US" sz="2400" dirty="0">
                <a:latin typeface="Times New Roman" pitchFamily="18" charset="0"/>
              </a:rPr>
              <a:t> song </a:t>
            </a:r>
            <a:r>
              <a:rPr lang="en-US" sz="2400" dirty="0" err="1">
                <a:latin typeface="Times New Roman" pitchFamily="18" charset="0"/>
              </a:rPr>
              <a:t>song</a:t>
            </a:r>
            <a:r>
              <a:rPr lang="en-US" sz="2400" dirty="0">
                <a:latin typeface="Times New Roman" pitchFamily="18" charset="0"/>
              </a:rPr>
              <a:t> </a:t>
            </a:r>
            <a:r>
              <a:rPr lang="en-US" sz="2400" dirty="0" err="1">
                <a:latin typeface="Times New Roman" pitchFamily="18" charset="0"/>
              </a:rPr>
              <a:t>vuông</a:t>
            </a:r>
            <a:r>
              <a:rPr lang="en-US" sz="2400" dirty="0">
                <a:latin typeface="Times New Roman" pitchFamily="18" charset="0"/>
              </a:rPr>
              <a:t> </a:t>
            </a:r>
            <a:r>
              <a:rPr lang="en-US" sz="2400" dirty="0" err="1">
                <a:latin typeface="Times New Roman" pitchFamily="18" charset="0"/>
              </a:rPr>
              <a:t>góc</a:t>
            </a:r>
            <a:r>
              <a:rPr lang="en-US" sz="2400" dirty="0">
                <a:latin typeface="Times New Roman" pitchFamily="18" charset="0"/>
              </a:rPr>
              <a:t> </a:t>
            </a:r>
            <a:r>
              <a:rPr lang="en-US" sz="2400" dirty="0" err="1">
                <a:latin typeface="Times New Roman" pitchFamily="18" charset="0"/>
              </a:rPr>
              <a:t>với</a:t>
            </a:r>
            <a:r>
              <a:rPr lang="en-US" sz="2400" dirty="0">
                <a:latin typeface="Times New Roman" pitchFamily="18" charset="0"/>
              </a:rPr>
              <a:t> </a:t>
            </a:r>
            <a:r>
              <a:rPr lang="en-US" sz="2400" dirty="0" err="1">
                <a:latin typeface="Times New Roman" pitchFamily="18" charset="0"/>
              </a:rPr>
              <a:t>cách</a:t>
            </a:r>
            <a:r>
              <a:rPr lang="en-US" sz="2400" dirty="0">
                <a:latin typeface="Times New Roman" pitchFamily="18" charset="0"/>
              </a:rPr>
              <a:t> </a:t>
            </a:r>
            <a:r>
              <a:rPr lang="en-US" sz="2400" dirty="0" err="1">
                <a:latin typeface="Times New Roman" pitchFamily="18" charset="0"/>
              </a:rPr>
              <a:t>tử</a:t>
            </a:r>
            <a:r>
              <a:rPr lang="en-US" sz="2400" dirty="0">
                <a:latin typeface="Times New Roman" pitchFamily="18" charset="0"/>
              </a:rPr>
              <a:t> </a:t>
            </a:r>
            <a:r>
              <a:rPr lang="en-US" sz="2400" dirty="0" err="1">
                <a:latin typeface="Times New Roman" pitchFamily="18" charset="0"/>
              </a:rPr>
              <a:t>nhiễu</a:t>
            </a:r>
            <a:r>
              <a:rPr lang="en-US" sz="2400" dirty="0">
                <a:latin typeface="Times New Roman" pitchFamily="18" charset="0"/>
              </a:rPr>
              <a:t> </a:t>
            </a:r>
            <a:r>
              <a:rPr lang="en-US" sz="2400" dirty="0" err="1">
                <a:latin typeface="Times New Roman" pitchFamily="18" charset="0"/>
              </a:rPr>
              <a:t>xạ</a:t>
            </a:r>
            <a:r>
              <a:rPr lang="en-US" sz="2400" dirty="0">
                <a:latin typeface="Times New Roman" pitchFamily="18" charset="0"/>
              </a:rPr>
              <a:t> </a:t>
            </a:r>
            <a:r>
              <a:rPr lang="en-US" sz="2400" dirty="0" err="1">
                <a:latin typeface="Times New Roman" pitchFamily="18" charset="0"/>
              </a:rPr>
              <a:t>gồm</a:t>
            </a:r>
            <a:r>
              <a:rPr lang="en-US" sz="2400" dirty="0">
                <a:latin typeface="Times New Roman" pitchFamily="18" charset="0"/>
              </a:rPr>
              <a:t> n </a:t>
            </a:r>
            <a:r>
              <a:rPr lang="en-US" sz="2400" dirty="0" err="1">
                <a:latin typeface="Times New Roman" pitchFamily="18" charset="0"/>
              </a:rPr>
              <a:t>khe</a:t>
            </a:r>
            <a:r>
              <a:rPr lang="en-US" sz="2400" dirty="0">
                <a:latin typeface="Times New Roman" pitchFamily="18" charset="0"/>
              </a:rPr>
              <a:t> </a:t>
            </a:r>
            <a:r>
              <a:rPr lang="en-US" sz="2400" dirty="0" err="1">
                <a:latin typeface="Times New Roman" pitchFamily="18" charset="0"/>
              </a:rPr>
              <a:t>hẹp</a:t>
            </a:r>
            <a:r>
              <a:rPr lang="en-US" sz="2400" dirty="0">
                <a:latin typeface="Times New Roman" pitchFamily="18" charset="0"/>
              </a:rPr>
              <a:t> </a:t>
            </a:r>
            <a:r>
              <a:rPr lang="en-US" sz="2400" dirty="0" err="1">
                <a:latin typeface="Times New Roman" pitchFamily="18" charset="0"/>
              </a:rPr>
              <a:t>có</a:t>
            </a:r>
            <a:r>
              <a:rPr lang="en-US" sz="2400" dirty="0">
                <a:latin typeface="Times New Roman" pitchFamily="18" charset="0"/>
              </a:rPr>
              <a:t> </a:t>
            </a:r>
            <a:r>
              <a:rPr lang="en-US" sz="2400" dirty="0" err="1">
                <a:latin typeface="Times New Roman" pitchFamily="18" charset="0"/>
              </a:rPr>
              <a:t>chu</a:t>
            </a:r>
            <a:r>
              <a:rPr lang="en-US" sz="2400" dirty="0">
                <a:latin typeface="Times New Roman" pitchFamily="18" charset="0"/>
              </a:rPr>
              <a:t> </a:t>
            </a:r>
            <a:r>
              <a:rPr lang="en-US" sz="2400" dirty="0" err="1">
                <a:latin typeface="Times New Roman" pitchFamily="18" charset="0"/>
              </a:rPr>
              <a:t>kỳ</a:t>
            </a:r>
            <a:r>
              <a:rPr lang="en-US" sz="2400" dirty="0">
                <a:latin typeface="Times New Roman" pitchFamily="18" charset="0"/>
              </a:rPr>
              <a:t> d, n</a:t>
            </a:r>
            <a:r>
              <a:rPr lang="vi-VN" sz="2400" dirty="0">
                <a:latin typeface="Times New Roman" pitchFamily="18" charset="0"/>
              </a:rPr>
              <a:t>goài hiện t</a:t>
            </a:r>
            <a:r>
              <a:rPr lang="en-US" sz="2400" dirty="0">
                <a:latin typeface="Times New Roman" pitchFamily="18" charset="0"/>
              </a:rPr>
              <a:t>ư</a:t>
            </a:r>
            <a:r>
              <a:rPr lang="vi-VN" sz="2400" dirty="0">
                <a:latin typeface="Times New Roman" pitchFamily="18" charset="0"/>
              </a:rPr>
              <a:t>ợng </a:t>
            </a:r>
            <a:r>
              <a:rPr lang="en-US" sz="2400" dirty="0" err="1">
                <a:latin typeface="Times New Roman" pitchFamily="18" charset="0"/>
              </a:rPr>
              <a:t>giao</a:t>
            </a:r>
            <a:r>
              <a:rPr lang="en-US" sz="2400" dirty="0">
                <a:latin typeface="Times New Roman" pitchFamily="18" charset="0"/>
              </a:rPr>
              <a:t> </a:t>
            </a:r>
            <a:r>
              <a:rPr lang="en-US" sz="2400" dirty="0" err="1">
                <a:latin typeface="Times New Roman" pitchFamily="18" charset="0"/>
              </a:rPr>
              <a:t>thoa</a:t>
            </a:r>
            <a:r>
              <a:rPr lang="en-US" sz="2400" dirty="0">
                <a:latin typeface="Times New Roman" pitchFamily="18" charset="0"/>
              </a:rPr>
              <a:t> </a:t>
            </a:r>
            <a:r>
              <a:rPr lang="en-US" sz="2400" dirty="0" err="1">
                <a:latin typeface="Times New Roman" pitchFamily="18" charset="0"/>
              </a:rPr>
              <a:t>gây</a:t>
            </a:r>
            <a:r>
              <a:rPr lang="en-US" sz="2400" dirty="0">
                <a:latin typeface="Times New Roman" pitchFamily="18" charset="0"/>
              </a:rPr>
              <a:t> </a:t>
            </a:r>
            <a:r>
              <a:rPr lang="en-US" sz="2400" dirty="0" err="1">
                <a:latin typeface="Times New Roman" pitchFamily="18" charset="0"/>
              </a:rPr>
              <a:t>bởi</a:t>
            </a:r>
            <a:r>
              <a:rPr lang="en-US" sz="2400" dirty="0">
                <a:latin typeface="Times New Roman" pitchFamily="18" charset="0"/>
              </a:rPr>
              <a:t> </a:t>
            </a:r>
            <a:r>
              <a:rPr lang="en-US" sz="2400" dirty="0" err="1">
                <a:latin typeface="Times New Roman" pitchFamily="18" charset="0"/>
              </a:rPr>
              <a:t>các</a:t>
            </a:r>
            <a:r>
              <a:rPr lang="en-US" sz="2400" dirty="0">
                <a:latin typeface="Times New Roman" pitchFamily="18" charset="0"/>
              </a:rPr>
              <a:t> </a:t>
            </a:r>
            <a:r>
              <a:rPr lang="en-US" sz="2400" dirty="0" err="1">
                <a:latin typeface="Times New Roman" pitchFamily="18" charset="0"/>
              </a:rPr>
              <a:t>tia</a:t>
            </a:r>
            <a:r>
              <a:rPr lang="en-US" sz="2400" dirty="0">
                <a:latin typeface="Times New Roman" pitchFamily="18" charset="0"/>
              </a:rPr>
              <a:t> </a:t>
            </a:r>
            <a:r>
              <a:rPr lang="vi-VN" sz="2400" dirty="0">
                <a:latin typeface="Times New Roman" pitchFamily="18" charset="0"/>
              </a:rPr>
              <a:t>nhiễu xạ </a:t>
            </a:r>
            <a:r>
              <a:rPr lang="en-US" sz="2400" dirty="0">
                <a:latin typeface="Times New Roman" pitchFamily="18" charset="0"/>
              </a:rPr>
              <a:t>qua</a:t>
            </a:r>
            <a:r>
              <a:rPr lang="vi-VN" sz="2400" dirty="0">
                <a:latin typeface="Times New Roman" pitchFamily="18" charset="0"/>
              </a:rPr>
              <a:t> một khe còn có hiện t</a:t>
            </a:r>
            <a:r>
              <a:rPr lang="en-US" sz="2400" dirty="0">
                <a:latin typeface="Times New Roman" pitchFamily="18" charset="0"/>
              </a:rPr>
              <a:t>ư</a:t>
            </a:r>
            <a:r>
              <a:rPr lang="vi-VN" sz="2400" dirty="0">
                <a:latin typeface="Times New Roman" pitchFamily="18" charset="0"/>
              </a:rPr>
              <a:t>ợng giao thoa gây bởi các </a:t>
            </a:r>
            <a:r>
              <a:rPr lang="en-US" sz="2400" dirty="0" err="1">
                <a:latin typeface="Times New Roman" pitchFamily="18" charset="0"/>
              </a:rPr>
              <a:t>tia</a:t>
            </a:r>
            <a:r>
              <a:rPr lang="en-US" sz="2400" dirty="0">
                <a:latin typeface="Times New Roman" pitchFamily="18" charset="0"/>
              </a:rPr>
              <a:t> </a:t>
            </a:r>
            <a:r>
              <a:rPr lang="en-US" sz="2400" dirty="0" err="1">
                <a:latin typeface="Times New Roman" pitchFamily="18" charset="0"/>
              </a:rPr>
              <a:t>nhiễu</a:t>
            </a:r>
            <a:r>
              <a:rPr lang="en-US" sz="2400" dirty="0">
                <a:latin typeface="Times New Roman" pitchFamily="18" charset="0"/>
              </a:rPr>
              <a:t> </a:t>
            </a:r>
            <a:r>
              <a:rPr lang="en-US" sz="2400" dirty="0" err="1">
                <a:latin typeface="Times New Roman" pitchFamily="18" charset="0"/>
              </a:rPr>
              <a:t>xạ</a:t>
            </a:r>
            <a:r>
              <a:rPr lang="en-US" sz="2400" dirty="0">
                <a:latin typeface="Times New Roman" pitchFamily="18" charset="0"/>
              </a:rPr>
              <a:t> qua </a:t>
            </a:r>
            <a:r>
              <a:rPr lang="en-US" sz="2400" dirty="0" err="1">
                <a:latin typeface="Times New Roman" pitchFamily="18" charset="0"/>
              </a:rPr>
              <a:t>các</a:t>
            </a:r>
            <a:r>
              <a:rPr lang="en-US" sz="2400" dirty="0">
                <a:latin typeface="Times New Roman" pitchFamily="18" charset="0"/>
              </a:rPr>
              <a:t> </a:t>
            </a:r>
            <a:r>
              <a:rPr lang="vi-VN" sz="2400" dirty="0">
                <a:latin typeface="Times New Roman" pitchFamily="18" charset="0"/>
              </a:rPr>
              <a:t>khe. </a:t>
            </a:r>
            <a:endParaRPr lang="en-US" sz="2400" dirty="0">
              <a:latin typeface="Times New Roman" pitchFamily="18" charset="0"/>
            </a:endParaRPr>
          </a:p>
        </p:txBody>
      </p:sp>
      <p:sp>
        <p:nvSpPr>
          <p:cNvPr id="3" name="Rectangle 2"/>
          <p:cNvSpPr/>
          <p:nvPr/>
        </p:nvSpPr>
        <p:spPr>
          <a:xfrm>
            <a:off x="76200" y="2331660"/>
            <a:ext cx="8915400" cy="1107996"/>
          </a:xfrm>
          <a:prstGeom prst="rect">
            <a:avLst/>
          </a:prstGeom>
        </p:spPr>
        <p:txBody>
          <a:bodyPr wrap="square">
            <a:spAutoFit/>
          </a:bodyPr>
          <a:lstStyle/>
          <a:p>
            <a:r>
              <a:rPr lang="vi-VN" sz="2400" dirty="0">
                <a:latin typeface="+mj-lt"/>
              </a:rPr>
              <a:t>- Tất cả </a:t>
            </a:r>
            <a:r>
              <a:rPr lang="en-US" sz="2400" dirty="0">
                <a:latin typeface="+mj-lt"/>
              </a:rPr>
              <a:t>n</a:t>
            </a:r>
            <a:r>
              <a:rPr lang="vi-VN" sz="2400" dirty="0">
                <a:latin typeface="+mj-lt"/>
              </a:rPr>
              <a:t> khe hẹp đều cho cực tiểu nhiễu xạ tại những điểm trên màn </a:t>
            </a:r>
            <a:r>
              <a:rPr lang="en-US" sz="2400" dirty="0" err="1">
                <a:latin typeface="Times New Roman" pitchFamily="18" charset="0"/>
                <a:cs typeface="Times New Roman" pitchFamily="18" charset="0"/>
              </a:rPr>
              <a:t>quan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sát</a:t>
            </a:r>
            <a:r>
              <a:rPr lang="en-US" sz="2400" dirty="0">
                <a:latin typeface="Times New Roman" pitchFamily="18" charset="0"/>
                <a:cs typeface="Times New Roman" pitchFamily="18" charset="0"/>
              </a:rPr>
              <a:t> (</a:t>
            </a:r>
            <a:r>
              <a:rPr lang="en-US" sz="2400" dirty="0" err="1">
                <a:solidFill>
                  <a:srgbClr val="FF0000"/>
                </a:solidFill>
                <a:latin typeface="Times New Roman" pitchFamily="18" charset="0"/>
                <a:cs typeface="Times New Roman" pitchFamily="18" charset="0"/>
              </a:rPr>
              <a:t>cực</a:t>
            </a:r>
            <a:r>
              <a:rPr lang="en-US" sz="2400" dirty="0">
                <a:solidFill>
                  <a:srgbClr val="FF0000"/>
                </a:solidFill>
                <a:latin typeface="Times New Roman" pitchFamily="18" charset="0"/>
                <a:cs typeface="Times New Roman" pitchFamily="18" charset="0"/>
              </a:rPr>
              <a:t> </a:t>
            </a:r>
            <a:r>
              <a:rPr lang="en-US" sz="2400" dirty="0" err="1">
                <a:solidFill>
                  <a:srgbClr val="FF0000"/>
                </a:solidFill>
                <a:latin typeface="Times New Roman" pitchFamily="18" charset="0"/>
                <a:cs typeface="Times New Roman" pitchFamily="18" charset="0"/>
              </a:rPr>
              <a:t>tiểu</a:t>
            </a:r>
            <a:r>
              <a:rPr lang="en-US" sz="2400" dirty="0">
                <a:solidFill>
                  <a:srgbClr val="FF0000"/>
                </a:solidFill>
                <a:latin typeface="Times New Roman" pitchFamily="18" charset="0"/>
                <a:cs typeface="Times New Roman" pitchFamily="18" charset="0"/>
              </a:rPr>
              <a:t> </a:t>
            </a:r>
            <a:r>
              <a:rPr lang="en-US" sz="2400" dirty="0" err="1">
                <a:solidFill>
                  <a:srgbClr val="FF0000"/>
                </a:solidFill>
                <a:latin typeface="Times New Roman" pitchFamily="18" charset="0"/>
                <a:cs typeface="Times New Roman" pitchFamily="18" charset="0"/>
              </a:rPr>
              <a:t>chính</a:t>
            </a:r>
            <a:r>
              <a:rPr lang="en-US" sz="2400" dirty="0">
                <a:latin typeface="Times New Roman" pitchFamily="18" charset="0"/>
                <a:cs typeface="Times New Roman" pitchFamily="18" charset="0"/>
              </a:rPr>
              <a:t>) </a:t>
            </a:r>
            <a:r>
              <a:rPr lang="vi-VN" sz="2400" dirty="0">
                <a:latin typeface="+mj-lt"/>
              </a:rPr>
              <a:t>thỏa mãn điều  kiện:</a:t>
            </a:r>
          </a:p>
          <a:p>
            <a:r>
              <a:rPr lang="vi-VN" dirty="0"/>
              <a:t> </a:t>
            </a:r>
            <a:endParaRPr lang="en-US" dirty="0"/>
          </a:p>
        </p:txBody>
      </p:sp>
      <p:graphicFrame>
        <p:nvGraphicFramePr>
          <p:cNvPr id="7" name="Object 6"/>
          <p:cNvGraphicFramePr>
            <a:graphicFrameLocks noChangeAspect="1"/>
          </p:cNvGraphicFramePr>
          <p:nvPr>
            <p:extLst>
              <p:ext uri="{D42A27DB-BD31-4B8C-83A1-F6EECF244321}">
                <p14:modId xmlns:p14="http://schemas.microsoft.com/office/powerpoint/2010/main" val="3814149351"/>
              </p:ext>
            </p:extLst>
          </p:nvPr>
        </p:nvGraphicFramePr>
        <p:xfrm>
          <a:off x="3475038" y="3733800"/>
          <a:ext cx="3230562" cy="722313"/>
        </p:xfrm>
        <a:graphic>
          <a:graphicData uri="http://schemas.openxmlformats.org/presentationml/2006/ole">
            <mc:AlternateContent xmlns:mc="http://schemas.openxmlformats.org/markup-compatibility/2006">
              <mc:Choice xmlns:v="urn:schemas-microsoft-com:vml" Requires="v">
                <p:oleObj spid="_x0000_s28686" name="Equation" r:id="rId3" imgW="1752480" imgH="393480" progId="Equation.3">
                  <p:embed/>
                </p:oleObj>
              </mc:Choice>
              <mc:Fallback>
                <p:oleObj name="Equation" r:id="rId3" imgW="1752480" imgH="393480" progId="Equation.3">
                  <p:embed/>
                  <p:pic>
                    <p:nvPicPr>
                      <p:cNvPr id="0" name=""/>
                      <p:cNvPicPr>
                        <a:picLocks noChangeAspect="1" noChangeArrowheads="1"/>
                      </p:cNvPicPr>
                      <p:nvPr/>
                    </p:nvPicPr>
                    <p:blipFill>
                      <a:blip r:embed="rId4"/>
                      <a:srcRect/>
                      <a:stretch>
                        <a:fillRect/>
                      </a:stretch>
                    </p:blipFill>
                    <p:spPr bwMode="auto">
                      <a:xfrm>
                        <a:off x="3475038" y="3733800"/>
                        <a:ext cx="3230562" cy="722313"/>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566204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0"/>
            <a:ext cx="91440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a:t>
            </a:r>
            <a:r>
              <a:rPr lang="vi-VN" sz="2400" dirty="0">
                <a:solidFill>
                  <a:srgbClr val="FFFF00"/>
                </a:solidFill>
                <a:latin typeface="Times New Roman" pitchFamily="18" charset="0"/>
                <a:cs typeface="Times New Roman" pitchFamily="18" charset="0"/>
              </a:rPr>
              <a:t>2</a:t>
            </a:r>
            <a:r>
              <a:rPr lang="en-US" sz="2400" dirty="0">
                <a:solidFill>
                  <a:srgbClr val="FFFF00"/>
                </a:solidFill>
                <a:latin typeface="Times New Roman" pitchFamily="18" charset="0"/>
                <a:cs typeface="Times New Roman" pitchFamily="18" charset="0"/>
              </a:rPr>
              <a:t>. NHIỄU XẠ ÁNH SÁNG</a:t>
            </a:r>
          </a:p>
        </p:txBody>
      </p:sp>
      <p:sp>
        <p:nvSpPr>
          <p:cNvPr id="2" name="Rectangle 1"/>
          <p:cNvSpPr/>
          <p:nvPr/>
        </p:nvSpPr>
        <p:spPr>
          <a:xfrm>
            <a:off x="-76200" y="533400"/>
            <a:ext cx="7924800" cy="461665"/>
          </a:xfrm>
          <a:prstGeom prst="rect">
            <a:avLst/>
          </a:prstGeom>
        </p:spPr>
        <p:txBody>
          <a:bodyPr wrap="square">
            <a:spAutoFit/>
          </a:bodyPr>
          <a:lstStyle/>
          <a:p>
            <a:r>
              <a:rPr lang="en-US" sz="2400" dirty="0">
                <a:solidFill>
                  <a:srgbClr val="FF0000"/>
                </a:solidFill>
                <a:latin typeface="Times New Roman" pitchFamily="18" charset="0"/>
              </a:rPr>
              <a:t>*</a:t>
            </a:r>
            <a:r>
              <a:rPr lang="en-US" sz="2400" dirty="0" err="1">
                <a:solidFill>
                  <a:srgbClr val="FF0000"/>
                </a:solidFill>
                <a:latin typeface="Times New Roman" pitchFamily="18" charset="0"/>
              </a:rPr>
              <a:t>Xét</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sự</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phân</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bố</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cường</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độ</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sáng</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giữa</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hai</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cực</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tiểu</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chính</a:t>
            </a:r>
            <a:r>
              <a:rPr lang="en-US" sz="2400" dirty="0">
                <a:solidFill>
                  <a:srgbClr val="FF0000"/>
                </a:solidFill>
                <a:latin typeface="Times New Roman" pitchFamily="18" charset="0"/>
              </a:rPr>
              <a:t>:</a:t>
            </a:r>
          </a:p>
        </p:txBody>
      </p:sp>
      <p:sp>
        <p:nvSpPr>
          <p:cNvPr id="3" name="Rectangle 2"/>
          <p:cNvSpPr/>
          <p:nvPr/>
        </p:nvSpPr>
        <p:spPr>
          <a:xfrm>
            <a:off x="152400" y="3576935"/>
            <a:ext cx="6687208" cy="461665"/>
          </a:xfrm>
          <a:prstGeom prst="rect">
            <a:avLst/>
          </a:prstGeom>
        </p:spPr>
        <p:txBody>
          <a:bodyPr wrap="square">
            <a:spAutoFit/>
          </a:bodyPr>
          <a:lstStyle/>
          <a:p>
            <a:r>
              <a:rPr lang="en-US" sz="2400" dirty="0" err="1">
                <a:latin typeface="Times New Roman" pitchFamily="18" charset="0"/>
              </a:rPr>
              <a:t>Hiệu</a:t>
            </a:r>
            <a:r>
              <a:rPr lang="en-US" sz="2400" dirty="0">
                <a:latin typeface="Times New Roman" pitchFamily="18" charset="0"/>
              </a:rPr>
              <a:t> </a:t>
            </a:r>
            <a:r>
              <a:rPr lang="en-US" sz="2400" dirty="0" err="1">
                <a:latin typeface="Times New Roman" pitchFamily="18" charset="0"/>
              </a:rPr>
              <a:t>quang</a:t>
            </a:r>
            <a:r>
              <a:rPr lang="en-US" sz="2400" dirty="0">
                <a:latin typeface="Times New Roman" pitchFamily="18" charset="0"/>
              </a:rPr>
              <a:t> </a:t>
            </a:r>
            <a:r>
              <a:rPr lang="en-US" sz="2400" dirty="0" err="1">
                <a:latin typeface="Times New Roman" pitchFamily="18" charset="0"/>
              </a:rPr>
              <a:t>lộ</a:t>
            </a:r>
            <a:r>
              <a:rPr lang="en-US" sz="2400" dirty="0">
                <a:latin typeface="Times New Roman" pitchFamily="18" charset="0"/>
              </a:rPr>
              <a:t> </a:t>
            </a:r>
            <a:r>
              <a:rPr lang="en-US" sz="2400" dirty="0" err="1">
                <a:latin typeface="Times New Roman" pitchFamily="18" charset="0"/>
              </a:rPr>
              <a:t>của</a:t>
            </a:r>
            <a:r>
              <a:rPr lang="en-US" sz="2400" dirty="0">
                <a:latin typeface="Times New Roman" pitchFamily="18" charset="0"/>
              </a:rPr>
              <a:t> 2 </a:t>
            </a:r>
            <a:r>
              <a:rPr lang="en-US" sz="2400" dirty="0" err="1">
                <a:latin typeface="Times New Roman" pitchFamily="18" charset="0"/>
              </a:rPr>
              <a:t>tia</a:t>
            </a:r>
            <a:r>
              <a:rPr lang="en-US" sz="2400" dirty="0">
                <a:latin typeface="Times New Roman" pitchFamily="18" charset="0"/>
              </a:rPr>
              <a:t> </a:t>
            </a:r>
            <a:r>
              <a:rPr lang="en-US" sz="2400" dirty="0" err="1">
                <a:latin typeface="Times New Roman" pitchFamily="18" charset="0"/>
              </a:rPr>
              <a:t>sáng</a:t>
            </a:r>
            <a:r>
              <a:rPr lang="en-US" sz="2400" dirty="0">
                <a:latin typeface="Times New Roman" pitchFamily="18" charset="0"/>
              </a:rPr>
              <a:t> </a:t>
            </a:r>
            <a:r>
              <a:rPr lang="en-US" sz="2400" dirty="0" err="1">
                <a:latin typeface="Times New Roman" pitchFamily="18" charset="0"/>
              </a:rPr>
              <a:t>từ</a:t>
            </a:r>
            <a:r>
              <a:rPr lang="en-US" sz="2400" dirty="0">
                <a:latin typeface="Times New Roman" pitchFamily="18" charset="0"/>
              </a:rPr>
              <a:t> </a:t>
            </a:r>
            <a:r>
              <a:rPr lang="en-US" sz="2400" dirty="0" err="1">
                <a:latin typeface="Times New Roman" pitchFamily="18" charset="0"/>
              </a:rPr>
              <a:t>hai</a:t>
            </a:r>
            <a:r>
              <a:rPr lang="en-US" sz="2400" dirty="0">
                <a:latin typeface="Times New Roman" pitchFamily="18" charset="0"/>
              </a:rPr>
              <a:t> </a:t>
            </a:r>
            <a:r>
              <a:rPr lang="en-US" sz="2400" dirty="0" err="1">
                <a:latin typeface="Times New Roman" pitchFamily="18" charset="0"/>
              </a:rPr>
              <a:t>khe</a:t>
            </a:r>
            <a:r>
              <a:rPr lang="en-US" sz="2400" dirty="0">
                <a:latin typeface="Times New Roman" pitchFamily="18" charset="0"/>
              </a:rPr>
              <a:t> </a:t>
            </a:r>
            <a:r>
              <a:rPr lang="en-US" sz="2400" dirty="0" err="1">
                <a:latin typeface="Times New Roman" pitchFamily="18" charset="0"/>
              </a:rPr>
              <a:t>kế</a:t>
            </a:r>
            <a:r>
              <a:rPr lang="en-US" sz="2400" dirty="0">
                <a:latin typeface="Times New Roman" pitchFamily="18" charset="0"/>
              </a:rPr>
              <a:t> </a:t>
            </a:r>
            <a:r>
              <a:rPr lang="en-US" sz="2400" dirty="0" err="1">
                <a:latin typeface="Times New Roman" pitchFamily="18" charset="0"/>
              </a:rPr>
              <a:t>tiếp</a:t>
            </a:r>
            <a:r>
              <a:rPr lang="en-US" sz="2400" dirty="0">
                <a:latin typeface="Times New Roman" pitchFamily="18" charset="0"/>
              </a:rPr>
              <a:t>:</a:t>
            </a:r>
          </a:p>
        </p:txBody>
      </p:sp>
      <p:sp>
        <p:nvSpPr>
          <p:cNvPr id="7" name="Rectangle 6"/>
          <p:cNvSpPr/>
          <p:nvPr/>
        </p:nvSpPr>
        <p:spPr>
          <a:xfrm>
            <a:off x="152400" y="4034135"/>
            <a:ext cx="8915400" cy="461665"/>
          </a:xfrm>
          <a:prstGeom prst="rect">
            <a:avLst/>
          </a:prstGeom>
        </p:spPr>
        <p:txBody>
          <a:bodyPr wrap="square">
            <a:spAutoFit/>
          </a:bodyPr>
          <a:lstStyle/>
          <a:p>
            <a:r>
              <a:rPr lang="en-US" sz="2400" dirty="0">
                <a:latin typeface="Times New Roman" pitchFamily="18" charset="0"/>
              </a:rPr>
              <a:t>L</a:t>
            </a:r>
            <a:r>
              <a:rPr lang="en-US" sz="2400" baseline="-25000" dirty="0">
                <a:latin typeface="Times New Roman" pitchFamily="18" charset="0"/>
              </a:rPr>
              <a:t>2</a:t>
            </a:r>
            <a:r>
              <a:rPr lang="en-US" sz="2400" dirty="0">
                <a:latin typeface="Times New Roman" pitchFamily="18" charset="0"/>
              </a:rPr>
              <a:t> –L</a:t>
            </a:r>
            <a:r>
              <a:rPr lang="en-US" sz="2400" baseline="-25000" dirty="0">
                <a:latin typeface="Times New Roman" pitchFamily="18" charset="0"/>
              </a:rPr>
              <a:t>1 </a:t>
            </a:r>
            <a:r>
              <a:rPr lang="en-US" sz="2400" dirty="0">
                <a:latin typeface="Times New Roman" pitchFamily="18" charset="0"/>
              </a:rPr>
              <a:t>= </a:t>
            </a:r>
            <a:r>
              <a:rPr lang="en-US" sz="2400" dirty="0" err="1">
                <a:latin typeface="Times New Roman" pitchFamily="18" charset="0"/>
              </a:rPr>
              <a:t>dsin</a:t>
            </a:r>
            <a:r>
              <a:rPr lang="el-GR" sz="2400" dirty="0">
                <a:latin typeface="Times New Roman" pitchFamily="18" charset="0"/>
                <a:cs typeface="Times New Roman" pitchFamily="18" charset="0"/>
              </a:rPr>
              <a:t>φ</a:t>
            </a:r>
            <a:r>
              <a:rPr lang="en-US" sz="2400" dirty="0">
                <a:latin typeface="Times New Roman" pitchFamily="18" charset="0"/>
                <a:cs typeface="Times New Roman" pitchFamily="18" charset="0"/>
              </a:rPr>
              <a:t>’ = m</a:t>
            </a:r>
            <a:r>
              <a:rPr lang="el-GR" sz="2400" dirty="0">
                <a:latin typeface="Times New Roman" pitchFamily="18" charset="0"/>
                <a:cs typeface="Times New Roman" pitchFamily="18" charset="0"/>
              </a:rPr>
              <a:t>λ</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thì</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tại</a:t>
            </a:r>
            <a:r>
              <a:rPr lang="en-US" sz="2400" dirty="0">
                <a:latin typeface="Times New Roman" pitchFamily="18" charset="0"/>
                <a:cs typeface="Times New Roman" pitchFamily="18" charset="0"/>
              </a:rPr>
              <a:t> M </a:t>
            </a:r>
            <a:r>
              <a:rPr lang="en-US" sz="2400" dirty="0" err="1">
                <a:latin typeface="Times New Roman" pitchFamily="18" charset="0"/>
                <a:cs typeface="Times New Roman" pitchFamily="18" charset="0"/>
              </a:rPr>
              <a:t>là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vân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sáng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gọi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là</a:t>
            </a:r>
            <a:r>
              <a:rPr lang="en-US" sz="2400" dirty="0">
                <a:latin typeface="Times New Roman" pitchFamily="18" charset="0"/>
                <a:cs typeface="Times New Roman" pitchFamily="18" charset="0"/>
              </a:rPr>
              <a:t> </a:t>
            </a:r>
            <a:r>
              <a:rPr lang="en-US" sz="2400" dirty="0" err="1">
                <a:solidFill>
                  <a:srgbClr val="FF0000"/>
                </a:solidFill>
                <a:latin typeface="Times New Roman" pitchFamily="18" charset="0"/>
                <a:cs typeface="Times New Roman" pitchFamily="18" charset="0"/>
              </a:rPr>
              <a:t>cực</a:t>
            </a:r>
            <a:r>
              <a:rPr lang="en-US" sz="2400" dirty="0">
                <a:solidFill>
                  <a:srgbClr val="FF0000"/>
                </a:solidFill>
                <a:latin typeface="Times New Roman" pitchFamily="18" charset="0"/>
                <a:cs typeface="Times New Roman" pitchFamily="18" charset="0"/>
              </a:rPr>
              <a:t> </a:t>
            </a:r>
            <a:r>
              <a:rPr lang="en-US" sz="2400" dirty="0" err="1">
                <a:solidFill>
                  <a:srgbClr val="FF0000"/>
                </a:solidFill>
                <a:latin typeface="Times New Roman" pitchFamily="18" charset="0"/>
                <a:cs typeface="Times New Roman" pitchFamily="18" charset="0"/>
              </a:rPr>
              <a:t>đại</a:t>
            </a:r>
            <a:r>
              <a:rPr lang="en-US" sz="2400" dirty="0">
                <a:solidFill>
                  <a:srgbClr val="FF0000"/>
                </a:solidFill>
                <a:latin typeface="Times New Roman" pitchFamily="18" charset="0"/>
                <a:cs typeface="Times New Roman" pitchFamily="18" charset="0"/>
              </a:rPr>
              <a:t> </a:t>
            </a:r>
            <a:r>
              <a:rPr lang="en-US" sz="2400" dirty="0" err="1">
                <a:solidFill>
                  <a:srgbClr val="FF0000"/>
                </a:solidFill>
                <a:latin typeface="Times New Roman" pitchFamily="18" charset="0"/>
                <a:cs typeface="Times New Roman" pitchFamily="18" charset="0"/>
              </a:rPr>
              <a:t>chính</a:t>
            </a:r>
            <a:endParaRPr lang="en-US" sz="2400" dirty="0">
              <a:solidFill>
                <a:srgbClr val="FF0000"/>
              </a:solidFill>
            </a:endParaRPr>
          </a:p>
        </p:txBody>
      </p:sp>
      <p:sp>
        <p:nvSpPr>
          <p:cNvPr id="8" name="Rectangle 7"/>
          <p:cNvSpPr/>
          <p:nvPr/>
        </p:nvSpPr>
        <p:spPr>
          <a:xfrm>
            <a:off x="152400" y="4491335"/>
            <a:ext cx="3324949" cy="461665"/>
          </a:xfrm>
          <a:prstGeom prst="rect">
            <a:avLst/>
          </a:prstGeom>
        </p:spPr>
        <p:txBody>
          <a:bodyPr wrap="none">
            <a:spAutoFit/>
          </a:bodyPr>
          <a:lstStyle/>
          <a:p>
            <a:r>
              <a:rPr lang="en-US" sz="2400" b="1" i="1" dirty="0" err="1">
                <a:latin typeface="Times New Roman" pitchFamily="18" charset="0"/>
                <a:cs typeface="Times New Roman" pitchFamily="18" charset="0"/>
              </a:rPr>
              <a:t>Điều</a:t>
            </a:r>
            <a:r>
              <a:rPr lang="en-US" sz="2400" b="1" i="1" dirty="0">
                <a:latin typeface="Times New Roman" pitchFamily="18" charset="0"/>
                <a:cs typeface="Times New Roman" pitchFamily="18" charset="0"/>
              </a:rPr>
              <a:t> </a:t>
            </a:r>
            <a:r>
              <a:rPr lang="en-US" sz="2400" b="1" i="1" dirty="0" err="1">
                <a:latin typeface="Times New Roman" pitchFamily="18" charset="0"/>
                <a:cs typeface="Times New Roman" pitchFamily="18" charset="0"/>
              </a:rPr>
              <a:t>kiện</a:t>
            </a:r>
            <a:r>
              <a:rPr lang="en-US" sz="2400" b="1" i="1" dirty="0">
                <a:latin typeface="Times New Roman" pitchFamily="18" charset="0"/>
                <a:cs typeface="Times New Roman" pitchFamily="18" charset="0"/>
              </a:rPr>
              <a:t> </a:t>
            </a:r>
            <a:r>
              <a:rPr lang="en-US" sz="2400" b="1" i="1" dirty="0" err="1">
                <a:latin typeface="Times New Roman" pitchFamily="18" charset="0"/>
                <a:cs typeface="Times New Roman" pitchFamily="18" charset="0"/>
              </a:rPr>
              <a:t>cực</a:t>
            </a:r>
            <a:r>
              <a:rPr lang="en-US" sz="2400" b="1" i="1" dirty="0">
                <a:latin typeface="Times New Roman" pitchFamily="18" charset="0"/>
                <a:cs typeface="Times New Roman" pitchFamily="18" charset="0"/>
              </a:rPr>
              <a:t> </a:t>
            </a:r>
            <a:r>
              <a:rPr lang="en-US" sz="2400" b="1" i="1" dirty="0" err="1">
                <a:latin typeface="Times New Roman" pitchFamily="18" charset="0"/>
                <a:cs typeface="Times New Roman" pitchFamily="18" charset="0"/>
              </a:rPr>
              <a:t>đại</a:t>
            </a:r>
            <a:r>
              <a:rPr lang="en-US" sz="2400" b="1" i="1" dirty="0">
                <a:latin typeface="Times New Roman" pitchFamily="18" charset="0"/>
                <a:cs typeface="Times New Roman" pitchFamily="18" charset="0"/>
              </a:rPr>
              <a:t> </a:t>
            </a:r>
            <a:r>
              <a:rPr lang="en-US" sz="2400" b="1" i="1" dirty="0" err="1">
                <a:latin typeface="Times New Roman" pitchFamily="18" charset="0"/>
                <a:cs typeface="Times New Roman" pitchFamily="18" charset="0"/>
              </a:rPr>
              <a:t>chính</a:t>
            </a:r>
            <a:r>
              <a:rPr lang="en-US" sz="2400" dirty="0">
                <a:latin typeface="Times New Roman" pitchFamily="18" charset="0"/>
                <a:cs typeface="Times New Roman" pitchFamily="18" charset="0"/>
              </a:rPr>
              <a:t>:</a:t>
            </a:r>
            <a:endParaRPr lang="el-GR" sz="2400" dirty="0">
              <a:latin typeface="Times New Roman" pitchFamily="18" charset="0"/>
              <a:cs typeface="Times New Roman" pitchFamily="18" charset="0"/>
            </a:endParaRPr>
          </a:p>
        </p:txBody>
      </p:sp>
      <p:graphicFrame>
        <p:nvGraphicFramePr>
          <p:cNvPr id="9" name="Object 8"/>
          <p:cNvGraphicFramePr>
            <a:graphicFrameLocks noChangeAspect="1"/>
          </p:cNvGraphicFramePr>
          <p:nvPr>
            <p:extLst>
              <p:ext uri="{D42A27DB-BD31-4B8C-83A1-F6EECF244321}">
                <p14:modId xmlns:p14="http://schemas.microsoft.com/office/powerpoint/2010/main" val="385867746"/>
              </p:ext>
            </p:extLst>
          </p:nvPr>
        </p:nvGraphicFramePr>
        <p:xfrm>
          <a:off x="2008188" y="5191125"/>
          <a:ext cx="4602162" cy="828675"/>
        </p:xfrm>
        <a:graphic>
          <a:graphicData uri="http://schemas.openxmlformats.org/presentationml/2006/ole">
            <mc:AlternateContent xmlns:mc="http://schemas.openxmlformats.org/markup-compatibility/2006">
              <mc:Choice xmlns:v="urn:schemas-microsoft-com:vml" Requires="v">
                <p:oleObj spid="_x0000_s29711" name="Equation" r:id="rId3" imgW="2171520" imgH="393480" progId="Equation.3">
                  <p:embed/>
                </p:oleObj>
              </mc:Choice>
              <mc:Fallback>
                <p:oleObj name="Equation" r:id="rId3" imgW="2171520" imgH="393480" progId="Equation.3">
                  <p:embed/>
                  <p:pic>
                    <p:nvPicPr>
                      <p:cNvPr id="0" name=""/>
                      <p:cNvPicPr>
                        <a:picLocks noChangeAspect="1" noChangeArrowheads="1"/>
                      </p:cNvPicPr>
                      <p:nvPr/>
                    </p:nvPicPr>
                    <p:blipFill>
                      <a:blip r:embed="rId4"/>
                      <a:srcRect/>
                      <a:stretch>
                        <a:fillRect/>
                      </a:stretch>
                    </p:blipFill>
                    <p:spPr bwMode="auto">
                      <a:xfrm>
                        <a:off x="2008188" y="5191125"/>
                        <a:ext cx="4602162" cy="828675"/>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Rectangle 9"/>
          <p:cNvSpPr/>
          <p:nvPr/>
        </p:nvSpPr>
        <p:spPr>
          <a:xfrm>
            <a:off x="152400" y="6015335"/>
            <a:ext cx="8915400" cy="461665"/>
          </a:xfrm>
          <a:prstGeom prst="rect">
            <a:avLst/>
          </a:prstGeom>
        </p:spPr>
        <p:txBody>
          <a:bodyPr wrap="square">
            <a:spAutoFit/>
          </a:bodyPr>
          <a:lstStyle/>
          <a:p>
            <a:r>
              <a:rPr lang="en-US" sz="2400" dirty="0" err="1">
                <a:latin typeface="Times New Roman" pitchFamily="18" charset="0"/>
              </a:rPr>
              <a:t>Vì</a:t>
            </a:r>
            <a:r>
              <a:rPr lang="en-US" sz="2400" dirty="0">
                <a:latin typeface="Times New Roman" pitchFamily="18" charset="0"/>
              </a:rPr>
              <a:t> d &gt; b </a:t>
            </a:r>
            <a:r>
              <a:rPr lang="en-US" sz="2400" dirty="0" err="1">
                <a:latin typeface="Times New Roman" pitchFamily="18" charset="0"/>
              </a:rPr>
              <a:t>nên</a:t>
            </a:r>
            <a:r>
              <a:rPr lang="en-US" sz="2400" dirty="0">
                <a:latin typeface="Times New Roman" pitchFamily="18" charset="0"/>
              </a:rPr>
              <a:t> </a:t>
            </a:r>
            <a:r>
              <a:rPr lang="en-US" sz="2400" dirty="0" err="1">
                <a:latin typeface="Times New Roman" pitchFamily="18" charset="0"/>
              </a:rPr>
              <a:t>giữa</a:t>
            </a:r>
            <a:r>
              <a:rPr lang="en-US" sz="2400" dirty="0">
                <a:latin typeface="Times New Roman" pitchFamily="18" charset="0"/>
              </a:rPr>
              <a:t> </a:t>
            </a:r>
            <a:r>
              <a:rPr lang="en-US" sz="2400" dirty="0" err="1">
                <a:latin typeface="Times New Roman" pitchFamily="18" charset="0"/>
              </a:rPr>
              <a:t>hai</a:t>
            </a:r>
            <a:r>
              <a:rPr lang="en-US" sz="2400" dirty="0">
                <a:latin typeface="Times New Roman" pitchFamily="18" charset="0"/>
              </a:rPr>
              <a:t> </a:t>
            </a:r>
            <a:r>
              <a:rPr lang="en-US" sz="2400" dirty="0" err="1">
                <a:latin typeface="Times New Roman" pitchFamily="18" charset="0"/>
              </a:rPr>
              <a:t>cực</a:t>
            </a:r>
            <a:r>
              <a:rPr lang="en-US" sz="2400" dirty="0">
                <a:latin typeface="Times New Roman" pitchFamily="18" charset="0"/>
              </a:rPr>
              <a:t> </a:t>
            </a:r>
            <a:r>
              <a:rPr lang="en-US" sz="2400" dirty="0" err="1">
                <a:latin typeface="Times New Roman" pitchFamily="18" charset="0"/>
              </a:rPr>
              <a:t>tiểu</a:t>
            </a:r>
            <a:r>
              <a:rPr lang="en-US" sz="2400" dirty="0">
                <a:latin typeface="Times New Roman" pitchFamily="18" charset="0"/>
              </a:rPr>
              <a:t> </a:t>
            </a:r>
            <a:r>
              <a:rPr lang="en-US" sz="2400" dirty="0" err="1">
                <a:latin typeface="Times New Roman" pitchFamily="18" charset="0"/>
              </a:rPr>
              <a:t>chính</a:t>
            </a:r>
            <a:r>
              <a:rPr lang="en-US" sz="2400" dirty="0">
                <a:latin typeface="Times New Roman" pitchFamily="18" charset="0"/>
              </a:rPr>
              <a:t> </a:t>
            </a:r>
            <a:r>
              <a:rPr lang="en-US" sz="2400" dirty="0" err="1">
                <a:latin typeface="Times New Roman" pitchFamily="18" charset="0"/>
              </a:rPr>
              <a:t>có</a:t>
            </a:r>
            <a:r>
              <a:rPr lang="en-US" sz="2400" dirty="0">
                <a:latin typeface="Times New Roman" pitchFamily="18" charset="0"/>
              </a:rPr>
              <a:t> </a:t>
            </a:r>
            <a:r>
              <a:rPr lang="en-US" sz="2400" dirty="0" err="1">
                <a:latin typeface="Times New Roman" pitchFamily="18" charset="0"/>
              </a:rPr>
              <a:t>thể</a:t>
            </a:r>
            <a:r>
              <a:rPr lang="en-US" sz="2400" dirty="0">
                <a:latin typeface="Times New Roman" pitchFamily="18" charset="0"/>
              </a:rPr>
              <a:t> </a:t>
            </a:r>
            <a:r>
              <a:rPr lang="en-US" sz="2400" dirty="0" err="1">
                <a:latin typeface="Times New Roman" pitchFamily="18" charset="0"/>
              </a:rPr>
              <a:t>có</a:t>
            </a:r>
            <a:r>
              <a:rPr lang="en-US" sz="2400" dirty="0">
                <a:latin typeface="Times New Roman" pitchFamily="18" charset="0"/>
              </a:rPr>
              <a:t> </a:t>
            </a:r>
            <a:r>
              <a:rPr lang="en-US" sz="2400" dirty="0" err="1">
                <a:latin typeface="Times New Roman" pitchFamily="18" charset="0"/>
              </a:rPr>
              <a:t>nhiều</a:t>
            </a:r>
            <a:r>
              <a:rPr lang="en-US" sz="2400" dirty="0">
                <a:latin typeface="Times New Roman" pitchFamily="18" charset="0"/>
              </a:rPr>
              <a:t> </a:t>
            </a:r>
            <a:r>
              <a:rPr lang="en-US" sz="2400" dirty="0" err="1">
                <a:latin typeface="Times New Roman" pitchFamily="18" charset="0"/>
              </a:rPr>
              <a:t>cực</a:t>
            </a:r>
            <a:r>
              <a:rPr lang="en-US" sz="2400" dirty="0">
                <a:latin typeface="Times New Roman" pitchFamily="18" charset="0"/>
              </a:rPr>
              <a:t> </a:t>
            </a:r>
            <a:r>
              <a:rPr lang="en-US" sz="2400" dirty="0" err="1">
                <a:latin typeface="Times New Roman" pitchFamily="18" charset="0"/>
              </a:rPr>
              <a:t>đại</a:t>
            </a:r>
            <a:r>
              <a:rPr lang="en-US" sz="2400" dirty="0">
                <a:latin typeface="Times New Roman" pitchFamily="18" charset="0"/>
              </a:rPr>
              <a:t> </a:t>
            </a:r>
            <a:r>
              <a:rPr lang="en-US" sz="2400" dirty="0" err="1">
                <a:latin typeface="Times New Roman" pitchFamily="18" charset="0"/>
              </a:rPr>
              <a:t>chính</a:t>
            </a:r>
            <a:r>
              <a:rPr lang="en-US" sz="2400" dirty="0">
                <a:latin typeface="Times New Roman" pitchFamily="18" charset="0"/>
              </a:rPr>
              <a:t>.</a:t>
            </a:r>
          </a:p>
        </p:txBody>
      </p:sp>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7200" y="1201313"/>
            <a:ext cx="3352800" cy="1680297"/>
          </a:xfrm>
          <a:prstGeom prst="rect">
            <a:avLst/>
          </a:prstGeom>
        </p:spPr>
      </p:pic>
      <p:pic>
        <p:nvPicPr>
          <p:cNvPr id="12" name="Picture 11">
            <a:extLst>
              <a:ext uri="{FF2B5EF4-FFF2-40B4-BE49-F238E27FC236}">
                <a16:creationId xmlns:a16="http://schemas.microsoft.com/office/drawing/2014/main" id="{54E6E0E8-4A72-41CD-8694-83AE30337623}"/>
              </a:ext>
            </a:extLst>
          </p:cNvPr>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114800" y="1214735"/>
            <a:ext cx="4572000" cy="2124075"/>
          </a:xfrm>
          <a:prstGeom prst="rect">
            <a:avLst/>
          </a:prstGeom>
          <a:noFill/>
          <a:ln>
            <a:noFill/>
          </a:ln>
        </p:spPr>
      </p:pic>
    </p:spTree>
    <p:extLst>
      <p:ext uri="{BB962C8B-B14F-4D97-AF65-F5344CB8AC3E}">
        <p14:creationId xmlns:p14="http://schemas.microsoft.com/office/powerpoint/2010/main" val="4057809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down)">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down)">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8" grpId="0"/>
      <p:bldP spid="1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0"/>
            <a:ext cx="91440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§2. NHIỄU XẠ ÁNH SÁNG</a:t>
            </a:r>
          </a:p>
        </p:txBody>
      </p:sp>
      <p:sp>
        <p:nvSpPr>
          <p:cNvPr id="2" name="Rectangle 1"/>
          <p:cNvSpPr/>
          <p:nvPr/>
        </p:nvSpPr>
        <p:spPr>
          <a:xfrm>
            <a:off x="76200" y="659011"/>
            <a:ext cx="8915400" cy="461665"/>
          </a:xfrm>
          <a:prstGeom prst="rect">
            <a:avLst/>
          </a:prstGeom>
        </p:spPr>
        <p:txBody>
          <a:bodyPr wrap="square">
            <a:spAutoFit/>
          </a:bodyPr>
          <a:lstStyle/>
          <a:p>
            <a:r>
              <a:rPr lang="en-US" sz="2400" dirty="0">
                <a:solidFill>
                  <a:srgbClr val="FF0000"/>
                </a:solidFill>
                <a:latin typeface="Times New Roman" pitchFamily="18" charset="0"/>
              </a:rPr>
              <a:t>*</a:t>
            </a:r>
            <a:r>
              <a:rPr lang="en-US" sz="2400" dirty="0" err="1">
                <a:solidFill>
                  <a:srgbClr val="FF0000"/>
                </a:solidFill>
                <a:latin typeface="Times New Roman" pitchFamily="18" charset="0"/>
              </a:rPr>
              <a:t>Xét</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sự</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phân</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bố</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cường</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độ</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sáng</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giữa</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hai</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cực</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đại</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chính</a:t>
            </a:r>
            <a:r>
              <a:rPr lang="en-US" sz="2400" dirty="0">
                <a:solidFill>
                  <a:srgbClr val="FF0000"/>
                </a:solidFill>
                <a:latin typeface="Times New Roman" pitchFamily="18" charset="0"/>
              </a:rPr>
              <a:t>: </a:t>
            </a:r>
          </a:p>
        </p:txBody>
      </p:sp>
      <p:sp>
        <p:nvSpPr>
          <p:cNvPr id="3" name="Rectangle 2"/>
          <p:cNvSpPr/>
          <p:nvPr/>
        </p:nvSpPr>
        <p:spPr>
          <a:xfrm>
            <a:off x="0" y="1120676"/>
            <a:ext cx="9067800" cy="830997"/>
          </a:xfrm>
          <a:prstGeom prst="rect">
            <a:avLst/>
          </a:prstGeom>
        </p:spPr>
        <p:txBody>
          <a:bodyPr wrap="square">
            <a:spAutoFit/>
          </a:bodyPr>
          <a:lstStyle/>
          <a:p>
            <a:r>
              <a:rPr lang="en-US" sz="2400" dirty="0" err="1">
                <a:latin typeface="Times New Roman" pitchFamily="18" charset="0"/>
              </a:rPr>
              <a:t>Nếu</a:t>
            </a:r>
            <a:r>
              <a:rPr lang="en-US" sz="2400" dirty="0">
                <a:latin typeface="Times New Roman" pitchFamily="18" charset="0"/>
              </a:rPr>
              <a:t> </a:t>
            </a:r>
            <a:r>
              <a:rPr lang="en-US" sz="2400" dirty="0" err="1">
                <a:latin typeface="Times New Roman" pitchFamily="18" charset="0"/>
              </a:rPr>
              <a:t>có</a:t>
            </a:r>
            <a:r>
              <a:rPr lang="en-US" sz="2400" dirty="0">
                <a:latin typeface="Times New Roman" pitchFamily="18" charset="0"/>
              </a:rPr>
              <a:t> n </a:t>
            </a:r>
            <a:r>
              <a:rPr lang="en-US" sz="2400" dirty="0" err="1">
                <a:latin typeface="Times New Roman" pitchFamily="18" charset="0"/>
              </a:rPr>
              <a:t>khe</a:t>
            </a:r>
            <a:r>
              <a:rPr lang="en-US" sz="2400" dirty="0">
                <a:latin typeface="Times New Roman" pitchFamily="18" charset="0"/>
              </a:rPr>
              <a:t> </a:t>
            </a:r>
            <a:r>
              <a:rPr lang="en-US" sz="2400" dirty="0" err="1">
                <a:latin typeface="Times New Roman" pitchFamily="18" charset="0"/>
              </a:rPr>
              <a:t>hẹp</a:t>
            </a:r>
            <a:r>
              <a:rPr lang="en-US" sz="2400" dirty="0">
                <a:latin typeface="Times New Roman" pitchFamily="18" charset="0"/>
              </a:rPr>
              <a:t> </a:t>
            </a:r>
            <a:r>
              <a:rPr lang="en-US" sz="2400" dirty="0" err="1">
                <a:latin typeface="Times New Roman" pitchFamily="18" charset="0"/>
              </a:rPr>
              <a:t>thì</a:t>
            </a:r>
            <a:r>
              <a:rPr lang="en-US" sz="2400" dirty="0">
                <a:latin typeface="Times New Roman" pitchFamily="18" charset="0"/>
              </a:rPr>
              <a:t> </a:t>
            </a:r>
            <a:r>
              <a:rPr lang="en-US" sz="2400" dirty="0" err="1">
                <a:latin typeface="Times New Roman" pitchFamily="18" charset="0"/>
              </a:rPr>
              <a:t>giữa</a:t>
            </a:r>
            <a:r>
              <a:rPr lang="en-US" sz="2400" dirty="0">
                <a:latin typeface="Times New Roman" pitchFamily="18" charset="0"/>
              </a:rPr>
              <a:t> </a:t>
            </a:r>
            <a:r>
              <a:rPr lang="en-US" sz="2400" dirty="0" err="1">
                <a:latin typeface="Times New Roman" pitchFamily="18" charset="0"/>
              </a:rPr>
              <a:t>hai</a:t>
            </a:r>
            <a:r>
              <a:rPr lang="en-US" sz="2400" dirty="0">
                <a:latin typeface="Times New Roman" pitchFamily="18" charset="0"/>
              </a:rPr>
              <a:t> </a:t>
            </a:r>
            <a:r>
              <a:rPr lang="en-US" sz="2400" dirty="0" err="1">
                <a:latin typeface="Times New Roman" pitchFamily="18" charset="0"/>
              </a:rPr>
              <a:t>cực</a:t>
            </a:r>
            <a:r>
              <a:rPr lang="en-US" sz="2400" dirty="0">
                <a:latin typeface="Times New Roman" pitchFamily="18" charset="0"/>
              </a:rPr>
              <a:t>  </a:t>
            </a:r>
            <a:r>
              <a:rPr lang="en-US" sz="2400" dirty="0" err="1">
                <a:latin typeface="Times New Roman" pitchFamily="18" charset="0"/>
              </a:rPr>
              <a:t>đại</a:t>
            </a:r>
            <a:r>
              <a:rPr lang="en-US" sz="2400" dirty="0">
                <a:latin typeface="Times New Roman" pitchFamily="18" charset="0"/>
              </a:rPr>
              <a:t> </a:t>
            </a:r>
            <a:r>
              <a:rPr lang="en-US" sz="2400" dirty="0" err="1">
                <a:latin typeface="Times New Roman" pitchFamily="18" charset="0"/>
              </a:rPr>
              <a:t>chính</a:t>
            </a:r>
            <a:r>
              <a:rPr lang="en-US" sz="2400" dirty="0">
                <a:latin typeface="Times New Roman" pitchFamily="18" charset="0"/>
              </a:rPr>
              <a:t> </a:t>
            </a:r>
            <a:r>
              <a:rPr lang="en-US" sz="2400" dirty="0" err="1">
                <a:latin typeface="Times New Roman" pitchFamily="18" charset="0"/>
              </a:rPr>
              <a:t>có</a:t>
            </a:r>
            <a:r>
              <a:rPr lang="en-US" sz="2400" dirty="0">
                <a:latin typeface="Times New Roman" pitchFamily="18" charset="0"/>
              </a:rPr>
              <a:t> n – 2 </a:t>
            </a:r>
            <a:r>
              <a:rPr lang="en-US" sz="2400" dirty="0" err="1">
                <a:latin typeface="Times New Roman" pitchFamily="18" charset="0"/>
              </a:rPr>
              <a:t>cực</a:t>
            </a:r>
            <a:r>
              <a:rPr lang="en-US" sz="2400" dirty="0">
                <a:latin typeface="Times New Roman" pitchFamily="18" charset="0"/>
              </a:rPr>
              <a:t> </a:t>
            </a:r>
            <a:r>
              <a:rPr lang="en-US" sz="2400" dirty="0" err="1">
                <a:latin typeface="Times New Roman" pitchFamily="18" charset="0"/>
              </a:rPr>
              <a:t>đại</a:t>
            </a:r>
            <a:r>
              <a:rPr lang="en-US" sz="2400" dirty="0">
                <a:latin typeface="Times New Roman" pitchFamily="18" charset="0"/>
              </a:rPr>
              <a:t> </a:t>
            </a:r>
            <a:r>
              <a:rPr lang="en-US" sz="2400" dirty="0" err="1">
                <a:latin typeface="Times New Roman" pitchFamily="18" charset="0"/>
              </a:rPr>
              <a:t>phụ</a:t>
            </a:r>
            <a:r>
              <a:rPr lang="en-US" sz="2400" dirty="0">
                <a:latin typeface="Times New Roman" pitchFamily="18" charset="0"/>
              </a:rPr>
              <a:t> </a:t>
            </a:r>
            <a:r>
              <a:rPr lang="en-US" sz="2400" dirty="0" err="1">
                <a:latin typeface="Times New Roman" pitchFamily="18" charset="0"/>
              </a:rPr>
              <a:t>và</a:t>
            </a:r>
            <a:r>
              <a:rPr lang="en-US" sz="2400" dirty="0">
                <a:latin typeface="Times New Roman" pitchFamily="18" charset="0"/>
              </a:rPr>
              <a:t> n -1 </a:t>
            </a:r>
            <a:r>
              <a:rPr lang="en-US" sz="2400" dirty="0" err="1">
                <a:latin typeface="Times New Roman" pitchFamily="18" charset="0"/>
              </a:rPr>
              <a:t>cực</a:t>
            </a:r>
            <a:r>
              <a:rPr lang="en-US" sz="2400" dirty="0">
                <a:latin typeface="Times New Roman" pitchFamily="18" charset="0"/>
              </a:rPr>
              <a:t> </a:t>
            </a:r>
            <a:r>
              <a:rPr lang="en-US" sz="2400" dirty="0" err="1">
                <a:latin typeface="Times New Roman" pitchFamily="18" charset="0"/>
              </a:rPr>
              <a:t>tiểu</a:t>
            </a:r>
            <a:r>
              <a:rPr lang="en-US" sz="2400" dirty="0">
                <a:latin typeface="Times New Roman" pitchFamily="18" charset="0"/>
              </a:rPr>
              <a:t> </a:t>
            </a:r>
            <a:r>
              <a:rPr lang="en-US" sz="2400" dirty="0" err="1">
                <a:latin typeface="Times New Roman" pitchFamily="18" charset="0"/>
              </a:rPr>
              <a:t>phụ</a:t>
            </a:r>
            <a:r>
              <a:rPr lang="en-US" sz="2400" dirty="0">
                <a:latin typeface="Times New Roman" pitchFamily="18" charset="0"/>
              </a:rPr>
              <a:t>. </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399" y="2209800"/>
            <a:ext cx="5827125" cy="4267753"/>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1523" y="2095637"/>
            <a:ext cx="6138875" cy="4496077"/>
          </a:xfrm>
          <a:prstGeom prst="rect">
            <a:avLst/>
          </a:prstGeom>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96304" y="2118302"/>
            <a:ext cx="6138875" cy="4496077"/>
          </a:xfrm>
          <a:prstGeom prst="rect">
            <a:avLst/>
          </a:prstGeom>
        </p:spPr>
      </p:pic>
    </p:spTree>
    <p:extLst>
      <p:ext uri="{BB962C8B-B14F-4D97-AF65-F5344CB8AC3E}">
        <p14:creationId xmlns:p14="http://schemas.microsoft.com/office/powerpoint/2010/main" val="1196041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down)">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down)">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0"/>
            <a:ext cx="91440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§2. NHIỄU XẠ ÁNH SÁNG</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685799"/>
            <a:ext cx="3130715" cy="2743200"/>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67535" y="685800"/>
            <a:ext cx="3134082" cy="2971800"/>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5417" y="3407078"/>
            <a:ext cx="3153183" cy="3417713"/>
          </a:xfrm>
          <a:prstGeom prst="rect">
            <a:avLst/>
          </a:prstGeom>
        </p:spPr>
      </p:pic>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81600" y="3382887"/>
            <a:ext cx="3198803" cy="3475113"/>
          </a:xfrm>
          <a:prstGeom prst="rect">
            <a:avLst/>
          </a:prstGeom>
        </p:spPr>
      </p:pic>
    </p:spTree>
    <p:extLst>
      <p:ext uri="{BB962C8B-B14F-4D97-AF65-F5344CB8AC3E}">
        <p14:creationId xmlns:p14="http://schemas.microsoft.com/office/powerpoint/2010/main" val="1035802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0"/>
            <a:ext cx="91440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§2. NHIỄU XẠ ÁNH SÁNG</a:t>
            </a:r>
          </a:p>
        </p:txBody>
      </p:sp>
      <p:pic>
        <p:nvPicPr>
          <p:cNvPr id="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447800"/>
            <a:ext cx="8772525"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293399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0"/>
            <a:ext cx="91440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§2. NHIỄU XẠ ÁNH SÁNG</a:t>
            </a:r>
          </a:p>
        </p:txBody>
      </p:sp>
      <p:pic>
        <p:nvPicPr>
          <p:cNvPr id="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228600" y="609600"/>
            <a:ext cx="8686800" cy="6294437"/>
          </a:xfrm>
          <a:prstGeom prst="rect">
            <a:avLst/>
          </a:prstGeom>
          <a:noFill/>
        </p:spPr>
      </p:pic>
    </p:spTree>
    <p:extLst>
      <p:ext uri="{BB962C8B-B14F-4D97-AF65-F5344CB8AC3E}">
        <p14:creationId xmlns:p14="http://schemas.microsoft.com/office/powerpoint/2010/main" val="6690915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0"/>
            <a:ext cx="91440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§2. NHIỄU XẠ ÁNH SÁNG</a:t>
            </a:r>
          </a:p>
        </p:txBody>
      </p:sp>
      <p:pic>
        <p:nvPicPr>
          <p:cNvPr id="6"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304800" y="685800"/>
            <a:ext cx="8534400" cy="6184900"/>
          </a:xfrm>
          <a:prstGeom prst="rect">
            <a:avLst/>
          </a:prstGeom>
          <a:noFill/>
        </p:spPr>
      </p:pic>
    </p:spTree>
    <p:extLst>
      <p:ext uri="{BB962C8B-B14F-4D97-AF65-F5344CB8AC3E}">
        <p14:creationId xmlns:p14="http://schemas.microsoft.com/office/powerpoint/2010/main" val="9950417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2E86A-3217-4817-A996-BCF5EA57B26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C660D8A-6503-4DB1-AFE0-7EA98C8DB1E5}"/>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F8CC77FC-3059-4EDE-8B09-C504ACDB46FC}"/>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1275" y="274638"/>
            <a:ext cx="9226550" cy="6308723"/>
          </a:xfrm>
          <a:prstGeom prst="rect">
            <a:avLst/>
          </a:prstGeom>
          <a:noFill/>
          <a:ln>
            <a:noFill/>
          </a:ln>
        </p:spPr>
      </p:pic>
    </p:spTree>
    <p:extLst>
      <p:ext uri="{BB962C8B-B14F-4D97-AF65-F5344CB8AC3E}">
        <p14:creationId xmlns:p14="http://schemas.microsoft.com/office/powerpoint/2010/main" val="13046395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0"/>
            <a:ext cx="91440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VÍ DỤ</a:t>
            </a:r>
          </a:p>
        </p:txBody>
      </p:sp>
      <p:sp>
        <p:nvSpPr>
          <p:cNvPr id="3" name="Rectangle 2"/>
          <p:cNvSpPr/>
          <p:nvPr/>
        </p:nvSpPr>
        <p:spPr>
          <a:xfrm>
            <a:off x="0" y="685800"/>
            <a:ext cx="8991600" cy="1815882"/>
          </a:xfrm>
          <a:prstGeom prst="rect">
            <a:avLst/>
          </a:prstGeom>
        </p:spPr>
        <p:txBody>
          <a:bodyPr wrap="square">
            <a:spAutoFit/>
          </a:bodyPr>
          <a:lstStyle/>
          <a:p>
            <a:pPr algn="just"/>
            <a:r>
              <a:rPr lang="pt-BR" sz="2200" dirty="0">
                <a:latin typeface="Times" pitchFamily="18" charset="0"/>
                <a:cs typeface="Times" pitchFamily="18" charset="0"/>
              </a:rPr>
              <a:t>Ví dụ . Một chùm tia sáng đơn sắc song song chiếu vuông góc với mặt khe chữ nhật hẹp. Độ rộng của khe hẹp là b = 0,10 mm. Sát phía sau khe hẹp có đặt một thấu kính hội tụ tiêu cự f =100 cm. Người ta đo được độ rộng của cực đại trung tâm trên màn quan sát là 12 mm. Hãy xác định bước sóng của ánh sáng chiếu </a:t>
            </a:r>
            <a:r>
              <a:rPr lang="pt-BR" sz="2400" dirty="0">
                <a:latin typeface="Times" pitchFamily="18" charset="0"/>
                <a:cs typeface="Times" pitchFamily="18" charset="0"/>
              </a:rPr>
              <a:t>vào.</a:t>
            </a:r>
            <a:endParaRPr lang="en-US" sz="2400" dirty="0">
              <a:latin typeface="Times" pitchFamily="18" charset="0"/>
              <a:cs typeface="Times" pitchFamily="18" charset="0"/>
            </a:endParaRPr>
          </a:p>
        </p:txBody>
      </p:sp>
      <p:sp>
        <p:nvSpPr>
          <p:cNvPr id="43" name="Freeform 42"/>
          <p:cNvSpPr/>
          <p:nvPr/>
        </p:nvSpPr>
        <p:spPr>
          <a:xfrm>
            <a:off x="5380892" y="2708031"/>
            <a:ext cx="0" cy="0"/>
          </a:xfrm>
          <a:custGeom>
            <a:avLst/>
            <a:gdLst>
              <a:gd name="connsiteX0" fmla="*/ 0 w 0"/>
              <a:gd name="connsiteY0" fmla="*/ 0 h 0"/>
              <a:gd name="connsiteX1" fmla="*/ 0 w 0"/>
              <a:gd name="connsiteY1" fmla="*/ 0 h 0"/>
            </a:gdLst>
            <a:ahLst/>
            <a:cxnLst>
              <a:cxn ang="0">
                <a:pos x="connsiteX0" y="connsiteY0"/>
              </a:cxn>
              <a:cxn ang="0">
                <a:pos x="connsiteX1" y="connsiteY1"/>
              </a:cxn>
            </a:cxnLst>
            <a:rect l="l" t="t" r="r" b="b"/>
            <a:pathLst>
              <a:path>
                <a:moveTo>
                  <a:pt x="0" y="0"/>
                </a:moveTo>
                <a:lnTo>
                  <a:pt x="0" y="0"/>
                </a:ln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0" name="TextBox 69"/>
          <p:cNvSpPr txBox="1"/>
          <p:nvPr/>
        </p:nvSpPr>
        <p:spPr>
          <a:xfrm>
            <a:off x="152400" y="2590800"/>
            <a:ext cx="4593921" cy="1569660"/>
          </a:xfrm>
          <a:prstGeom prst="rect">
            <a:avLst/>
          </a:prstGeom>
          <a:noFill/>
        </p:spPr>
        <p:txBody>
          <a:bodyPr wrap="square" rtlCol="0">
            <a:spAutoFit/>
          </a:bodyPr>
          <a:lstStyle/>
          <a:p>
            <a:r>
              <a:rPr lang="en-US" sz="2400" dirty="0" err="1">
                <a:latin typeface="Times" pitchFamily="18" charset="0"/>
                <a:cs typeface="Times" pitchFamily="18" charset="0"/>
              </a:rPr>
              <a:t>Gọi</a:t>
            </a:r>
            <a:r>
              <a:rPr lang="en-US" sz="2400" dirty="0">
                <a:latin typeface="Times" pitchFamily="18" charset="0"/>
                <a:cs typeface="Times" pitchFamily="18" charset="0"/>
              </a:rPr>
              <a:t> </a:t>
            </a:r>
            <a:r>
              <a:rPr lang="el-GR" sz="2400" dirty="0">
                <a:latin typeface="Times" pitchFamily="18" charset="0"/>
                <a:cs typeface="Times" pitchFamily="18" charset="0"/>
              </a:rPr>
              <a:t>φ</a:t>
            </a:r>
            <a:r>
              <a:rPr lang="en-US" sz="2400" dirty="0">
                <a:latin typeface="Times" pitchFamily="18" charset="0"/>
                <a:cs typeface="Times" pitchFamily="18" charset="0"/>
              </a:rPr>
              <a:t> </a:t>
            </a:r>
            <a:r>
              <a:rPr lang="en-US" sz="2400" dirty="0" err="1">
                <a:latin typeface="Times" pitchFamily="18" charset="0"/>
                <a:cs typeface="Times" pitchFamily="18" charset="0"/>
              </a:rPr>
              <a:t>là</a:t>
            </a:r>
            <a:r>
              <a:rPr lang="en-US" sz="2400" dirty="0">
                <a:latin typeface="Times" pitchFamily="18" charset="0"/>
                <a:cs typeface="Times" pitchFamily="18" charset="0"/>
              </a:rPr>
              <a:t> </a:t>
            </a:r>
            <a:r>
              <a:rPr lang="en-US" sz="2400" dirty="0" err="1">
                <a:latin typeface="Times" pitchFamily="18" charset="0"/>
                <a:cs typeface="Times" pitchFamily="18" charset="0"/>
              </a:rPr>
              <a:t>góc</a:t>
            </a:r>
            <a:r>
              <a:rPr lang="en-US" sz="2400" dirty="0">
                <a:latin typeface="Times" pitchFamily="18" charset="0"/>
                <a:cs typeface="Times" pitchFamily="18" charset="0"/>
              </a:rPr>
              <a:t> </a:t>
            </a:r>
            <a:r>
              <a:rPr lang="en-US" sz="2400" dirty="0" err="1">
                <a:latin typeface="Times" pitchFamily="18" charset="0"/>
                <a:cs typeface="Times" pitchFamily="18" charset="0"/>
              </a:rPr>
              <a:t>nhiễu</a:t>
            </a:r>
            <a:r>
              <a:rPr lang="en-US" sz="2400" dirty="0">
                <a:latin typeface="Times" pitchFamily="18" charset="0"/>
                <a:cs typeface="Times" pitchFamily="18" charset="0"/>
              </a:rPr>
              <a:t> </a:t>
            </a:r>
            <a:r>
              <a:rPr lang="en-US" sz="2400" dirty="0" err="1">
                <a:latin typeface="Times" pitchFamily="18" charset="0"/>
                <a:cs typeface="Times" pitchFamily="18" charset="0"/>
              </a:rPr>
              <a:t>xạ</a:t>
            </a:r>
            <a:r>
              <a:rPr lang="en-US" sz="2400" dirty="0">
                <a:latin typeface="Times" pitchFamily="18" charset="0"/>
                <a:cs typeface="Times" pitchFamily="18" charset="0"/>
              </a:rPr>
              <a:t> </a:t>
            </a:r>
            <a:r>
              <a:rPr lang="en-US" sz="2400" dirty="0" err="1">
                <a:latin typeface="Times" pitchFamily="18" charset="0"/>
                <a:cs typeface="Times" pitchFamily="18" charset="0"/>
              </a:rPr>
              <a:t>ứng</a:t>
            </a:r>
            <a:r>
              <a:rPr lang="en-US" sz="2400" dirty="0">
                <a:latin typeface="Times" pitchFamily="18" charset="0"/>
                <a:cs typeface="Times" pitchFamily="18" charset="0"/>
              </a:rPr>
              <a:t> </a:t>
            </a:r>
            <a:r>
              <a:rPr lang="en-US" sz="2400" dirty="0" err="1">
                <a:latin typeface="Times" pitchFamily="18" charset="0"/>
                <a:cs typeface="Times" pitchFamily="18" charset="0"/>
              </a:rPr>
              <a:t>với</a:t>
            </a:r>
            <a:r>
              <a:rPr lang="en-US" sz="2400" dirty="0">
                <a:latin typeface="Times" pitchFamily="18" charset="0"/>
                <a:cs typeface="Times" pitchFamily="18" charset="0"/>
              </a:rPr>
              <a:t> </a:t>
            </a:r>
            <a:r>
              <a:rPr lang="en-US" sz="2400" dirty="0" err="1">
                <a:latin typeface="Times" pitchFamily="18" charset="0"/>
                <a:cs typeface="Times" pitchFamily="18" charset="0"/>
              </a:rPr>
              <a:t>cực</a:t>
            </a:r>
            <a:r>
              <a:rPr lang="en-US" sz="2400" dirty="0">
                <a:latin typeface="Times" pitchFamily="18" charset="0"/>
                <a:cs typeface="Times" pitchFamily="18" charset="0"/>
              </a:rPr>
              <a:t> </a:t>
            </a:r>
            <a:r>
              <a:rPr lang="en-US" sz="2400" dirty="0" err="1">
                <a:latin typeface="Times" pitchFamily="18" charset="0"/>
                <a:cs typeface="Times" pitchFamily="18" charset="0"/>
              </a:rPr>
              <a:t>tiểu</a:t>
            </a:r>
            <a:r>
              <a:rPr lang="en-US" sz="2400" dirty="0">
                <a:latin typeface="Times" pitchFamily="18" charset="0"/>
                <a:cs typeface="Times" pitchFamily="18" charset="0"/>
              </a:rPr>
              <a:t> </a:t>
            </a:r>
            <a:r>
              <a:rPr lang="en-US" sz="2400" dirty="0" err="1">
                <a:latin typeface="Times" pitchFamily="18" charset="0"/>
                <a:cs typeface="Times" pitchFamily="18" charset="0"/>
              </a:rPr>
              <a:t>thứ</a:t>
            </a:r>
            <a:r>
              <a:rPr lang="en-US" sz="2400" dirty="0">
                <a:latin typeface="Times" pitchFamily="18" charset="0"/>
                <a:cs typeface="Times" pitchFamily="18" charset="0"/>
              </a:rPr>
              <a:t> </a:t>
            </a:r>
            <a:r>
              <a:rPr lang="en-US" sz="2400" dirty="0" err="1">
                <a:latin typeface="Times" pitchFamily="18" charset="0"/>
                <a:cs typeface="Times" pitchFamily="18" charset="0"/>
              </a:rPr>
              <a:t>nhất</a:t>
            </a:r>
            <a:r>
              <a:rPr lang="en-US" sz="2400" dirty="0">
                <a:latin typeface="Times" pitchFamily="18" charset="0"/>
                <a:cs typeface="Times" pitchFamily="18" charset="0"/>
              </a:rPr>
              <a:t>. </a:t>
            </a:r>
            <a:r>
              <a:rPr lang="en-US" sz="2400" dirty="0" err="1">
                <a:latin typeface="Times" pitchFamily="18" charset="0"/>
                <a:cs typeface="Times" pitchFamily="18" charset="0"/>
              </a:rPr>
              <a:t>Khoảng</a:t>
            </a:r>
            <a:r>
              <a:rPr lang="en-US" sz="2400" dirty="0">
                <a:latin typeface="Times" pitchFamily="18" charset="0"/>
                <a:cs typeface="Times" pitchFamily="18" charset="0"/>
              </a:rPr>
              <a:t> </a:t>
            </a:r>
            <a:r>
              <a:rPr lang="en-US" sz="2400" dirty="0" err="1">
                <a:latin typeface="Times" pitchFamily="18" charset="0"/>
                <a:cs typeface="Times" pitchFamily="18" charset="0"/>
              </a:rPr>
              <a:t>cách</a:t>
            </a:r>
            <a:r>
              <a:rPr lang="en-US" sz="2400" dirty="0">
                <a:latin typeface="Times" pitchFamily="18" charset="0"/>
                <a:cs typeface="Times" pitchFamily="18" charset="0"/>
              </a:rPr>
              <a:t> </a:t>
            </a:r>
            <a:r>
              <a:rPr lang="en-US" sz="2400" dirty="0" err="1">
                <a:latin typeface="Times" pitchFamily="18" charset="0"/>
                <a:cs typeface="Times" pitchFamily="18" charset="0"/>
              </a:rPr>
              <a:t>từ</a:t>
            </a:r>
            <a:r>
              <a:rPr lang="en-US" sz="2400" dirty="0">
                <a:latin typeface="Times" pitchFamily="18" charset="0"/>
                <a:cs typeface="Times" pitchFamily="18" charset="0"/>
              </a:rPr>
              <a:t> </a:t>
            </a:r>
            <a:r>
              <a:rPr lang="en-US" sz="2400" dirty="0" err="1">
                <a:latin typeface="Times" pitchFamily="18" charset="0"/>
                <a:cs typeface="Times" pitchFamily="18" charset="0"/>
              </a:rPr>
              <a:t>cực</a:t>
            </a:r>
            <a:r>
              <a:rPr lang="en-US" sz="2400" dirty="0">
                <a:latin typeface="Times" pitchFamily="18" charset="0"/>
                <a:cs typeface="Times" pitchFamily="18" charset="0"/>
              </a:rPr>
              <a:t> </a:t>
            </a:r>
            <a:r>
              <a:rPr lang="en-US" sz="2400" dirty="0" err="1">
                <a:latin typeface="Times" pitchFamily="18" charset="0"/>
                <a:cs typeface="Times" pitchFamily="18" charset="0"/>
              </a:rPr>
              <a:t>tiểu</a:t>
            </a:r>
            <a:r>
              <a:rPr lang="en-US" sz="2400" dirty="0">
                <a:latin typeface="Times" pitchFamily="18" charset="0"/>
                <a:cs typeface="Times" pitchFamily="18" charset="0"/>
              </a:rPr>
              <a:t> </a:t>
            </a:r>
            <a:r>
              <a:rPr lang="en-US" sz="2400" dirty="0" err="1">
                <a:latin typeface="Times" pitchFamily="18" charset="0"/>
                <a:cs typeface="Times" pitchFamily="18" charset="0"/>
              </a:rPr>
              <a:t>thứ</a:t>
            </a:r>
            <a:r>
              <a:rPr lang="en-US" sz="2400" dirty="0">
                <a:latin typeface="Times" pitchFamily="18" charset="0"/>
                <a:cs typeface="Times" pitchFamily="18" charset="0"/>
              </a:rPr>
              <a:t> </a:t>
            </a:r>
            <a:r>
              <a:rPr lang="en-US" sz="2400" dirty="0" err="1">
                <a:latin typeface="Times" pitchFamily="18" charset="0"/>
                <a:cs typeface="Times" pitchFamily="18" charset="0"/>
              </a:rPr>
              <a:t>nhất</a:t>
            </a:r>
            <a:r>
              <a:rPr lang="en-US" sz="2400" dirty="0">
                <a:latin typeface="Times" pitchFamily="18" charset="0"/>
                <a:cs typeface="Times" pitchFamily="18" charset="0"/>
              </a:rPr>
              <a:t> </a:t>
            </a:r>
            <a:r>
              <a:rPr lang="en-US" sz="2400" dirty="0" err="1">
                <a:latin typeface="Times" pitchFamily="18" charset="0"/>
                <a:cs typeface="Times" pitchFamily="18" charset="0"/>
              </a:rPr>
              <a:t>đến</a:t>
            </a:r>
            <a:r>
              <a:rPr lang="en-US" sz="2400" dirty="0">
                <a:latin typeface="Times" pitchFamily="18" charset="0"/>
                <a:cs typeface="Times" pitchFamily="18" charset="0"/>
              </a:rPr>
              <a:t> </a:t>
            </a:r>
            <a:r>
              <a:rPr lang="en-US" sz="2400" dirty="0" err="1">
                <a:latin typeface="Times" pitchFamily="18" charset="0"/>
                <a:cs typeface="Times" pitchFamily="18" charset="0"/>
              </a:rPr>
              <a:t>đỉnh</a:t>
            </a:r>
            <a:r>
              <a:rPr lang="en-US" sz="2400" dirty="0">
                <a:latin typeface="Times" pitchFamily="18" charset="0"/>
                <a:cs typeface="Times" pitchFamily="18" charset="0"/>
              </a:rPr>
              <a:t> </a:t>
            </a:r>
            <a:r>
              <a:rPr lang="en-US" sz="2400" dirty="0" err="1">
                <a:latin typeface="Times" pitchFamily="18" charset="0"/>
                <a:cs typeface="Times" pitchFamily="18" charset="0"/>
              </a:rPr>
              <a:t>cực</a:t>
            </a:r>
            <a:r>
              <a:rPr lang="en-US" sz="2400" dirty="0">
                <a:latin typeface="Times" pitchFamily="18" charset="0"/>
                <a:cs typeface="Times" pitchFamily="18" charset="0"/>
              </a:rPr>
              <a:t> </a:t>
            </a:r>
            <a:r>
              <a:rPr lang="en-US" sz="2400" dirty="0" err="1">
                <a:latin typeface="Times" pitchFamily="18" charset="0"/>
                <a:cs typeface="Times" pitchFamily="18" charset="0"/>
              </a:rPr>
              <a:t>đại</a:t>
            </a:r>
            <a:r>
              <a:rPr lang="en-US" sz="2400" dirty="0">
                <a:latin typeface="Times" pitchFamily="18" charset="0"/>
                <a:cs typeface="Times" pitchFamily="18" charset="0"/>
              </a:rPr>
              <a:t> </a:t>
            </a:r>
            <a:r>
              <a:rPr lang="en-US" sz="2400" dirty="0" err="1">
                <a:latin typeface="Times" pitchFamily="18" charset="0"/>
                <a:cs typeface="Times" pitchFamily="18" charset="0"/>
              </a:rPr>
              <a:t>trung</a:t>
            </a:r>
            <a:r>
              <a:rPr lang="en-US" sz="2400" dirty="0">
                <a:latin typeface="Times" pitchFamily="18" charset="0"/>
                <a:cs typeface="Times" pitchFamily="18" charset="0"/>
              </a:rPr>
              <a:t> </a:t>
            </a:r>
            <a:r>
              <a:rPr lang="en-US" sz="2400" dirty="0" err="1">
                <a:latin typeface="Times" pitchFamily="18" charset="0"/>
                <a:cs typeface="Times" pitchFamily="18" charset="0"/>
              </a:rPr>
              <a:t>tâm</a:t>
            </a:r>
            <a:r>
              <a:rPr lang="en-US" sz="2400" dirty="0">
                <a:latin typeface="Times" pitchFamily="18" charset="0"/>
                <a:cs typeface="Times" pitchFamily="18" charset="0"/>
              </a:rPr>
              <a:t> </a:t>
            </a:r>
            <a:r>
              <a:rPr lang="en-US" sz="2400" dirty="0" err="1">
                <a:latin typeface="Times" pitchFamily="18" charset="0"/>
                <a:cs typeface="Times" pitchFamily="18" charset="0"/>
              </a:rPr>
              <a:t>là</a:t>
            </a:r>
            <a:r>
              <a:rPr lang="en-US" sz="2400" dirty="0">
                <a:latin typeface="Times" pitchFamily="18" charset="0"/>
                <a:cs typeface="Times" pitchFamily="18" charset="0"/>
              </a:rPr>
              <a:t>  </a:t>
            </a:r>
          </a:p>
        </p:txBody>
      </p:sp>
      <p:sp>
        <p:nvSpPr>
          <p:cNvPr id="71" name="TextBox 70"/>
          <p:cNvSpPr txBox="1"/>
          <p:nvPr/>
        </p:nvSpPr>
        <p:spPr>
          <a:xfrm>
            <a:off x="304800" y="4191000"/>
            <a:ext cx="5257799" cy="461665"/>
          </a:xfrm>
          <a:prstGeom prst="rect">
            <a:avLst/>
          </a:prstGeom>
          <a:noFill/>
        </p:spPr>
        <p:txBody>
          <a:bodyPr wrap="square" rtlCol="0">
            <a:spAutoFit/>
          </a:bodyPr>
          <a:lstStyle/>
          <a:p>
            <a:r>
              <a:rPr lang="en-US" sz="2400" dirty="0" err="1">
                <a:latin typeface="Times" pitchFamily="18" charset="0"/>
                <a:cs typeface="Times" pitchFamily="18" charset="0"/>
              </a:rPr>
              <a:t>Độ</a:t>
            </a:r>
            <a:r>
              <a:rPr lang="en-US" sz="2400" dirty="0">
                <a:latin typeface="Times" pitchFamily="18" charset="0"/>
                <a:cs typeface="Times" pitchFamily="18" charset="0"/>
              </a:rPr>
              <a:t> </a:t>
            </a:r>
            <a:r>
              <a:rPr lang="en-US" sz="2400" dirty="0" err="1">
                <a:latin typeface="Times" pitchFamily="18" charset="0"/>
                <a:cs typeface="Times" pitchFamily="18" charset="0"/>
              </a:rPr>
              <a:t>rộng</a:t>
            </a:r>
            <a:r>
              <a:rPr lang="en-US" sz="2400" dirty="0">
                <a:latin typeface="Times" pitchFamily="18" charset="0"/>
                <a:cs typeface="Times" pitchFamily="18" charset="0"/>
              </a:rPr>
              <a:t> </a:t>
            </a:r>
            <a:r>
              <a:rPr lang="en-US" sz="2400" dirty="0" err="1">
                <a:latin typeface="Times" pitchFamily="18" charset="0"/>
                <a:cs typeface="Times" pitchFamily="18" charset="0"/>
              </a:rPr>
              <a:t>của</a:t>
            </a:r>
            <a:r>
              <a:rPr lang="en-US" sz="2400" dirty="0">
                <a:latin typeface="Times" pitchFamily="18" charset="0"/>
                <a:cs typeface="Times" pitchFamily="18" charset="0"/>
              </a:rPr>
              <a:t> </a:t>
            </a:r>
            <a:r>
              <a:rPr lang="en-US" sz="2400" dirty="0" err="1">
                <a:latin typeface="Times" pitchFamily="18" charset="0"/>
                <a:cs typeface="Times" pitchFamily="18" charset="0"/>
              </a:rPr>
              <a:t>cực</a:t>
            </a:r>
            <a:r>
              <a:rPr lang="en-US" sz="2400" dirty="0">
                <a:latin typeface="Times" pitchFamily="18" charset="0"/>
                <a:cs typeface="Times" pitchFamily="18" charset="0"/>
              </a:rPr>
              <a:t> </a:t>
            </a:r>
            <a:r>
              <a:rPr lang="en-US" sz="2400" dirty="0" err="1">
                <a:latin typeface="Times" pitchFamily="18" charset="0"/>
                <a:cs typeface="Times" pitchFamily="18" charset="0"/>
              </a:rPr>
              <a:t>đại</a:t>
            </a:r>
            <a:r>
              <a:rPr lang="en-US" sz="2400" dirty="0">
                <a:latin typeface="Times" pitchFamily="18" charset="0"/>
                <a:cs typeface="Times" pitchFamily="18" charset="0"/>
              </a:rPr>
              <a:t> </a:t>
            </a:r>
            <a:r>
              <a:rPr lang="en-US" sz="2400" dirty="0" err="1">
                <a:latin typeface="Times" pitchFamily="18" charset="0"/>
                <a:cs typeface="Times" pitchFamily="18" charset="0"/>
              </a:rPr>
              <a:t>trung</a:t>
            </a:r>
            <a:r>
              <a:rPr lang="en-US" sz="2400" dirty="0">
                <a:latin typeface="Times" pitchFamily="18" charset="0"/>
                <a:cs typeface="Times" pitchFamily="18" charset="0"/>
              </a:rPr>
              <a:t> </a:t>
            </a:r>
            <a:r>
              <a:rPr lang="en-US" sz="2400" dirty="0" err="1">
                <a:latin typeface="Times" pitchFamily="18" charset="0"/>
                <a:cs typeface="Times" pitchFamily="18" charset="0"/>
              </a:rPr>
              <a:t>tâm</a:t>
            </a:r>
            <a:r>
              <a:rPr lang="en-US" sz="2400" dirty="0">
                <a:latin typeface="Times" pitchFamily="18" charset="0"/>
                <a:cs typeface="Times" pitchFamily="18" charset="0"/>
              </a:rPr>
              <a:t> </a:t>
            </a:r>
            <a:r>
              <a:rPr lang="en-US" sz="2400" dirty="0" err="1">
                <a:latin typeface="Times" pitchFamily="18" charset="0"/>
                <a:cs typeface="Times" pitchFamily="18" charset="0"/>
              </a:rPr>
              <a:t>là</a:t>
            </a:r>
            <a:r>
              <a:rPr lang="en-US" sz="2400" dirty="0">
                <a:latin typeface="Times" pitchFamily="18" charset="0"/>
                <a:cs typeface="Times" pitchFamily="18" charset="0"/>
              </a:rPr>
              <a:t> a </a:t>
            </a:r>
          </a:p>
        </p:txBody>
      </p:sp>
      <mc:AlternateContent xmlns:mc="http://schemas.openxmlformats.org/markup-compatibility/2006">
        <mc:Choice xmlns:a14="http://schemas.microsoft.com/office/drawing/2010/main" Requires="a14">
          <p:sp>
            <p:nvSpPr>
              <p:cNvPr id="72" name="Object 71"/>
              <p:cNvSpPr txBox="1"/>
              <p:nvPr/>
            </p:nvSpPr>
            <p:spPr>
              <a:xfrm>
                <a:off x="457200" y="4953000"/>
                <a:ext cx="1447800" cy="990600"/>
              </a:xfrm>
              <a:prstGeom prst="rect">
                <a:avLst/>
              </a:prstGeom>
            </p:spPr>
            <p:txBody>
              <a:bodyPr>
                <a:normAutofit/>
              </a:bodyPr>
              <a:lstStyle/>
              <a:p>
                <a:pPr/>
                <a:r>
                  <a:rPr lang="en-US" dirty="0">
                    <a:latin typeface="Times New Roman" pitchFamily="18" charset="0"/>
                    <a:cs typeface="Times New Roman" pitchFamily="18" charset="0"/>
                  </a:rPr>
                  <a:t>Sin </a:t>
                </a:r>
                <a:r>
                  <a:rPr lang="el-GR" dirty="0">
                    <a:latin typeface="Times New Roman" pitchFamily="18" charset="0"/>
                    <a:cs typeface="Times New Roman" pitchFamily="18" charset="0"/>
                  </a:rPr>
                  <a:t>φ </a:t>
                </a:r>
                <a14:m>
                  <m:oMath xmlns:m="http://schemas.openxmlformats.org/officeDocument/2006/math">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𝜆</m:t>
                        </m:r>
                      </m:num>
                      <m:den>
                        <m:r>
                          <a:rPr lang="en-US" i="1">
                            <a:solidFill>
                              <a:srgbClr val="000000"/>
                            </a:solidFill>
                            <a:latin typeface="Cambria Math" panose="02040503050406030204" pitchFamily="18" charset="0"/>
                          </a:rPr>
                          <m:t>𝑏</m:t>
                        </m:r>
                      </m:den>
                    </m:f>
                  </m:oMath>
                </a14:m>
                <a:endParaRPr lang="en-US" dirty="0"/>
              </a:p>
            </p:txBody>
          </p:sp>
        </mc:Choice>
        <mc:Fallback>
          <p:sp>
            <p:nvSpPr>
              <p:cNvPr id="72" name="Object 71"/>
              <p:cNvSpPr txBox="1">
                <a:spLocks noRot="1" noChangeAspect="1" noMove="1" noResize="1" noEditPoints="1" noAdjustHandles="1" noChangeArrowheads="1" noChangeShapeType="1" noTextEdit="1"/>
              </p:cNvSpPr>
              <p:nvPr/>
            </p:nvSpPr>
            <p:spPr>
              <a:xfrm>
                <a:off x="457200" y="4953000"/>
                <a:ext cx="1447800" cy="990600"/>
              </a:xfrm>
              <a:prstGeom prst="rect">
                <a:avLst/>
              </a:prstGeom>
              <a:blipFill>
                <a:blip r:embed="rId2"/>
                <a:stretch>
                  <a:fillRect l="-336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3" name="Object 72"/>
              <p:cNvSpPr txBox="1"/>
              <p:nvPr/>
            </p:nvSpPr>
            <p:spPr bwMode="auto">
              <a:xfrm>
                <a:off x="1697037" y="4747220"/>
                <a:ext cx="5383701" cy="859830"/>
              </a:xfrm>
              <a:prstGeom prst="rect">
                <a:avLst/>
              </a:prstGeom>
              <a:noFill/>
              <a:ln>
                <a:noFill/>
              </a:ln>
              <a:extLst/>
            </p:spPr>
            <p:txBody>
              <a:bodyPr>
                <a:normAutofit/>
              </a:bodyPr>
              <a:lstStyle/>
              <a:p>
                <a:pPr/>
                <a14:m>
                  <m:oMathPara xmlns:m="http://schemas.openxmlformats.org/officeDocument/2006/math">
                    <m:oMathParaPr>
                      <m:jc m:val="centerGroup"/>
                    </m:oMathParaPr>
                    <m:oMath xmlns:m="http://schemas.openxmlformats.org/officeDocument/2006/math">
                      <m:r>
                        <a:rPr lang="en-US" i="1" smtClean="0">
                          <a:solidFill>
                            <a:srgbClr val="000000"/>
                          </a:solidFill>
                          <a:latin typeface="Cambria Math" panose="02040503050406030204" pitchFamily="18" charset="0"/>
                        </a:rPr>
                        <m:t>𝑣</m:t>
                      </m:r>
                      <m:r>
                        <a:rPr lang="en-US" i="1" smtClean="0">
                          <a:solidFill>
                            <a:srgbClr val="000000"/>
                          </a:solidFill>
                          <a:latin typeface="Cambria Math" panose="02040503050406030204" pitchFamily="18" charset="0"/>
                        </a:rPr>
                        <m:t>ì </m:t>
                      </m:r>
                      <m:r>
                        <m:rPr>
                          <m:nor/>
                        </m:rPr>
                        <a:rPr lang="el-GR" dirty="0">
                          <a:latin typeface="Times New Roman" pitchFamily="18" charset="0"/>
                          <a:cs typeface="Times New Roman" pitchFamily="18" charset="0"/>
                        </a:rPr>
                        <m:t>φ</m:t>
                      </m:r>
                      <m:r>
                        <a:rPr lang="en-US" b="0" i="1" dirty="0" smtClean="0">
                          <a:latin typeface="Cambria Math" panose="02040503050406030204" pitchFamily="18" charset="0"/>
                          <a:cs typeface="Times New Roman" pitchFamily="18" charset="0"/>
                        </a:rPr>
                        <m:t> </m:t>
                      </m:r>
                      <m:r>
                        <a:rPr lang="en-US" i="1" smtClean="0">
                          <a:solidFill>
                            <a:srgbClr val="000000"/>
                          </a:solidFill>
                          <a:latin typeface="Cambria Math" panose="02040503050406030204" pitchFamily="18" charset="0"/>
                        </a:rPr>
                        <m:t>𝑏</m:t>
                      </m:r>
                      <m:r>
                        <a:rPr lang="en-US" i="1" smtClean="0">
                          <a:solidFill>
                            <a:srgbClr val="000000"/>
                          </a:solidFill>
                          <a:latin typeface="Cambria Math" panose="02040503050406030204" pitchFamily="18" charset="0"/>
                        </a:rPr>
                        <m:t>é  </m:t>
                      </m:r>
                      <m:r>
                        <a:rPr lang="en-US" i="1" smtClean="0">
                          <a:solidFill>
                            <a:srgbClr val="000000"/>
                          </a:solidFill>
                          <a:latin typeface="Cambria Math" panose="02040503050406030204" pitchFamily="18" charset="0"/>
                        </a:rPr>
                        <m:t>𝑛</m:t>
                      </m:r>
                      <m:r>
                        <a:rPr lang="en-US" i="1" smtClean="0">
                          <a:solidFill>
                            <a:srgbClr val="000000"/>
                          </a:solidFill>
                          <a:latin typeface="Cambria Math" panose="02040503050406030204" pitchFamily="18" charset="0"/>
                        </a:rPr>
                        <m:t>ê</m:t>
                      </m:r>
                      <m:r>
                        <a:rPr lang="en-US" i="1" smtClean="0">
                          <a:solidFill>
                            <a:srgbClr val="000000"/>
                          </a:solidFill>
                          <a:latin typeface="Cambria Math" panose="02040503050406030204" pitchFamily="18" charset="0"/>
                        </a:rPr>
                        <m:t>𝑛</m:t>
                      </m:r>
                      <m:func>
                        <m:funcPr>
                          <m:ctrlPr>
                            <a:rPr lang="en-US" i="1">
                              <a:solidFill>
                                <a:srgbClr val="000000"/>
                              </a:solidFill>
                              <a:latin typeface="Cambria Math" panose="02040503050406030204" pitchFamily="18" charset="0"/>
                            </a:rPr>
                          </m:ctrlPr>
                        </m:funcPr>
                        <m:fName>
                          <m:r>
                            <m:rPr>
                              <m:sty m:val="p"/>
                            </m:rPr>
                            <a:rPr lang="en-US" i="0">
                              <a:solidFill>
                                <a:srgbClr val="000000"/>
                              </a:solidFill>
                              <a:latin typeface="Cambria Math" panose="02040503050406030204" pitchFamily="18" charset="0"/>
                            </a:rPr>
                            <m:t>sin</m:t>
                          </m:r>
                        </m:fName>
                        <m:e>
                          <m:r>
                            <m:rPr>
                              <m:nor/>
                            </m:rPr>
                            <a:rPr lang="el-GR" dirty="0">
                              <a:latin typeface="Times New Roman" pitchFamily="18" charset="0"/>
                              <a:cs typeface="Times New Roman" pitchFamily="18" charset="0"/>
                            </a:rPr>
                            <m:t>φ</m:t>
                          </m:r>
                        </m:e>
                      </m:func>
                      <m:r>
                        <a:rPr lang="en-US" i="1">
                          <a:solidFill>
                            <a:srgbClr val="000000"/>
                          </a:solidFill>
                          <a:latin typeface="Cambria Math" panose="02040503050406030204" pitchFamily="18" charset="0"/>
                        </a:rPr>
                        <m:t>≈</m:t>
                      </m:r>
                      <m:func>
                        <m:funcPr>
                          <m:ctrlPr>
                            <a:rPr lang="en-US" i="1">
                              <a:solidFill>
                                <a:srgbClr val="000000"/>
                              </a:solidFill>
                              <a:latin typeface="Cambria Math" panose="02040503050406030204" pitchFamily="18" charset="0"/>
                            </a:rPr>
                          </m:ctrlPr>
                        </m:funcPr>
                        <m:fName>
                          <m:r>
                            <m:rPr>
                              <m:sty m:val="p"/>
                            </m:rPr>
                            <a:rPr lang="en-US" i="0">
                              <a:solidFill>
                                <a:srgbClr val="000000"/>
                              </a:solidFill>
                              <a:latin typeface="Cambria Math" panose="02040503050406030204" pitchFamily="18" charset="0"/>
                            </a:rPr>
                            <m:t>tan</m:t>
                          </m:r>
                        </m:fName>
                        <m:e>
                          <m:r>
                            <m:rPr>
                              <m:nor/>
                            </m:rPr>
                            <a:rPr lang="el-GR" dirty="0">
                              <a:latin typeface="Times New Roman" pitchFamily="18" charset="0"/>
                              <a:cs typeface="Times New Roman" pitchFamily="18" charset="0"/>
                            </a:rPr>
                            <m:t>φ</m:t>
                          </m:r>
                        </m:e>
                      </m:func>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𝑎</m:t>
                          </m:r>
                        </m:num>
                        <m:den>
                          <m:r>
                            <a:rPr lang="en-US" b="0" i="1" smtClean="0">
                              <a:solidFill>
                                <a:srgbClr val="000000"/>
                              </a:solidFill>
                              <a:latin typeface="Cambria Math" panose="02040503050406030204" pitchFamily="18" charset="0"/>
                            </a:rPr>
                            <m:t>2</m:t>
                          </m:r>
                          <m:r>
                            <a:rPr lang="en-US" i="1">
                              <a:solidFill>
                                <a:srgbClr val="000000"/>
                              </a:solidFill>
                              <a:latin typeface="Cambria Math" panose="02040503050406030204" pitchFamily="18" charset="0"/>
                            </a:rPr>
                            <m:t>𝑓</m:t>
                          </m:r>
                        </m:den>
                      </m:f>
                    </m:oMath>
                  </m:oMathPara>
                </a14:m>
                <a:endParaRPr lang="en-US" dirty="0"/>
              </a:p>
            </p:txBody>
          </p:sp>
        </mc:Choice>
        <mc:Fallback>
          <p:sp>
            <p:nvSpPr>
              <p:cNvPr id="73" name="Object 72"/>
              <p:cNvSpPr txBox="1">
                <a:spLocks noRot="1" noChangeAspect="1" noMove="1" noResize="1" noEditPoints="1" noAdjustHandles="1" noChangeArrowheads="1" noChangeShapeType="1" noTextEdit="1"/>
              </p:cNvSpPr>
              <p:nvPr/>
            </p:nvSpPr>
            <p:spPr bwMode="auto">
              <a:xfrm>
                <a:off x="1697037" y="4747220"/>
                <a:ext cx="5383701" cy="859830"/>
              </a:xfrm>
              <a:prstGeom prst="rect">
                <a:avLst/>
              </a:prstGeom>
              <a:blipFill>
                <a:blip r:embed="rId3"/>
                <a:stretch>
                  <a:fillRect/>
                </a:stretch>
              </a:blipFill>
              <a:ln>
                <a:noFill/>
              </a:ln>
              <a:ex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4" name="Object 73"/>
              <p:cNvSpPr txBox="1"/>
              <p:nvPr/>
            </p:nvSpPr>
            <p:spPr bwMode="auto">
              <a:xfrm>
                <a:off x="2805113" y="5638800"/>
                <a:ext cx="2370625" cy="914400"/>
              </a:xfrm>
              <a:prstGeom prst="rect">
                <a:avLst/>
              </a:prstGeom>
              <a:noFill/>
              <a:ln>
                <a:noFill/>
              </a:ln>
              <a:extLst/>
            </p:spPr>
            <p:txBody>
              <a:bodyPr>
                <a:normAutofit/>
              </a:bodyPr>
              <a:lstStyle/>
              <a:p>
                <a:pPr/>
                <a14:m>
                  <m:oMathPara xmlns:m="http://schemas.openxmlformats.org/officeDocument/2006/math">
                    <m:oMathParaPr>
                      <m:jc m:val="centerGroup"/>
                    </m:oMathParaPr>
                    <m:oMath xmlns:m="http://schemas.openxmlformats.org/officeDocument/2006/math">
                      <m:r>
                        <a:rPr lang="en-US" i="1" smtClean="0">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𝜆</m:t>
                          </m:r>
                        </m:num>
                        <m:den>
                          <m:r>
                            <a:rPr lang="en-US" i="1">
                              <a:solidFill>
                                <a:srgbClr val="000000"/>
                              </a:solidFill>
                              <a:latin typeface="Cambria Math" panose="02040503050406030204" pitchFamily="18" charset="0"/>
                            </a:rPr>
                            <m:t>𝑏</m:t>
                          </m:r>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𝑎</m:t>
                          </m:r>
                        </m:num>
                        <m:den>
                          <m:r>
                            <a:rPr lang="en-US" b="0" i="1" smtClean="0">
                              <a:solidFill>
                                <a:srgbClr val="000000"/>
                              </a:solidFill>
                              <a:latin typeface="Cambria Math" panose="02040503050406030204" pitchFamily="18" charset="0"/>
                            </a:rPr>
                            <m:t>2</m:t>
                          </m:r>
                          <m:r>
                            <a:rPr lang="en-US" i="1">
                              <a:solidFill>
                                <a:srgbClr val="000000"/>
                              </a:solidFill>
                              <a:latin typeface="Cambria Math" panose="02040503050406030204" pitchFamily="18" charset="0"/>
                            </a:rPr>
                            <m:t>𝑓</m:t>
                          </m:r>
                        </m:den>
                      </m:f>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𝜆</m:t>
                      </m:r>
                      <m:r>
                        <a:rPr lang="en-US" i="1">
                          <a:solidFill>
                            <a:srgbClr val="000000"/>
                          </a:solidFill>
                          <a:latin typeface="Cambria Math" panose="02040503050406030204" pitchFamily="18" charset="0"/>
                        </a:rPr>
                        <m:t>=</m:t>
                      </m:r>
                    </m:oMath>
                  </m:oMathPara>
                </a14:m>
                <a:endParaRPr lang="en-US" dirty="0"/>
              </a:p>
            </p:txBody>
          </p:sp>
        </mc:Choice>
        <mc:Fallback>
          <p:sp>
            <p:nvSpPr>
              <p:cNvPr id="74" name="Object 73"/>
              <p:cNvSpPr txBox="1">
                <a:spLocks noRot="1" noChangeAspect="1" noMove="1" noResize="1" noEditPoints="1" noAdjustHandles="1" noChangeArrowheads="1" noChangeShapeType="1" noTextEdit="1"/>
              </p:cNvSpPr>
              <p:nvPr/>
            </p:nvSpPr>
            <p:spPr bwMode="auto">
              <a:xfrm>
                <a:off x="2805113" y="5638800"/>
                <a:ext cx="2370625" cy="914400"/>
              </a:xfrm>
              <a:prstGeom prst="rect">
                <a:avLst/>
              </a:prstGeom>
              <a:blipFill>
                <a:blip r:embed="rId4"/>
                <a:stretch>
                  <a:fillRect/>
                </a:stretch>
              </a:blipFill>
              <a:ln>
                <a:noFill/>
              </a:ln>
              <a:extLst/>
            </p:spPr>
            <p:txBody>
              <a:bodyPr/>
              <a:lstStyle/>
              <a:p>
                <a:r>
                  <a:rPr lang="en-US">
                    <a:noFill/>
                  </a:rPr>
                  <a:t> </a:t>
                </a:r>
              </a:p>
            </p:txBody>
          </p:sp>
        </mc:Fallback>
      </mc:AlternateContent>
      <p:pic>
        <p:nvPicPr>
          <p:cNvPr id="12" name="Picture 11">
            <a:extLst>
              <a:ext uri="{FF2B5EF4-FFF2-40B4-BE49-F238E27FC236}">
                <a16:creationId xmlns:a16="http://schemas.microsoft.com/office/drawing/2014/main" id="{EEDD0B49-5AB7-4751-9BDA-B08B07DEE83B}"/>
              </a:ext>
            </a:extLst>
          </p:cNvPr>
          <p:cNvPicPr>
            <a:picLocks noChangeAspect="1"/>
          </p:cNvPicPr>
          <p:nvPr/>
        </p:nvPicPr>
        <p:blipFill>
          <a:blip r:embed="rId5"/>
          <a:stretch>
            <a:fillRect/>
          </a:stretch>
        </p:blipFill>
        <p:spPr>
          <a:xfrm>
            <a:off x="5175738" y="2362200"/>
            <a:ext cx="3739662" cy="3182045"/>
          </a:xfrm>
          <a:prstGeom prst="rect">
            <a:avLst/>
          </a:prstGeom>
        </p:spPr>
      </p:pic>
    </p:spTree>
    <p:extLst>
      <p:ext uri="{BB962C8B-B14F-4D97-AF65-F5344CB8AC3E}">
        <p14:creationId xmlns:p14="http://schemas.microsoft.com/office/powerpoint/2010/main" val="3659423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barn(inVertical)">
                                      <p:cBhvr>
                                        <p:cTn id="7" dur="500"/>
                                        <p:tgtEl>
                                          <p:spTgt spid="7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71"/>
                                        </p:tgtEl>
                                        <p:attrNameLst>
                                          <p:attrName>style.visibility</p:attrName>
                                        </p:attrNameLst>
                                      </p:cBhvr>
                                      <p:to>
                                        <p:strVal val="visible"/>
                                      </p:to>
                                    </p:set>
                                    <p:animEffect transition="in" filter="barn(inVertical)">
                                      <p:cBhvr>
                                        <p:cTn id="12"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P spid="71"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9144000" cy="2693045"/>
          </a:xfrm>
          <a:prstGeom prst="rect">
            <a:avLst/>
          </a:prstGeom>
          <a:noFill/>
        </p:spPr>
        <p:txBody>
          <a:bodyPr wrap="square" rtlCol="0">
            <a:spAutoFit/>
          </a:bodyPr>
          <a:lstStyle/>
          <a:p>
            <a:pPr algn="just"/>
            <a:r>
              <a:rPr lang="pt-BR" sz="2100" dirty="0">
                <a:latin typeface="Times" pitchFamily="18" charset="0"/>
                <a:cs typeface="Times" pitchFamily="18" charset="0"/>
              </a:rPr>
              <a:t>Ví dụ . Cho một chùm tia sáng đơn sắc song song có bước sóng </a:t>
            </a:r>
            <a:r>
              <a:rPr lang="en-US" sz="2100" dirty="0">
                <a:latin typeface="Times" pitchFamily="18" charset="0"/>
                <a:cs typeface="Times" pitchFamily="18" charset="0"/>
              </a:rPr>
              <a:t>λ</a:t>
            </a:r>
            <a:r>
              <a:rPr lang="pt-BR" sz="2100" dirty="0">
                <a:latin typeface="Times" pitchFamily="18" charset="0"/>
                <a:cs typeface="Times" pitchFamily="18" charset="0"/>
              </a:rPr>
              <a:t> = 0,7</a:t>
            </a:r>
            <a:r>
              <a:rPr lang="en-US" sz="2100" dirty="0">
                <a:latin typeface="Times" pitchFamily="18" charset="0"/>
                <a:cs typeface="Times" pitchFamily="18" charset="0"/>
              </a:rPr>
              <a:t>μ</a:t>
            </a:r>
            <a:r>
              <a:rPr lang="pt-BR" sz="2100" dirty="0">
                <a:latin typeface="Times" pitchFamily="18" charset="0"/>
                <a:cs typeface="Times" pitchFamily="18" charset="0"/>
              </a:rPr>
              <a:t>m chiếu vuông góc với mặt của một cách tử truyền qua. Trên mặt phẳng tiêu của thấu kính hội tụ đặt ở sát phía sau cách tử, người ta quan sát thấy vạch quang phổ bậc ba lệch </a:t>
            </a:r>
            <a:r>
              <a:rPr lang="el-GR" sz="2100" dirty="0">
                <a:latin typeface="Times" pitchFamily="18" charset="0"/>
                <a:cs typeface="Times" pitchFamily="18" charset="0"/>
              </a:rPr>
              <a:t>φ</a:t>
            </a:r>
            <a:r>
              <a:rPr lang="en-US" sz="2100" dirty="0">
                <a:latin typeface="Times" pitchFamily="18" charset="0"/>
                <a:cs typeface="Times" pitchFamily="18" charset="0"/>
              </a:rPr>
              <a:t> =48</a:t>
            </a:r>
            <a:r>
              <a:rPr lang="en-US" sz="2100" baseline="30000" dirty="0">
                <a:latin typeface="Times" pitchFamily="18" charset="0"/>
                <a:cs typeface="Times" pitchFamily="18" charset="0"/>
              </a:rPr>
              <a:t>0</a:t>
            </a:r>
            <a:r>
              <a:rPr lang="en-US" sz="2100" dirty="0">
                <a:latin typeface="Times" pitchFamily="18" charset="0"/>
                <a:cs typeface="Times" pitchFamily="18" charset="0"/>
              </a:rPr>
              <a:t>36’</a:t>
            </a:r>
            <a:r>
              <a:rPr lang="pt-BR" sz="2100" dirty="0">
                <a:latin typeface="Times" pitchFamily="18" charset="0"/>
                <a:cs typeface="Times" pitchFamily="18" charset="0"/>
              </a:rPr>
              <a:t> . Xác định:</a:t>
            </a:r>
            <a:endParaRPr lang="en-US" sz="2100" dirty="0">
              <a:latin typeface="Times" pitchFamily="18" charset="0"/>
              <a:cs typeface="Times" pitchFamily="18" charset="0"/>
            </a:endParaRPr>
          </a:p>
          <a:p>
            <a:pPr algn="just"/>
            <a:r>
              <a:rPr lang="pt-BR" sz="2100" dirty="0">
                <a:latin typeface="Times" pitchFamily="18" charset="0"/>
                <a:cs typeface="Times" pitchFamily="18" charset="0"/>
              </a:rPr>
              <a:t>a. Chu kỳ cách tử và số khe trên 1cm chiều dài của cách tử.</a:t>
            </a:r>
            <a:endParaRPr lang="en-US" sz="2100" dirty="0">
              <a:latin typeface="Times" pitchFamily="18" charset="0"/>
              <a:cs typeface="Times" pitchFamily="18" charset="0"/>
            </a:endParaRPr>
          </a:p>
          <a:p>
            <a:pPr algn="just"/>
            <a:r>
              <a:rPr lang="pt-BR" sz="2100" dirty="0">
                <a:latin typeface="Times" pitchFamily="18" charset="0"/>
                <a:cs typeface="Times" pitchFamily="18" charset="0"/>
              </a:rPr>
              <a:t>b. Số cực đại chính nằm trong khoảng giữa hai cực tiểu chính bậc nhất trong ảnh nhiễu xạ. Cho biết mỗi khe của cách tử có độ rộng b = 0,7</a:t>
            </a:r>
            <a:r>
              <a:rPr lang="en-US" sz="2100" dirty="0">
                <a:latin typeface="Times" pitchFamily="18" charset="0"/>
                <a:cs typeface="Times" pitchFamily="18" charset="0"/>
              </a:rPr>
              <a:t>μ</a:t>
            </a:r>
            <a:r>
              <a:rPr lang="pt-BR" sz="2100" dirty="0">
                <a:latin typeface="Times" pitchFamily="18" charset="0"/>
                <a:cs typeface="Times" pitchFamily="18" charset="0"/>
              </a:rPr>
              <a:t>m, sin</a:t>
            </a:r>
            <a:r>
              <a:rPr lang="en-US" sz="2100" dirty="0">
                <a:latin typeface="Times" pitchFamily="18" charset="0"/>
                <a:cs typeface="Times" pitchFamily="18" charset="0"/>
              </a:rPr>
              <a:t> 48</a:t>
            </a:r>
            <a:r>
              <a:rPr lang="en-US" sz="2100" baseline="30000" dirty="0">
                <a:latin typeface="Times" pitchFamily="18" charset="0"/>
                <a:cs typeface="Times" pitchFamily="18" charset="0"/>
              </a:rPr>
              <a:t>0</a:t>
            </a:r>
            <a:r>
              <a:rPr lang="en-US" sz="2100" dirty="0">
                <a:latin typeface="Times" pitchFamily="18" charset="0"/>
                <a:cs typeface="Times" pitchFamily="18" charset="0"/>
              </a:rPr>
              <a:t>36’=0,75</a:t>
            </a:r>
            <a:r>
              <a:rPr lang="pt-BR" sz="2100" dirty="0">
                <a:latin typeface="Times" pitchFamily="18" charset="0"/>
                <a:cs typeface="Times" pitchFamily="18" charset="0"/>
              </a:rPr>
              <a:t> </a:t>
            </a:r>
            <a:r>
              <a:rPr lang="pt-BR" sz="2100" baseline="30000" dirty="0">
                <a:latin typeface="Times" pitchFamily="18" charset="0"/>
                <a:cs typeface="Times" pitchFamily="18" charset="0"/>
              </a:rPr>
              <a:t>­</a:t>
            </a:r>
            <a:r>
              <a:rPr lang="pt-BR" sz="2100" dirty="0">
                <a:latin typeface="Times" pitchFamily="18" charset="0"/>
                <a:cs typeface="Times" pitchFamily="18" charset="0"/>
              </a:rPr>
              <a:t>.</a:t>
            </a:r>
            <a:endParaRPr lang="en-US" sz="2100" dirty="0">
              <a:latin typeface="Times" pitchFamily="18" charset="0"/>
              <a:cs typeface="Times" pitchFamily="18" charset="0"/>
            </a:endParaRPr>
          </a:p>
          <a:p>
            <a:endParaRPr lang="en-US" sz="2200" dirty="0"/>
          </a:p>
        </p:txBody>
      </p:sp>
      <p:graphicFrame>
        <p:nvGraphicFramePr>
          <p:cNvPr id="6" name="Object 5"/>
          <p:cNvGraphicFramePr>
            <a:graphicFrameLocks noChangeAspect="1"/>
          </p:cNvGraphicFramePr>
          <p:nvPr>
            <p:extLst>
              <p:ext uri="{D42A27DB-BD31-4B8C-83A1-F6EECF244321}">
                <p14:modId xmlns:p14="http://schemas.microsoft.com/office/powerpoint/2010/main" val="3162107742"/>
              </p:ext>
            </p:extLst>
          </p:nvPr>
        </p:nvGraphicFramePr>
        <p:xfrm>
          <a:off x="2362200" y="3276600"/>
          <a:ext cx="3232150" cy="698500"/>
        </p:xfrm>
        <a:graphic>
          <a:graphicData uri="http://schemas.openxmlformats.org/presentationml/2006/ole">
            <mc:AlternateContent xmlns:mc="http://schemas.openxmlformats.org/markup-compatibility/2006">
              <mc:Choice xmlns:v="urn:schemas-microsoft-com:vml" Requires="v">
                <p:oleObj spid="_x0000_s31770" name="Equation" r:id="rId3" imgW="1942920" imgH="419040" progId="Equation.3">
                  <p:embed/>
                </p:oleObj>
              </mc:Choice>
              <mc:Fallback>
                <p:oleObj name="Equation" r:id="rId3" imgW="1942920" imgH="419040" progId="Equation.3">
                  <p:embed/>
                  <p:pic>
                    <p:nvPicPr>
                      <p:cNvPr id="0" name=""/>
                      <p:cNvPicPr>
                        <a:picLocks noChangeAspect="1" noChangeArrowheads="1"/>
                      </p:cNvPicPr>
                      <p:nvPr/>
                    </p:nvPicPr>
                    <p:blipFill>
                      <a:blip r:embed="rId4"/>
                      <a:srcRect/>
                      <a:stretch>
                        <a:fillRect/>
                      </a:stretch>
                    </p:blipFill>
                    <p:spPr bwMode="auto">
                      <a:xfrm>
                        <a:off x="2362200" y="3276600"/>
                        <a:ext cx="3232150"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12"/>
          <p:cNvGraphicFramePr>
            <a:graphicFrameLocks noChangeAspect="1"/>
          </p:cNvGraphicFramePr>
          <p:nvPr>
            <p:extLst>
              <p:ext uri="{D42A27DB-BD31-4B8C-83A1-F6EECF244321}">
                <p14:modId xmlns:p14="http://schemas.microsoft.com/office/powerpoint/2010/main" val="1419547163"/>
              </p:ext>
            </p:extLst>
          </p:nvPr>
        </p:nvGraphicFramePr>
        <p:xfrm>
          <a:off x="2332038" y="4419600"/>
          <a:ext cx="3867150" cy="655638"/>
        </p:xfrm>
        <a:graphic>
          <a:graphicData uri="http://schemas.openxmlformats.org/presentationml/2006/ole">
            <mc:AlternateContent xmlns:mc="http://schemas.openxmlformats.org/markup-compatibility/2006">
              <mc:Choice xmlns:v="urn:schemas-microsoft-com:vml" Requires="v">
                <p:oleObj spid="_x0000_s31771" name="Equation" r:id="rId5" imgW="2323800" imgH="393480" progId="Equation.3">
                  <p:embed/>
                </p:oleObj>
              </mc:Choice>
              <mc:Fallback>
                <p:oleObj name="Equation" r:id="rId5" imgW="2323800" imgH="393480" progId="Equation.3">
                  <p:embed/>
                  <p:pic>
                    <p:nvPicPr>
                      <p:cNvPr id="0" name=""/>
                      <p:cNvPicPr>
                        <a:picLocks noChangeAspect="1" noChangeArrowheads="1"/>
                      </p:cNvPicPr>
                      <p:nvPr/>
                    </p:nvPicPr>
                    <p:blipFill>
                      <a:blip r:embed="rId6"/>
                      <a:srcRect/>
                      <a:stretch>
                        <a:fillRect/>
                      </a:stretch>
                    </p:blipFill>
                    <p:spPr bwMode="auto">
                      <a:xfrm>
                        <a:off x="2332038" y="4419600"/>
                        <a:ext cx="3867150" cy="65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550241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0" y="76200"/>
            <a:ext cx="9067800" cy="2246769"/>
          </a:xfrm>
          <a:prstGeom prst="rect">
            <a:avLst/>
          </a:prstGeom>
        </p:spPr>
        <p:txBody>
          <a:bodyPr wrap="square">
            <a:spAutoFit/>
          </a:bodyPr>
          <a:lstStyle/>
          <a:p>
            <a:pPr algn="just"/>
            <a:r>
              <a:rPr lang="pt-BR" sz="2000" dirty="0">
                <a:latin typeface="Times" pitchFamily="18" charset="0"/>
                <a:cs typeface="Times" pitchFamily="18" charset="0"/>
              </a:rPr>
              <a:t>Ví dụ . Cho một chùm tia sáng đơn sắc song song có bước sóng </a:t>
            </a:r>
            <a:r>
              <a:rPr lang="en-US" sz="2000" dirty="0">
                <a:latin typeface="Times" pitchFamily="18" charset="0"/>
                <a:cs typeface="Times" pitchFamily="18" charset="0"/>
              </a:rPr>
              <a:t>λ</a:t>
            </a:r>
            <a:r>
              <a:rPr lang="pt-BR" sz="2000" dirty="0">
                <a:latin typeface="Times" pitchFamily="18" charset="0"/>
                <a:cs typeface="Times" pitchFamily="18" charset="0"/>
              </a:rPr>
              <a:t> = 0,55</a:t>
            </a:r>
            <a:r>
              <a:rPr lang="en-US" sz="2000" dirty="0">
                <a:latin typeface="Times" pitchFamily="18" charset="0"/>
                <a:cs typeface="Times" pitchFamily="18" charset="0"/>
              </a:rPr>
              <a:t>μ</a:t>
            </a:r>
            <a:r>
              <a:rPr lang="pt-BR" sz="2000" dirty="0">
                <a:latin typeface="Times" pitchFamily="18" charset="0"/>
                <a:cs typeface="Times" pitchFamily="18" charset="0"/>
              </a:rPr>
              <a:t>m, chiếu vuông góc với mặt của một cách tử phẳng truyền qua. Ở sát phía sau của cách tử người ta đặt một thấu kính hội tụ có tiêu cự f = 50cm. Khi đó trên màn quan sát đặt tại mặt phẳng tiêu của thấu kính, hai vạch quang phổ bậc nhất cách nhau một khoảng a = 10,5 cm. Xác định:</a:t>
            </a:r>
            <a:endParaRPr lang="en-US" sz="2000" dirty="0">
              <a:latin typeface="Times" pitchFamily="18" charset="0"/>
              <a:cs typeface="Times" pitchFamily="18" charset="0"/>
            </a:endParaRPr>
          </a:p>
          <a:p>
            <a:pPr algn="just"/>
            <a:r>
              <a:rPr lang="pt-BR" sz="2000" dirty="0">
                <a:latin typeface="Times" pitchFamily="18" charset="0"/>
                <a:cs typeface="Times" pitchFamily="18" charset="0"/>
              </a:rPr>
              <a:t> a. Chu kỳ cách tử và số khe trên 1cm chiều dài của cách tử.</a:t>
            </a:r>
            <a:endParaRPr lang="en-US" sz="2000" dirty="0">
              <a:latin typeface="Times" pitchFamily="18" charset="0"/>
              <a:cs typeface="Times" pitchFamily="18" charset="0"/>
            </a:endParaRPr>
          </a:p>
          <a:p>
            <a:pPr algn="just"/>
            <a:r>
              <a:rPr lang="pt-BR" sz="2000" dirty="0">
                <a:latin typeface="Times" pitchFamily="18" charset="0"/>
                <a:cs typeface="Times" pitchFamily="18" charset="0"/>
              </a:rPr>
              <a:t> b. Số vạch cực đại chính trong quang phổ nhiễu xạ. </a:t>
            </a:r>
            <a:endParaRPr lang="en-US" sz="2000" dirty="0">
              <a:latin typeface="Times" pitchFamily="18" charset="0"/>
              <a:cs typeface="Times" pitchFamily="18" charset="0"/>
            </a:endParaRPr>
          </a:p>
        </p:txBody>
      </p:sp>
      <p:sp>
        <p:nvSpPr>
          <p:cNvPr id="61" name="TextBox 60"/>
          <p:cNvSpPr txBox="1"/>
          <p:nvPr/>
        </p:nvSpPr>
        <p:spPr>
          <a:xfrm>
            <a:off x="228600" y="2321004"/>
            <a:ext cx="5562600" cy="769441"/>
          </a:xfrm>
          <a:prstGeom prst="rect">
            <a:avLst/>
          </a:prstGeom>
          <a:noFill/>
        </p:spPr>
        <p:txBody>
          <a:bodyPr wrap="square" rtlCol="0">
            <a:spAutoFit/>
          </a:bodyPr>
          <a:lstStyle/>
          <a:p>
            <a:pPr algn="just"/>
            <a:r>
              <a:rPr lang="en-US" sz="2200" dirty="0" err="1">
                <a:latin typeface="Times" pitchFamily="18" charset="0"/>
                <a:cs typeface="Times" pitchFamily="18" charset="0"/>
              </a:rPr>
              <a:t>Gọi</a:t>
            </a:r>
            <a:r>
              <a:rPr lang="en-US" sz="2200" dirty="0">
                <a:latin typeface="Times" pitchFamily="18" charset="0"/>
                <a:cs typeface="Times" pitchFamily="18" charset="0"/>
              </a:rPr>
              <a:t> </a:t>
            </a:r>
            <a:r>
              <a:rPr lang="el-GR" sz="2200" dirty="0">
                <a:latin typeface="Times" pitchFamily="18" charset="0"/>
                <a:cs typeface="Times" pitchFamily="18" charset="0"/>
              </a:rPr>
              <a:t>φ</a:t>
            </a:r>
            <a:r>
              <a:rPr lang="en-US" sz="2200" dirty="0">
                <a:latin typeface="Times" pitchFamily="18" charset="0"/>
                <a:cs typeface="Times" pitchFamily="18" charset="0"/>
              </a:rPr>
              <a:t> </a:t>
            </a:r>
            <a:r>
              <a:rPr lang="en-US" sz="2200" dirty="0" err="1">
                <a:latin typeface="Times" pitchFamily="18" charset="0"/>
                <a:cs typeface="Times" pitchFamily="18" charset="0"/>
              </a:rPr>
              <a:t>là</a:t>
            </a:r>
            <a:r>
              <a:rPr lang="en-US" sz="2200" dirty="0">
                <a:latin typeface="Times" pitchFamily="18" charset="0"/>
                <a:cs typeface="Times" pitchFamily="18" charset="0"/>
              </a:rPr>
              <a:t> </a:t>
            </a:r>
            <a:r>
              <a:rPr lang="en-US" sz="2200" dirty="0" err="1">
                <a:latin typeface="Times" pitchFamily="18" charset="0"/>
                <a:cs typeface="Times" pitchFamily="18" charset="0"/>
              </a:rPr>
              <a:t>góc</a:t>
            </a:r>
            <a:r>
              <a:rPr lang="en-US" sz="2200" dirty="0">
                <a:latin typeface="Times" pitchFamily="18" charset="0"/>
                <a:cs typeface="Times" pitchFamily="18" charset="0"/>
              </a:rPr>
              <a:t> </a:t>
            </a:r>
            <a:r>
              <a:rPr lang="en-US" sz="2200" dirty="0" err="1">
                <a:latin typeface="Times" pitchFamily="18" charset="0"/>
                <a:cs typeface="Times" pitchFamily="18" charset="0"/>
              </a:rPr>
              <a:t>nhiễu</a:t>
            </a:r>
            <a:r>
              <a:rPr lang="en-US" sz="2200" dirty="0">
                <a:latin typeface="Times" pitchFamily="18" charset="0"/>
                <a:cs typeface="Times" pitchFamily="18" charset="0"/>
              </a:rPr>
              <a:t> </a:t>
            </a:r>
            <a:r>
              <a:rPr lang="en-US" sz="2200" dirty="0" err="1">
                <a:latin typeface="Times" pitchFamily="18" charset="0"/>
                <a:cs typeface="Times" pitchFamily="18" charset="0"/>
              </a:rPr>
              <a:t>xạ</a:t>
            </a:r>
            <a:r>
              <a:rPr lang="en-US" sz="2200" dirty="0">
                <a:latin typeface="Times" pitchFamily="18" charset="0"/>
                <a:cs typeface="Times" pitchFamily="18" charset="0"/>
              </a:rPr>
              <a:t> </a:t>
            </a:r>
            <a:r>
              <a:rPr lang="en-US" sz="2200" dirty="0" err="1">
                <a:latin typeface="Times" pitchFamily="18" charset="0"/>
                <a:cs typeface="Times" pitchFamily="18" charset="0"/>
              </a:rPr>
              <a:t>ứng</a:t>
            </a:r>
            <a:r>
              <a:rPr lang="en-US" sz="2200" dirty="0">
                <a:latin typeface="Times" pitchFamily="18" charset="0"/>
                <a:cs typeface="Times" pitchFamily="18" charset="0"/>
              </a:rPr>
              <a:t> </a:t>
            </a:r>
            <a:r>
              <a:rPr lang="en-US" sz="2200" dirty="0" err="1">
                <a:latin typeface="Times" pitchFamily="18" charset="0"/>
                <a:cs typeface="Times" pitchFamily="18" charset="0"/>
              </a:rPr>
              <a:t>với</a:t>
            </a:r>
            <a:r>
              <a:rPr lang="en-US" sz="2200" dirty="0">
                <a:latin typeface="Times" pitchFamily="18" charset="0"/>
                <a:cs typeface="Times" pitchFamily="18" charset="0"/>
              </a:rPr>
              <a:t> </a:t>
            </a:r>
            <a:r>
              <a:rPr lang="en-US" sz="2200" dirty="0" err="1">
                <a:latin typeface="Times" pitchFamily="18" charset="0"/>
                <a:cs typeface="Times" pitchFamily="18" charset="0"/>
              </a:rPr>
              <a:t>cực</a:t>
            </a:r>
            <a:r>
              <a:rPr lang="en-US" sz="2200" dirty="0">
                <a:latin typeface="Times" pitchFamily="18" charset="0"/>
                <a:cs typeface="Times" pitchFamily="18" charset="0"/>
              </a:rPr>
              <a:t> </a:t>
            </a:r>
            <a:r>
              <a:rPr lang="en-US" sz="2200" dirty="0" err="1">
                <a:latin typeface="Times" pitchFamily="18" charset="0"/>
                <a:cs typeface="Times" pitchFamily="18" charset="0"/>
              </a:rPr>
              <a:t>đại</a:t>
            </a:r>
            <a:r>
              <a:rPr lang="en-US" sz="2200" dirty="0">
                <a:latin typeface="Times" pitchFamily="18" charset="0"/>
                <a:cs typeface="Times" pitchFamily="18" charset="0"/>
              </a:rPr>
              <a:t> </a:t>
            </a:r>
            <a:r>
              <a:rPr lang="en-US" sz="2200" dirty="0" err="1">
                <a:latin typeface="Times" pitchFamily="18" charset="0"/>
                <a:cs typeface="Times" pitchFamily="18" charset="0"/>
              </a:rPr>
              <a:t>chính</a:t>
            </a:r>
            <a:r>
              <a:rPr lang="en-US" sz="2200" dirty="0">
                <a:latin typeface="Times" pitchFamily="18" charset="0"/>
                <a:cs typeface="Times" pitchFamily="18" charset="0"/>
              </a:rPr>
              <a:t> </a:t>
            </a:r>
            <a:r>
              <a:rPr lang="en-US" sz="2200" dirty="0" err="1">
                <a:latin typeface="Times" pitchFamily="18" charset="0"/>
                <a:cs typeface="Times" pitchFamily="18" charset="0"/>
              </a:rPr>
              <a:t>bậc</a:t>
            </a:r>
            <a:r>
              <a:rPr lang="en-US" sz="2200" dirty="0">
                <a:latin typeface="Times" pitchFamily="18" charset="0"/>
                <a:cs typeface="Times" pitchFamily="18" charset="0"/>
              </a:rPr>
              <a:t> </a:t>
            </a:r>
            <a:r>
              <a:rPr lang="en-US" sz="2200" dirty="0" err="1">
                <a:latin typeface="Times" pitchFamily="18" charset="0"/>
                <a:cs typeface="Times" pitchFamily="18" charset="0"/>
              </a:rPr>
              <a:t>nhất</a:t>
            </a:r>
            <a:r>
              <a:rPr lang="en-US" sz="2200" dirty="0">
                <a:latin typeface="Times" pitchFamily="18" charset="0"/>
                <a:cs typeface="Times" pitchFamily="18" charset="0"/>
              </a:rPr>
              <a:t>. </a:t>
            </a:r>
            <a:endParaRPr lang="en-US" sz="2000" dirty="0"/>
          </a:p>
        </p:txBody>
      </p:sp>
      <p:graphicFrame>
        <p:nvGraphicFramePr>
          <p:cNvPr id="62" name="Object 61"/>
          <p:cNvGraphicFramePr>
            <a:graphicFrameLocks noChangeAspect="1"/>
          </p:cNvGraphicFramePr>
          <p:nvPr>
            <p:extLst>
              <p:ext uri="{D42A27DB-BD31-4B8C-83A1-F6EECF244321}">
                <p14:modId xmlns:p14="http://schemas.microsoft.com/office/powerpoint/2010/main" val="344867546"/>
              </p:ext>
            </p:extLst>
          </p:nvPr>
        </p:nvGraphicFramePr>
        <p:xfrm>
          <a:off x="306388" y="4337050"/>
          <a:ext cx="993775" cy="655638"/>
        </p:xfrm>
        <a:graphic>
          <a:graphicData uri="http://schemas.openxmlformats.org/presentationml/2006/ole">
            <mc:AlternateContent xmlns:mc="http://schemas.openxmlformats.org/markup-compatibility/2006">
              <mc:Choice xmlns:v="urn:schemas-microsoft-com:vml" Requires="v">
                <p:oleObj spid="_x0000_s32806" name="Equation" r:id="rId3" imgW="596880" imgH="393480" progId="Equation.3">
                  <p:embed/>
                </p:oleObj>
              </mc:Choice>
              <mc:Fallback>
                <p:oleObj name="Equation" r:id="rId3" imgW="596880" imgH="393480" progId="Equation.3">
                  <p:embed/>
                  <p:pic>
                    <p:nvPicPr>
                      <p:cNvPr id="0" name=""/>
                      <p:cNvPicPr>
                        <a:picLocks noChangeAspect="1" noChangeArrowheads="1"/>
                      </p:cNvPicPr>
                      <p:nvPr/>
                    </p:nvPicPr>
                    <p:blipFill>
                      <a:blip r:embed="rId4"/>
                      <a:srcRect/>
                      <a:stretch>
                        <a:fillRect/>
                      </a:stretch>
                    </p:blipFill>
                    <p:spPr bwMode="auto">
                      <a:xfrm>
                        <a:off x="306388" y="4337050"/>
                        <a:ext cx="993775" cy="65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4" name="Object 63"/>
          <p:cNvGraphicFramePr>
            <a:graphicFrameLocks noChangeAspect="1"/>
          </p:cNvGraphicFramePr>
          <p:nvPr>
            <p:extLst>
              <p:ext uri="{D42A27DB-BD31-4B8C-83A1-F6EECF244321}">
                <p14:modId xmlns:p14="http://schemas.microsoft.com/office/powerpoint/2010/main" val="3386568703"/>
              </p:ext>
            </p:extLst>
          </p:nvPr>
        </p:nvGraphicFramePr>
        <p:xfrm>
          <a:off x="1433513" y="4389438"/>
          <a:ext cx="4205287" cy="655637"/>
        </p:xfrm>
        <a:graphic>
          <a:graphicData uri="http://schemas.openxmlformats.org/presentationml/2006/ole">
            <mc:AlternateContent xmlns:mc="http://schemas.openxmlformats.org/markup-compatibility/2006">
              <mc:Choice xmlns:v="urn:schemas-microsoft-com:vml" Requires="v">
                <p:oleObj spid="_x0000_s32807" name="Equation" r:id="rId5" imgW="2527200" imgH="393480" progId="Equation.3">
                  <p:embed/>
                </p:oleObj>
              </mc:Choice>
              <mc:Fallback>
                <p:oleObj name="Equation" r:id="rId5" imgW="2527200" imgH="393480" progId="Equation.3">
                  <p:embed/>
                  <p:pic>
                    <p:nvPicPr>
                      <p:cNvPr id="0" name=""/>
                      <p:cNvPicPr>
                        <a:picLocks noChangeAspect="1" noChangeArrowheads="1"/>
                      </p:cNvPicPr>
                      <p:nvPr/>
                    </p:nvPicPr>
                    <p:blipFill>
                      <a:blip r:embed="rId6"/>
                      <a:srcRect/>
                      <a:stretch>
                        <a:fillRect/>
                      </a:stretch>
                    </p:blipFill>
                    <p:spPr bwMode="auto">
                      <a:xfrm>
                        <a:off x="1433513" y="4389438"/>
                        <a:ext cx="4205287"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5" name="TextBox 64"/>
          <p:cNvSpPr txBox="1"/>
          <p:nvPr/>
        </p:nvSpPr>
        <p:spPr>
          <a:xfrm>
            <a:off x="152400" y="5334000"/>
            <a:ext cx="8534400" cy="430887"/>
          </a:xfrm>
          <a:prstGeom prst="rect">
            <a:avLst/>
          </a:prstGeom>
          <a:noFill/>
        </p:spPr>
        <p:txBody>
          <a:bodyPr wrap="square" rtlCol="0">
            <a:spAutoFit/>
          </a:bodyPr>
          <a:lstStyle/>
          <a:p>
            <a:r>
              <a:rPr lang="en-US" sz="2200" dirty="0" err="1">
                <a:latin typeface="Times" pitchFamily="18" charset="0"/>
                <a:cs typeface="Times" pitchFamily="18" charset="0"/>
              </a:rPr>
              <a:t>Số</a:t>
            </a:r>
            <a:r>
              <a:rPr lang="en-US" sz="2200" dirty="0">
                <a:latin typeface="Times" pitchFamily="18" charset="0"/>
                <a:cs typeface="Times" pitchFamily="18" charset="0"/>
              </a:rPr>
              <a:t> </a:t>
            </a:r>
            <a:r>
              <a:rPr lang="en-US" sz="2200" dirty="0" err="1">
                <a:latin typeface="Times" pitchFamily="18" charset="0"/>
                <a:cs typeface="Times" pitchFamily="18" charset="0"/>
              </a:rPr>
              <a:t>vạch</a:t>
            </a:r>
            <a:r>
              <a:rPr lang="en-US" sz="2200" dirty="0">
                <a:latin typeface="Times" pitchFamily="18" charset="0"/>
                <a:cs typeface="Times" pitchFamily="18" charset="0"/>
              </a:rPr>
              <a:t> </a:t>
            </a:r>
            <a:r>
              <a:rPr lang="en-US" sz="2200" dirty="0" err="1">
                <a:latin typeface="Times" pitchFamily="18" charset="0"/>
                <a:cs typeface="Times" pitchFamily="18" charset="0"/>
              </a:rPr>
              <a:t>cực</a:t>
            </a:r>
            <a:r>
              <a:rPr lang="en-US" sz="2200" dirty="0">
                <a:latin typeface="Times" pitchFamily="18" charset="0"/>
                <a:cs typeface="Times" pitchFamily="18" charset="0"/>
              </a:rPr>
              <a:t> </a:t>
            </a:r>
            <a:r>
              <a:rPr lang="en-US" sz="2200" dirty="0" err="1">
                <a:latin typeface="Times" pitchFamily="18" charset="0"/>
                <a:cs typeface="Times" pitchFamily="18" charset="0"/>
              </a:rPr>
              <a:t>đại</a:t>
            </a:r>
            <a:r>
              <a:rPr lang="en-US" sz="2200" dirty="0">
                <a:latin typeface="Times" pitchFamily="18" charset="0"/>
                <a:cs typeface="Times" pitchFamily="18" charset="0"/>
              </a:rPr>
              <a:t> </a:t>
            </a:r>
            <a:r>
              <a:rPr lang="en-US" sz="2200" dirty="0" err="1">
                <a:latin typeface="Times" pitchFamily="18" charset="0"/>
                <a:cs typeface="Times" pitchFamily="18" charset="0"/>
              </a:rPr>
              <a:t>chính</a:t>
            </a:r>
            <a:r>
              <a:rPr lang="en-US" sz="2200" dirty="0">
                <a:latin typeface="Times" pitchFamily="18" charset="0"/>
                <a:cs typeface="Times" pitchFamily="18" charset="0"/>
              </a:rPr>
              <a:t> </a:t>
            </a:r>
            <a:r>
              <a:rPr lang="en-US" sz="2200" dirty="0" err="1">
                <a:latin typeface="Times" pitchFamily="18" charset="0"/>
                <a:cs typeface="Times" pitchFamily="18" charset="0"/>
              </a:rPr>
              <a:t>quan</a:t>
            </a:r>
            <a:r>
              <a:rPr lang="en-US" sz="2200" dirty="0">
                <a:latin typeface="Times" pitchFamily="18" charset="0"/>
                <a:cs typeface="Times" pitchFamily="18" charset="0"/>
              </a:rPr>
              <a:t> </a:t>
            </a:r>
            <a:r>
              <a:rPr lang="en-US" sz="2200" dirty="0" err="1">
                <a:latin typeface="Times" pitchFamily="18" charset="0"/>
                <a:cs typeface="Times" pitchFamily="18" charset="0"/>
              </a:rPr>
              <a:t>sát</a:t>
            </a:r>
            <a:r>
              <a:rPr lang="en-US" sz="2200" dirty="0">
                <a:latin typeface="Times" pitchFamily="18" charset="0"/>
                <a:cs typeface="Times" pitchFamily="18" charset="0"/>
              </a:rPr>
              <a:t> </a:t>
            </a:r>
            <a:r>
              <a:rPr lang="en-US" sz="2200" dirty="0" err="1">
                <a:latin typeface="Times" pitchFamily="18" charset="0"/>
                <a:cs typeface="Times" pitchFamily="18" charset="0"/>
              </a:rPr>
              <a:t>được</a:t>
            </a:r>
            <a:r>
              <a:rPr lang="en-US" sz="2200" dirty="0">
                <a:latin typeface="Times" pitchFamily="18" charset="0"/>
                <a:cs typeface="Times" pitchFamily="18" charset="0"/>
              </a:rPr>
              <a:t> </a:t>
            </a:r>
            <a:r>
              <a:rPr lang="en-US" sz="2200" dirty="0" err="1">
                <a:latin typeface="Times" pitchFamily="18" charset="0"/>
                <a:cs typeface="Times" pitchFamily="18" charset="0"/>
              </a:rPr>
              <a:t>trên</a:t>
            </a:r>
            <a:r>
              <a:rPr lang="en-US" sz="2200" dirty="0">
                <a:latin typeface="Times" pitchFamily="18" charset="0"/>
                <a:cs typeface="Times" pitchFamily="18" charset="0"/>
              </a:rPr>
              <a:t> </a:t>
            </a:r>
            <a:r>
              <a:rPr lang="en-US" sz="2200" dirty="0" err="1">
                <a:latin typeface="Times" pitchFamily="18" charset="0"/>
                <a:cs typeface="Times" pitchFamily="18" charset="0"/>
              </a:rPr>
              <a:t>màn</a:t>
            </a:r>
            <a:r>
              <a:rPr lang="en-US" sz="2200" dirty="0">
                <a:latin typeface="Times" pitchFamily="18" charset="0"/>
                <a:cs typeface="Times" pitchFamily="18" charset="0"/>
              </a:rPr>
              <a:t>:</a:t>
            </a:r>
          </a:p>
        </p:txBody>
      </p:sp>
      <p:graphicFrame>
        <p:nvGraphicFramePr>
          <p:cNvPr id="66" name="Object 65"/>
          <p:cNvGraphicFramePr>
            <a:graphicFrameLocks noChangeAspect="1"/>
          </p:cNvGraphicFramePr>
          <p:nvPr>
            <p:extLst>
              <p:ext uri="{D42A27DB-BD31-4B8C-83A1-F6EECF244321}">
                <p14:modId xmlns:p14="http://schemas.microsoft.com/office/powerpoint/2010/main" val="1995436819"/>
              </p:ext>
            </p:extLst>
          </p:nvPr>
        </p:nvGraphicFramePr>
        <p:xfrm>
          <a:off x="1731963" y="6008688"/>
          <a:ext cx="3190875" cy="655637"/>
        </p:xfrm>
        <a:graphic>
          <a:graphicData uri="http://schemas.openxmlformats.org/presentationml/2006/ole">
            <mc:AlternateContent xmlns:mc="http://schemas.openxmlformats.org/markup-compatibility/2006">
              <mc:Choice xmlns:v="urn:schemas-microsoft-com:vml" Requires="v">
                <p:oleObj spid="_x0000_s32808" name="Equation" r:id="rId7" imgW="1917360" imgH="393480" progId="Equation.3">
                  <p:embed/>
                </p:oleObj>
              </mc:Choice>
              <mc:Fallback>
                <p:oleObj name="Equation" r:id="rId7" imgW="1917360" imgH="393480" progId="Equation.3">
                  <p:embed/>
                  <p:pic>
                    <p:nvPicPr>
                      <p:cNvPr id="0" name=""/>
                      <p:cNvPicPr>
                        <a:picLocks noChangeAspect="1" noChangeArrowheads="1"/>
                      </p:cNvPicPr>
                      <p:nvPr/>
                    </p:nvPicPr>
                    <p:blipFill>
                      <a:blip r:embed="rId8"/>
                      <a:srcRect/>
                      <a:stretch>
                        <a:fillRect/>
                      </a:stretch>
                    </p:blipFill>
                    <p:spPr bwMode="auto">
                      <a:xfrm>
                        <a:off x="1731963" y="6008688"/>
                        <a:ext cx="3190875"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6" name="Straight Connector 5"/>
          <p:cNvCxnSpPr/>
          <p:nvPr/>
        </p:nvCxnSpPr>
        <p:spPr>
          <a:xfrm>
            <a:off x="5943600" y="3048000"/>
            <a:ext cx="0" cy="381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943600" y="3581400"/>
            <a:ext cx="0" cy="381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943600" y="4114800"/>
            <a:ext cx="0" cy="381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4953000" y="3504156"/>
            <a:ext cx="9906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4953000" y="4038600"/>
            <a:ext cx="9906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5334000" y="3504156"/>
            <a:ext cx="2286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5334000" y="4038600"/>
            <a:ext cx="2286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5943600" y="3238500"/>
            <a:ext cx="533400" cy="26565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V="1">
            <a:off x="5943600" y="3772944"/>
            <a:ext cx="533400" cy="26565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6096000" y="3371328"/>
            <a:ext cx="114300" cy="5767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6248400" y="3828528"/>
            <a:ext cx="114300" cy="5767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6477000" y="2743200"/>
            <a:ext cx="0" cy="1905000"/>
          </a:xfrm>
          <a:prstGeom prst="straightConnector1">
            <a:avLst/>
          </a:prstGeom>
          <a:ln w="127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4953000" y="3708226"/>
            <a:ext cx="28194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7772400" y="2438400"/>
            <a:ext cx="0" cy="25908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V="1">
            <a:off x="5943600" y="3148208"/>
            <a:ext cx="1828800" cy="780528"/>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V="1">
            <a:off x="6477000" y="3148208"/>
            <a:ext cx="1295400" cy="9029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V="1">
            <a:off x="6477000" y="3148208"/>
            <a:ext cx="1295400" cy="62369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V="1">
            <a:off x="6895578" y="3163344"/>
            <a:ext cx="419100" cy="4253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5943600" y="3504156"/>
            <a:ext cx="4191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6210300" y="3188396"/>
            <a:ext cx="419100" cy="369332"/>
          </a:xfrm>
          <a:prstGeom prst="rect">
            <a:avLst/>
          </a:prstGeom>
          <a:noFill/>
        </p:spPr>
        <p:txBody>
          <a:bodyPr wrap="square" rtlCol="0">
            <a:spAutoFit/>
          </a:bodyPr>
          <a:lstStyle/>
          <a:p>
            <a:r>
              <a:rPr lang="el-GR"/>
              <a:t>ϕ</a:t>
            </a:r>
            <a:endParaRPr lang="en-US"/>
          </a:p>
        </p:txBody>
      </p:sp>
      <p:sp>
        <p:nvSpPr>
          <p:cNvPr id="45" name="TextBox 44"/>
          <p:cNvSpPr txBox="1"/>
          <p:nvPr/>
        </p:nvSpPr>
        <p:spPr>
          <a:xfrm>
            <a:off x="6705600" y="3393510"/>
            <a:ext cx="533400" cy="369332"/>
          </a:xfrm>
          <a:prstGeom prst="rect">
            <a:avLst/>
          </a:prstGeom>
          <a:noFill/>
        </p:spPr>
        <p:txBody>
          <a:bodyPr wrap="square" rtlCol="0">
            <a:spAutoFit/>
          </a:bodyPr>
          <a:lstStyle/>
          <a:p>
            <a:r>
              <a:rPr lang="el-GR"/>
              <a:t>ϕ</a:t>
            </a:r>
            <a:endParaRPr lang="en-US"/>
          </a:p>
        </p:txBody>
      </p:sp>
      <p:cxnSp>
        <p:nvCxnSpPr>
          <p:cNvPr id="47" name="Straight Arrow Connector 46"/>
          <p:cNvCxnSpPr/>
          <p:nvPr/>
        </p:nvCxnSpPr>
        <p:spPr>
          <a:xfrm>
            <a:off x="7936282" y="3125766"/>
            <a:ext cx="0" cy="583504"/>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8077200" y="3188396"/>
            <a:ext cx="609600" cy="369332"/>
          </a:xfrm>
          <a:prstGeom prst="rect">
            <a:avLst/>
          </a:prstGeom>
          <a:noFill/>
        </p:spPr>
        <p:txBody>
          <a:bodyPr wrap="square" rtlCol="0">
            <a:spAutoFit/>
          </a:bodyPr>
          <a:lstStyle/>
          <a:p>
            <a:r>
              <a:rPr lang="en-US" i="1">
                <a:latin typeface="Times" pitchFamily="18" charset="0"/>
              </a:rPr>
              <a:t>a/2</a:t>
            </a:r>
          </a:p>
        </p:txBody>
      </p:sp>
      <p:cxnSp>
        <p:nvCxnSpPr>
          <p:cNvPr id="50" name="Straight Arrow Connector 49"/>
          <p:cNvCxnSpPr/>
          <p:nvPr/>
        </p:nvCxnSpPr>
        <p:spPr>
          <a:xfrm>
            <a:off x="6477000" y="4305300"/>
            <a:ext cx="1295400"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6895578" y="4318348"/>
            <a:ext cx="838200" cy="369332"/>
          </a:xfrm>
          <a:prstGeom prst="rect">
            <a:avLst/>
          </a:prstGeom>
          <a:noFill/>
        </p:spPr>
        <p:txBody>
          <a:bodyPr wrap="square" rtlCol="0">
            <a:spAutoFit/>
          </a:bodyPr>
          <a:lstStyle/>
          <a:p>
            <a:r>
              <a:rPr lang="en-US" i="1">
                <a:latin typeface="Times" pitchFamily="18" charset="0"/>
              </a:rPr>
              <a:t>f</a:t>
            </a:r>
          </a:p>
        </p:txBody>
      </p:sp>
    </p:spTree>
    <p:extLst>
      <p:ext uri="{BB962C8B-B14F-4D97-AF65-F5344CB8AC3E}">
        <p14:creationId xmlns:p14="http://schemas.microsoft.com/office/powerpoint/2010/main" val="3292340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down)">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down)">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down)">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wipe(down)">
                                      <p:cBhvr>
                                        <p:cTn id="37" dur="500"/>
                                        <p:tgtEl>
                                          <p:spTgt spid="21"/>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circle(in)">
                                      <p:cBhvr>
                                        <p:cTn id="42" dur="20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wipe(down)">
                                      <p:cBhvr>
                                        <p:cTn id="47" dur="500"/>
                                        <p:tgtEl>
                                          <p:spTgt spid="2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wipe(down)">
                                      <p:cBhvr>
                                        <p:cTn id="52" dur="500"/>
                                        <p:tgtEl>
                                          <p:spTgt spid="2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wipe(down)">
                                      <p:cBhvr>
                                        <p:cTn id="57" dur="500"/>
                                        <p:tgtEl>
                                          <p:spTgt spid="29"/>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nodeType="click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wipe(down)">
                                      <p:cBhvr>
                                        <p:cTn id="62" dur="500"/>
                                        <p:tgtEl>
                                          <p:spTgt spid="23"/>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nodeType="click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wipe(down)">
                                      <p:cBhvr>
                                        <p:cTn id="67" dur="500"/>
                                        <p:tgtEl>
                                          <p:spTgt spid="26"/>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nodeType="clickEffect">
                                  <p:stCondLst>
                                    <p:cond delay="0"/>
                                  </p:stCondLst>
                                  <p:childTnLst>
                                    <p:set>
                                      <p:cBhvr>
                                        <p:cTn id="71" dur="1" fill="hold">
                                          <p:stCondLst>
                                            <p:cond delay="0"/>
                                          </p:stCondLst>
                                        </p:cTn>
                                        <p:tgtEl>
                                          <p:spTgt spid="28"/>
                                        </p:tgtEl>
                                        <p:attrNameLst>
                                          <p:attrName>style.visibility</p:attrName>
                                        </p:attrNameLst>
                                      </p:cBhvr>
                                      <p:to>
                                        <p:strVal val="visible"/>
                                      </p:to>
                                    </p:set>
                                    <p:animEffect transition="in" filter="wipe(down)">
                                      <p:cBhvr>
                                        <p:cTn id="72" dur="500"/>
                                        <p:tgtEl>
                                          <p:spTgt spid="28"/>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nodeType="clickEffect">
                                  <p:stCondLst>
                                    <p:cond delay="0"/>
                                  </p:stCondLst>
                                  <p:childTnLst>
                                    <p:set>
                                      <p:cBhvr>
                                        <p:cTn id="76" dur="1" fill="hold">
                                          <p:stCondLst>
                                            <p:cond delay="0"/>
                                          </p:stCondLst>
                                        </p:cTn>
                                        <p:tgtEl>
                                          <p:spTgt spid="31"/>
                                        </p:tgtEl>
                                        <p:attrNameLst>
                                          <p:attrName>style.visibility</p:attrName>
                                        </p:attrNameLst>
                                      </p:cBhvr>
                                      <p:to>
                                        <p:strVal val="visible"/>
                                      </p:to>
                                    </p:set>
                                    <p:animEffect transition="in" filter="wipe(down)">
                                      <p:cBhvr>
                                        <p:cTn id="77" dur="500"/>
                                        <p:tgtEl>
                                          <p:spTgt spid="31"/>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nodeType="clickEffect">
                                  <p:stCondLst>
                                    <p:cond delay="0"/>
                                  </p:stCondLst>
                                  <p:childTnLst>
                                    <p:set>
                                      <p:cBhvr>
                                        <p:cTn id="81" dur="1" fill="hold">
                                          <p:stCondLst>
                                            <p:cond delay="0"/>
                                          </p:stCondLst>
                                        </p:cTn>
                                        <p:tgtEl>
                                          <p:spTgt spid="35"/>
                                        </p:tgtEl>
                                        <p:attrNameLst>
                                          <p:attrName>style.visibility</p:attrName>
                                        </p:attrNameLst>
                                      </p:cBhvr>
                                      <p:to>
                                        <p:strVal val="visible"/>
                                      </p:to>
                                    </p:set>
                                    <p:animEffect transition="in" filter="wipe(down)">
                                      <p:cBhvr>
                                        <p:cTn id="82" dur="500"/>
                                        <p:tgtEl>
                                          <p:spTgt spid="35"/>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4" fill="hold" nodeType="clickEffect">
                                  <p:stCondLst>
                                    <p:cond delay="0"/>
                                  </p:stCondLst>
                                  <p:childTnLst>
                                    <p:set>
                                      <p:cBhvr>
                                        <p:cTn id="86" dur="1" fill="hold">
                                          <p:stCondLst>
                                            <p:cond delay="0"/>
                                          </p:stCondLst>
                                        </p:cTn>
                                        <p:tgtEl>
                                          <p:spTgt spid="37"/>
                                        </p:tgtEl>
                                        <p:attrNameLst>
                                          <p:attrName>style.visibility</p:attrName>
                                        </p:attrNameLst>
                                      </p:cBhvr>
                                      <p:to>
                                        <p:strVal val="visible"/>
                                      </p:to>
                                    </p:set>
                                    <p:animEffect transition="in" filter="wipe(down)">
                                      <p:cBhvr>
                                        <p:cTn id="87" dur="500"/>
                                        <p:tgtEl>
                                          <p:spTgt spid="37"/>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4" fill="hold" nodeType="clickEffect">
                                  <p:stCondLst>
                                    <p:cond delay="0"/>
                                  </p:stCondLst>
                                  <p:childTnLst>
                                    <p:set>
                                      <p:cBhvr>
                                        <p:cTn id="91" dur="1" fill="hold">
                                          <p:stCondLst>
                                            <p:cond delay="0"/>
                                          </p:stCondLst>
                                        </p:cTn>
                                        <p:tgtEl>
                                          <p:spTgt spid="39"/>
                                        </p:tgtEl>
                                        <p:attrNameLst>
                                          <p:attrName>style.visibility</p:attrName>
                                        </p:attrNameLst>
                                      </p:cBhvr>
                                      <p:to>
                                        <p:strVal val="visible"/>
                                      </p:to>
                                    </p:set>
                                    <p:animEffect transition="in" filter="wipe(down)">
                                      <p:cBhvr>
                                        <p:cTn id="92" dur="500"/>
                                        <p:tgtEl>
                                          <p:spTgt spid="39"/>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4" fill="hold" nodeType="clickEffect">
                                  <p:stCondLst>
                                    <p:cond delay="0"/>
                                  </p:stCondLst>
                                  <p:childTnLst>
                                    <p:set>
                                      <p:cBhvr>
                                        <p:cTn id="96" dur="1" fill="hold">
                                          <p:stCondLst>
                                            <p:cond delay="0"/>
                                          </p:stCondLst>
                                        </p:cTn>
                                        <p:tgtEl>
                                          <p:spTgt spid="42"/>
                                        </p:tgtEl>
                                        <p:attrNameLst>
                                          <p:attrName>style.visibility</p:attrName>
                                        </p:attrNameLst>
                                      </p:cBhvr>
                                      <p:to>
                                        <p:strVal val="visible"/>
                                      </p:to>
                                    </p:set>
                                    <p:animEffect transition="in" filter="wipe(down)">
                                      <p:cBhvr>
                                        <p:cTn id="97" dur="500"/>
                                        <p:tgtEl>
                                          <p:spTgt spid="42"/>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4" fill="hold" grpId="0" nodeType="clickEffect">
                                  <p:stCondLst>
                                    <p:cond delay="0"/>
                                  </p:stCondLst>
                                  <p:childTnLst>
                                    <p:set>
                                      <p:cBhvr>
                                        <p:cTn id="101" dur="1" fill="hold">
                                          <p:stCondLst>
                                            <p:cond delay="0"/>
                                          </p:stCondLst>
                                        </p:cTn>
                                        <p:tgtEl>
                                          <p:spTgt spid="43"/>
                                        </p:tgtEl>
                                        <p:attrNameLst>
                                          <p:attrName>style.visibility</p:attrName>
                                        </p:attrNameLst>
                                      </p:cBhvr>
                                      <p:to>
                                        <p:strVal val="visible"/>
                                      </p:to>
                                    </p:set>
                                    <p:animEffect transition="in" filter="wipe(down)">
                                      <p:cBhvr>
                                        <p:cTn id="102" dur="500"/>
                                        <p:tgtEl>
                                          <p:spTgt spid="43"/>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4" fill="hold" grpId="0" nodeType="clickEffect">
                                  <p:stCondLst>
                                    <p:cond delay="0"/>
                                  </p:stCondLst>
                                  <p:childTnLst>
                                    <p:set>
                                      <p:cBhvr>
                                        <p:cTn id="106" dur="1" fill="hold">
                                          <p:stCondLst>
                                            <p:cond delay="0"/>
                                          </p:stCondLst>
                                        </p:cTn>
                                        <p:tgtEl>
                                          <p:spTgt spid="45"/>
                                        </p:tgtEl>
                                        <p:attrNameLst>
                                          <p:attrName>style.visibility</p:attrName>
                                        </p:attrNameLst>
                                      </p:cBhvr>
                                      <p:to>
                                        <p:strVal val="visible"/>
                                      </p:to>
                                    </p:set>
                                    <p:animEffect transition="in" filter="wipe(down)">
                                      <p:cBhvr>
                                        <p:cTn id="107" dur="500"/>
                                        <p:tgtEl>
                                          <p:spTgt spid="45"/>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4" fill="hold" nodeType="clickEffect">
                                  <p:stCondLst>
                                    <p:cond delay="0"/>
                                  </p:stCondLst>
                                  <p:childTnLst>
                                    <p:set>
                                      <p:cBhvr>
                                        <p:cTn id="111" dur="1" fill="hold">
                                          <p:stCondLst>
                                            <p:cond delay="0"/>
                                          </p:stCondLst>
                                        </p:cTn>
                                        <p:tgtEl>
                                          <p:spTgt spid="47"/>
                                        </p:tgtEl>
                                        <p:attrNameLst>
                                          <p:attrName>style.visibility</p:attrName>
                                        </p:attrNameLst>
                                      </p:cBhvr>
                                      <p:to>
                                        <p:strVal val="visible"/>
                                      </p:to>
                                    </p:set>
                                    <p:animEffect transition="in" filter="wipe(down)">
                                      <p:cBhvr>
                                        <p:cTn id="112" dur="500"/>
                                        <p:tgtEl>
                                          <p:spTgt spid="47"/>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4" fill="hold" grpId="0" nodeType="clickEffect">
                                  <p:stCondLst>
                                    <p:cond delay="0"/>
                                  </p:stCondLst>
                                  <p:childTnLst>
                                    <p:set>
                                      <p:cBhvr>
                                        <p:cTn id="116" dur="1" fill="hold">
                                          <p:stCondLst>
                                            <p:cond delay="0"/>
                                          </p:stCondLst>
                                        </p:cTn>
                                        <p:tgtEl>
                                          <p:spTgt spid="48"/>
                                        </p:tgtEl>
                                        <p:attrNameLst>
                                          <p:attrName>style.visibility</p:attrName>
                                        </p:attrNameLst>
                                      </p:cBhvr>
                                      <p:to>
                                        <p:strVal val="visible"/>
                                      </p:to>
                                    </p:set>
                                    <p:animEffect transition="in" filter="wipe(down)">
                                      <p:cBhvr>
                                        <p:cTn id="117" dur="500"/>
                                        <p:tgtEl>
                                          <p:spTgt spid="48"/>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4" fill="hold" nodeType="clickEffect">
                                  <p:stCondLst>
                                    <p:cond delay="0"/>
                                  </p:stCondLst>
                                  <p:childTnLst>
                                    <p:set>
                                      <p:cBhvr>
                                        <p:cTn id="121" dur="1" fill="hold">
                                          <p:stCondLst>
                                            <p:cond delay="0"/>
                                          </p:stCondLst>
                                        </p:cTn>
                                        <p:tgtEl>
                                          <p:spTgt spid="50"/>
                                        </p:tgtEl>
                                        <p:attrNameLst>
                                          <p:attrName>style.visibility</p:attrName>
                                        </p:attrNameLst>
                                      </p:cBhvr>
                                      <p:to>
                                        <p:strVal val="visible"/>
                                      </p:to>
                                    </p:set>
                                    <p:animEffect transition="in" filter="wipe(down)">
                                      <p:cBhvr>
                                        <p:cTn id="122" dur="500"/>
                                        <p:tgtEl>
                                          <p:spTgt spid="50"/>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4" fill="hold" grpId="0" nodeType="clickEffect">
                                  <p:stCondLst>
                                    <p:cond delay="0"/>
                                  </p:stCondLst>
                                  <p:childTnLst>
                                    <p:set>
                                      <p:cBhvr>
                                        <p:cTn id="126" dur="1" fill="hold">
                                          <p:stCondLst>
                                            <p:cond delay="0"/>
                                          </p:stCondLst>
                                        </p:cTn>
                                        <p:tgtEl>
                                          <p:spTgt spid="51"/>
                                        </p:tgtEl>
                                        <p:attrNameLst>
                                          <p:attrName>style.visibility</p:attrName>
                                        </p:attrNameLst>
                                      </p:cBhvr>
                                      <p:to>
                                        <p:strVal val="visible"/>
                                      </p:to>
                                    </p:set>
                                    <p:animEffect transition="in" filter="wipe(down)">
                                      <p:cBhvr>
                                        <p:cTn id="127" dur="500"/>
                                        <p:tgtEl>
                                          <p:spTgt spid="51"/>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4" fill="hold" grpId="0" nodeType="clickEffect">
                                  <p:stCondLst>
                                    <p:cond delay="0"/>
                                  </p:stCondLst>
                                  <p:childTnLst>
                                    <p:set>
                                      <p:cBhvr>
                                        <p:cTn id="131" dur="1" fill="hold">
                                          <p:stCondLst>
                                            <p:cond delay="0"/>
                                          </p:stCondLst>
                                        </p:cTn>
                                        <p:tgtEl>
                                          <p:spTgt spid="61"/>
                                        </p:tgtEl>
                                        <p:attrNameLst>
                                          <p:attrName>style.visibility</p:attrName>
                                        </p:attrNameLst>
                                      </p:cBhvr>
                                      <p:to>
                                        <p:strVal val="visible"/>
                                      </p:to>
                                    </p:set>
                                    <p:animEffect transition="in" filter="wipe(down)">
                                      <p:cBhvr>
                                        <p:cTn id="132" dur="500"/>
                                        <p:tgtEl>
                                          <p:spTgt spid="61"/>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4" fill="hold" nodeType="clickEffect">
                                  <p:stCondLst>
                                    <p:cond delay="0"/>
                                  </p:stCondLst>
                                  <p:childTnLst>
                                    <p:set>
                                      <p:cBhvr>
                                        <p:cTn id="136" dur="1" fill="hold">
                                          <p:stCondLst>
                                            <p:cond delay="0"/>
                                          </p:stCondLst>
                                        </p:cTn>
                                        <p:tgtEl>
                                          <p:spTgt spid="62"/>
                                        </p:tgtEl>
                                        <p:attrNameLst>
                                          <p:attrName>style.visibility</p:attrName>
                                        </p:attrNameLst>
                                      </p:cBhvr>
                                      <p:to>
                                        <p:strVal val="visible"/>
                                      </p:to>
                                    </p:set>
                                    <p:animEffect transition="in" filter="wipe(down)">
                                      <p:cBhvr>
                                        <p:cTn id="137" dur="500"/>
                                        <p:tgtEl>
                                          <p:spTgt spid="62"/>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4" fill="hold" nodeType="clickEffect">
                                  <p:stCondLst>
                                    <p:cond delay="0"/>
                                  </p:stCondLst>
                                  <p:childTnLst>
                                    <p:set>
                                      <p:cBhvr>
                                        <p:cTn id="141" dur="1" fill="hold">
                                          <p:stCondLst>
                                            <p:cond delay="0"/>
                                          </p:stCondLst>
                                        </p:cTn>
                                        <p:tgtEl>
                                          <p:spTgt spid="64"/>
                                        </p:tgtEl>
                                        <p:attrNameLst>
                                          <p:attrName>style.visibility</p:attrName>
                                        </p:attrNameLst>
                                      </p:cBhvr>
                                      <p:to>
                                        <p:strVal val="visible"/>
                                      </p:to>
                                    </p:set>
                                    <p:animEffect transition="in" filter="wipe(down)">
                                      <p:cBhvr>
                                        <p:cTn id="142" dur="500"/>
                                        <p:tgtEl>
                                          <p:spTgt spid="64"/>
                                        </p:tgtEl>
                                      </p:cBhvr>
                                    </p:animEffect>
                                  </p:childTnLst>
                                </p:cTn>
                              </p:par>
                            </p:childTnLst>
                          </p:cTn>
                        </p:par>
                      </p:childTnLst>
                    </p:cTn>
                  </p:par>
                  <p:par>
                    <p:cTn id="143" fill="hold">
                      <p:stCondLst>
                        <p:cond delay="indefinite"/>
                      </p:stCondLst>
                      <p:childTnLst>
                        <p:par>
                          <p:cTn id="144" fill="hold">
                            <p:stCondLst>
                              <p:cond delay="0"/>
                            </p:stCondLst>
                            <p:childTnLst>
                              <p:par>
                                <p:cTn id="145" presetID="22" presetClass="entr" presetSubtype="4" fill="hold" grpId="0" nodeType="clickEffect">
                                  <p:stCondLst>
                                    <p:cond delay="0"/>
                                  </p:stCondLst>
                                  <p:childTnLst>
                                    <p:set>
                                      <p:cBhvr>
                                        <p:cTn id="146" dur="1" fill="hold">
                                          <p:stCondLst>
                                            <p:cond delay="0"/>
                                          </p:stCondLst>
                                        </p:cTn>
                                        <p:tgtEl>
                                          <p:spTgt spid="65"/>
                                        </p:tgtEl>
                                        <p:attrNameLst>
                                          <p:attrName>style.visibility</p:attrName>
                                        </p:attrNameLst>
                                      </p:cBhvr>
                                      <p:to>
                                        <p:strVal val="visible"/>
                                      </p:to>
                                    </p:set>
                                    <p:animEffect transition="in" filter="wipe(down)">
                                      <p:cBhvr>
                                        <p:cTn id="147" dur="500"/>
                                        <p:tgtEl>
                                          <p:spTgt spid="65"/>
                                        </p:tgtEl>
                                      </p:cBhvr>
                                    </p:animEffect>
                                  </p:childTnLst>
                                </p:cTn>
                              </p:par>
                            </p:childTnLst>
                          </p:cTn>
                        </p:par>
                      </p:childTnLst>
                    </p:cTn>
                  </p:par>
                  <p:par>
                    <p:cTn id="148" fill="hold">
                      <p:stCondLst>
                        <p:cond delay="indefinite"/>
                      </p:stCondLst>
                      <p:childTnLst>
                        <p:par>
                          <p:cTn id="149" fill="hold">
                            <p:stCondLst>
                              <p:cond delay="0"/>
                            </p:stCondLst>
                            <p:childTnLst>
                              <p:par>
                                <p:cTn id="150" presetID="22" presetClass="entr" presetSubtype="4" fill="hold" nodeType="clickEffect">
                                  <p:stCondLst>
                                    <p:cond delay="0"/>
                                  </p:stCondLst>
                                  <p:childTnLst>
                                    <p:set>
                                      <p:cBhvr>
                                        <p:cTn id="151" dur="1" fill="hold">
                                          <p:stCondLst>
                                            <p:cond delay="0"/>
                                          </p:stCondLst>
                                        </p:cTn>
                                        <p:tgtEl>
                                          <p:spTgt spid="66"/>
                                        </p:tgtEl>
                                        <p:attrNameLst>
                                          <p:attrName>style.visibility</p:attrName>
                                        </p:attrNameLst>
                                      </p:cBhvr>
                                      <p:to>
                                        <p:strVal val="visible"/>
                                      </p:to>
                                    </p:set>
                                    <p:animEffect transition="in" filter="wipe(down)">
                                      <p:cBhvr>
                                        <p:cTn id="152"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65" grpId="0"/>
      <p:bldP spid="43" grpId="0"/>
      <p:bldP spid="45" grpId="0"/>
      <p:bldP spid="48" grpId="0"/>
      <p:bldP spid="51"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0"/>
            <a:ext cx="91440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 3. PHÂN CỰC ÁNH SÁNG</a:t>
            </a:r>
          </a:p>
        </p:txBody>
      </p:sp>
      <p:sp>
        <p:nvSpPr>
          <p:cNvPr id="6" name="Rectangle 5"/>
          <p:cNvSpPr/>
          <p:nvPr/>
        </p:nvSpPr>
        <p:spPr>
          <a:xfrm>
            <a:off x="76201" y="609600"/>
            <a:ext cx="6547002" cy="461665"/>
          </a:xfrm>
          <a:prstGeom prst="rect">
            <a:avLst/>
          </a:prstGeom>
        </p:spPr>
        <p:txBody>
          <a:bodyPr wrap="square">
            <a:spAutoFit/>
          </a:bodyPr>
          <a:lstStyle/>
          <a:p>
            <a:pPr marL="812800" indent="-812800"/>
            <a:r>
              <a:rPr lang="en-US" sz="2400" b="1" dirty="0">
                <a:solidFill>
                  <a:srgbClr val="FF0000"/>
                </a:solidFill>
                <a:latin typeface="Times New Roman" pitchFamily="18" charset="0"/>
              </a:rPr>
              <a:t>I. </a:t>
            </a:r>
            <a:r>
              <a:rPr lang="en-US" sz="2400" b="1" dirty="0" err="1">
                <a:solidFill>
                  <a:srgbClr val="FF0000"/>
                </a:solidFill>
                <a:latin typeface="Times New Roman" pitchFamily="18" charset="0"/>
              </a:rPr>
              <a:t>Ánh</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sáng</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tự</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nhiên</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ánh</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sáng</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phân</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cực</a:t>
            </a:r>
            <a:endParaRPr lang="en-US" sz="2400" b="1" dirty="0">
              <a:solidFill>
                <a:srgbClr val="FF0000"/>
              </a:solidFill>
              <a:latin typeface="Times New Roman" pitchFamily="18" charset="0"/>
            </a:endParaRPr>
          </a:p>
        </p:txBody>
      </p:sp>
      <p:sp>
        <p:nvSpPr>
          <p:cNvPr id="55" name="Rectangle 54"/>
          <p:cNvSpPr/>
          <p:nvPr/>
        </p:nvSpPr>
        <p:spPr>
          <a:xfrm>
            <a:off x="121031" y="3634048"/>
            <a:ext cx="8915400" cy="830997"/>
          </a:xfrm>
          <a:prstGeom prst="rect">
            <a:avLst/>
          </a:prstGeom>
        </p:spPr>
        <p:txBody>
          <a:bodyPr wrap="square">
            <a:spAutoFit/>
          </a:bodyPr>
          <a:lstStyle/>
          <a:p>
            <a:pPr algn="just"/>
            <a:r>
              <a:rPr lang="en-US" sz="2400" dirty="0">
                <a:solidFill>
                  <a:srgbClr val="FF0000"/>
                </a:solidFill>
                <a:latin typeface="Times New Roman" pitchFamily="18" charset="0"/>
              </a:rPr>
              <a:t>- </a:t>
            </a:r>
            <a:r>
              <a:rPr lang="en-US" sz="2400" i="1" dirty="0" err="1">
                <a:solidFill>
                  <a:srgbClr val="FF0000"/>
                </a:solidFill>
                <a:latin typeface="Times New Roman" pitchFamily="18" charset="0"/>
              </a:rPr>
              <a:t>Ánh</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sáng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tự</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nhiên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là</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ánh</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sáng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có</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véc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tơ</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cường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độ</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điện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trường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dao</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động</a:t>
            </a:r>
            <a:r>
              <a:rPr lang="en-US" sz="2400" i="1" dirty="0">
                <a:solidFill>
                  <a:srgbClr val="FF0000"/>
                </a:solidFill>
                <a:latin typeface="Times New Roman" pitchFamily="18" charset="0"/>
              </a:rPr>
              <a:t> </a:t>
            </a:r>
            <a:r>
              <a:rPr lang="en-US" sz="2400" i="1" dirty="0" err="1">
                <a:solidFill>
                  <a:srgbClr val="0070C0"/>
                </a:solidFill>
                <a:latin typeface="Times New Roman" pitchFamily="18" charset="0"/>
              </a:rPr>
              <a:t>đều</a:t>
            </a:r>
            <a:r>
              <a:rPr lang="en-US" sz="2400" i="1" dirty="0">
                <a:solidFill>
                  <a:srgbClr val="0070C0"/>
                </a:solidFill>
                <a:latin typeface="Times New Roman" pitchFamily="18" charset="0"/>
              </a:rPr>
              <a:t> </a:t>
            </a:r>
            <a:r>
              <a:rPr lang="en-US" sz="2400" i="1" dirty="0" err="1">
                <a:solidFill>
                  <a:srgbClr val="0070C0"/>
                </a:solidFill>
                <a:latin typeface="Times New Roman" pitchFamily="18" charset="0"/>
              </a:rPr>
              <a:t>đặn</a:t>
            </a:r>
            <a:r>
              <a:rPr lang="en-US" sz="2400" i="1" dirty="0">
                <a:solidFill>
                  <a:srgbClr val="0070C0"/>
                </a:solidFill>
                <a:latin typeface="Times New Roman" pitchFamily="18" charset="0"/>
              </a:rPr>
              <a:t> </a:t>
            </a:r>
            <a:r>
              <a:rPr lang="en-US" sz="2400" i="1" dirty="0" err="1">
                <a:solidFill>
                  <a:srgbClr val="FF0000"/>
                </a:solidFill>
                <a:latin typeface="Times New Roman" pitchFamily="18" charset="0"/>
              </a:rPr>
              <a:t>theo</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mọi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phương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vuông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góc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với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tia</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sáng</a:t>
            </a:r>
            <a:endParaRPr lang="en-US" sz="2400" i="1" dirty="0">
              <a:solidFill>
                <a:srgbClr val="FF0000"/>
              </a:solidFill>
              <a:latin typeface="Times New Roman" pitchFamily="18" charset="0"/>
            </a:endParaRPr>
          </a:p>
        </p:txBody>
      </p:sp>
      <p:sp>
        <p:nvSpPr>
          <p:cNvPr id="56" name="Rectangle 55"/>
          <p:cNvSpPr/>
          <p:nvPr/>
        </p:nvSpPr>
        <p:spPr>
          <a:xfrm>
            <a:off x="152400" y="4514671"/>
            <a:ext cx="8915400" cy="1200329"/>
          </a:xfrm>
          <a:prstGeom prst="rect">
            <a:avLst/>
          </a:prstGeom>
        </p:spPr>
        <p:txBody>
          <a:bodyPr wrap="square">
            <a:spAutoFit/>
          </a:bodyPr>
          <a:lstStyle/>
          <a:p>
            <a:pPr algn="just"/>
            <a:r>
              <a:rPr lang="en-US" sz="2400" dirty="0">
                <a:solidFill>
                  <a:srgbClr val="FF0000"/>
                </a:solidFill>
                <a:latin typeface="Times New Roman" pitchFamily="18" charset="0"/>
              </a:rPr>
              <a:t>- </a:t>
            </a:r>
            <a:r>
              <a:rPr lang="en-US" sz="2400" i="1" dirty="0" err="1">
                <a:solidFill>
                  <a:srgbClr val="FF0000"/>
                </a:solidFill>
                <a:latin typeface="Times New Roman" pitchFamily="18" charset="0"/>
              </a:rPr>
              <a:t>Ánh</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sáng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phân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cực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toàn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phần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phân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cực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thẳng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là</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ánh</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sáng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có</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véc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tơ</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cường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độ</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điện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trường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dao</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động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theo</a:t>
            </a:r>
            <a:r>
              <a:rPr lang="en-US" sz="2400" i="1" dirty="0">
                <a:solidFill>
                  <a:srgbClr val="FF0000"/>
                </a:solidFill>
                <a:latin typeface="Times New Roman" pitchFamily="18" charset="0"/>
              </a:rPr>
              <a:t> </a:t>
            </a:r>
            <a:r>
              <a:rPr lang="en-US" sz="2400" i="1" dirty="0" err="1">
                <a:solidFill>
                  <a:srgbClr val="0070C0"/>
                </a:solidFill>
                <a:latin typeface="Times New Roman" pitchFamily="18" charset="0"/>
              </a:rPr>
              <a:t>một</a:t>
            </a:r>
            <a:r>
              <a:rPr lang="en-US" sz="2400" i="1" dirty="0">
                <a:solidFill>
                  <a:srgbClr val="0070C0"/>
                </a:solidFill>
                <a:latin typeface="Times New Roman" pitchFamily="18" charset="0"/>
              </a:rPr>
              <a:t> </a:t>
            </a:r>
            <a:r>
              <a:rPr lang="en-US" sz="2400" i="1" dirty="0" err="1">
                <a:solidFill>
                  <a:srgbClr val="0070C0"/>
                </a:solidFill>
                <a:latin typeface="Times New Roman" pitchFamily="18" charset="0"/>
              </a:rPr>
              <a:t>phương</a:t>
            </a:r>
            <a:r>
              <a:rPr lang="en-US" sz="2400" i="1" dirty="0">
                <a:solidFill>
                  <a:srgbClr val="0070C0"/>
                </a:solidFill>
                <a:latin typeface="Times New Roman" pitchFamily="18" charset="0"/>
              </a:rPr>
              <a:t> </a:t>
            </a:r>
            <a:r>
              <a:rPr lang="en-US" sz="2400" i="1" dirty="0" err="1">
                <a:solidFill>
                  <a:srgbClr val="FF0000"/>
                </a:solidFill>
                <a:latin typeface="Times New Roman" pitchFamily="18" charset="0"/>
              </a:rPr>
              <a:t>vuông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góc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với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tia</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sáng</a:t>
            </a:r>
            <a:endParaRPr lang="en-US" sz="2400" i="1" dirty="0">
              <a:solidFill>
                <a:srgbClr val="FF0000"/>
              </a:solidFill>
              <a:latin typeface="Times New Roman" pitchFamily="18" charset="0"/>
            </a:endParaRPr>
          </a:p>
        </p:txBody>
      </p:sp>
      <p:sp>
        <p:nvSpPr>
          <p:cNvPr id="57" name="Rectangle 56"/>
          <p:cNvSpPr/>
          <p:nvPr/>
        </p:nvSpPr>
        <p:spPr>
          <a:xfrm>
            <a:off x="76200" y="5638800"/>
            <a:ext cx="8915400" cy="1200329"/>
          </a:xfrm>
          <a:prstGeom prst="rect">
            <a:avLst/>
          </a:prstGeom>
        </p:spPr>
        <p:txBody>
          <a:bodyPr wrap="square">
            <a:spAutoFit/>
          </a:bodyPr>
          <a:lstStyle/>
          <a:p>
            <a:pPr algn="just"/>
            <a:r>
              <a:rPr lang="en-US" sz="2400" dirty="0">
                <a:solidFill>
                  <a:srgbClr val="FF0000"/>
                </a:solidFill>
                <a:latin typeface="Times New Roman" pitchFamily="18" charset="0"/>
              </a:rPr>
              <a:t>- </a:t>
            </a:r>
            <a:r>
              <a:rPr lang="en-US" sz="2400" i="1" dirty="0" err="1">
                <a:solidFill>
                  <a:srgbClr val="FF0000"/>
                </a:solidFill>
                <a:latin typeface="Times New Roman" pitchFamily="18" charset="0"/>
              </a:rPr>
              <a:t>Ánh</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sáng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phân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cực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một</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phần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là</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ánh</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sáng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có</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véc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tơ</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cường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độ</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điện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trường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dao</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động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theo</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mọi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phương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vuông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góc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với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tia</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sáng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phương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dao</a:t>
            </a:r>
            <a:r>
              <a:rPr lang="en-US" sz="2400" i="1" dirty="0">
                <a:solidFill>
                  <a:srgbClr val="FF0000"/>
                </a:solidFill>
                <a:latin typeface="Times New Roman" pitchFamily="18" charset="0"/>
              </a:rPr>
              <a:t> </a:t>
            </a:r>
            <a:r>
              <a:rPr lang="en-US" sz="2400" i="1" dirty="0" err="1">
                <a:solidFill>
                  <a:srgbClr val="0070C0"/>
                </a:solidFill>
                <a:latin typeface="Times New Roman" pitchFamily="18" charset="0"/>
              </a:rPr>
              <a:t>động</a:t>
            </a:r>
            <a:r>
              <a:rPr lang="en-US" sz="2400" i="1" dirty="0">
                <a:solidFill>
                  <a:srgbClr val="0070C0"/>
                </a:solidFill>
                <a:latin typeface="Times New Roman" pitchFamily="18" charset="0"/>
              </a:rPr>
              <a:t> </a:t>
            </a:r>
            <a:r>
              <a:rPr lang="en-US" sz="2400" i="1" dirty="0" err="1">
                <a:solidFill>
                  <a:srgbClr val="0070C0"/>
                </a:solidFill>
                <a:latin typeface="Times New Roman" pitchFamily="18" charset="0"/>
              </a:rPr>
              <a:t>mạnh</a:t>
            </a:r>
            <a:r>
              <a:rPr lang="en-US" sz="2400" i="1" dirty="0">
                <a:solidFill>
                  <a:srgbClr val="0070C0"/>
                </a:solidFill>
                <a:latin typeface="Times New Roman" pitchFamily="18" charset="0"/>
              </a:rPr>
              <a:t>, </a:t>
            </a:r>
            <a:r>
              <a:rPr lang="en-US" sz="2400" i="1" dirty="0" err="1">
                <a:solidFill>
                  <a:srgbClr val="0070C0"/>
                </a:solidFill>
                <a:latin typeface="Times New Roman" pitchFamily="18" charset="0"/>
              </a:rPr>
              <a:t>phương</a:t>
            </a:r>
            <a:r>
              <a:rPr lang="en-US" sz="2400" i="1" dirty="0">
                <a:solidFill>
                  <a:srgbClr val="0070C0"/>
                </a:solidFill>
                <a:latin typeface="Times New Roman" pitchFamily="18" charset="0"/>
              </a:rPr>
              <a:t> </a:t>
            </a:r>
            <a:r>
              <a:rPr lang="en-US" sz="2400" i="1" dirty="0" err="1">
                <a:solidFill>
                  <a:srgbClr val="0070C0"/>
                </a:solidFill>
                <a:latin typeface="Times New Roman" pitchFamily="18" charset="0"/>
              </a:rPr>
              <a:t>dao</a:t>
            </a:r>
            <a:r>
              <a:rPr lang="en-US" sz="2400" i="1" dirty="0">
                <a:solidFill>
                  <a:srgbClr val="0070C0"/>
                </a:solidFill>
                <a:latin typeface="Times New Roman" pitchFamily="18" charset="0"/>
              </a:rPr>
              <a:t> </a:t>
            </a:r>
            <a:r>
              <a:rPr lang="en-US" sz="2400" i="1" dirty="0" err="1">
                <a:solidFill>
                  <a:srgbClr val="0070C0"/>
                </a:solidFill>
                <a:latin typeface="Times New Roman" pitchFamily="18" charset="0"/>
              </a:rPr>
              <a:t>động</a:t>
            </a:r>
            <a:r>
              <a:rPr lang="en-US" sz="2400" i="1" dirty="0">
                <a:solidFill>
                  <a:srgbClr val="0070C0"/>
                </a:solidFill>
                <a:latin typeface="Times New Roman" pitchFamily="18" charset="0"/>
              </a:rPr>
              <a:t> </a:t>
            </a:r>
            <a:r>
              <a:rPr lang="en-US" sz="2400" i="1" dirty="0" err="1">
                <a:solidFill>
                  <a:srgbClr val="0070C0"/>
                </a:solidFill>
                <a:latin typeface="Times New Roman" pitchFamily="18" charset="0"/>
              </a:rPr>
              <a:t>yếu</a:t>
            </a:r>
            <a:r>
              <a:rPr lang="en-US" sz="2400" i="1" dirty="0">
                <a:solidFill>
                  <a:srgbClr val="FF0000"/>
                </a:solidFill>
                <a:latin typeface="Times New Roman" pitchFamily="18" charset="0"/>
              </a:rPr>
              <a:t>.</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1116926"/>
            <a:ext cx="2344870" cy="2554850"/>
          </a:xfrm>
          <a:prstGeom prst="rect">
            <a:avLst/>
          </a:prstGeom>
        </p:spPr>
      </p:pic>
      <p:pic>
        <p:nvPicPr>
          <p:cNvPr id="58" name="Picture 5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00600" y="966678"/>
            <a:ext cx="3439005" cy="2648320"/>
          </a:xfrm>
          <a:prstGeom prst="rect">
            <a:avLst/>
          </a:prstGeom>
        </p:spPr>
      </p:pic>
    </p:spTree>
    <p:extLst>
      <p:ext uri="{BB962C8B-B14F-4D97-AF65-F5344CB8AC3E}">
        <p14:creationId xmlns:p14="http://schemas.microsoft.com/office/powerpoint/2010/main" val="384317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5"/>
                                        </p:tgtEl>
                                        <p:attrNameLst>
                                          <p:attrName>style.visibility</p:attrName>
                                        </p:attrNameLst>
                                      </p:cBhvr>
                                      <p:to>
                                        <p:strVal val="visible"/>
                                      </p:to>
                                    </p:set>
                                    <p:animEffect transition="in" filter="wipe(down)">
                                      <p:cBhvr>
                                        <p:cTn id="12" dur="500"/>
                                        <p:tgtEl>
                                          <p:spTgt spid="5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58"/>
                                        </p:tgtEl>
                                        <p:attrNameLst>
                                          <p:attrName>style.visibility</p:attrName>
                                        </p:attrNameLst>
                                      </p:cBhvr>
                                      <p:to>
                                        <p:strVal val="visible"/>
                                      </p:to>
                                    </p:set>
                                    <p:animEffect transition="in" filter="wipe(down)">
                                      <p:cBhvr>
                                        <p:cTn id="17" dur="500"/>
                                        <p:tgtEl>
                                          <p:spTgt spid="5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56"/>
                                        </p:tgtEl>
                                        <p:attrNameLst>
                                          <p:attrName>style.visibility</p:attrName>
                                        </p:attrNameLst>
                                      </p:cBhvr>
                                      <p:to>
                                        <p:strVal val="visible"/>
                                      </p:to>
                                    </p:set>
                                    <p:animEffect transition="in" filter="wipe(down)">
                                      <p:cBhvr>
                                        <p:cTn id="22" dur="500"/>
                                        <p:tgtEl>
                                          <p:spTgt spid="5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57"/>
                                        </p:tgtEl>
                                        <p:attrNameLst>
                                          <p:attrName>style.visibility</p:attrName>
                                        </p:attrNameLst>
                                      </p:cBhvr>
                                      <p:to>
                                        <p:strVal val="visible"/>
                                      </p:to>
                                    </p:set>
                                    <p:animEffect transition="in" filter="wipe(down)">
                                      <p:cBhvr>
                                        <p:cTn id="27"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56" grpId="0"/>
      <p:bldP spid="5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1447800"/>
            <a:ext cx="8216993" cy="3386323"/>
          </a:xfrm>
          <a:prstGeom prst="rect">
            <a:avLst/>
          </a:prstGeom>
        </p:spPr>
      </p:pic>
    </p:spTree>
    <p:extLst>
      <p:ext uri="{BB962C8B-B14F-4D97-AF65-F5344CB8AC3E}">
        <p14:creationId xmlns:p14="http://schemas.microsoft.com/office/powerpoint/2010/main" val="38513897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Kết quả hình ảnh cho phan cuc anh sa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762000"/>
            <a:ext cx="6858000" cy="504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582019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0"/>
            <a:ext cx="91440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 3. PHÂN CỰCÁNH SÁNG</a:t>
            </a:r>
          </a:p>
        </p:txBody>
      </p:sp>
      <p:sp>
        <p:nvSpPr>
          <p:cNvPr id="2" name="Rectangle 1"/>
          <p:cNvSpPr/>
          <p:nvPr/>
        </p:nvSpPr>
        <p:spPr>
          <a:xfrm>
            <a:off x="0" y="609600"/>
            <a:ext cx="6698543" cy="461665"/>
          </a:xfrm>
          <a:prstGeom prst="rect">
            <a:avLst/>
          </a:prstGeom>
        </p:spPr>
        <p:txBody>
          <a:bodyPr wrap="square">
            <a:spAutoFit/>
          </a:bodyPr>
          <a:lstStyle/>
          <a:p>
            <a:r>
              <a:rPr lang="en-US" sz="2400" b="1" dirty="0">
                <a:solidFill>
                  <a:srgbClr val="FF0000"/>
                </a:solidFill>
                <a:latin typeface="Times New Roman" pitchFamily="18" charset="0"/>
              </a:rPr>
              <a:t>II. </a:t>
            </a:r>
            <a:r>
              <a:rPr lang="en-US" sz="2400" b="1" dirty="0" err="1">
                <a:solidFill>
                  <a:srgbClr val="FF0000"/>
                </a:solidFill>
                <a:latin typeface="Times New Roman" pitchFamily="18" charset="0"/>
              </a:rPr>
              <a:t>Định</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luật</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Malus</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về</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phân</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cực</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ánh</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sáng</a:t>
            </a:r>
            <a:endParaRPr lang="en-US" sz="2400" b="1" dirty="0">
              <a:solidFill>
                <a:srgbClr val="FF0000"/>
              </a:solidFill>
              <a:latin typeface="Times New Roman" pitchFamily="18" charset="0"/>
            </a:endParaRPr>
          </a:p>
        </p:txBody>
      </p:sp>
      <p:sp>
        <p:nvSpPr>
          <p:cNvPr id="3" name="Rectangle 2"/>
          <p:cNvSpPr/>
          <p:nvPr/>
        </p:nvSpPr>
        <p:spPr>
          <a:xfrm>
            <a:off x="152400" y="1071266"/>
            <a:ext cx="8915400" cy="461665"/>
          </a:xfrm>
          <a:prstGeom prst="rect">
            <a:avLst/>
          </a:prstGeom>
        </p:spPr>
        <p:txBody>
          <a:bodyPr wrap="square">
            <a:spAutoFit/>
          </a:bodyPr>
          <a:lstStyle/>
          <a:p>
            <a:pPr algn="just"/>
            <a:r>
              <a:rPr lang="en-US" sz="2400" dirty="0">
                <a:latin typeface="Times New Roman" pitchFamily="18" charset="0"/>
              </a:rPr>
              <a:t>- </a:t>
            </a:r>
            <a:r>
              <a:rPr lang="en-US" sz="2400" dirty="0" err="1">
                <a:latin typeface="Times New Roman" pitchFamily="18" charset="0"/>
              </a:rPr>
              <a:t>Chiếu</a:t>
            </a:r>
            <a:r>
              <a:rPr lang="en-US" sz="2400" dirty="0">
                <a:latin typeface="Times New Roman" pitchFamily="18" charset="0"/>
              </a:rPr>
              <a:t> </a:t>
            </a:r>
            <a:r>
              <a:rPr lang="en-US" sz="2400" dirty="0" err="1">
                <a:latin typeface="Times New Roman" pitchFamily="18" charset="0"/>
              </a:rPr>
              <a:t>ánh</a:t>
            </a:r>
            <a:r>
              <a:rPr lang="en-US" sz="2400" dirty="0">
                <a:latin typeface="Times New Roman" pitchFamily="18" charset="0"/>
              </a:rPr>
              <a:t> </a:t>
            </a:r>
            <a:r>
              <a:rPr lang="en-US" sz="2400" dirty="0" err="1">
                <a:latin typeface="Times New Roman" pitchFamily="18" charset="0"/>
              </a:rPr>
              <a:t>sáng</a:t>
            </a:r>
            <a:r>
              <a:rPr lang="en-US" sz="2400" dirty="0">
                <a:latin typeface="Times New Roman" pitchFamily="18" charset="0"/>
              </a:rPr>
              <a:t> </a:t>
            </a:r>
            <a:r>
              <a:rPr lang="en-US" sz="2400" dirty="0" err="1">
                <a:latin typeface="Times New Roman" pitchFamily="18" charset="0"/>
              </a:rPr>
              <a:t>tự</a:t>
            </a:r>
            <a:r>
              <a:rPr lang="en-US" sz="2400" dirty="0">
                <a:latin typeface="Times New Roman" pitchFamily="18" charset="0"/>
              </a:rPr>
              <a:t> </a:t>
            </a:r>
            <a:r>
              <a:rPr lang="en-US" sz="2400" dirty="0" err="1">
                <a:latin typeface="Times New Roman" pitchFamily="18" charset="0"/>
              </a:rPr>
              <a:t>nhiên</a:t>
            </a:r>
            <a:r>
              <a:rPr lang="en-US" sz="2400" dirty="0">
                <a:latin typeface="Times New Roman" pitchFamily="18" charset="0"/>
              </a:rPr>
              <a:t> </a:t>
            </a:r>
            <a:r>
              <a:rPr lang="en-US" sz="2400" dirty="0" err="1">
                <a:latin typeface="Times New Roman" pitchFamily="18" charset="0"/>
              </a:rPr>
              <a:t>có</a:t>
            </a:r>
            <a:r>
              <a:rPr lang="en-US" sz="2400" dirty="0">
                <a:latin typeface="Times New Roman" pitchFamily="18" charset="0"/>
              </a:rPr>
              <a:t> </a:t>
            </a:r>
            <a:r>
              <a:rPr lang="en-US" sz="2400" dirty="0" err="1">
                <a:latin typeface="Times New Roman" pitchFamily="18" charset="0"/>
              </a:rPr>
              <a:t>cường</a:t>
            </a:r>
            <a:r>
              <a:rPr lang="en-US" sz="2400" dirty="0">
                <a:latin typeface="Times New Roman" pitchFamily="18" charset="0"/>
              </a:rPr>
              <a:t> </a:t>
            </a:r>
            <a:r>
              <a:rPr lang="en-US" sz="2400" dirty="0" err="1">
                <a:latin typeface="Times New Roman" pitchFamily="18" charset="0"/>
              </a:rPr>
              <a:t>độ</a:t>
            </a:r>
            <a:r>
              <a:rPr lang="en-US" sz="2400" dirty="0">
                <a:latin typeface="Times New Roman" pitchFamily="18" charset="0"/>
              </a:rPr>
              <a:t> I</a:t>
            </a:r>
            <a:r>
              <a:rPr lang="en-US" sz="2400" baseline="-25000" dirty="0">
                <a:latin typeface="Times New Roman" pitchFamily="18" charset="0"/>
              </a:rPr>
              <a:t>0</a:t>
            </a:r>
            <a:r>
              <a:rPr lang="en-US" sz="2400" dirty="0">
                <a:latin typeface="Times New Roman" pitchFamily="18" charset="0"/>
              </a:rPr>
              <a:t> </a:t>
            </a:r>
            <a:r>
              <a:rPr lang="en-US" sz="2400" dirty="0" err="1">
                <a:latin typeface="Times New Roman" pitchFamily="18" charset="0"/>
              </a:rPr>
              <a:t>tới</a:t>
            </a:r>
            <a:r>
              <a:rPr lang="en-US" sz="2400" dirty="0">
                <a:latin typeface="Times New Roman" pitchFamily="18" charset="0"/>
              </a:rPr>
              <a:t> </a:t>
            </a:r>
            <a:r>
              <a:rPr lang="en-US" sz="2400" dirty="0" err="1">
                <a:latin typeface="Times New Roman" pitchFamily="18" charset="0"/>
              </a:rPr>
              <a:t>bản</a:t>
            </a:r>
            <a:r>
              <a:rPr lang="en-US" sz="2400" dirty="0">
                <a:latin typeface="Times New Roman" pitchFamily="18" charset="0"/>
              </a:rPr>
              <a:t> </a:t>
            </a:r>
            <a:r>
              <a:rPr lang="en-US" sz="2400" dirty="0" err="1">
                <a:latin typeface="Times New Roman" pitchFamily="18" charset="0"/>
              </a:rPr>
              <a:t>phân</a:t>
            </a:r>
            <a:r>
              <a:rPr lang="en-US" sz="2400" dirty="0">
                <a:latin typeface="Times New Roman" pitchFamily="18" charset="0"/>
              </a:rPr>
              <a:t> </a:t>
            </a:r>
            <a:r>
              <a:rPr lang="en-US" sz="2400" dirty="0" err="1">
                <a:latin typeface="Times New Roman" pitchFamily="18" charset="0"/>
              </a:rPr>
              <a:t>cực</a:t>
            </a:r>
            <a:r>
              <a:rPr lang="en-US" sz="2400" dirty="0">
                <a:latin typeface="Times New Roman" pitchFamily="18" charset="0"/>
              </a:rPr>
              <a:t> T</a:t>
            </a:r>
            <a:r>
              <a:rPr lang="en-US" sz="2400" baseline="-25000" dirty="0">
                <a:latin typeface="Times New Roman" pitchFamily="18" charset="0"/>
              </a:rPr>
              <a:t>1, </a:t>
            </a:r>
            <a:endParaRPr lang="en-US" sz="2400" baseline="-25000" dirty="0">
              <a:latin typeface="Times New Roman" pitchFamily="18" charset="0"/>
              <a:cs typeface="Times New Roman" pitchFamily="18" charset="0"/>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2603511628"/>
              </p:ext>
            </p:extLst>
          </p:nvPr>
        </p:nvGraphicFramePr>
        <p:xfrm>
          <a:off x="685800" y="1905000"/>
          <a:ext cx="1803400" cy="534084"/>
        </p:xfrm>
        <a:graphic>
          <a:graphicData uri="http://schemas.openxmlformats.org/presentationml/2006/ole">
            <mc:AlternateContent xmlns:mc="http://schemas.openxmlformats.org/markup-compatibility/2006">
              <mc:Choice xmlns:v="urn:schemas-microsoft-com:vml" Requires="v">
                <p:oleObj spid="_x0000_s33842" name="Equation" r:id="rId3" imgW="850680" imgH="253800" progId="Equation.3">
                  <p:embed/>
                </p:oleObj>
              </mc:Choice>
              <mc:Fallback>
                <p:oleObj name="Equation" r:id="rId3" imgW="850680" imgH="253800" progId="Equation.3">
                  <p:embed/>
                  <p:pic>
                    <p:nvPicPr>
                      <p:cNvPr id="0" name=""/>
                      <p:cNvPicPr>
                        <a:picLocks noChangeAspect="1" noChangeArrowheads="1"/>
                      </p:cNvPicPr>
                      <p:nvPr/>
                    </p:nvPicPr>
                    <p:blipFill>
                      <a:blip r:embed="rId4"/>
                      <a:srcRect/>
                      <a:stretch>
                        <a:fillRect/>
                      </a:stretch>
                    </p:blipFill>
                    <p:spPr bwMode="auto">
                      <a:xfrm>
                        <a:off x="685800" y="1905000"/>
                        <a:ext cx="1803400" cy="534084"/>
                      </a:xfrm>
                      <a:prstGeom prst="rect">
                        <a:avLst/>
                      </a:prstGeom>
                      <a:noFill/>
                      <a:ln>
                        <a:noFill/>
                      </a:ln>
                      <a:extLst/>
                    </p:spPr>
                  </p:pic>
                </p:oleObj>
              </mc:Fallback>
            </mc:AlternateContent>
          </a:graphicData>
        </a:graphic>
      </p:graphicFrame>
      <p:sp>
        <p:nvSpPr>
          <p:cNvPr id="7" name="Rectangle 6"/>
          <p:cNvSpPr/>
          <p:nvPr/>
        </p:nvSpPr>
        <p:spPr>
          <a:xfrm>
            <a:off x="76200" y="2895600"/>
            <a:ext cx="8915400" cy="461665"/>
          </a:xfrm>
          <a:prstGeom prst="rect">
            <a:avLst/>
          </a:prstGeom>
        </p:spPr>
        <p:txBody>
          <a:bodyPr wrap="square">
            <a:spAutoFit/>
          </a:bodyPr>
          <a:lstStyle/>
          <a:p>
            <a:r>
              <a:rPr lang="en-US" sz="2400" dirty="0">
                <a:latin typeface="Times New Roman" pitchFamily="18" charset="0"/>
                <a:cs typeface="Times New Roman" pitchFamily="18" charset="0"/>
              </a:rPr>
              <a:t>Do </a:t>
            </a:r>
            <a:r>
              <a:rPr lang="en-US" sz="2400" dirty="0" err="1">
                <a:latin typeface="Times New Roman" pitchFamily="18" charset="0"/>
                <a:cs typeface="Times New Roman" pitchFamily="18" charset="0"/>
              </a:rPr>
              <a:t>véc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tơ</a:t>
            </a:r>
            <a:r>
              <a:rPr lang="en-US" sz="2400" dirty="0">
                <a:latin typeface="Times New Roman" pitchFamily="18" charset="0"/>
                <a:cs typeface="Times New Roman" pitchFamily="18" charset="0"/>
              </a:rPr>
              <a:t> E</a:t>
            </a:r>
            <a:r>
              <a:rPr lang="en-US" sz="2400" baseline="-25000" dirty="0">
                <a:latin typeface="Times New Roman" pitchFamily="18" charset="0"/>
                <a:cs typeface="Times New Roman" pitchFamily="18" charset="0"/>
              </a:rPr>
              <a:t>0</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phân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bố</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đều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theo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mọi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phương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nên</a:t>
            </a:r>
            <a:r>
              <a:rPr lang="en-US" sz="2400" dirty="0">
                <a:latin typeface="Times New Roman" pitchFamily="18" charset="0"/>
                <a:cs typeface="Times New Roman" pitchFamily="18" charset="0"/>
              </a:rPr>
              <a:t>: :</a:t>
            </a:r>
            <a:endParaRPr lang="el-GR" sz="2400" dirty="0">
              <a:latin typeface="Times New Roman" pitchFamily="18" charset="0"/>
              <a:cs typeface="Times New Roman" pitchFamily="18" charset="0"/>
            </a:endParaRPr>
          </a:p>
        </p:txBody>
      </p:sp>
      <p:graphicFrame>
        <p:nvGraphicFramePr>
          <p:cNvPr id="8" name="Object 7"/>
          <p:cNvGraphicFramePr>
            <a:graphicFrameLocks noChangeAspect="1"/>
          </p:cNvGraphicFramePr>
          <p:nvPr>
            <p:extLst>
              <p:ext uri="{D42A27DB-BD31-4B8C-83A1-F6EECF244321}">
                <p14:modId xmlns:p14="http://schemas.microsoft.com/office/powerpoint/2010/main" val="3846535859"/>
              </p:ext>
            </p:extLst>
          </p:nvPr>
        </p:nvGraphicFramePr>
        <p:xfrm>
          <a:off x="1676400" y="3657600"/>
          <a:ext cx="1981200" cy="781050"/>
        </p:xfrm>
        <a:graphic>
          <a:graphicData uri="http://schemas.openxmlformats.org/presentationml/2006/ole">
            <mc:AlternateContent xmlns:mc="http://schemas.openxmlformats.org/markup-compatibility/2006">
              <mc:Choice xmlns:v="urn:schemas-microsoft-com:vml" Requires="v">
                <p:oleObj spid="_x0000_s33843" name="Equation" r:id="rId5" imgW="990360" imgH="393480" progId="Equation.3">
                  <p:embed/>
                </p:oleObj>
              </mc:Choice>
              <mc:Fallback>
                <p:oleObj name="Equation" r:id="rId5" imgW="990360" imgH="393480" progId="Equation.3">
                  <p:embed/>
                  <p:pic>
                    <p:nvPicPr>
                      <p:cNvPr id="0" name=""/>
                      <p:cNvPicPr>
                        <a:picLocks noChangeAspect="1" noChangeArrowheads="1"/>
                      </p:cNvPicPr>
                      <p:nvPr/>
                    </p:nvPicPr>
                    <p:blipFill>
                      <a:blip r:embed="rId6"/>
                      <a:srcRect/>
                      <a:stretch>
                        <a:fillRect/>
                      </a:stretch>
                    </p:blipFill>
                    <p:spPr bwMode="auto">
                      <a:xfrm>
                        <a:off x="1676400" y="3657600"/>
                        <a:ext cx="1981200"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1256990310"/>
              </p:ext>
            </p:extLst>
          </p:nvPr>
        </p:nvGraphicFramePr>
        <p:xfrm>
          <a:off x="2625725" y="1752600"/>
          <a:ext cx="3394075" cy="762918"/>
        </p:xfrm>
        <a:graphic>
          <a:graphicData uri="http://schemas.openxmlformats.org/presentationml/2006/ole">
            <mc:AlternateContent xmlns:mc="http://schemas.openxmlformats.org/markup-compatibility/2006">
              <mc:Choice xmlns:v="urn:schemas-microsoft-com:vml" Requires="v">
                <p:oleObj spid="_x0000_s33844" name="Equation" r:id="rId7" imgW="1904760" imgH="431640" progId="Equation.3">
                  <p:embed/>
                </p:oleObj>
              </mc:Choice>
              <mc:Fallback>
                <p:oleObj name="Equation" r:id="rId7" imgW="1904760" imgH="431640" progId="Equation.3">
                  <p:embed/>
                  <p:pic>
                    <p:nvPicPr>
                      <p:cNvPr id="0" name=""/>
                      <p:cNvPicPr>
                        <a:picLocks noChangeAspect="1" noChangeArrowheads="1"/>
                      </p:cNvPicPr>
                      <p:nvPr/>
                    </p:nvPicPr>
                    <p:blipFill>
                      <a:blip r:embed="rId8"/>
                      <a:srcRect/>
                      <a:stretch>
                        <a:fillRect/>
                      </a:stretch>
                    </p:blipFill>
                    <p:spPr bwMode="auto">
                      <a:xfrm>
                        <a:off x="2625725" y="1752600"/>
                        <a:ext cx="3394075" cy="762918"/>
                      </a:xfrm>
                      <a:prstGeom prst="rect">
                        <a:avLst/>
                      </a:prstGeom>
                      <a:noFill/>
                      <a:ln>
                        <a:noFill/>
                      </a:ln>
                    </p:spPr>
                  </p:pic>
                </p:oleObj>
              </mc:Fallback>
            </mc:AlternateContent>
          </a:graphicData>
        </a:graphic>
      </p:graphicFrame>
      <p:sp>
        <p:nvSpPr>
          <p:cNvPr id="12" name="Rectangle 11"/>
          <p:cNvSpPr/>
          <p:nvPr/>
        </p:nvSpPr>
        <p:spPr>
          <a:xfrm>
            <a:off x="76200" y="4796135"/>
            <a:ext cx="4473532" cy="461665"/>
          </a:xfrm>
          <a:prstGeom prst="rect">
            <a:avLst/>
          </a:prstGeom>
        </p:spPr>
        <p:txBody>
          <a:bodyPr wrap="none">
            <a:spAutoFit/>
          </a:bodyPr>
          <a:lstStyle/>
          <a:p>
            <a:r>
              <a:rPr lang="en-US" sz="2400" dirty="0" err="1">
                <a:latin typeface="Times New Roman" pitchFamily="18" charset="0"/>
              </a:rPr>
              <a:t>Cường</a:t>
            </a:r>
            <a:r>
              <a:rPr lang="en-US" sz="2400" dirty="0">
                <a:latin typeface="Times New Roman" pitchFamily="18" charset="0"/>
              </a:rPr>
              <a:t> </a:t>
            </a:r>
            <a:r>
              <a:rPr lang="en-US" sz="2400" dirty="0" err="1">
                <a:latin typeface="Times New Roman" pitchFamily="18" charset="0"/>
              </a:rPr>
              <a:t>độ</a:t>
            </a:r>
            <a:r>
              <a:rPr lang="en-US" sz="2400" dirty="0">
                <a:latin typeface="Times New Roman" pitchFamily="18" charset="0"/>
              </a:rPr>
              <a:t> </a:t>
            </a:r>
            <a:r>
              <a:rPr lang="en-US" sz="2400" dirty="0" err="1">
                <a:latin typeface="Times New Roman" pitchFamily="18" charset="0"/>
              </a:rPr>
              <a:t>sáng</a:t>
            </a:r>
            <a:r>
              <a:rPr lang="en-US" sz="2400" dirty="0">
                <a:latin typeface="Times New Roman" pitchFamily="18" charset="0"/>
              </a:rPr>
              <a:t> </a:t>
            </a:r>
            <a:r>
              <a:rPr lang="en-US" sz="2400" dirty="0" err="1">
                <a:latin typeface="Times New Roman" pitchFamily="18" charset="0"/>
              </a:rPr>
              <a:t>sau</a:t>
            </a:r>
            <a:r>
              <a:rPr lang="en-US" sz="2400" dirty="0">
                <a:latin typeface="Times New Roman" pitchFamily="18" charset="0"/>
              </a:rPr>
              <a:t> </a:t>
            </a:r>
            <a:r>
              <a:rPr lang="en-US" sz="2400" dirty="0" err="1">
                <a:latin typeface="Times New Roman" pitchFamily="18" charset="0"/>
              </a:rPr>
              <a:t>khi</a:t>
            </a:r>
            <a:r>
              <a:rPr lang="en-US" sz="2400" dirty="0">
                <a:latin typeface="Times New Roman" pitchFamily="18" charset="0"/>
              </a:rPr>
              <a:t>  qua T</a:t>
            </a:r>
            <a:r>
              <a:rPr lang="en-US" sz="2400" baseline="-25000" dirty="0">
                <a:latin typeface="Times New Roman" pitchFamily="18" charset="0"/>
              </a:rPr>
              <a:t>1</a:t>
            </a:r>
            <a:r>
              <a:rPr lang="en-US" sz="2400" dirty="0">
                <a:latin typeface="Times New Roman" pitchFamily="18" charset="0"/>
              </a:rPr>
              <a:t>là I</a:t>
            </a:r>
            <a:r>
              <a:rPr lang="en-US" sz="2400" baseline="-25000" dirty="0">
                <a:latin typeface="Times New Roman" pitchFamily="18" charset="0"/>
              </a:rPr>
              <a:t>1</a:t>
            </a:r>
          </a:p>
        </p:txBody>
      </p:sp>
      <p:graphicFrame>
        <p:nvGraphicFramePr>
          <p:cNvPr id="13" name="Object 12"/>
          <p:cNvGraphicFramePr>
            <a:graphicFrameLocks noChangeAspect="1"/>
          </p:cNvGraphicFramePr>
          <p:nvPr>
            <p:extLst>
              <p:ext uri="{D42A27DB-BD31-4B8C-83A1-F6EECF244321}">
                <p14:modId xmlns:p14="http://schemas.microsoft.com/office/powerpoint/2010/main" val="592806026"/>
              </p:ext>
            </p:extLst>
          </p:nvPr>
        </p:nvGraphicFramePr>
        <p:xfrm>
          <a:off x="1295400" y="5715000"/>
          <a:ext cx="3446463" cy="814387"/>
        </p:xfrm>
        <a:graphic>
          <a:graphicData uri="http://schemas.openxmlformats.org/presentationml/2006/ole">
            <mc:AlternateContent xmlns:mc="http://schemas.openxmlformats.org/markup-compatibility/2006">
              <mc:Choice xmlns:v="urn:schemas-microsoft-com:vml" Requires="v">
                <p:oleObj spid="_x0000_s33845" name="Equation" r:id="rId9" imgW="1650960" imgH="393480" progId="Equation.3">
                  <p:embed/>
                </p:oleObj>
              </mc:Choice>
              <mc:Fallback>
                <p:oleObj name="Equation" r:id="rId9" imgW="1650960" imgH="393480" progId="Equation.3">
                  <p:embed/>
                  <p:pic>
                    <p:nvPicPr>
                      <p:cNvPr id="0" name=""/>
                      <p:cNvPicPr>
                        <a:picLocks noChangeAspect="1" noChangeArrowheads="1"/>
                      </p:cNvPicPr>
                      <p:nvPr/>
                    </p:nvPicPr>
                    <p:blipFill>
                      <a:blip r:embed="rId10"/>
                      <a:srcRect/>
                      <a:stretch>
                        <a:fillRect/>
                      </a:stretch>
                    </p:blipFill>
                    <p:spPr bwMode="auto">
                      <a:xfrm>
                        <a:off x="1295400" y="5715000"/>
                        <a:ext cx="3446463" cy="814387"/>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1" name="Picture 10"/>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143334" y="2895600"/>
            <a:ext cx="2772066" cy="3480905"/>
          </a:xfrm>
          <a:prstGeom prst="rect">
            <a:avLst/>
          </a:prstGeom>
        </p:spPr>
      </p:pic>
    </p:spTree>
    <p:extLst>
      <p:ext uri="{BB962C8B-B14F-4D97-AF65-F5344CB8AC3E}">
        <p14:creationId xmlns:p14="http://schemas.microsoft.com/office/powerpoint/2010/main" val="3596909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down)">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down)">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down)">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down)">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1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0"/>
            <a:ext cx="91440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 3. PHÂN CỰC ÁNH SÁNG</a:t>
            </a:r>
          </a:p>
        </p:txBody>
      </p:sp>
      <p:sp>
        <p:nvSpPr>
          <p:cNvPr id="2" name="Rectangle 1"/>
          <p:cNvSpPr/>
          <p:nvPr/>
        </p:nvSpPr>
        <p:spPr>
          <a:xfrm>
            <a:off x="0" y="780871"/>
            <a:ext cx="5562600" cy="830997"/>
          </a:xfrm>
          <a:prstGeom prst="rect">
            <a:avLst/>
          </a:prstGeom>
        </p:spPr>
        <p:txBody>
          <a:bodyPr wrap="square">
            <a:spAutoFit/>
          </a:bodyPr>
          <a:lstStyle/>
          <a:p>
            <a:pPr algn="just"/>
            <a:r>
              <a:rPr lang="en-US" sz="2400" dirty="0" err="1">
                <a:latin typeface="Times New Roman" pitchFamily="18" charset="0"/>
              </a:rPr>
              <a:t>Sau</a:t>
            </a:r>
            <a:r>
              <a:rPr lang="en-US" sz="2400" dirty="0">
                <a:latin typeface="Times New Roman" pitchFamily="18" charset="0"/>
              </a:rPr>
              <a:t> T</a:t>
            </a:r>
            <a:r>
              <a:rPr lang="en-US" sz="2400" baseline="-25000" dirty="0">
                <a:latin typeface="Times New Roman" pitchFamily="18" charset="0"/>
              </a:rPr>
              <a:t>1</a:t>
            </a:r>
            <a:r>
              <a:rPr lang="en-US" sz="2400" dirty="0">
                <a:latin typeface="Times New Roman" pitchFamily="18" charset="0"/>
              </a:rPr>
              <a:t> </a:t>
            </a:r>
            <a:r>
              <a:rPr lang="en-US" sz="2400" dirty="0" err="1">
                <a:latin typeface="Times New Roman" pitchFamily="18" charset="0"/>
              </a:rPr>
              <a:t>đặt</a:t>
            </a:r>
            <a:r>
              <a:rPr lang="en-US" sz="2400" dirty="0">
                <a:latin typeface="Times New Roman" pitchFamily="18" charset="0"/>
              </a:rPr>
              <a:t> T</a:t>
            </a:r>
            <a:r>
              <a:rPr lang="en-US" sz="2400" baseline="-25000" dirty="0">
                <a:latin typeface="Times New Roman" pitchFamily="18" charset="0"/>
              </a:rPr>
              <a:t>2</a:t>
            </a:r>
            <a:r>
              <a:rPr lang="en-US" sz="2400" dirty="0">
                <a:latin typeface="Times New Roman" pitchFamily="18" charset="0"/>
              </a:rPr>
              <a:t> </a:t>
            </a:r>
            <a:r>
              <a:rPr lang="en-US" sz="2400" dirty="0" err="1">
                <a:latin typeface="Times New Roman" pitchFamily="18" charset="0"/>
              </a:rPr>
              <a:t>có</a:t>
            </a:r>
            <a:r>
              <a:rPr lang="en-US" sz="2400" dirty="0">
                <a:latin typeface="Times New Roman" pitchFamily="18" charset="0"/>
              </a:rPr>
              <a:t> </a:t>
            </a:r>
            <a:r>
              <a:rPr lang="en-US" sz="2400" dirty="0" err="1">
                <a:latin typeface="Times New Roman" pitchFamily="18" charset="0"/>
              </a:rPr>
              <a:t>quang</a:t>
            </a:r>
            <a:r>
              <a:rPr lang="en-US" sz="2400" dirty="0">
                <a:latin typeface="Times New Roman" pitchFamily="18" charset="0"/>
              </a:rPr>
              <a:t> </a:t>
            </a:r>
            <a:r>
              <a:rPr lang="en-US" sz="2400" dirty="0" err="1">
                <a:latin typeface="Times New Roman" pitchFamily="18" charset="0"/>
              </a:rPr>
              <a:t>trục</a:t>
            </a:r>
            <a:r>
              <a:rPr lang="en-US" sz="2400" dirty="0">
                <a:latin typeface="Times New Roman" pitchFamily="18" charset="0"/>
              </a:rPr>
              <a:t> </a:t>
            </a:r>
            <a:r>
              <a:rPr lang="el-GR" sz="2400" dirty="0">
                <a:latin typeface="Times New Roman" pitchFamily="18" charset="0"/>
                <a:cs typeface="Times New Roman" pitchFamily="18" charset="0"/>
              </a:rPr>
              <a:t>Δ</a:t>
            </a:r>
            <a:r>
              <a:rPr lang="en-US" sz="2400" baseline="-25000" dirty="0">
                <a:latin typeface="Times New Roman" pitchFamily="18" charset="0"/>
                <a:cs typeface="Times New Roman" pitchFamily="18" charset="0"/>
              </a:rPr>
              <a:t>2</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hợp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với</a:t>
            </a:r>
            <a:r>
              <a:rPr lang="en-US" sz="2400" dirty="0">
                <a:latin typeface="Times New Roman" pitchFamily="18" charset="0"/>
                <a:cs typeface="Times New Roman" pitchFamily="18" charset="0"/>
              </a:rPr>
              <a:t> </a:t>
            </a:r>
            <a:r>
              <a:rPr lang="el-GR" sz="2400" dirty="0">
                <a:latin typeface="Times New Roman" pitchFamily="18" charset="0"/>
                <a:cs typeface="Times New Roman" pitchFamily="18" charset="0"/>
              </a:rPr>
              <a:t>Δ</a:t>
            </a:r>
            <a:r>
              <a:rPr lang="en-US" sz="2400" baseline="-25000" dirty="0">
                <a:latin typeface="Times New Roman" pitchFamily="18" charset="0"/>
                <a:cs typeface="Times New Roman" pitchFamily="18" charset="0"/>
              </a:rPr>
              <a:t>1</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một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góc</a:t>
            </a:r>
            <a:r>
              <a:rPr lang="en-US" sz="2400" dirty="0">
                <a:latin typeface="Times New Roman" pitchFamily="18" charset="0"/>
                <a:cs typeface="Times New Roman" pitchFamily="18" charset="0"/>
              </a:rPr>
              <a:t> </a:t>
            </a:r>
            <a:r>
              <a:rPr lang="el-GR" sz="2400" dirty="0">
                <a:latin typeface="Times New Roman" pitchFamily="18" charset="0"/>
                <a:cs typeface="Times New Roman" pitchFamily="18" charset="0"/>
              </a:rPr>
              <a:t>α</a:t>
            </a:r>
            <a:r>
              <a:rPr lang="en-US" sz="2400" dirty="0">
                <a:latin typeface="Times New Roman" pitchFamily="18" charset="0"/>
                <a:cs typeface="Times New Roman" pitchFamily="18" charset="0"/>
              </a:rPr>
              <a:t>:</a:t>
            </a:r>
          </a:p>
        </p:txBody>
      </p:sp>
      <p:graphicFrame>
        <p:nvGraphicFramePr>
          <p:cNvPr id="3" name="Object 2"/>
          <p:cNvGraphicFramePr>
            <a:graphicFrameLocks noChangeAspect="1"/>
          </p:cNvGraphicFramePr>
          <p:nvPr>
            <p:extLst>
              <p:ext uri="{D42A27DB-BD31-4B8C-83A1-F6EECF244321}">
                <p14:modId xmlns:p14="http://schemas.microsoft.com/office/powerpoint/2010/main" val="1948291364"/>
              </p:ext>
            </p:extLst>
          </p:nvPr>
        </p:nvGraphicFramePr>
        <p:xfrm>
          <a:off x="304800" y="2514600"/>
          <a:ext cx="4448175" cy="523875"/>
        </p:xfrm>
        <a:graphic>
          <a:graphicData uri="http://schemas.openxmlformats.org/presentationml/2006/ole">
            <mc:AlternateContent xmlns:mc="http://schemas.openxmlformats.org/markup-compatibility/2006">
              <mc:Choice xmlns:v="urn:schemas-microsoft-com:vml" Requires="v">
                <p:oleObj spid="_x0000_s34830" name="Equation" r:id="rId3" imgW="1917360" imgH="228600" progId="Equation.3">
                  <p:embed/>
                </p:oleObj>
              </mc:Choice>
              <mc:Fallback>
                <p:oleObj name="Equation" r:id="rId3" imgW="1917360" imgH="228600" progId="Equation.3">
                  <p:embed/>
                  <p:pic>
                    <p:nvPicPr>
                      <p:cNvPr id="0" name=""/>
                      <p:cNvPicPr>
                        <a:picLocks noChangeAspect="1" noChangeArrowheads="1"/>
                      </p:cNvPicPr>
                      <p:nvPr/>
                    </p:nvPicPr>
                    <p:blipFill>
                      <a:blip r:embed="rId4"/>
                      <a:srcRect/>
                      <a:stretch>
                        <a:fillRect/>
                      </a:stretch>
                    </p:blipFill>
                    <p:spPr bwMode="auto">
                      <a:xfrm>
                        <a:off x="304800" y="2514600"/>
                        <a:ext cx="4448175" cy="523875"/>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6"/>
          <p:cNvSpPr/>
          <p:nvPr/>
        </p:nvSpPr>
        <p:spPr>
          <a:xfrm>
            <a:off x="76200" y="3810000"/>
            <a:ext cx="4876800" cy="1938992"/>
          </a:xfrm>
          <a:prstGeom prst="rect">
            <a:avLst/>
          </a:prstGeom>
        </p:spPr>
        <p:txBody>
          <a:bodyPr wrap="square">
            <a:spAutoFit/>
          </a:bodyPr>
          <a:lstStyle/>
          <a:p>
            <a:pPr algn="just"/>
            <a:r>
              <a:rPr lang="en-US" sz="2400" i="1" dirty="0" err="1">
                <a:solidFill>
                  <a:srgbClr val="FF0000"/>
                </a:solidFill>
                <a:latin typeface="Times New Roman" pitchFamily="18" charset="0"/>
              </a:rPr>
              <a:t>Khi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cho</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chùm</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ánh</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sáng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tự</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nhiên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truyền</a:t>
            </a:r>
            <a:r>
              <a:rPr lang="en-US" sz="2400" i="1" dirty="0">
                <a:solidFill>
                  <a:srgbClr val="FF0000"/>
                </a:solidFill>
                <a:latin typeface="Times New Roman" pitchFamily="18" charset="0"/>
              </a:rPr>
              <a:t> qua </a:t>
            </a:r>
            <a:r>
              <a:rPr lang="en-US" sz="2400" i="1" dirty="0" err="1">
                <a:solidFill>
                  <a:srgbClr val="FF0000"/>
                </a:solidFill>
                <a:latin typeface="Times New Roman" pitchFamily="18" charset="0"/>
              </a:rPr>
              <a:t>hai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kính</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phân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cực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và</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phân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tích</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có</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quang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trục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hợp</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với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nhau</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một</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góc</a:t>
            </a:r>
            <a:r>
              <a:rPr lang="en-US" sz="2400" i="1" dirty="0">
                <a:solidFill>
                  <a:srgbClr val="FF0000"/>
                </a:solidFill>
                <a:latin typeface="Times New Roman" pitchFamily="18" charset="0"/>
              </a:rPr>
              <a:t> </a:t>
            </a:r>
            <a:r>
              <a:rPr lang="el-GR" sz="2400" i="1" dirty="0">
                <a:solidFill>
                  <a:srgbClr val="FF0000"/>
                </a:solidFill>
                <a:latin typeface="Times New Roman" pitchFamily="18" charset="0"/>
                <a:cs typeface="Times New Roman" pitchFamily="18" charset="0"/>
              </a:rPr>
              <a:t>α</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thì</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cường</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độ</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sáng</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nhận</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được</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tỉ</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lệ</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với</a:t>
            </a:r>
            <a:r>
              <a:rPr lang="en-US" sz="2400" i="1" dirty="0">
                <a:solidFill>
                  <a:srgbClr val="FF0000"/>
                </a:solidFill>
                <a:latin typeface="Times New Roman" pitchFamily="18" charset="0"/>
                <a:cs typeface="Times New Roman" pitchFamily="18" charset="0"/>
              </a:rPr>
              <a:t> cos</a:t>
            </a:r>
            <a:r>
              <a:rPr lang="en-US" sz="2400" i="1" baseline="30000" dirty="0">
                <a:solidFill>
                  <a:srgbClr val="FF0000"/>
                </a:solidFill>
                <a:latin typeface="Times New Roman" pitchFamily="18" charset="0"/>
                <a:cs typeface="Times New Roman" pitchFamily="18" charset="0"/>
              </a:rPr>
              <a:t>2</a:t>
            </a:r>
            <a:r>
              <a:rPr lang="el-GR" sz="2400" i="1" dirty="0">
                <a:solidFill>
                  <a:srgbClr val="FF0000"/>
                </a:solidFill>
                <a:latin typeface="Times New Roman" pitchFamily="18" charset="0"/>
                <a:cs typeface="Times New Roman" pitchFamily="18" charset="0"/>
              </a:rPr>
              <a:t>α</a:t>
            </a:r>
            <a:endParaRPr lang="en-US" sz="2400" i="1" dirty="0">
              <a:solidFill>
                <a:srgbClr val="FF0000"/>
              </a:solidFill>
              <a:latin typeface="Times New Roman" pitchFamily="18" charset="0"/>
              <a:cs typeface="Times New Roman" pitchFamily="18" charset="0"/>
            </a:endParaRPr>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07145" y="3503213"/>
            <a:ext cx="3891058" cy="2364187"/>
          </a:xfrm>
          <a:prstGeom prst="rect">
            <a:avLst/>
          </a:prstGeom>
        </p:spPr>
      </p:pic>
      <p:pic>
        <p:nvPicPr>
          <p:cNvPr id="9" name="Picture 8"/>
          <p:cNvPicPr/>
          <p:nvPr/>
        </p:nvPicPr>
        <p:blipFill>
          <a:blip r:embed="rId6">
            <a:extLst>
              <a:ext uri="{28A0092B-C50C-407E-A947-70E740481C1C}">
                <a14:useLocalDpi xmlns:a14="http://schemas.microsoft.com/office/drawing/2010/main" val="0"/>
              </a:ext>
            </a:extLst>
          </a:blip>
          <a:stretch>
            <a:fillRect/>
          </a:stretch>
        </p:blipFill>
        <p:spPr>
          <a:xfrm>
            <a:off x="5562600" y="609600"/>
            <a:ext cx="3581400" cy="3124200"/>
          </a:xfrm>
          <a:prstGeom prst="rect">
            <a:avLst/>
          </a:prstGeom>
        </p:spPr>
      </p:pic>
    </p:spTree>
    <p:extLst>
      <p:ext uri="{BB962C8B-B14F-4D97-AF65-F5344CB8AC3E}">
        <p14:creationId xmlns:p14="http://schemas.microsoft.com/office/powerpoint/2010/main" val="4227178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0" y="0"/>
            <a:ext cx="91440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 3. PHÂN CỰC ÁNH SÁNG</a:t>
            </a:r>
          </a:p>
        </p:txBody>
      </p:sp>
      <p:sp>
        <p:nvSpPr>
          <p:cNvPr id="2" name="Rectangle 1"/>
          <p:cNvSpPr/>
          <p:nvPr/>
        </p:nvSpPr>
        <p:spPr>
          <a:xfrm>
            <a:off x="152400" y="609600"/>
            <a:ext cx="6296075" cy="461665"/>
          </a:xfrm>
          <a:prstGeom prst="rect">
            <a:avLst/>
          </a:prstGeom>
        </p:spPr>
        <p:txBody>
          <a:bodyPr wrap="square">
            <a:spAutoFit/>
          </a:bodyPr>
          <a:lstStyle/>
          <a:p>
            <a:r>
              <a:rPr lang="en-US" sz="2400" b="1" dirty="0">
                <a:solidFill>
                  <a:srgbClr val="FF0000"/>
                </a:solidFill>
                <a:latin typeface="Times New Roman" pitchFamily="18" charset="0"/>
              </a:rPr>
              <a:t>III. </a:t>
            </a:r>
            <a:r>
              <a:rPr lang="en-US" sz="2400" b="1" dirty="0" err="1">
                <a:solidFill>
                  <a:srgbClr val="FF0000"/>
                </a:solidFill>
                <a:latin typeface="Times New Roman" pitchFamily="18" charset="0"/>
              </a:rPr>
              <a:t>Phân</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cực</a:t>
            </a:r>
            <a:r>
              <a:rPr lang="en-US" sz="2400" b="1" dirty="0">
                <a:solidFill>
                  <a:srgbClr val="FF0000"/>
                </a:solidFill>
                <a:latin typeface="Times New Roman" pitchFamily="18" charset="0"/>
              </a:rPr>
              <a:t> do </a:t>
            </a:r>
            <a:r>
              <a:rPr lang="en-US" sz="2400" b="1" dirty="0" err="1">
                <a:solidFill>
                  <a:srgbClr val="FF0000"/>
                </a:solidFill>
                <a:latin typeface="Times New Roman" pitchFamily="18" charset="0"/>
              </a:rPr>
              <a:t>phản</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xạ</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và</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khúc</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xạ</a:t>
            </a:r>
            <a:endParaRPr lang="en-US" sz="2400" b="1" dirty="0">
              <a:solidFill>
                <a:srgbClr val="FF0000"/>
              </a:solidFill>
              <a:latin typeface="Times New Roman" pitchFamily="18" charset="0"/>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38098" y="609600"/>
            <a:ext cx="3286584" cy="3153215"/>
          </a:xfrm>
          <a:prstGeom prst="rect">
            <a:avLst/>
          </a:prstGeom>
        </p:spPr>
      </p:pic>
      <p:sp>
        <p:nvSpPr>
          <p:cNvPr id="9" name="Rectangle 8"/>
          <p:cNvSpPr/>
          <p:nvPr/>
        </p:nvSpPr>
        <p:spPr>
          <a:xfrm>
            <a:off x="152400" y="1143000"/>
            <a:ext cx="5562600" cy="1569660"/>
          </a:xfrm>
          <a:prstGeom prst="rect">
            <a:avLst/>
          </a:prstGeom>
        </p:spPr>
        <p:txBody>
          <a:bodyPr wrap="square">
            <a:spAutoFit/>
          </a:bodyPr>
          <a:lstStyle/>
          <a:p>
            <a:pPr algn="just"/>
            <a:r>
              <a:rPr lang="en-US" sz="2400" dirty="0" err="1">
                <a:latin typeface="Times New Roman" pitchFamily="18" charset="0"/>
              </a:rPr>
              <a:t>Khi</a:t>
            </a:r>
            <a:r>
              <a:rPr lang="en-US" sz="2400" dirty="0">
                <a:latin typeface="Times New Roman" pitchFamily="18" charset="0"/>
              </a:rPr>
              <a:t> </a:t>
            </a:r>
            <a:r>
              <a:rPr lang="en-US" sz="2400" dirty="0" err="1">
                <a:latin typeface="Times New Roman" pitchFamily="18" charset="0"/>
              </a:rPr>
              <a:t>cho</a:t>
            </a:r>
            <a:r>
              <a:rPr lang="en-US" sz="2400" dirty="0">
                <a:latin typeface="Times New Roman" pitchFamily="18" charset="0"/>
              </a:rPr>
              <a:t> </a:t>
            </a:r>
            <a:r>
              <a:rPr lang="en-US" sz="2400" dirty="0" err="1">
                <a:latin typeface="Times New Roman" pitchFamily="18" charset="0"/>
              </a:rPr>
              <a:t>một</a:t>
            </a:r>
            <a:r>
              <a:rPr lang="en-US" sz="2400" dirty="0">
                <a:latin typeface="Times New Roman" pitchFamily="18" charset="0"/>
              </a:rPr>
              <a:t> </a:t>
            </a:r>
            <a:r>
              <a:rPr lang="en-US" sz="2400" dirty="0" err="1">
                <a:latin typeface="Times New Roman" pitchFamily="18" charset="0"/>
              </a:rPr>
              <a:t>chùm</a:t>
            </a:r>
            <a:r>
              <a:rPr lang="en-US" sz="2400" dirty="0">
                <a:latin typeface="Times New Roman" pitchFamily="18" charset="0"/>
              </a:rPr>
              <a:t> </a:t>
            </a:r>
            <a:r>
              <a:rPr lang="en-US" sz="2400" dirty="0" err="1">
                <a:latin typeface="Times New Roman" pitchFamily="18" charset="0"/>
              </a:rPr>
              <a:t>tia</a:t>
            </a:r>
            <a:r>
              <a:rPr lang="en-US" sz="2400" dirty="0">
                <a:latin typeface="Times New Roman" pitchFamily="18" charset="0"/>
              </a:rPr>
              <a:t> </a:t>
            </a:r>
            <a:r>
              <a:rPr lang="en-US" sz="2400" dirty="0" err="1">
                <a:latin typeface="Times New Roman" pitchFamily="18" charset="0"/>
              </a:rPr>
              <a:t>sáng</a:t>
            </a:r>
            <a:r>
              <a:rPr lang="en-US" sz="2400" dirty="0">
                <a:latin typeface="Times New Roman" pitchFamily="18" charset="0"/>
              </a:rPr>
              <a:t> </a:t>
            </a:r>
            <a:r>
              <a:rPr lang="en-US" sz="2400" dirty="0" err="1">
                <a:latin typeface="Times New Roman" pitchFamily="18" charset="0"/>
              </a:rPr>
              <a:t>tự</a:t>
            </a:r>
            <a:r>
              <a:rPr lang="en-US" sz="2400" dirty="0">
                <a:latin typeface="Times New Roman" pitchFamily="18" charset="0"/>
              </a:rPr>
              <a:t> </a:t>
            </a:r>
            <a:r>
              <a:rPr lang="en-US" sz="2400" dirty="0" err="1">
                <a:latin typeface="Times New Roman" pitchFamily="18" charset="0"/>
              </a:rPr>
              <a:t>nhiên</a:t>
            </a:r>
            <a:r>
              <a:rPr lang="en-US" sz="2400" dirty="0">
                <a:latin typeface="Times New Roman" pitchFamily="18" charset="0"/>
              </a:rPr>
              <a:t>  </a:t>
            </a:r>
            <a:r>
              <a:rPr lang="en-US" sz="2400" dirty="0" err="1">
                <a:latin typeface="Times New Roman" pitchFamily="18" charset="0"/>
              </a:rPr>
              <a:t>chiếu</a:t>
            </a:r>
            <a:r>
              <a:rPr lang="en-US" sz="2400" dirty="0">
                <a:latin typeface="Times New Roman" pitchFamily="18" charset="0"/>
              </a:rPr>
              <a:t> </a:t>
            </a:r>
            <a:r>
              <a:rPr lang="en-US" sz="2400" dirty="0" err="1">
                <a:latin typeface="Times New Roman" pitchFamily="18" charset="0"/>
              </a:rPr>
              <a:t>tới</a:t>
            </a:r>
            <a:r>
              <a:rPr lang="en-US" sz="2400" dirty="0">
                <a:latin typeface="Times New Roman" pitchFamily="18" charset="0"/>
              </a:rPr>
              <a:t> </a:t>
            </a:r>
            <a:r>
              <a:rPr lang="en-US" sz="2400" dirty="0" err="1">
                <a:latin typeface="Times New Roman" pitchFamily="18" charset="0"/>
              </a:rPr>
              <a:t>mặt</a:t>
            </a:r>
            <a:r>
              <a:rPr lang="en-US" sz="2400" dirty="0">
                <a:latin typeface="Times New Roman" pitchFamily="18" charset="0"/>
              </a:rPr>
              <a:t> </a:t>
            </a:r>
            <a:r>
              <a:rPr lang="en-US" sz="2400" dirty="0" err="1">
                <a:latin typeface="Times New Roman" pitchFamily="18" charset="0"/>
              </a:rPr>
              <a:t>phân</a:t>
            </a:r>
            <a:r>
              <a:rPr lang="en-US" sz="2400" dirty="0">
                <a:latin typeface="Times New Roman" pitchFamily="18" charset="0"/>
              </a:rPr>
              <a:t> </a:t>
            </a:r>
            <a:r>
              <a:rPr lang="en-US" sz="2400" dirty="0" err="1">
                <a:latin typeface="Times New Roman" pitchFamily="18" charset="0"/>
              </a:rPr>
              <a:t>cách</a:t>
            </a:r>
            <a:r>
              <a:rPr lang="en-US" sz="2400" dirty="0">
                <a:latin typeface="Times New Roman" pitchFamily="18" charset="0"/>
              </a:rPr>
              <a:t> </a:t>
            </a:r>
            <a:r>
              <a:rPr lang="en-US" sz="2400" dirty="0" err="1">
                <a:latin typeface="Times New Roman" pitchFamily="18" charset="0"/>
              </a:rPr>
              <a:t>giữa</a:t>
            </a:r>
            <a:r>
              <a:rPr lang="en-US" sz="2400" dirty="0">
                <a:latin typeface="Times New Roman" pitchFamily="18" charset="0"/>
              </a:rPr>
              <a:t> </a:t>
            </a:r>
            <a:r>
              <a:rPr lang="en-US" sz="2400" dirty="0" err="1">
                <a:latin typeface="Times New Roman" pitchFamily="18" charset="0"/>
              </a:rPr>
              <a:t>hai</a:t>
            </a:r>
            <a:r>
              <a:rPr lang="en-US" sz="2400" dirty="0">
                <a:latin typeface="Times New Roman" pitchFamily="18" charset="0"/>
              </a:rPr>
              <a:t> </a:t>
            </a:r>
            <a:r>
              <a:rPr lang="en-US" sz="2400" dirty="0" err="1">
                <a:latin typeface="Times New Roman" pitchFamily="18" charset="0"/>
              </a:rPr>
              <a:t>môi</a:t>
            </a:r>
            <a:r>
              <a:rPr lang="en-US" sz="2400" dirty="0">
                <a:latin typeface="Times New Roman" pitchFamily="18" charset="0"/>
              </a:rPr>
              <a:t> </a:t>
            </a:r>
            <a:r>
              <a:rPr lang="en-US" sz="2400" dirty="0" err="1">
                <a:latin typeface="Times New Roman" pitchFamily="18" charset="0"/>
              </a:rPr>
              <a:t>trường</a:t>
            </a:r>
            <a:r>
              <a:rPr lang="en-US" sz="2400" dirty="0">
                <a:latin typeface="Times New Roman" pitchFamily="18" charset="0"/>
              </a:rPr>
              <a:t> </a:t>
            </a:r>
            <a:r>
              <a:rPr lang="en-US" sz="2400" dirty="0" err="1">
                <a:latin typeface="Times New Roman" pitchFamily="18" charset="0"/>
              </a:rPr>
              <a:t>dưới</a:t>
            </a:r>
            <a:r>
              <a:rPr lang="en-US" sz="2400" dirty="0">
                <a:latin typeface="Times New Roman" pitchFamily="18" charset="0"/>
              </a:rPr>
              <a:t> </a:t>
            </a:r>
            <a:r>
              <a:rPr lang="en-US" sz="2400" dirty="0" err="1">
                <a:latin typeface="Times New Roman" pitchFamily="18" charset="0"/>
              </a:rPr>
              <a:t>góc</a:t>
            </a:r>
            <a:r>
              <a:rPr lang="en-US" sz="2400" dirty="0">
                <a:latin typeface="Times New Roman" pitchFamily="18" charset="0"/>
              </a:rPr>
              <a:t> </a:t>
            </a:r>
            <a:r>
              <a:rPr lang="en-US" sz="2400" dirty="0" err="1">
                <a:latin typeface="Times New Roman" pitchFamily="18" charset="0"/>
              </a:rPr>
              <a:t>tới</a:t>
            </a:r>
            <a:r>
              <a:rPr lang="en-US" sz="2400" dirty="0">
                <a:latin typeface="Times New Roman" pitchFamily="18" charset="0"/>
              </a:rPr>
              <a:t> i </a:t>
            </a:r>
            <a:r>
              <a:rPr lang="en-US" sz="2400" dirty="0" err="1">
                <a:latin typeface="Times New Roman" pitchFamily="18" charset="0"/>
              </a:rPr>
              <a:t>thì</a:t>
            </a:r>
            <a:r>
              <a:rPr lang="en-US" sz="2400" dirty="0">
                <a:latin typeface="Times New Roman" pitchFamily="18" charset="0"/>
              </a:rPr>
              <a:t> </a:t>
            </a:r>
            <a:r>
              <a:rPr lang="en-US" sz="2400" dirty="0" err="1">
                <a:latin typeface="Times New Roman" pitchFamily="18" charset="0"/>
              </a:rPr>
              <a:t>tia</a:t>
            </a:r>
            <a:r>
              <a:rPr lang="en-US" sz="2400" dirty="0">
                <a:latin typeface="Times New Roman" pitchFamily="18" charset="0"/>
              </a:rPr>
              <a:t> </a:t>
            </a:r>
            <a:r>
              <a:rPr lang="en-US" sz="2400" dirty="0" err="1">
                <a:latin typeface="Times New Roman" pitchFamily="18" charset="0"/>
              </a:rPr>
              <a:t>phản</a:t>
            </a:r>
            <a:r>
              <a:rPr lang="en-US" sz="2400" dirty="0">
                <a:latin typeface="Times New Roman" pitchFamily="18" charset="0"/>
              </a:rPr>
              <a:t> </a:t>
            </a:r>
            <a:r>
              <a:rPr lang="en-US" sz="2400" dirty="0" err="1">
                <a:latin typeface="Times New Roman" pitchFamily="18" charset="0"/>
              </a:rPr>
              <a:t>xạ</a:t>
            </a:r>
            <a:r>
              <a:rPr lang="en-US" sz="2400" dirty="0">
                <a:latin typeface="Times New Roman" pitchFamily="18" charset="0"/>
              </a:rPr>
              <a:t> </a:t>
            </a:r>
            <a:r>
              <a:rPr lang="en-US" sz="2400" dirty="0" err="1">
                <a:latin typeface="Times New Roman" pitchFamily="18" charset="0"/>
              </a:rPr>
              <a:t>và</a:t>
            </a:r>
            <a:r>
              <a:rPr lang="en-US" sz="2400" dirty="0">
                <a:latin typeface="Times New Roman" pitchFamily="18" charset="0"/>
              </a:rPr>
              <a:t> </a:t>
            </a:r>
            <a:r>
              <a:rPr lang="en-US" sz="2400" dirty="0" err="1">
                <a:latin typeface="Times New Roman" pitchFamily="18" charset="0"/>
              </a:rPr>
              <a:t>khúc</a:t>
            </a:r>
            <a:r>
              <a:rPr lang="en-US" sz="2400" dirty="0">
                <a:latin typeface="Times New Roman" pitchFamily="18" charset="0"/>
              </a:rPr>
              <a:t> </a:t>
            </a:r>
            <a:r>
              <a:rPr lang="en-US" sz="2400" dirty="0" err="1">
                <a:latin typeface="Times New Roman" pitchFamily="18" charset="0"/>
              </a:rPr>
              <a:t>xạ</a:t>
            </a:r>
            <a:r>
              <a:rPr lang="en-US" sz="2400" dirty="0">
                <a:latin typeface="Times New Roman" pitchFamily="18" charset="0"/>
              </a:rPr>
              <a:t> </a:t>
            </a:r>
            <a:r>
              <a:rPr lang="en-US" sz="2400" dirty="0" err="1">
                <a:latin typeface="Times New Roman" pitchFamily="18" charset="0"/>
              </a:rPr>
              <a:t>đều</a:t>
            </a:r>
            <a:r>
              <a:rPr lang="en-US" sz="2400" dirty="0">
                <a:latin typeface="Times New Roman" pitchFamily="18" charset="0"/>
              </a:rPr>
              <a:t> </a:t>
            </a:r>
            <a:r>
              <a:rPr lang="en-US" sz="2400" dirty="0" err="1">
                <a:latin typeface="Times New Roman" pitchFamily="18" charset="0"/>
              </a:rPr>
              <a:t>thành</a:t>
            </a:r>
            <a:r>
              <a:rPr lang="en-US" sz="2400" dirty="0">
                <a:latin typeface="Times New Roman" pitchFamily="18" charset="0"/>
              </a:rPr>
              <a:t> </a:t>
            </a:r>
            <a:r>
              <a:rPr lang="en-US" sz="2400" dirty="0" err="1">
                <a:latin typeface="Times New Roman" pitchFamily="18" charset="0"/>
              </a:rPr>
              <a:t>ánh</a:t>
            </a:r>
            <a:r>
              <a:rPr lang="en-US" sz="2400" dirty="0">
                <a:latin typeface="Times New Roman" pitchFamily="18" charset="0"/>
              </a:rPr>
              <a:t> </a:t>
            </a:r>
            <a:r>
              <a:rPr lang="en-US" sz="2400" dirty="0" err="1">
                <a:latin typeface="Times New Roman" pitchFamily="18" charset="0"/>
              </a:rPr>
              <a:t>sáng</a:t>
            </a:r>
            <a:r>
              <a:rPr lang="en-US" sz="2400" dirty="0">
                <a:latin typeface="Times New Roman" pitchFamily="18" charset="0"/>
              </a:rPr>
              <a:t> </a:t>
            </a:r>
            <a:r>
              <a:rPr lang="en-US" sz="2400" dirty="0" err="1">
                <a:solidFill>
                  <a:srgbClr val="FF0000"/>
                </a:solidFill>
                <a:latin typeface="Times New Roman" pitchFamily="18" charset="0"/>
              </a:rPr>
              <a:t>phân</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cực</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một</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phần</a:t>
            </a:r>
            <a:endParaRPr lang="en-US" sz="2400" dirty="0">
              <a:solidFill>
                <a:srgbClr val="FF0000"/>
              </a:solidFill>
              <a:latin typeface="Times New Roman" pitchFamily="18" charset="0"/>
            </a:endParaRPr>
          </a:p>
        </p:txBody>
      </p:sp>
      <p:sp>
        <p:nvSpPr>
          <p:cNvPr id="10" name="Rectangle 9"/>
          <p:cNvSpPr/>
          <p:nvPr/>
        </p:nvSpPr>
        <p:spPr>
          <a:xfrm>
            <a:off x="152400" y="2828836"/>
            <a:ext cx="5562600" cy="1200329"/>
          </a:xfrm>
          <a:prstGeom prst="rect">
            <a:avLst/>
          </a:prstGeom>
        </p:spPr>
        <p:txBody>
          <a:bodyPr wrap="square">
            <a:spAutoFit/>
          </a:bodyPr>
          <a:lstStyle/>
          <a:p>
            <a:r>
              <a:rPr lang="en-US" sz="2400" i="1" dirty="0" err="1">
                <a:solidFill>
                  <a:srgbClr val="FF0000"/>
                </a:solidFill>
                <a:latin typeface="Times New Roman" pitchFamily="18" charset="0"/>
              </a:rPr>
              <a:t>Khi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thay</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đổi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góc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tới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sao</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cho</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tgi</a:t>
            </a:r>
            <a:r>
              <a:rPr lang="en-US" sz="2400" i="1" dirty="0">
                <a:solidFill>
                  <a:srgbClr val="FF0000"/>
                </a:solidFill>
                <a:latin typeface="Times New Roman" pitchFamily="18" charset="0"/>
              </a:rPr>
              <a:t> = </a:t>
            </a:r>
            <a:r>
              <a:rPr lang="en-US" sz="2400" i="1" dirty="0" err="1">
                <a:solidFill>
                  <a:srgbClr val="FF0000"/>
                </a:solidFill>
                <a:latin typeface="Times New Roman" pitchFamily="18" charset="0"/>
              </a:rPr>
              <a:t>n</a:t>
            </a:r>
            <a:r>
              <a:rPr lang="en-US" sz="2400" i="1" baseline="-25000" dirty="0" err="1">
                <a:solidFill>
                  <a:srgbClr val="FF0000"/>
                </a:solidFill>
                <a:latin typeface="Times New Roman" pitchFamily="18" charset="0"/>
              </a:rPr>
              <a:t>kx</a:t>
            </a:r>
            <a:r>
              <a:rPr lang="en-US" sz="2400" i="1" baseline="-25000" dirty="0">
                <a:solidFill>
                  <a:srgbClr val="FF0000"/>
                </a:solidFill>
                <a:latin typeface="Times New Roman" pitchFamily="18" charset="0"/>
              </a:rPr>
              <a:t>/</a:t>
            </a:r>
            <a:r>
              <a:rPr lang="en-US" sz="2400" i="1" dirty="0" err="1">
                <a:solidFill>
                  <a:srgbClr val="FF0000"/>
                </a:solidFill>
                <a:latin typeface="Times New Roman" pitchFamily="18" charset="0"/>
              </a:rPr>
              <a:t>n</a:t>
            </a:r>
            <a:r>
              <a:rPr lang="en-US" sz="2400" i="1" baseline="-25000" dirty="0" err="1">
                <a:solidFill>
                  <a:srgbClr val="FF0000"/>
                </a:solidFill>
                <a:latin typeface="Times New Roman" pitchFamily="18" charset="0"/>
              </a:rPr>
              <a:t>t</a:t>
            </a:r>
            <a:r>
              <a:rPr lang="en-US" sz="2400" i="1" baseline="-25000" dirty="0">
                <a:solidFill>
                  <a:srgbClr val="FF0000"/>
                </a:solidFill>
                <a:latin typeface="Times New Roman" pitchFamily="18" charset="0"/>
              </a:rPr>
              <a:t> </a:t>
            </a:r>
            <a:r>
              <a:rPr lang="en-US" sz="2400" i="1" dirty="0" err="1">
                <a:solidFill>
                  <a:srgbClr val="FF0000"/>
                </a:solidFill>
                <a:latin typeface="Times New Roman" pitchFamily="18" charset="0"/>
              </a:rPr>
              <a:t>thì</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tia</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phản</a:t>
            </a:r>
            <a:r>
              <a:rPr lang="en-US" sz="2400" i="1" dirty="0">
                <a:solidFill>
                  <a:srgbClr val="FF0000"/>
                </a:solidFill>
                <a:latin typeface="Times New Roman" pitchFamily="18" charset="0"/>
              </a:rPr>
              <a:t> </a:t>
            </a:r>
            <a:r>
              <a:rPr lang="en-US" sz="2400" i="1" dirty="0" err="1">
                <a:solidFill>
                  <a:srgbClr val="00B050"/>
                </a:solidFill>
                <a:latin typeface="Times New Roman" pitchFamily="18" charset="0"/>
              </a:rPr>
              <a:t>xạ</a:t>
            </a:r>
            <a:r>
              <a:rPr lang="en-US" sz="2400" i="1" dirty="0">
                <a:solidFill>
                  <a:srgbClr val="00B050"/>
                </a:solidFill>
                <a:latin typeface="Times New Roman" pitchFamily="18" charset="0"/>
              </a:rPr>
              <a:t> </a:t>
            </a:r>
            <a:r>
              <a:rPr lang="en-US" sz="2400" i="1" dirty="0" err="1">
                <a:solidFill>
                  <a:srgbClr val="00B050"/>
                </a:solidFill>
                <a:latin typeface="Times New Roman" pitchFamily="18" charset="0"/>
              </a:rPr>
              <a:t>phân</a:t>
            </a:r>
            <a:r>
              <a:rPr lang="en-US" sz="2400" i="1" dirty="0">
                <a:solidFill>
                  <a:srgbClr val="00B050"/>
                </a:solidFill>
                <a:latin typeface="Times New Roman" pitchFamily="18" charset="0"/>
              </a:rPr>
              <a:t>  </a:t>
            </a:r>
            <a:r>
              <a:rPr lang="en-US" sz="2400" i="1" dirty="0" err="1">
                <a:solidFill>
                  <a:srgbClr val="00B050"/>
                </a:solidFill>
                <a:latin typeface="Times New Roman" pitchFamily="18" charset="0"/>
              </a:rPr>
              <a:t>cực</a:t>
            </a:r>
            <a:r>
              <a:rPr lang="en-US" sz="2400" i="1" dirty="0">
                <a:solidFill>
                  <a:srgbClr val="00B050"/>
                </a:solidFill>
                <a:latin typeface="Times New Roman" pitchFamily="18" charset="0"/>
              </a:rPr>
              <a:t> </a:t>
            </a:r>
            <a:r>
              <a:rPr lang="en-US" sz="2400" i="1" dirty="0" err="1">
                <a:solidFill>
                  <a:srgbClr val="00B050"/>
                </a:solidFill>
                <a:latin typeface="Times New Roman" pitchFamily="18" charset="0"/>
              </a:rPr>
              <a:t>toàn</a:t>
            </a:r>
            <a:r>
              <a:rPr lang="en-US" sz="2400" i="1" dirty="0">
                <a:solidFill>
                  <a:srgbClr val="00B050"/>
                </a:solidFill>
                <a:latin typeface="Times New Roman" pitchFamily="18" charset="0"/>
              </a:rPr>
              <a:t> </a:t>
            </a:r>
            <a:r>
              <a:rPr lang="en-US" sz="2400" i="1" dirty="0" err="1">
                <a:solidFill>
                  <a:srgbClr val="00B050"/>
                </a:solidFill>
                <a:latin typeface="Times New Roman" pitchFamily="18" charset="0"/>
              </a:rPr>
              <a:t>phần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Góc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tới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đó</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gọi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là</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góc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tới</a:t>
            </a:r>
            <a:r>
              <a:rPr lang="en-US" sz="2400" i="1" dirty="0">
                <a:solidFill>
                  <a:srgbClr val="FF0000"/>
                </a:solidFill>
                <a:latin typeface="Times New Roman" pitchFamily="18" charset="0"/>
              </a:rPr>
              <a:t> Brewster </a:t>
            </a:r>
          </a:p>
        </p:txBody>
      </p:sp>
      <p:graphicFrame>
        <p:nvGraphicFramePr>
          <p:cNvPr id="11" name="Object 10"/>
          <p:cNvGraphicFramePr>
            <a:graphicFrameLocks noChangeAspect="1"/>
          </p:cNvGraphicFramePr>
          <p:nvPr>
            <p:extLst>
              <p:ext uri="{D42A27DB-BD31-4B8C-83A1-F6EECF244321}">
                <p14:modId xmlns:p14="http://schemas.microsoft.com/office/powerpoint/2010/main" val="319691309"/>
              </p:ext>
            </p:extLst>
          </p:nvPr>
        </p:nvGraphicFramePr>
        <p:xfrm>
          <a:off x="2533954" y="4114800"/>
          <a:ext cx="1532966" cy="914400"/>
        </p:xfrm>
        <a:graphic>
          <a:graphicData uri="http://schemas.openxmlformats.org/presentationml/2006/ole">
            <mc:AlternateContent xmlns:mc="http://schemas.openxmlformats.org/markup-compatibility/2006">
              <mc:Choice xmlns:v="urn:schemas-microsoft-com:vml" Requires="v">
                <p:oleObj spid="_x0000_s35854" name="Equation" r:id="rId4" imgW="723600" imgH="431640" progId="Equation.3">
                  <p:embed/>
                </p:oleObj>
              </mc:Choice>
              <mc:Fallback>
                <p:oleObj name="Equation" r:id="rId4" imgW="723600" imgH="431640" progId="Equation.3">
                  <p:embed/>
                  <p:pic>
                    <p:nvPicPr>
                      <p:cNvPr id="0" name=""/>
                      <p:cNvPicPr/>
                      <p:nvPr/>
                    </p:nvPicPr>
                    <p:blipFill>
                      <a:blip r:embed="rId5"/>
                      <a:stretch>
                        <a:fillRect/>
                      </a:stretch>
                    </p:blipFill>
                    <p:spPr>
                      <a:xfrm>
                        <a:off x="2533954" y="4114800"/>
                        <a:ext cx="1532966" cy="914400"/>
                      </a:xfrm>
                      <a:prstGeom prst="rect">
                        <a:avLst/>
                      </a:prstGeom>
                    </p:spPr>
                  </p:pic>
                </p:oleObj>
              </mc:Fallback>
            </mc:AlternateContent>
          </a:graphicData>
        </a:graphic>
      </p:graphicFrame>
    </p:spTree>
    <p:extLst>
      <p:ext uri="{BB962C8B-B14F-4D97-AF65-F5344CB8AC3E}">
        <p14:creationId xmlns:p14="http://schemas.microsoft.com/office/powerpoint/2010/main" val="3410230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down)">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295400"/>
            <a:ext cx="7488692" cy="3252944"/>
          </a:xfrm>
          <a:prstGeom prst="rect">
            <a:avLst/>
          </a:prstGeom>
        </p:spPr>
      </p:pic>
    </p:spTree>
    <p:extLst>
      <p:ext uri="{BB962C8B-B14F-4D97-AF65-F5344CB8AC3E}">
        <p14:creationId xmlns:p14="http://schemas.microsoft.com/office/powerpoint/2010/main" val="19210273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28BDA-EF70-4005-ACDB-CF6126A7D4D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2F9E32B-C3E8-45DD-AA77-E712DC27802C}"/>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28A269F3-4C35-474A-96DB-548CDC9F5727}"/>
              </a:ext>
            </a:extLst>
          </p:cNvPr>
          <p:cNvPicPr>
            <a:picLocks noChangeAspect="1"/>
          </p:cNvPicPr>
          <p:nvPr/>
        </p:nvPicPr>
        <p:blipFill>
          <a:blip r:embed="rId2"/>
          <a:stretch>
            <a:fillRect/>
          </a:stretch>
        </p:blipFill>
        <p:spPr>
          <a:xfrm>
            <a:off x="-76200" y="10099"/>
            <a:ext cx="9144000" cy="6202362"/>
          </a:xfrm>
          <a:prstGeom prst="rect">
            <a:avLst/>
          </a:prstGeom>
        </p:spPr>
      </p:pic>
    </p:spTree>
    <p:extLst>
      <p:ext uri="{BB962C8B-B14F-4D97-AF65-F5344CB8AC3E}">
        <p14:creationId xmlns:p14="http://schemas.microsoft.com/office/powerpoint/2010/main" val="19964359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0" y="0"/>
            <a:ext cx="91440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VÍ DỤ</a:t>
            </a:r>
          </a:p>
        </p:txBody>
      </p:sp>
      <p:sp>
        <p:nvSpPr>
          <p:cNvPr id="2" name="Rectangle 1"/>
          <p:cNvSpPr/>
          <p:nvPr/>
        </p:nvSpPr>
        <p:spPr>
          <a:xfrm>
            <a:off x="0" y="762000"/>
            <a:ext cx="8991600" cy="1446550"/>
          </a:xfrm>
          <a:prstGeom prst="rect">
            <a:avLst/>
          </a:prstGeom>
        </p:spPr>
        <p:txBody>
          <a:bodyPr wrap="square">
            <a:spAutoFit/>
          </a:bodyPr>
          <a:lstStyle/>
          <a:p>
            <a:r>
              <a:rPr lang="en-US" sz="2200" dirty="0">
                <a:latin typeface="Times New Roman" pitchFamily="18" charset="0"/>
                <a:cs typeface="Times New Roman" pitchFamily="18" charset="0"/>
              </a:rPr>
              <a:t>Cho </a:t>
            </a:r>
            <a:r>
              <a:rPr lang="en-US" sz="2200" dirty="0" err="1">
                <a:latin typeface="Times New Roman" pitchFamily="18" charset="0"/>
                <a:cs typeface="Times New Roman" pitchFamily="18" charset="0"/>
              </a:rPr>
              <a:t>biết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ánh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sáng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truyền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từ</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môi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trường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chất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có</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chiết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suất</a:t>
            </a:r>
            <a:r>
              <a:rPr lang="en-US" sz="2200" dirty="0">
                <a:latin typeface="Times New Roman" pitchFamily="18" charset="0"/>
                <a:cs typeface="Times New Roman" pitchFamily="18" charset="0"/>
              </a:rPr>
              <a:t> n </a:t>
            </a:r>
            <a:r>
              <a:rPr lang="en-US" sz="2200" dirty="0" err="1">
                <a:latin typeface="Times New Roman" pitchFamily="18" charset="0"/>
                <a:cs typeface="Times New Roman" pitchFamily="18" charset="0"/>
              </a:rPr>
              <a:t>ra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ngoài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không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khí</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thì</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xảy</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ra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hiện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tượng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phản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xạ</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toàn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phần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của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ánh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sáng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ứng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với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góc</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giới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hạn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i</a:t>
            </a:r>
            <a:r>
              <a:rPr lang="en-US" sz="2200" baseline="-25000" dirty="0" err="1">
                <a:latin typeface="Times New Roman" pitchFamily="18" charset="0"/>
                <a:cs typeface="Times New Roman" pitchFamily="18" charset="0"/>
              </a:rPr>
              <a:t>gh</a:t>
            </a:r>
            <a:r>
              <a:rPr lang="en-US" sz="2200" baseline="-25000" dirty="0">
                <a:latin typeface="Times New Roman" pitchFamily="18" charset="0"/>
                <a:cs typeface="Times New Roman" pitchFamily="18" charset="0"/>
              </a:rPr>
              <a:t> </a:t>
            </a:r>
            <a:r>
              <a:rPr lang="en-US" sz="2200" dirty="0">
                <a:latin typeface="Times New Roman" pitchFamily="18" charset="0"/>
                <a:cs typeface="Times New Roman" pitchFamily="18" charset="0"/>
              </a:rPr>
              <a:t> =  45</a:t>
            </a:r>
            <a:r>
              <a:rPr lang="en-US" sz="2200" baseline="30000" dirty="0">
                <a:latin typeface="Times New Roman" pitchFamily="18" charset="0"/>
                <a:cs typeface="Times New Roman" pitchFamily="18" charset="0"/>
              </a:rPr>
              <a:t>0</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Xác</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định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góc</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tới</a:t>
            </a:r>
            <a:r>
              <a:rPr lang="en-US" sz="2200" dirty="0">
                <a:latin typeface="Times New Roman" pitchFamily="18" charset="0"/>
                <a:cs typeface="Times New Roman" pitchFamily="18" charset="0"/>
              </a:rPr>
              <a:t> Brewster </a:t>
            </a:r>
            <a:r>
              <a:rPr lang="en-US" sz="2200" dirty="0" err="1">
                <a:latin typeface="Times New Roman" pitchFamily="18" charset="0"/>
                <a:cs typeface="Times New Roman" pitchFamily="18" charset="0"/>
              </a:rPr>
              <a:t>của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chất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này</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khi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môi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trường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chứa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tia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tới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là</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không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khí</a:t>
            </a:r>
            <a:r>
              <a:rPr lang="en-US" sz="2200" dirty="0">
                <a:latin typeface="Times New Roman" pitchFamily="18" charset="0"/>
                <a:cs typeface="Times New Roman" pitchFamily="18" charset="0"/>
              </a:rPr>
              <a:t>.</a:t>
            </a:r>
          </a:p>
        </p:txBody>
      </p:sp>
      <p:graphicFrame>
        <p:nvGraphicFramePr>
          <p:cNvPr id="3" name="Object 2"/>
          <p:cNvGraphicFramePr>
            <a:graphicFrameLocks noChangeAspect="1"/>
          </p:cNvGraphicFramePr>
          <p:nvPr>
            <p:extLst>
              <p:ext uri="{D42A27DB-BD31-4B8C-83A1-F6EECF244321}">
                <p14:modId xmlns:p14="http://schemas.microsoft.com/office/powerpoint/2010/main" val="2974986345"/>
              </p:ext>
            </p:extLst>
          </p:nvPr>
        </p:nvGraphicFramePr>
        <p:xfrm>
          <a:off x="2667000" y="2362200"/>
          <a:ext cx="3229897" cy="685800"/>
        </p:xfrm>
        <a:graphic>
          <a:graphicData uri="http://schemas.openxmlformats.org/presentationml/2006/ole">
            <mc:AlternateContent xmlns:mc="http://schemas.openxmlformats.org/markup-compatibility/2006">
              <mc:Choice xmlns:v="urn:schemas-microsoft-com:vml" Requires="v">
                <p:oleObj spid="_x0000_s36888" name="Equation" r:id="rId3" imgW="1854000" imgH="393480" progId="Equation.3">
                  <p:embed/>
                </p:oleObj>
              </mc:Choice>
              <mc:Fallback>
                <p:oleObj name="Equation" r:id="rId3" imgW="1854000" imgH="393480" progId="Equation.3">
                  <p:embed/>
                  <p:pic>
                    <p:nvPicPr>
                      <p:cNvPr id="0" name=""/>
                      <p:cNvPicPr/>
                      <p:nvPr/>
                    </p:nvPicPr>
                    <p:blipFill>
                      <a:blip r:embed="rId4"/>
                      <a:stretch>
                        <a:fillRect/>
                      </a:stretch>
                    </p:blipFill>
                    <p:spPr>
                      <a:xfrm>
                        <a:off x="2667000" y="2362200"/>
                        <a:ext cx="3229897" cy="685800"/>
                      </a:xfrm>
                      <a:prstGeom prst="rect">
                        <a:avLst/>
                      </a:prstGeom>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876161906"/>
              </p:ext>
            </p:extLst>
          </p:nvPr>
        </p:nvGraphicFramePr>
        <p:xfrm>
          <a:off x="3263900" y="3429000"/>
          <a:ext cx="2463800" cy="425450"/>
        </p:xfrm>
        <a:graphic>
          <a:graphicData uri="http://schemas.openxmlformats.org/presentationml/2006/ole">
            <mc:AlternateContent xmlns:mc="http://schemas.openxmlformats.org/markup-compatibility/2006">
              <mc:Choice xmlns:v="urn:schemas-microsoft-com:vml" Requires="v">
                <p:oleObj spid="_x0000_s36889" name="Equation" r:id="rId5" imgW="1396800" imgH="241200" progId="Equation.3">
                  <p:embed/>
                </p:oleObj>
              </mc:Choice>
              <mc:Fallback>
                <p:oleObj name="Equation" r:id="rId5" imgW="1396800" imgH="241200" progId="Equation.3">
                  <p:embed/>
                  <p:pic>
                    <p:nvPicPr>
                      <p:cNvPr id="0" name=""/>
                      <p:cNvPicPr/>
                      <p:nvPr/>
                    </p:nvPicPr>
                    <p:blipFill>
                      <a:blip r:embed="rId6"/>
                      <a:stretch>
                        <a:fillRect/>
                      </a:stretch>
                    </p:blipFill>
                    <p:spPr>
                      <a:xfrm>
                        <a:off x="3263900" y="3429000"/>
                        <a:ext cx="2463800" cy="425450"/>
                      </a:xfrm>
                      <a:prstGeom prst="rect">
                        <a:avLst/>
                      </a:prstGeom>
                    </p:spPr>
                  </p:pic>
                </p:oleObj>
              </mc:Fallback>
            </mc:AlternateContent>
          </a:graphicData>
        </a:graphic>
      </p:graphicFrame>
    </p:spTree>
    <p:extLst>
      <p:ext uri="{BB962C8B-B14F-4D97-AF65-F5344CB8AC3E}">
        <p14:creationId xmlns:p14="http://schemas.microsoft.com/office/powerpoint/2010/main" val="2999635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0" y="0"/>
            <a:ext cx="91440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VÍ DỤ</a:t>
            </a:r>
          </a:p>
        </p:txBody>
      </p:sp>
      <p:sp>
        <p:nvSpPr>
          <p:cNvPr id="2" name="Rectangle 1"/>
          <p:cNvSpPr/>
          <p:nvPr/>
        </p:nvSpPr>
        <p:spPr>
          <a:xfrm>
            <a:off x="152400" y="762000"/>
            <a:ext cx="8915400" cy="1446550"/>
          </a:xfrm>
          <a:prstGeom prst="rect">
            <a:avLst/>
          </a:prstGeom>
        </p:spPr>
        <p:txBody>
          <a:bodyPr wrap="square">
            <a:spAutoFit/>
          </a:bodyPr>
          <a:lstStyle/>
          <a:p>
            <a:r>
              <a:rPr lang="x-none" sz="2200">
                <a:latin typeface="Times New Roman" pitchFamily="18" charset="0"/>
                <a:cs typeface="Times New Roman" pitchFamily="18" charset="0"/>
              </a:rPr>
              <a:t>Một chùm sáng tự nhiên chiếu vào mặt một bản thủy tinh nhúng trong chất lỏng. Chiết suất của thủy tinh là n= 1,5. Cho biết chùm tia phản xạ trên mặt thủy tinh bị </a:t>
            </a:r>
            <a:r>
              <a:rPr lang="x-none" sz="2200">
                <a:solidFill>
                  <a:srgbClr val="FF0000"/>
                </a:solidFill>
                <a:latin typeface="Times New Roman" pitchFamily="18" charset="0"/>
                <a:cs typeface="Times New Roman" pitchFamily="18" charset="0"/>
              </a:rPr>
              <a:t>phân cực toàn phần </a:t>
            </a:r>
            <a:r>
              <a:rPr lang="x-none" sz="2200">
                <a:latin typeface="Times New Roman" pitchFamily="18" charset="0"/>
                <a:cs typeface="Times New Roman" pitchFamily="18" charset="0"/>
              </a:rPr>
              <a:t>khi các tia phản xạ hợp với các tia tới một góc 97</a:t>
            </a:r>
            <a:r>
              <a:rPr lang="x-none" sz="2200" baseline="30000">
                <a:latin typeface="Times New Roman" pitchFamily="18" charset="0"/>
                <a:cs typeface="Times New Roman" pitchFamily="18" charset="0"/>
              </a:rPr>
              <a:t>O</a:t>
            </a:r>
            <a:r>
              <a:rPr lang="x-none" sz="2200">
                <a:latin typeface="Times New Roman" pitchFamily="18" charset="0"/>
                <a:cs typeface="Times New Roman" pitchFamily="18" charset="0"/>
              </a:rPr>
              <a:t>. Hãy xác định chiết suất của chất lỏng.</a:t>
            </a:r>
            <a:endParaRPr lang="en-US" sz="2200" dirty="0">
              <a:latin typeface="Times New Roman" pitchFamily="18" charset="0"/>
              <a:cs typeface="Times New Roman" pitchFamily="18" charset="0"/>
            </a:endParaRPr>
          </a:p>
        </p:txBody>
      </p:sp>
      <p:sp>
        <p:nvSpPr>
          <p:cNvPr id="3" name="Rectangle 2"/>
          <p:cNvSpPr/>
          <p:nvPr/>
        </p:nvSpPr>
        <p:spPr>
          <a:xfrm>
            <a:off x="7162800" y="2057400"/>
            <a:ext cx="1371600" cy="2057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7" name="Straight Connector 6"/>
          <p:cNvCxnSpPr/>
          <p:nvPr/>
        </p:nvCxnSpPr>
        <p:spPr>
          <a:xfrm>
            <a:off x="7239000" y="3886200"/>
            <a:ext cx="228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7391400" y="3733800"/>
            <a:ext cx="228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7696200" y="3810000"/>
            <a:ext cx="228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7391400" y="3581400"/>
            <a:ext cx="228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8077200" y="3886200"/>
            <a:ext cx="228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8077200" y="3733800"/>
            <a:ext cx="228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7772400" y="3657600"/>
            <a:ext cx="228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8229600" y="3505200"/>
            <a:ext cx="228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7772400" y="3505200"/>
            <a:ext cx="228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7315200" y="3352800"/>
            <a:ext cx="228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7772400" y="3352800"/>
            <a:ext cx="228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8229600" y="3352800"/>
            <a:ext cx="228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a:endCxn id="3" idx="2"/>
          </p:cNvCxnSpPr>
          <p:nvPr/>
        </p:nvCxnSpPr>
        <p:spPr>
          <a:xfrm>
            <a:off x="7353300" y="3352800"/>
            <a:ext cx="4953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7518579" y="3581400"/>
            <a:ext cx="114300" cy="2286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a:stCxn id="3" idx="2"/>
          </p:cNvCxnSpPr>
          <p:nvPr/>
        </p:nvCxnSpPr>
        <p:spPr>
          <a:xfrm flipV="1">
            <a:off x="7848600" y="3505200"/>
            <a:ext cx="457200" cy="609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V="1">
            <a:off x="7963437" y="3581400"/>
            <a:ext cx="266700" cy="3810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a:endCxn id="3" idx="2"/>
          </p:cNvCxnSpPr>
          <p:nvPr/>
        </p:nvCxnSpPr>
        <p:spPr>
          <a:xfrm>
            <a:off x="7848600" y="3505200"/>
            <a:ext cx="0" cy="60960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42" name="Freeform 41"/>
          <p:cNvSpPr/>
          <p:nvPr/>
        </p:nvSpPr>
        <p:spPr>
          <a:xfrm>
            <a:off x="7765961" y="3913988"/>
            <a:ext cx="218940" cy="39826"/>
          </a:xfrm>
          <a:custGeom>
            <a:avLst/>
            <a:gdLst>
              <a:gd name="connsiteX0" fmla="*/ 0 w 218940"/>
              <a:gd name="connsiteY0" fmla="*/ 39826 h 39826"/>
              <a:gd name="connsiteX1" fmla="*/ 64394 w 218940"/>
              <a:gd name="connsiteY1" fmla="*/ 1189 h 39826"/>
              <a:gd name="connsiteX2" fmla="*/ 218940 w 218940"/>
              <a:gd name="connsiteY2" fmla="*/ 14068 h 39826"/>
            </a:gdLst>
            <a:ahLst/>
            <a:cxnLst>
              <a:cxn ang="0">
                <a:pos x="connsiteX0" y="connsiteY0"/>
              </a:cxn>
              <a:cxn ang="0">
                <a:pos x="connsiteX1" y="connsiteY1"/>
              </a:cxn>
              <a:cxn ang="0">
                <a:pos x="connsiteX2" y="connsiteY2"/>
              </a:cxn>
            </a:cxnLst>
            <a:rect l="l" t="t" r="r" b="b"/>
            <a:pathLst>
              <a:path w="218940" h="39826">
                <a:moveTo>
                  <a:pt x="0" y="39826"/>
                </a:moveTo>
                <a:cubicBezTo>
                  <a:pt x="21465" y="26947"/>
                  <a:pt x="39533" y="4114"/>
                  <a:pt x="64394" y="1189"/>
                </a:cubicBezTo>
                <a:cubicBezTo>
                  <a:pt x="115734" y="-4851"/>
                  <a:pt x="218940" y="14068"/>
                  <a:pt x="218940" y="14068"/>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4" name="TextBox 43"/>
          <p:cNvSpPr txBox="1"/>
          <p:nvPr/>
        </p:nvSpPr>
        <p:spPr>
          <a:xfrm>
            <a:off x="7632879" y="3516868"/>
            <a:ext cx="533400" cy="369332"/>
          </a:xfrm>
          <a:prstGeom prst="rect">
            <a:avLst/>
          </a:prstGeom>
          <a:noFill/>
        </p:spPr>
        <p:txBody>
          <a:bodyPr wrap="square" rtlCol="0">
            <a:spAutoFit/>
          </a:bodyPr>
          <a:lstStyle/>
          <a:p>
            <a:r>
              <a:rPr lang="x-none"/>
              <a:t>97</a:t>
            </a:r>
            <a:r>
              <a:rPr lang="x-none" baseline="30000"/>
              <a:t>O</a:t>
            </a:r>
            <a:endParaRPr lang="en-US" dirty="0"/>
          </a:p>
        </p:txBody>
      </p:sp>
      <p:graphicFrame>
        <p:nvGraphicFramePr>
          <p:cNvPr id="45" name="Object 44"/>
          <p:cNvGraphicFramePr>
            <a:graphicFrameLocks noChangeAspect="1"/>
          </p:cNvGraphicFramePr>
          <p:nvPr>
            <p:extLst>
              <p:ext uri="{D42A27DB-BD31-4B8C-83A1-F6EECF244321}">
                <p14:modId xmlns:p14="http://schemas.microsoft.com/office/powerpoint/2010/main" val="2705957352"/>
              </p:ext>
            </p:extLst>
          </p:nvPr>
        </p:nvGraphicFramePr>
        <p:xfrm>
          <a:off x="2362200" y="2481330"/>
          <a:ext cx="1117600" cy="838200"/>
        </p:xfrm>
        <a:graphic>
          <a:graphicData uri="http://schemas.openxmlformats.org/presentationml/2006/ole">
            <mc:AlternateContent xmlns:mc="http://schemas.openxmlformats.org/markup-compatibility/2006">
              <mc:Choice xmlns:v="urn:schemas-microsoft-com:vml" Requires="v">
                <p:oleObj spid="_x0000_s37912" name="Equation" r:id="rId3" imgW="558720" imgH="419040" progId="Equation.3">
                  <p:embed/>
                </p:oleObj>
              </mc:Choice>
              <mc:Fallback>
                <p:oleObj name="Equation" r:id="rId3" imgW="558720" imgH="419040" progId="Equation.3">
                  <p:embed/>
                  <p:pic>
                    <p:nvPicPr>
                      <p:cNvPr id="0" name=""/>
                      <p:cNvPicPr/>
                      <p:nvPr/>
                    </p:nvPicPr>
                    <p:blipFill>
                      <a:blip r:embed="rId4"/>
                      <a:stretch>
                        <a:fillRect/>
                      </a:stretch>
                    </p:blipFill>
                    <p:spPr>
                      <a:xfrm>
                        <a:off x="2362200" y="2481330"/>
                        <a:ext cx="1117600" cy="838200"/>
                      </a:xfrm>
                      <a:prstGeom prst="rect">
                        <a:avLst/>
                      </a:prstGeom>
                    </p:spPr>
                  </p:pic>
                </p:oleObj>
              </mc:Fallback>
            </mc:AlternateContent>
          </a:graphicData>
        </a:graphic>
      </p:graphicFrame>
      <p:graphicFrame>
        <p:nvGraphicFramePr>
          <p:cNvPr id="46" name="Object 45"/>
          <p:cNvGraphicFramePr>
            <a:graphicFrameLocks noChangeAspect="1"/>
          </p:cNvGraphicFramePr>
          <p:nvPr>
            <p:extLst>
              <p:ext uri="{D42A27DB-BD31-4B8C-83A1-F6EECF244321}">
                <p14:modId xmlns:p14="http://schemas.microsoft.com/office/powerpoint/2010/main" val="1735341197"/>
              </p:ext>
            </p:extLst>
          </p:nvPr>
        </p:nvGraphicFramePr>
        <p:xfrm>
          <a:off x="1803400" y="3568700"/>
          <a:ext cx="2490788" cy="873125"/>
        </p:xfrm>
        <a:graphic>
          <a:graphicData uri="http://schemas.openxmlformats.org/presentationml/2006/ole">
            <mc:AlternateContent xmlns:mc="http://schemas.openxmlformats.org/markup-compatibility/2006">
              <mc:Choice xmlns:v="urn:schemas-microsoft-com:vml" Requires="v">
                <p:oleObj spid="_x0000_s37913" name="Equation" r:id="rId5" imgW="1231560" imgH="431640" progId="Equation.3">
                  <p:embed/>
                </p:oleObj>
              </mc:Choice>
              <mc:Fallback>
                <p:oleObj name="Equation" r:id="rId5" imgW="1231560" imgH="431640" progId="Equation.3">
                  <p:embed/>
                  <p:pic>
                    <p:nvPicPr>
                      <p:cNvPr id="0" name=""/>
                      <p:cNvPicPr/>
                      <p:nvPr/>
                    </p:nvPicPr>
                    <p:blipFill>
                      <a:blip r:embed="rId6"/>
                      <a:stretch>
                        <a:fillRect/>
                      </a:stretch>
                    </p:blipFill>
                    <p:spPr>
                      <a:xfrm>
                        <a:off x="1803400" y="3568700"/>
                        <a:ext cx="2490788" cy="873125"/>
                      </a:xfrm>
                      <a:prstGeom prst="rect">
                        <a:avLst/>
                      </a:prstGeom>
                    </p:spPr>
                  </p:pic>
                </p:oleObj>
              </mc:Fallback>
            </mc:AlternateContent>
          </a:graphicData>
        </a:graphic>
      </p:graphicFrame>
    </p:spTree>
    <p:extLst>
      <p:ext uri="{BB962C8B-B14F-4D97-AF65-F5344CB8AC3E}">
        <p14:creationId xmlns:p14="http://schemas.microsoft.com/office/powerpoint/2010/main" val="14012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down)">
                                      <p:cBhvr>
                                        <p:cTn id="7" dur="500"/>
                                        <p:tgtEl>
                                          <p:spTgt spid="4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wipe(down)">
                                      <p:cBhvr>
                                        <p:cTn id="12"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0" y="0"/>
            <a:ext cx="91440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VÍ DỤ</a:t>
            </a:r>
          </a:p>
        </p:txBody>
      </p:sp>
      <p:sp>
        <p:nvSpPr>
          <p:cNvPr id="8" name="TextBox 7"/>
          <p:cNvSpPr txBox="1"/>
          <p:nvPr/>
        </p:nvSpPr>
        <p:spPr>
          <a:xfrm>
            <a:off x="76200" y="685800"/>
            <a:ext cx="8991600" cy="2739211"/>
          </a:xfrm>
          <a:prstGeom prst="rect">
            <a:avLst/>
          </a:prstGeom>
          <a:noFill/>
        </p:spPr>
        <p:txBody>
          <a:bodyPr wrap="square" rtlCol="0">
            <a:spAutoFit/>
          </a:bodyPr>
          <a:lstStyle/>
          <a:p>
            <a:pPr algn="just"/>
            <a:r>
              <a:rPr lang="pt-BR" sz="2200" dirty="0">
                <a:latin typeface="Times New Roman" pitchFamily="18" charset="0"/>
                <a:cs typeface="Times New Roman" pitchFamily="18" charset="0"/>
              </a:rPr>
              <a:t>Ví dụ . Quang trục của kính phân cực và kính phân tích hợp với nhau một góc 30</a:t>
            </a:r>
            <a:r>
              <a:rPr lang="pt-BR" sz="2200" baseline="30000" dirty="0">
                <a:latin typeface="Times New Roman" pitchFamily="18" charset="0"/>
                <a:cs typeface="Times New Roman" pitchFamily="18" charset="0"/>
              </a:rPr>
              <a:t>0</a:t>
            </a:r>
            <a:r>
              <a:rPr lang="pt-BR" sz="2200" dirty="0">
                <a:latin typeface="Times New Roman" pitchFamily="18" charset="0"/>
                <a:cs typeface="Times New Roman" pitchFamily="18" charset="0"/>
              </a:rPr>
              <a:t>. Cho biết khi truyền qua mỗi kính năng lượng ánh sáng bị phản xạ và hấp </a:t>
            </a:r>
            <a:r>
              <a:rPr lang="pt-BR" sz="2200" dirty="0">
                <a:solidFill>
                  <a:srgbClr val="FF0000"/>
                </a:solidFill>
                <a:latin typeface="Times New Roman" pitchFamily="18" charset="0"/>
                <a:cs typeface="Times New Roman" pitchFamily="18" charset="0"/>
              </a:rPr>
              <a:t>thụ 5%</a:t>
            </a:r>
            <a:r>
              <a:rPr lang="pt-BR" sz="2200" dirty="0">
                <a:latin typeface="Times New Roman" pitchFamily="18" charset="0"/>
                <a:cs typeface="Times New Roman" pitchFamily="18" charset="0"/>
              </a:rPr>
              <a:t>. Hãy xác định:</a:t>
            </a:r>
            <a:endParaRPr lang="en-US" sz="2200" dirty="0">
              <a:latin typeface="Times New Roman" pitchFamily="18" charset="0"/>
              <a:cs typeface="Times New Roman" pitchFamily="18" charset="0"/>
            </a:endParaRPr>
          </a:p>
          <a:p>
            <a:pPr algn="just"/>
            <a:r>
              <a:rPr lang="pt-BR" sz="2200" dirty="0">
                <a:latin typeface="Times New Roman" pitchFamily="18" charset="0"/>
                <a:cs typeface="Times New Roman" pitchFamily="18" charset="0"/>
              </a:rPr>
              <a:t>a. Cường độ sáng bị giảm bao nhiêu lần sau khi ánh sáng truyền qua kính phân cực?</a:t>
            </a:r>
            <a:endParaRPr lang="en-US" sz="2200" dirty="0">
              <a:latin typeface="Times New Roman" pitchFamily="18" charset="0"/>
              <a:cs typeface="Times New Roman" pitchFamily="18" charset="0"/>
            </a:endParaRPr>
          </a:p>
          <a:p>
            <a:pPr algn="just"/>
            <a:r>
              <a:rPr lang="pt-BR" sz="2200" dirty="0">
                <a:latin typeface="Times New Roman" pitchFamily="18" charset="0"/>
                <a:cs typeface="Times New Roman" pitchFamily="18" charset="0"/>
              </a:rPr>
              <a:t>b. Cường độ sáng bị giảm bao nhiêu lần sau khi ánh sáng truyền qua cả hai kính phân cực và kính phân tích?</a:t>
            </a:r>
            <a:endParaRPr lang="en-US" sz="2200" dirty="0">
              <a:latin typeface="Times New Roman" pitchFamily="18" charset="0"/>
              <a:cs typeface="Times New Roman" pitchFamily="18" charset="0"/>
            </a:endParaRPr>
          </a:p>
          <a:p>
            <a:endParaRPr lang="en-US" dirty="0"/>
          </a:p>
        </p:txBody>
      </p:sp>
      <p:sp>
        <p:nvSpPr>
          <p:cNvPr id="9" name="TextBox 8"/>
          <p:cNvSpPr txBox="1"/>
          <p:nvPr/>
        </p:nvSpPr>
        <p:spPr>
          <a:xfrm>
            <a:off x="76200" y="3657600"/>
            <a:ext cx="8610600" cy="430887"/>
          </a:xfrm>
          <a:prstGeom prst="rect">
            <a:avLst/>
          </a:prstGeom>
          <a:noFill/>
        </p:spPr>
        <p:txBody>
          <a:bodyPr wrap="square" rtlCol="0">
            <a:spAutoFit/>
          </a:bodyPr>
          <a:lstStyle/>
          <a:p>
            <a:r>
              <a:rPr lang="en-US" sz="2200" dirty="0" err="1">
                <a:latin typeface="Times New Roman" pitchFamily="18" charset="0"/>
                <a:cs typeface="Times New Roman" pitchFamily="18" charset="0"/>
              </a:rPr>
              <a:t>Cường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độ</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sáng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sau</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khi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chiếu</a:t>
            </a:r>
            <a:r>
              <a:rPr lang="en-US" sz="2200" dirty="0">
                <a:latin typeface="Times New Roman" pitchFamily="18" charset="0"/>
                <a:cs typeface="Times New Roman" pitchFamily="18" charset="0"/>
              </a:rPr>
              <a:t> qua </a:t>
            </a:r>
            <a:r>
              <a:rPr lang="en-US" sz="2200" dirty="0" err="1">
                <a:latin typeface="Times New Roman" pitchFamily="18" charset="0"/>
                <a:cs typeface="Times New Roman" pitchFamily="18" charset="0"/>
              </a:rPr>
              <a:t>kính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phân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cực</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thứ</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nhất</a:t>
            </a:r>
            <a:r>
              <a:rPr lang="en-US" sz="2200" dirty="0">
                <a:latin typeface="Times New Roman" pitchFamily="18" charset="0"/>
                <a:cs typeface="Times New Roman" pitchFamily="18" charset="0"/>
              </a:rPr>
              <a:t>:</a:t>
            </a:r>
          </a:p>
        </p:txBody>
      </p:sp>
      <p:graphicFrame>
        <p:nvGraphicFramePr>
          <p:cNvPr id="10" name="Object 9"/>
          <p:cNvGraphicFramePr>
            <a:graphicFrameLocks noChangeAspect="1"/>
          </p:cNvGraphicFramePr>
          <p:nvPr>
            <p:extLst>
              <p:ext uri="{D42A27DB-BD31-4B8C-83A1-F6EECF244321}">
                <p14:modId xmlns:p14="http://schemas.microsoft.com/office/powerpoint/2010/main" val="2042826795"/>
              </p:ext>
            </p:extLst>
          </p:nvPr>
        </p:nvGraphicFramePr>
        <p:xfrm>
          <a:off x="3290607" y="4203700"/>
          <a:ext cx="2181785" cy="749300"/>
        </p:xfrm>
        <a:graphic>
          <a:graphicData uri="http://schemas.openxmlformats.org/presentationml/2006/ole">
            <mc:AlternateContent xmlns:mc="http://schemas.openxmlformats.org/markup-compatibility/2006">
              <mc:Choice xmlns:v="urn:schemas-microsoft-com:vml" Requires="v">
                <p:oleObj spid="_x0000_s38936" name="Equation" r:id="rId3" imgW="1257120" imgH="431640" progId="Equation.3">
                  <p:embed/>
                </p:oleObj>
              </mc:Choice>
              <mc:Fallback>
                <p:oleObj name="Equation" r:id="rId3" imgW="1257120" imgH="431640" progId="Equation.3">
                  <p:embed/>
                  <p:pic>
                    <p:nvPicPr>
                      <p:cNvPr id="0" name=""/>
                      <p:cNvPicPr/>
                      <p:nvPr/>
                    </p:nvPicPr>
                    <p:blipFill>
                      <a:blip r:embed="rId4"/>
                      <a:stretch>
                        <a:fillRect/>
                      </a:stretch>
                    </p:blipFill>
                    <p:spPr>
                      <a:xfrm>
                        <a:off x="3290607" y="4203700"/>
                        <a:ext cx="2181785" cy="749300"/>
                      </a:xfrm>
                      <a:prstGeom prst="rect">
                        <a:avLst/>
                      </a:prstGeom>
                    </p:spPr>
                  </p:pic>
                </p:oleObj>
              </mc:Fallback>
            </mc:AlternateContent>
          </a:graphicData>
        </a:graphic>
      </p:graphicFrame>
      <p:sp>
        <p:nvSpPr>
          <p:cNvPr id="11" name="TextBox 10"/>
          <p:cNvSpPr txBox="1"/>
          <p:nvPr/>
        </p:nvSpPr>
        <p:spPr>
          <a:xfrm>
            <a:off x="152400" y="4953000"/>
            <a:ext cx="8610600" cy="430887"/>
          </a:xfrm>
          <a:prstGeom prst="rect">
            <a:avLst/>
          </a:prstGeom>
          <a:noFill/>
        </p:spPr>
        <p:txBody>
          <a:bodyPr wrap="square" rtlCol="0">
            <a:spAutoFit/>
          </a:bodyPr>
          <a:lstStyle/>
          <a:p>
            <a:r>
              <a:rPr lang="en-US" sz="2200" dirty="0" err="1">
                <a:latin typeface="Times New Roman" pitchFamily="18" charset="0"/>
                <a:cs typeface="Times New Roman" pitchFamily="18" charset="0"/>
              </a:rPr>
              <a:t>Cường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độ</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sáng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sau</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khi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chiếu</a:t>
            </a:r>
            <a:r>
              <a:rPr lang="en-US" sz="2200" dirty="0">
                <a:latin typeface="Times New Roman" pitchFamily="18" charset="0"/>
                <a:cs typeface="Times New Roman" pitchFamily="18" charset="0"/>
              </a:rPr>
              <a:t> qua </a:t>
            </a:r>
            <a:r>
              <a:rPr lang="en-US" sz="2200" dirty="0" err="1">
                <a:latin typeface="Times New Roman" pitchFamily="18" charset="0"/>
                <a:cs typeface="Times New Roman" pitchFamily="18" charset="0"/>
              </a:rPr>
              <a:t>kính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phân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cực</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thứ</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hai</a:t>
            </a:r>
            <a:r>
              <a:rPr lang="en-US" sz="2200" dirty="0">
                <a:latin typeface="Times New Roman" pitchFamily="18" charset="0"/>
                <a:cs typeface="Times New Roman" pitchFamily="18" charset="0"/>
              </a:rPr>
              <a:t>:</a:t>
            </a:r>
          </a:p>
        </p:txBody>
      </p:sp>
      <p:graphicFrame>
        <p:nvGraphicFramePr>
          <p:cNvPr id="12" name="Object 11"/>
          <p:cNvGraphicFramePr>
            <a:graphicFrameLocks noChangeAspect="1"/>
          </p:cNvGraphicFramePr>
          <p:nvPr>
            <p:extLst>
              <p:ext uri="{D42A27DB-BD31-4B8C-83A1-F6EECF244321}">
                <p14:modId xmlns:p14="http://schemas.microsoft.com/office/powerpoint/2010/main" val="4151345529"/>
              </p:ext>
            </p:extLst>
          </p:nvPr>
        </p:nvGraphicFramePr>
        <p:xfrm>
          <a:off x="1736725" y="5715000"/>
          <a:ext cx="5441950" cy="749300"/>
        </p:xfrm>
        <a:graphic>
          <a:graphicData uri="http://schemas.openxmlformats.org/presentationml/2006/ole">
            <mc:AlternateContent xmlns:mc="http://schemas.openxmlformats.org/markup-compatibility/2006">
              <mc:Choice xmlns:v="urn:schemas-microsoft-com:vml" Requires="v">
                <p:oleObj spid="_x0000_s38937" name="Equation" r:id="rId5" imgW="3136680" imgH="431640" progId="Equation.3">
                  <p:embed/>
                </p:oleObj>
              </mc:Choice>
              <mc:Fallback>
                <p:oleObj name="Equation" r:id="rId5" imgW="3136680" imgH="431640" progId="Equation.3">
                  <p:embed/>
                  <p:pic>
                    <p:nvPicPr>
                      <p:cNvPr id="0" name=""/>
                      <p:cNvPicPr>
                        <a:picLocks noChangeAspect="1" noChangeArrowheads="1"/>
                      </p:cNvPicPr>
                      <p:nvPr/>
                    </p:nvPicPr>
                    <p:blipFill>
                      <a:blip r:embed="rId6"/>
                      <a:srcRect/>
                      <a:stretch>
                        <a:fillRect/>
                      </a:stretch>
                    </p:blipFill>
                    <p:spPr bwMode="auto">
                      <a:xfrm>
                        <a:off x="1736725" y="5715000"/>
                        <a:ext cx="5441950"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525415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down)">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down)">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4643</TotalTime>
  <Words>2819</Words>
  <Application>Microsoft Office PowerPoint</Application>
  <PresentationFormat>On-screen Show (4:3)</PresentationFormat>
  <Paragraphs>198</Paragraphs>
  <Slides>50</Slides>
  <Notes>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50</vt:i4>
      </vt:variant>
    </vt:vector>
  </HeadingPairs>
  <TitlesOfParts>
    <vt:vector size="58" baseType="lpstr">
      <vt:lpstr>Arial</vt:lpstr>
      <vt:lpstr>Calibri</vt:lpstr>
      <vt:lpstr>Cambria Math</vt:lpstr>
      <vt:lpstr>Symbol</vt:lpstr>
      <vt:lpstr>Times</vt:lpstr>
      <vt:lpstr>Times New Roman</vt:lpstr>
      <vt:lpstr>Office Theme</vt:lpstr>
      <vt:lpstr>Equation</vt:lpstr>
      <vt:lpstr>Chương 5 QUANG HỌC SÓNG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2</dc:title>
  <cp:lastModifiedBy>Administrator</cp:lastModifiedBy>
  <cp:revision>144</cp:revision>
  <dcterms:created xsi:type="dcterms:W3CDTF">2020-05-15T22:42:01Z</dcterms:created>
  <dcterms:modified xsi:type="dcterms:W3CDTF">2026-03-12T12:02:13Z</dcterms:modified>
</cp:coreProperties>
</file>