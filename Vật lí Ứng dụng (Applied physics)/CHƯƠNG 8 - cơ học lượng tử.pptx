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99" r:id="rId3"/>
    <p:sldId id="278" r:id="rId4"/>
    <p:sldId id="258" r:id="rId5"/>
    <p:sldId id="259" r:id="rId6"/>
    <p:sldId id="279" r:id="rId7"/>
    <p:sldId id="261" r:id="rId8"/>
    <p:sldId id="262" r:id="rId9"/>
    <p:sldId id="280" r:id="rId10"/>
    <p:sldId id="263" r:id="rId11"/>
    <p:sldId id="264" r:id="rId12"/>
    <p:sldId id="265" r:id="rId13"/>
    <p:sldId id="266" r:id="rId14"/>
    <p:sldId id="267" r:id="rId15"/>
    <p:sldId id="268" r:id="rId16"/>
    <p:sldId id="281" r:id="rId17"/>
    <p:sldId id="277" r:id="rId18"/>
    <p:sldId id="272" r:id="rId19"/>
    <p:sldId id="273" r:id="rId20"/>
    <p:sldId id="275" r:id="rId21"/>
    <p:sldId id="282"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3" d="100"/>
          <a:sy n="63" d="100"/>
        </p:scale>
        <p:origin x="1380" y="6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image" Target="../media/image1.wmf"/><Relationship Id="rId5" Type="http://schemas.openxmlformats.org/officeDocument/2006/relationships/image" Target="../media/image5.wmf"/><Relationship Id="rId4"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image" Target="../media/image10.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image" Target="../media/image17.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image" Target="../media/image22.wmf"/><Relationship Id="rId1" Type="http://schemas.openxmlformats.org/officeDocument/2006/relationships/image" Target="../media/image21.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image" Target="../media/image27.wmf"/><Relationship Id="rId1" Type="http://schemas.openxmlformats.org/officeDocument/2006/relationships/image" Target="../media/image26.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image" Target="../media/image30.wmf"/><Relationship Id="rId1" Type="http://schemas.openxmlformats.org/officeDocument/2006/relationships/image" Target="../media/image29.wmf"/><Relationship Id="rId5" Type="http://schemas.openxmlformats.org/officeDocument/2006/relationships/image" Target="../media/image33.wmf"/><Relationship Id="rId4" Type="http://schemas.openxmlformats.org/officeDocument/2006/relationships/image" Target="../media/image32.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image" Target="../media/image35.wmf"/><Relationship Id="rId1" Type="http://schemas.openxmlformats.org/officeDocument/2006/relationships/image" Target="../media/image34.wmf"/><Relationship Id="rId4" Type="http://schemas.openxmlformats.org/officeDocument/2006/relationships/image" Target="../media/image37.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8.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41.wmf"/><Relationship Id="rId1" Type="http://schemas.openxmlformats.org/officeDocument/2006/relationships/image" Target="../media/image40.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43.wmf"/><Relationship Id="rId1" Type="http://schemas.openxmlformats.org/officeDocument/2006/relationships/image" Target="../media/image42.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image" Target="../media/image45.wmf"/><Relationship Id="rId1" Type="http://schemas.openxmlformats.org/officeDocument/2006/relationships/image" Target="../media/image44.wmf"/><Relationship Id="rId4" Type="http://schemas.openxmlformats.org/officeDocument/2006/relationships/image" Target="../media/image47.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49.wmf"/><Relationship Id="rId1" Type="http://schemas.openxmlformats.org/officeDocument/2006/relationships/image" Target="../media/image48.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52.wmf"/><Relationship Id="rId2" Type="http://schemas.openxmlformats.org/officeDocument/2006/relationships/image" Target="../media/image51.wmf"/><Relationship Id="rId1" Type="http://schemas.openxmlformats.org/officeDocument/2006/relationships/image" Target="../media/image50.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95599A3-9CA6-4052-851E-0FA09ADF0451}" type="datetimeFigureOut">
              <a:rPr lang="en-US" smtClean="0"/>
              <a:t>4/3/2025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EAA658-F250-4F5C-A85E-7F91597849BF}" type="slidenum">
              <a:rPr lang="en-US" smtClean="0"/>
              <a:t>‹#›</a:t>
            </a:fld>
            <a:endParaRPr lang="en-US"/>
          </a:p>
        </p:txBody>
      </p:sp>
    </p:spTree>
    <p:extLst>
      <p:ext uri="{BB962C8B-B14F-4D97-AF65-F5344CB8AC3E}">
        <p14:creationId xmlns:p14="http://schemas.microsoft.com/office/powerpoint/2010/main" val="25384266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95599A3-9CA6-4052-851E-0FA09ADF0451}" type="datetimeFigureOut">
              <a:rPr lang="en-US" smtClean="0"/>
              <a:t>4/3/2025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EAA658-F250-4F5C-A85E-7F91597849BF}" type="slidenum">
              <a:rPr lang="en-US" smtClean="0"/>
              <a:t>‹#›</a:t>
            </a:fld>
            <a:endParaRPr lang="en-US"/>
          </a:p>
        </p:txBody>
      </p:sp>
    </p:spTree>
    <p:extLst>
      <p:ext uri="{BB962C8B-B14F-4D97-AF65-F5344CB8AC3E}">
        <p14:creationId xmlns:p14="http://schemas.microsoft.com/office/powerpoint/2010/main" val="41018069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95599A3-9CA6-4052-851E-0FA09ADF0451}" type="datetimeFigureOut">
              <a:rPr lang="en-US" smtClean="0"/>
              <a:t>4/3/2025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EAA658-F250-4F5C-A85E-7F91597849BF}" type="slidenum">
              <a:rPr lang="en-US" smtClean="0"/>
              <a:t>‹#›</a:t>
            </a:fld>
            <a:endParaRPr lang="en-US"/>
          </a:p>
        </p:txBody>
      </p:sp>
    </p:spTree>
    <p:extLst>
      <p:ext uri="{BB962C8B-B14F-4D97-AF65-F5344CB8AC3E}">
        <p14:creationId xmlns:p14="http://schemas.microsoft.com/office/powerpoint/2010/main" val="4258098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95599A3-9CA6-4052-851E-0FA09ADF0451}" type="datetimeFigureOut">
              <a:rPr lang="en-US" smtClean="0"/>
              <a:t>4/3/2025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EAA658-F250-4F5C-A85E-7F91597849BF}" type="slidenum">
              <a:rPr lang="en-US" smtClean="0"/>
              <a:t>‹#›</a:t>
            </a:fld>
            <a:endParaRPr lang="en-US"/>
          </a:p>
        </p:txBody>
      </p:sp>
    </p:spTree>
    <p:extLst>
      <p:ext uri="{BB962C8B-B14F-4D97-AF65-F5344CB8AC3E}">
        <p14:creationId xmlns:p14="http://schemas.microsoft.com/office/powerpoint/2010/main" val="24399848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95599A3-9CA6-4052-851E-0FA09ADF0451}" type="datetimeFigureOut">
              <a:rPr lang="en-US" smtClean="0"/>
              <a:t>4/3/2025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0EAA658-F250-4F5C-A85E-7F91597849BF}" type="slidenum">
              <a:rPr lang="en-US" smtClean="0"/>
              <a:t>‹#›</a:t>
            </a:fld>
            <a:endParaRPr lang="en-US"/>
          </a:p>
        </p:txBody>
      </p:sp>
    </p:spTree>
    <p:extLst>
      <p:ext uri="{BB962C8B-B14F-4D97-AF65-F5344CB8AC3E}">
        <p14:creationId xmlns:p14="http://schemas.microsoft.com/office/powerpoint/2010/main" val="18388822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95599A3-9CA6-4052-851E-0FA09ADF0451}" type="datetimeFigureOut">
              <a:rPr lang="en-US" smtClean="0"/>
              <a:t>4/3/2025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0EAA658-F250-4F5C-A85E-7F91597849BF}" type="slidenum">
              <a:rPr lang="en-US" smtClean="0"/>
              <a:t>‹#›</a:t>
            </a:fld>
            <a:endParaRPr lang="en-US"/>
          </a:p>
        </p:txBody>
      </p:sp>
    </p:spTree>
    <p:extLst>
      <p:ext uri="{BB962C8B-B14F-4D97-AF65-F5344CB8AC3E}">
        <p14:creationId xmlns:p14="http://schemas.microsoft.com/office/powerpoint/2010/main" val="42358202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95599A3-9CA6-4052-851E-0FA09ADF0451}" type="datetimeFigureOut">
              <a:rPr lang="en-US" smtClean="0"/>
              <a:t>4/3/2025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0EAA658-F250-4F5C-A85E-7F91597849BF}" type="slidenum">
              <a:rPr lang="en-US" smtClean="0"/>
              <a:t>‹#›</a:t>
            </a:fld>
            <a:endParaRPr lang="en-US"/>
          </a:p>
        </p:txBody>
      </p:sp>
    </p:spTree>
    <p:extLst>
      <p:ext uri="{BB962C8B-B14F-4D97-AF65-F5344CB8AC3E}">
        <p14:creationId xmlns:p14="http://schemas.microsoft.com/office/powerpoint/2010/main" val="9900568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95599A3-9CA6-4052-851E-0FA09ADF0451}" type="datetimeFigureOut">
              <a:rPr lang="en-US" smtClean="0"/>
              <a:t>4/3/2025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EAA658-F250-4F5C-A85E-7F91597849BF}" type="slidenum">
              <a:rPr lang="en-US" smtClean="0"/>
              <a:t>‹#›</a:t>
            </a:fld>
            <a:endParaRPr lang="en-US"/>
          </a:p>
        </p:txBody>
      </p:sp>
    </p:spTree>
    <p:extLst>
      <p:ext uri="{BB962C8B-B14F-4D97-AF65-F5344CB8AC3E}">
        <p14:creationId xmlns:p14="http://schemas.microsoft.com/office/powerpoint/2010/main" val="10824727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95599A3-9CA6-4052-851E-0FA09ADF0451}" type="datetimeFigureOut">
              <a:rPr lang="en-US" smtClean="0"/>
              <a:t>4/3/2025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EAA658-F250-4F5C-A85E-7F91597849BF}" type="slidenum">
              <a:rPr lang="en-US" smtClean="0"/>
              <a:t>‹#›</a:t>
            </a:fld>
            <a:endParaRPr lang="en-US"/>
          </a:p>
        </p:txBody>
      </p:sp>
    </p:spTree>
    <p:extLst>
      <p:ext uri="{BB962C8B-B14F-4D97-AF65-F5344CB8AC3E}">
        <p14:creationId xmlns:p14="http://schemas.microsoft.com/office/powerpoint/2010/main" val="19345879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95599A3-9CA6-4052-851E-0FA09ADF0451}" type="datetimeFigureOut">
              <a:rPr lang="en-US" smtClean="0"/>
              <a:t>4/3/2025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EAA658-F250-4F5C-A85E-7F91597849BF}" type="slidenum">
              <a:rPr lang="en-US" smtClean="0"/>
              <a:t>‹#›</a:t>
            </a:fld>
            <a:endParaRPr lang="en-US"/>
          </a:p>
        </p:txBody>
      </p:sp>
    </p:spTree>
    <p:extLst>
      <p:ext uri="{BB962C8B-B14F-4D97-AF65-F5344CB8AC3E}">
        <p14:creationId xmlns:p14="http://schemas.microsoft.com/office/powerpoint/2010/main" val="11933255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95599A3-9CA6-4052-851E-0FA09ADF0451}" type="datetimeFigureOut">
              <a:rPr lang="en-US" smtClean="0"/>
              <a:t>4/3/2025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EAA658-F250-4F5C-A85E-7F91597849BF}" type="slidenum">
              <a:rPr lang="en-US" smtClean="0"/>
              <a:t>‹#›</a:t>
            </a:fld>
            <a:endParaRPr lang="en-US"/>
          </a:p>
        </p:txBody>
      </p:sp>
    </p:spTree>
    <p:extLst>
      <p:ext uri="{BB962C8B-B14F-4D97-AF65-F5344CB8AC3E}">
        <p14:creationId xmlns:p14="http://schemas.microsoft.com/office/powerpoint/2010/main" val="34204553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5599A3-9CA6-4052-851E-0FA09ADF0451}" type="datetimeFigureOut">
              <a:rPr lang="en-US" smtClean="0"/>
              <a:t>4/3/2025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0EAA658-F250-4F5C-A85E-7F91597849BF}" type="slidenum">
              <a:rPr lang="en-US" smtClean="0"/>
              <a:t>‹#›</a:t>
            </a:fld>
            <a:endParaRPr lang="en-US"/>
          </a:p>
        </p:txBody>
      </p:sp>
    </p:spTree>
    <p:extLst>
      <p:ext uri="{BB962C8B-B14F-4D97-AF65-F5344CB8AC3E}">
        <p14:creationId xmlns:p14="http://schemas.microsoft.com/office/powerpoint/2010/main" val="2261477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vi.wikipedia.org/wiki/L%C6%B0%E1%BB%A1ng_t%C3%ADnh_s%C3%B3ng_h%E1%BA%A1t" TargetMode="External"/><Relationship Id="rId2" Type="http://schemas.openxmlformats.org/officeDocument/2006/relationships/hyperlink" Target="https://vi.wikipedia.org/wiki/L%C6%B0%E1%BB%A3ng_t%E1%BB%AD_h%C3%B3a_(v%E1%BA%ADt_l%C3%BD)" TargetMode="External"/><Relationship Id="rId1" Type="http://schemas.openxmlformats.org/officeDocument/2006/relationships/slideLayout" Target="../slideLayouts/slideLayout2.xml"/><Relationship Id="rId4" Type="http://schemas.openxmlformats.org/officeDocument/2006/relationships/hyperlink" Target="https://vi.wikipedia.org/wiki/Nguy%C3%AAn_l%C3%BD_b%E1%BA%A5t_%C4%91%E1%BB%8Bnh" TargetMode="External"/></Relationships>
</file>

<file path=ppt/slides/_rels/slide3.xml.rels><?xml version="1.0" encoding="UTF-8" standalone="yes"?>
<Relationships xmlns="http://schemas.openxmlformats.org/package/2006/relationships"><Relationship Id="rId8" Type="http://schemas.openxmlformats.org/officeDocument/2006/relationships/image" Target="../media/image3.wmf"/><Relationship Id="rId13" Type="http://schemas.openxmlformats.org/officeDocument/2006/relationships/image" Target="../media/image6.png"/><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5.wmf"/><Relationship Id="rId2" Type="http://schemas.openxmlformats.org/officeDocument/2006/relationships/slideLayout" Target="../slideLayouts/slideLayout2.xml"/><Relationship Id="rId16" Type="http://schemas.openxmlformats.org/officeDocument/2006/relationships/image" Target="../media/image9.png"/><Relationship Id="rId1" Type="http://schemas.openxmlformats.org/officeDocument/2006/relationships/vmlDrawing" Target="../drawings/vmlDrawing1.vml"/><Relationship Id="rId6" Type="http://schemas.openxmlformats.org/officeDocument/2006/relationships/image" Target="../media/image2.wmf"/><Relationship Id="rId11" Type="http://schemas.openxmlformats.org/officeDocument/2006/relationships/oleObject" Target="../embeddings/oleObject5.bin"/><Relationship Id="rId5" Type="http://schemas.openxmlformats.org/officeDocument/2006/relationships/oleObject" Target="../embeddings/oleObject2.bin"/><Relationship Id="rId15" Type="http://schemas.openxmlformats.org/officeDocument/2006/relationships/image" Target="../media/image8.png"/><Relationship Id="rId10" Type="http://schemas.openxmlformats.org/officeDocument/2006/relationships/image" Target="../media/image4.wmf"/><Relationship Id="rId4" Type="http://schemas.openxmlformats.org/officeDocument/2006/relationships/image" Target="../media/image1.wmf"/><Relationship Id="rId9" Type="http://schemas.openxmlformats.org/officeDocument/2006/relationships/oleObject" Target="../embeddings/oleObject4.bin"/><Relationship Id="rId14"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12.wmf"/><Relationship Id="rId3" Type="http://schemas.openxmlformats.org/officeDocument/2006/relationships/oleObject" Target="../embeddings/oleObject6.bin"/><Relationship Id="rId7"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11.wmf"/><Relationship Id="rId5" Type="http://schemas.openxmlformats.org/officeDocument/2006/relationships/oleObject" Target="../embeddings/oleObject7.bin"/><Relationship Id="rId4" Type="http://schemas.openxmlformats.org/officeDocument/2006/relationships/image" Target="../media/image10.wmf"/></Relationships>
</file>

<file path=ppt/slides/_rels/slide5.xml.rels><?xml version="1.0" encoding="UTF-8" standalone="yes"?>
<Relationships xmlns="http://schemas.openxmlformats.org/package/2006/relationships"><Relationship Id="rId8" Type="http://schemas.openxmlformats.org/officeDocument/2006/relationships/image" Target="../media/image15.wmf"/><Relationship Id="rId3" Type="http://schemas.openxmlformats.org/officeDocument/2006/relationships/oleObject" Target="../embeddings/oleObject9.bin"/><Relationship Id="rId7"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14.wmf"/><Relationship Id="rId5" Type="http://schemas.openxmlformats.org/officeDocument/2006/relationships/oleObject" Target="../embeddings/oleObject10.bin"/><Relationship Id="rId4" Type="http://schemas.openxmlformats.org/officeDocument/2006/relationships/image" Target="../media/image13.wmf"/></Relationships>
</file>

<file path=ppt/slides/_rels/slide6.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18.wmf"/><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oleObject" Target="../embeddings/oleObject13.bin"/><Relationship Id="rId5" Type="http://schemas.openxmlformats.org/officeDocument/2006/relationships/image" Target="../media/image17.wmf"/><Relationship Id="rId4" Type="http://schemas.openxmlformats.org/officeDocument/2006/relationships/oleObject" Target="../embeddings/oleObject12.bin"/></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16.bin"/><Relationship Id="rId3" Type="http://schemas.openxmlformats.org/officeDocument/2006/relationships/oleObject" Target="../embeddings/oleObject14.bin"/><Relationship Id="rId7" Type="http://schemas.openxmlformats.org/officeDocument/2006/relationships/image" Target="../media/image24.png"/><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22.wmf"/><Relationship Id="rId5" Type="http://schemas.openxmlformats.org/officeDocument/2006/relationships/oleObject" Target="../embeddings/oleObject15.bin"/><Relationship Id="rId4" Type="http://schemas.openxmlformats.org/officeDocument/2006/relationships/image" Target="../media/image21.wmf"/><Relationship Id="rId9" Type="http://schemas.openxmlformats.org/officeDocument/2006/relationships/image" Target="../media/image23.w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25.wmf"/></Relationships>
</file>

<file path=ppt/slides/_rels/slide12.xml.rels><?xml version="1.0" encoding="UTF-8" standalone="yes"?>
<Relationships xmlns="http://schemas.openxmlformats.org/package/2006/relationships"><Relationship Id="rId8" Type="http://schemas.openxmlformats.org/officeDocument/2006/relationships/image" Target="../media/image28.wmf"/><Relationship Id="rId3" Type="http://schemas.openxmlformats.org/officeDocument/2006/relationships/oleObject" Target="../embeddings/oleObject18.bin"/><Relationship Id="rId7" Type="http://schemas.openxmlformats.org/officeDocument/2006/relationships/oleObject" Target="../embeddings/oleObject20.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27.wmf"/><Relationship Id="rId5" Type="http://schemas.openxmlformats.org/officeDocument/2006/relationships/oleObject" Target="../embeddings/oleObject19.bin"/><Relationship Id="rId4" Type="http://schemas.openxmlformats.org/officeDocument/2006/relationships/image" Target="../media/image26.wmf"/></Relationships>
</file>

<file path=ppt/slides/_rels/slide13.xml.rels><?xml version="1.0" encoding="UTF-8" standalone="yes"?>
<Relationships xmlns="http://schemas.openxmlformats.org/package/2006/relationships"><Relationship Id="rId8" Type="http://schemas.openxmlformats.org/officeDocument/2006/relationships/image" Target="../media/image31.wmf"/><Relationship Id="rId3" Type="http://schemas.openxmlformats.org/officeDocument/2006/relationships/oleObject" Target="../embeddings/oleObject21.bin"/><Relationship Id="rId7" Type="http://schemas.openxmlformats.org/officeDocument/2006/relationships/oleObject" Target="../embeddings/oleObject23.bin"/><Relationship Id="rId12" Type="http://schemas.openxmlformats.org/officeDocument/2006/relationships/image" Target="../media/image33.wmf"/><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30.wmf"/><Relationship Id="rId11" Type="http://schemas.openxmlformats.org/officeDocument/2006/relationships/oleObject" Target="../embeddings/oleObject25.bin"/><Relationship Id="rId5" Type="http://schemas.openxmlformats.org/officeDocument/2006/relationships/oleObject" Target="../embeddings/oleObject22.bin"/><Relationship Id="rId10" Type="http://schemas.openxmlformats.org/officeDocument/2006/relationships/image" Target="../media/image32.wmf"/><Relationship Id="rId4" Type="http://schemas.openxmlformats.org/officeDocument/2006/relationships/image" Target="../media/image29.wmf"/><Relationship Id="rId9" Type="http://schemas.openxmlformats.org/officeDocument/2006/relationships/oleObject" Target="../embeddings/oleObject24.bin"/></Relationships>
</file>

<file path=ppt/slides/_rels/slide14.xml.rels><?xml version="1.0" encoding="UTF-8" standalone="yes"?>
<Relationships xmlns="http://schemas.openxmlformats.org/package/2006/relationships"><Relationship Id="rId8" Type="http://schemas.openxmlformats.org/officeDocument/2006/relationships/image" Target="../media/image36.wmf"/><Relationship Id="rId3" Type="http://schemas.openxmlformats.org/officeDocument/2006/relationships/oleObject" Target="../embeddings/oleObject26.bin"/><Relationship Id="rId7" Type="http://schemas.openxmlformats.org/officeDocument/2006/relationships/oleObject" Target="../embeddings/oleObject28.bin"/><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35.wmf"/><Relationship Id="rId5" Type="http://schemas.openxmlformats.org/officeDocument/2006/relationships/oleObject" Target="../embeddings/oleObject27.bin"/><Relationship Id="rId10" Type="http://schemas.openxmlformats.org/officeDocument/2006/relationships/image" Target="../media/image37.wmf"/><Relationship Id="rId4" Type="http://schemas.openxmlformats.org/officeDocument/2006/relationships/image" Target="../media/image34.wmf"/><Relationship Id="rId9" Type="http://schemas.openxmlformats.org/officeDocument/2006/relationships/oleObject" Target="../embeddings/oleObject29.bin"/></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38.wmf"/></Relationships>
</file>

<file path=ppt/slides/_rels/slide1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image" Target="../media/image41.wmf"/><Relationship Id="rId5" Type="http://schemas.openxmlformats.org/officeDocument/2006/relationships/oleObject" Target="../embeddings/oleObject32.bin"/><Relationship Id="rId4" Type="http://schemas.openxmlformats.org/officeDocument/2006/relationships/image" Target="../media/image40.w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image" Target="../media/image43.wmf"/><Relationship Id="rId5" Type="http://schemas.openxmlformats.org/officeDocument/2006/relationships/oleObject" Target="../embeddings/oleObject34.bin"/><Relationship Id="rId4" Type="http://schemas.openxmlformats.org/officeDocument/2006/relationships/image" Target="../media/image42.wmf"/></Relationships>
</file>

<file path=ppt/slides/_rels/slide19.xml.rels><?xml version="1.0" encoding="UTF-8" standalone="yes"?>
<Relationships xmlns="http://schemas.openxmlformats.org/package/2006/relationships"><Relationship Id="rId8" Type="http://schemas.openxmlformats.org/officeDocument/2006/relationships/image" Target="../media/image46.wmf"/><Relationship Id="rId3" Type="http://schemas.openxmlformats.org/officeDocument/2006/relationships/oleObject" Target="../embeddings/oleObject35.bin"/><Relationship Id="rId7" Type="http://schemas.openxmlformats.org/officeDocument/2006/relationships/oleObject" Target="../embeddings/oleObject37.bin"/><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image" Target="../media/image45.wmf"/><Relationship Id="rId5" Type="http://schemas.openxmlformats.org/officeDocument/2006/relationships/oleObject" Target="../embeddings/oleObject36.bin"/><Relationship Id="rId10" Type="http://schemas.openxmlformats.org/officeDocument/2006/relationships/image" Target="../media/image47.wmf"/><Relationship Id="rId4" Type="http://schemas.openxmlformats.org/officeDocument/2006/relationships/image" Target="../media/image44.wmf"/><Relationship Id="rId9" Type="http://schemas.openxmlformats.org/officeDocument/2006/relationships/oleObject" Target="../embeddings/oleObject38.bin"/></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image" Target="../media/image49.wmf"/><Relationship Id="rId5" Type="http://schemas.openxmlformats.org/officeDocument/2006/relationships/oleObject" Target="../embeddings/oleObject40.bin"/><Relationship Id="rId4" Type="http://schemas.openxmlformats.org/officeDocument/2006/relationships/image" Target="../media/image48.wmf"/></Relationships>
</file>

<file path=ppt/slides/_rels/slide21.xml.rels><?xml version="1.0" encoding="UTF-8" standalone="yes"?>
<Relationships xmlns="http://schemas.openxmlformats.org/package/2006/relationships"><Relationship Id="rId8" Type="http://schemas.openxmlformats.org/officeDocument/2006/relationships/image" Target="../media/image52.wmf"/><Relationship Id="rId3" Type="http://schemas.openxmlformats.org/officeDocument/2006/relationships/oleObject" Target="../embeddings/oleObject41.bin"/><Relationship Id="rId7" Type="http://schemas.openxmlformats.org/officeDocument/2006/relationships/oleObject" Target="../embeddings/oleObject43.bin"/><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image" Target="../media/image51.wmf"/><Relationship Id="rId5" Type="http://schemas.openxmlformats.org/officeDocument/2006/relationships/oleObject" Target="../embeddings/oleObject42.bin"/><Relationship Id="rId4" Type="http://schemas.openxmlformats.org/officeDocument/2006/relationships/image" Target="../media/image50.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pPr>
              <a:lnSpc>
                <a:spcPct val="130000"/>
              </a:lnSpc>
            </a:pPr>
            <a:r>
              <a:rPr lang="en-US"/>
              <a:t>CHƯƠNG 8</a:t>
            </a:r>
            <a:br>
              <a:rPr lang="en-US"/>
            </a:br>
            <a:r>
              <a:rPr lang="en-US">
                <a:solidFill>
                  <a:srgbClr val="FF0000"/>
                </a:solidFill>
              </a:rPr>
              <a:t>CƠ HỌC LƯỢNG TỬ</a:t>
            </a:r>
            <a:endParaRPr lang="en-US" dirty="0">
              <a:solidFill>
                <a:srgbClr val="FF0000"/>
              </a:solidFill>
            </a:endParaRPr>
          </a:p>
        </p:txBody>
      </p:sp>
    </p:spTree>
    <p:extLst>
      <p:ext uri="{BB962C8B-B14F-4D97-AF65-F5344CB8AC3E}">
        <p14:creationId xmlns:p14="http://schemas.microsoft.com/office/powerpoint/2010/main" val="5886236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AC5D05-2F25-410E-8916-03EAE85A5E96}"/>
              </a:ext>
            </a:extLst>
          </p:cNvPr>
          <p:cNvSpPr>
            <a:spLocks noGrp="1"/>
          </p:cNvSpPr>
          <p:nvPr>
            <p:ph idx="1"/>
          </p:nvPr>
        </p:nvSpPr>
        <p:spPr>
          <a:xfrm>
            <a:off x="0" y="2209800"/>
            <a:ext cx="9067800" cy="3073400"/>
          </a:xfrm>
        </p:spPr>
        <p:txBody>
          <a:bodyPr>
            <a:noAutofit/>
          </a:bodyPr>
          <a:lstStyle/>
          <a:p>
            <a:pPr algn="just"/>
            <a:r>
              <a:rPr lang="en-US" sz="2400" dirty="0" err="1">
                <a:latin typeface="Times New Roman" panose="02020603050405020304" pitchFamily="18" charset="0"/>
                <a:cs typeface="Times New Roman" panose="02020603050405020304" pitchFamily="18" charset="0"/>
              </a:rPr>
              <a:t>Cơ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học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cổ</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điển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mô</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luật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hạt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vĩ</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mô</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phù</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hợp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giải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thích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hiện</a:t>
            </a:r>
            <a:r>
              <a:rPr lang="en-US" sz="2400" dirty="0">
                <a:latin typeface="Times New Roman" panose="02020603050405020304" pitchFamily="18" charset="0"/>
                <a:cs typeface="Times New Roman" panose="02020603050405020304" pitchFamily="18" charset="0"/>
              </a:rPr>
              <a:t> t</a:t>
            </a:r>
            <a:r>
              <a:rPr lang="vi-VN" sz="2400" dirty="0">
                <a:latin typeface="Times New Roman" panose="02020603050405020304" pitchFamily="18" charset="0"/>
                <a:cs typeface="Times New Roman" panose="02020603050405020304" pitchFamily="18" charset="0"/>
              </a:rPr>
              <a:t>ư</a:t>
            </a:r>
            <a:r>
              <a:rPr lang="en-US" sz="2400" dirty="0" err="1">
                <a:latin typeface="Times New Roman" panose="02020603050405020304" pitchFamily="18" charset="0"/>
                <a:cs typeface="Times New Roman" panose="02020603050405020304" pitchFamily="18" charset="0"/>
              </a:rPr>
              <a:t>ợng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đối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với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hạt</a:t>
            </a:r>
            <a:r>
              <a:rPr lang="en-US" sz="2400" dirty="0">
                <a:latin typeface="Times New Roman" panose="02020603050405020304" pitchFamily="18" charset="0"/>
                <a:cs typeface="Times New Roman" panose="02020603050405020304" pitchFamily="18" charset="0"/>
              </a:rPr>
              <a:t> vi </a:t>
            </a:r>
            <a:r>
              <a:rPr lang="en-US" sz="2400" dirty="0" err="1">
                <a:latin typeface="Times New Roman" panose="02020603050405020304" pitchFamily="18" charset="0"/>
                <a:cs typeface="Times New Roman" panose="02020603050405020304" pitchFamily="18" charset="0"/>
              </a:rPr>
              <a:t>mô</a:t>
            </a:r>
            <a:r>
              <a:rPr lang="en-US" sz="2400" dirty="0">
                <a:latin typeface="Times New Roman" panose="02020603050405020304" pitchFamily="18" charset="0"/>
                <a:cs typeface="Times New Roman" panose="02020603050405020304" pitchFamily="18" charset="0"/>
              </a:rPr>
              <a:t>.</a:t>
            </a:r>
          </a:p>
          <a:p>
            <a:pPr algn="just"/>
            <a:r>
              <a:rPr lang="en-US" sz="2400" dirty="0" err="1">
                <a:latin typeface="Times New Roman" panose="02020603050405020304" pitchFamily="18" charset="0"/>
                <a:cs typeface="Times New Roman" panose="02020603050405020304" pitchFamily="18" charset="0"/>
              </a:rPr>
              <a:t>Cơ</a:t>
            </a:r>
            <a:r>
              <a:rPr lang="vi-VN" sz="2400" dirty="0">
                <a:latin typeface="Times New Roman" panose="02020603050405020304" pitchFamily="18" charset="0"/>
                <a:cs typeface="Times New Roman" panose="02020603050405020304" pitchFamily="18" charset="0"/>
              </a:rPr>
              <a:t> lượng tử khác với cơ học cổ điển ở </a:t>
            </a:r>
            <a:r>
              <a:rPr lang="en-US" sz="2400" dirty="0" err="1">
                <a:latin typeface="Times New Roman" panose="02020603050405020304" pitchFamily="18" charset="0"/>
                <a:cs typeface="Times New Roman" panose="02020603050405020304" pitchFamily="18" charset="0"/>
              </a:rPr>
              <a:t>năng</a:t>
            </a:r>
            <a:r>
              <a:rPr lang="en-US" sz="2400" dirty="0">
                <a:latin typeface="Times New Roman" panose="02020603050405020304" pitchFamily="18" charset="0"/>
                <a:cs typeface="Times New Roman" panose="02020603050405020304" pitchFamily="18" charset="0"/>
              </a:rPr>
              <a:t> l</a:t>
            </a:r>
            <a:r>
              <a:rPr lang="vi-VN" sz="2400" dirty="0">
                <a:latin typeface="Times New Roman" panose="02020603050405020304" pitchFamily="18" charset="0"/>
                <a:cs typeface="Times New Roman" panose="02020603050405020304" pitchFamily="18" charset="0"/>
              </a:rPr>
              <a:t>ư</a:t>
            </a:r>
            <a:r>
              <a:rPr lang="en-US" sz="2400" dirty="0" err="1">
                <a:latin typeface="Times New Roman" panose="02020603050405020304" pitchFamily="18" charset="0"/>
                <a:cs typeface="Times New Roman" panose="02020603050405020304" pitchFamily="18" charset="0"/>
              </a:rPr>
              <a:t>ợng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động</a:t>
            </a:r>
            <a:r>
              <a:rPr lang="en-US" sz="2400" dirty="0">
                <a:latin typeface="Times New Roman" panose="02020603050405020304" pitchFamily="18" charset="0"/>
                <a:cs typeface="Times New Roman" panose="02020603050405020304" pitchFamily="18" charset="0"/>
              </a:rPr>
              <a:t> l</a:t>
            </a:r>
            <a:r>
              <a:rPr lang="vi-VN" sz="2400" dirty="0">
                <a:latin typeface="Times New Roman" panose="02020603050405020304" pitchFamily="18" charset="0"/>
                <a:cs typeface="Times New Roman" panose="02020603050405020304" pitchFamily="18" charset="0"/>
              </a:rPr>
              <a:t>ư</a:t>
            </a:r>
            <a:r>
              <a:rPr lang="en-US" sz="2400" dirty="0" err="1">
                <a:latin typeface="Times New Roman" panose="02020603050405020304" pitchFamily="18" charset="0"/>
                <a:cs typeface="Times New Roman" panose="02020603050405020304" pitchFamily="18" charset="0"/>
              </a:rPr>
              <a:t>ợng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mômen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động</a:t>
            </a:r>
            <a:r>
              <a:rPr lang="en-US" sz="2400" dirty="0">
                <a:latin typeface="Times New Roman" panose="02020603050405020304" pitchFamily="18" charset="0"/>
                <a:cs typeface="Times New Roman" panose="02020603050405020304" pitchFamily="18" charset="0"/>
              </a:rPr>
              <a:t> l</a:t>
            </a:r>
            <a:r>
              <a:rPr lang="vi-VN" sz="2400" dirty="0">
                <a:latin typeface="Times New Roman" panose="02020603050405020304" pitchFamily="18" charset="0"/>
                <a:cs typeface="Times New Roman" panose="02020603050405020304" pitchFamily="18" charset="0"/>
              </a:rPr>
              <a:t>ư</a:t>
            </a:r>
            <a:r>
              <a:rPr lang="en-US" sz="2400" dirty="0" err="1">
                <a:latin typeface="Times New Roman" panose="02020603050405020304" pitchFamily="18" charset="0"/>
                <a:cs typeface="Times New Roman" panose="02020603050405020304" pitchFamily="18" charset="0"/>
              </a:rPr>
              <a:t>ợng</a:t>
            </a:r>
            <a:r>
              <a:rPr lang="en-US" sz="2400" dirty="0">
                <a:latin typeface="Times New Roman" panose="02020603050405020304" pitchFamily="18" charset="0"/>
                <a:cs typeface="Times New Roman" panose="02020603050405020304" pitchFamily="18" charset="0"/>
              </a:rPr>
              <a:t>,</a:t>
            </a:r>
            <a:r>
              <a:rPr lang="vi-VN" sz="2400" dirty="0">
                <a:latin typeface="Times New Roman" panose="02020603050405020304" pitchFamily="18" charset="0"/>
                <a:cs typeface="Times New Roman" panose="02020603050405020304" pitchFamily="18" charset="0"/>
              </a:rPr>
              <a:t> và các đại lượng khác của một hệ </a:t>
            </a:r>
            <a:r>
              <a:rPr lang="en-US" sz="2400" dirty="0" err="1">
                <a:latin typeface="Times New Roman" panose="02020603050405020304" pitchFamily="18" charset="0"/>
                <a:cs typeface="Times New Roman" panose="02020603050405020304" pitchFamily="18" charset="0"/>
              </a:rPr>
              <a:t>có</a:t>
            </a:r>
            <a:r>
              <a:rPr lang="vi-VN" sz="2400" dirty="0">
                <a:latin typeface="Times New Roman" panose="02020603050405020304" pitchFamily="18" charset="0"/>
                <a:cs typeface="Times New Roman" panose="02020603050405020304" pitchFamily="18" charset="0"/>
              </a:rPr>
              <a:t> giá trị rời r</a:t>
            </a:r>
            <a:r>
              <a:rPr lang="en-US" sz="2400" dirty="0" err="1">
                <a:latin typeface="Times New Roman" panose="02020603050405020304" pitchFamily="18" charset="0"/>
                <a:cs typeface="Times New Roman" panose="02020603050405020304" pitchFamily="18" charset="0"/>
              </a:rPr>
              <a:t>ạc</a:t>
            </a:r>
            <a:r>
              <a:rPr lang="en-US" sz="2400" dirty="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a:t>
            </a:r>
            <a:r>
              <a:rPr lang="vi-VN" sz="2400" dirty="0">
                <a:latin typeface="Times New Roman" panose="02020603050405020304" pitchFamily="18" charset="0"/>
                <a:cs typeface="Times New Roman" panose="02020603050405020304" pitchFamily="18" charset="0"/>
                <a:hlinkClick r:id="rId2" tooltip="Lượng tử hóa (vật lý)"/>
              </a:rPr>
              <a:t>lượng tử hóa</a:t>
            </a:r>
            <a:r>
              <a:rPr lang="vi-VN"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vật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chất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có</a:t>
            </a:r>
            <a:r>
              <a:rPr lang="vi-VN" sz="2400" dirty="0">
                <a:latin typeface="Times New Roman" panose="02020603050405020304" pitchFamily="18" charset="0"/>
                <a:cs typeface="Times New Roman" panose="02020603050405020304" pitchFamily="18" charset="0"/>
              </a:rPr>
              <a:t> cả đặc trưng của h</a:t>
            </a:r>
            <a:r>
              <a:rPr lang="en-US" sz="2400" dirty="0" err="1">
                <a:latin typeface="Times New Roman" panose="02020603050405020304" pitchFamily="18" charset="0"/>
                <a:cs typeface="Times New Roman" panose="02020603050405020304" pitchFamily="18" charset="0"/>
              </a:rPr>
              <a:t>ạt</a:t>
            </a:r>
            <a:r>
              <a:rPr lang="vi-VN"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vi-VN" sz="2400" dirty="0">
                <a:latin typeface="Times New Roman" panose="02020603050405020304" pitchFamily="18" charset="0"/>
                <a:cs typeface="Times New Roman" panose="02020603050405020304" pitchFamily="18" charset="0"/>
              </a:rPr>
              <a:t> của só</a:t>
            </a:r>
            <a:r>
              <a:rPr lang="en-US" sz="2400" dirty="0">
                <a:latin typeface="Times New Roman" panose="02020603050405020304" pitchFamily="18" charset="0"/>
                <a:cs typeface="Times New Roman" panose="02020603050405020304" pitchFamily="18" charset="0"/>
              </a:rPr>
              <a:t>ng</a:t>
            </a:r>
            <a:r>
              <a:rPr lang="vi-VN" sz="2400" dirty="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hlinkClick r:id="rId3" tooltip="Lưỡng tính sóng hạt"/>
              </a:rPr>
              <a:t>lưỡng tính sóng hạt</a:t>
            </a:r>
            <a:r>
              <a:rPr lang="vi-VN" sz="2400" dirty="0">
                <a:latin typeface="Times New Roman" panose="02020603050405020304" pitchFamily="18" charset="0"/>
                <a:cs typeface="Times New Roman" panose="02020603050405020304" pitchFamily="18" charset="0"/>
              </a:rPr>
              <a:t>); và có những giới hạn về tính toán xác định độ chính xác của đại lượng vật lý tr</a:t>
            </a:r>
            <a:r>
              <a:rPr lang="en-US" sz="2400" dirty="0" err="1">
                <a:latin typeface="Times New Roman" panose="02020603050405020304" pitchFamily="18" charset="0"/>
                <a:cs typeface="Times New Roman" panose="02020603050405020304" pitchFamily="18" charset="0"/>
              </a:rPr>
              <a:t>ong</a:t>
            </a:r>
            <a:r>
              <a:rPr lang="en-US" sz="2400" dirty="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mỗi phép đo đại lượng đó,(</a:t>
            </a:r>
            <a:r>
              <a:rPr lang="vi-VN" sz="2400" dirty="0">
                <a:latin typeface="Times New Roman" panose="02020603050405020304" pitchFamily="18" charset="0"/>
                <a:cs typeface="Times New Roman" panose="02020603050405020304" pitchFamily="18" charset="0"/>
                <a:hlinkClick r:id="rId4" tooltip="Nguyên lý bất định"/>
              </a:rPr>
              <a:t>nguyên lý bất định</a:t>
            </a:r>
            <a:r>
              <a:rPr lang="vi-VN" sz="2400" dirty="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pPr algn="just"/>
            <a:r>
              <a:rPr lang="en-US" sz="2400" dirty="0" err="1">
                <a:latin typeface="Times New Roman" panose="02020603050405020304" pitchFamily="18" charset="0"/>
                <a:cs typeface="Times New Roman" panose="02020603050405020304" pitchFamily="18" charset="0"/>
              </a:rPr>
              <a:t>Trong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học</a:t>
            </a:r>
            <a:r>
              <a:rPr lang="en-US" sz="2400" dirty="0">
                <a:latin typeface="Times New Roman" panose="02020603050405020304" pitchFamily="18" charset="0"/>
                <a:cs typeface="Times New Roman" panose="02020603050405020304" pitchFamily="18" charset="0"/>
              </a:rPr>
              <a:t> l</a:t>
            </a:r>
            <a:r>
              <a:rPr lang="vi-VN" sz="2400" dirty="0">
                <a:latin typeface="Times New Roman" panose="02020603050405020304" pitchFamily="18" charset="0"/>
                <a:cs typeface="Times New Roman" panose="02020603050405020304" pitchFamily="18" charset="0"/>
              </a:rPr>
              <a:t>ư</a:t>
            </a:r>
            <a:r>
              <a:rPr lang="en-US" sz="2400" dirty="0" err="1">
                <a:latin typeface="Times New Roman" panose="02020603050405020304" pitchFamily="18" charset="0"/>
                <a:cs typeface="Times New Roman" panose="02020603050405020304" pitchFamily="18" charset="0"/>
              </a:rPr>
              <a:t>ợng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đ</a:t>
            </a:r>
            <a:r>
              <a:rPr lang="vi-VN" sz="2400" dirty="0">
                <a:latin typeface="Times New Roman" panose="02020603050405020304" pitchFamily="18" charset="0"/>
                <a:cs typeface="Times New Roman" panose="02020603050405020304" pitchFamily="18" charset="0"/>
              </a:rPr>
              <a:t>ư</a:t>
            </a:r>
            <a:r>
              <a:rPr lang="en-US" sz="2400" dirty="0" err="1">
                <a:latin typeface="Times New Roman" panose="02020603050405020304" pitchFamily="18" charset="0"/>
                <a:cs typeface="Times New Roman" panose="02020603050405020304" pitchFamily="18" charset="0"/>
              </a:rPr>
              <a:t>ợc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chính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đồng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thời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đại</a:t>
            </a:r>
            <a:r>
              <a:rPr lang="en-US" sz="2400" dirty="0">
                <a:latin typeface="Times New Roman" panose="02020603050405020304" pitchFamily="18" charset="0"/>
                <a:cs typeface="Times New Roman" panose="02020603050405020304" pitchFamily="18" charset="0"/>
              </a:rPr>
              <a:t> l</a:t>
            </a:r>
            <a:r>
              <a:rPr lang="vi-VN" sz="2400" dirty="0">
                <a:latin typeface="Times New Roman" panose="02020603050405020304" pitchFamily="18" charset="0"/>
                <a:cs typeface="Times New Roman" panose="02020603050405020304" pitchFamily="18" charset="0"/>
              </a:rPr>
              <a:t>ư</a:t>
            </a:r>
            <a:r>
              <a:rPr lang="en-US" sz="2400" dirty="0" err="1">
                <a:latin typeface="Times New Roman" panose="02020603050405020304" pitchFamily="18" charset="0"/>
                <a:cs typeface="Times New Roman" panose="02020603050405020304" pitchFamily="18" charset="0"/>
              </a:rPr>
              <a:t>ợng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vật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lý</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vì</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tồn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tại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khái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niệm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quỹ</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đạo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luật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vận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động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c</a:t>
            </a:r>
            <a:r>
              <a:rPr lang="vi-VN" sz="2400" dirty="0">
                <a:latin typeface="Times New Roman" panose="02020603050405020304" pitchFamily="18" charset="0"/>
                <a:cs typeface="Times New Roman" panose="02020603050405020304" pitchFamily="18" charset="0"/>
              </a:rPr>
              <a:t>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học</a:t>
            </a:r>
            <a:r>
              <a:rPr lang="en-US" sz="2400" dirty="0">
                <a:latin typeface="Times New Roman" panose="02020603050405020304" pitchFamily="18" charset="0"/>
                <a:cs typeface="Times New Roman" panose="02020603050405020304" pitchFamily="18" charset="0"/>
              </a:rPr>
              <a:t> l</a:t>
            </a:r>
            <a:r>
              <a:rPr lang="vi-VN" sz="2400" dirty="0">
                <a:latin typeface="Times New Roman" panose="02020603050405020304" pitchFamily="18" charset="0"/>
                <a:cs typeface="Times New Roman" panose="02020603050405020304" pitchFamily="18" charset="0"/>
              </a:rPr>
              <a:t>ư</a:t>
            </a:r>
            <a:r>
              <a:rPr lang="en-US" sz="2400" dirty="0" err="1">
                <a:latin typeface="Times New Roman" panose="02020603050405020304" pitchFamily="18" charset="0"/>
                <a:cs typeface="Times New Roman" panose="02020603050405020304" pitchFamily="18" charset="0"/>
              </a:rPr>
              <a:t>ợng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luật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thống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kê</a:t>
            </a:r>
            <a:r>
              <a:rPr lang="en-US" sz="2400" dirty="0">
                <a:latin typeface="Times New Roman" panose="02020603050405020304" pitchFamily="18" charset="0"/>
                <a:cs typeface="Times New Roman" panose="02020603050405020304" pitchFamily="18" charset="0"/>
              </a:rPr>
              <a:t>.</a:t>
            </a:r>
          </a:p>
        </p:txBody>
      </p:sp>
      <p:sp>
        <p:nvSpPr>
          <p:cNvPr id="4" name="Content Placeholder 2">
            <a:extLst>
              <a:ext uri="{FF2B5EF4-FFF2-40B4-BE49-F238E27FC236}">
                <a16:creationId xmlns:a16="http://schemas.microsoft.com/office/drawing/2014/main" id="{6BF0047F-0EFE-4740-92EF-56B52818BC30}"/>
              </a:ext>
            </a:extLst>
          </p:cNvPr>
          <p:cNvSpPr txBox="1">
            <a:spLocks/>
          </p:cNvSpPr>
          <p:nvPr/>
        </p:nvSpPr>
        <p:spPr>
          <a:xfrm>
            <a:off x="0" y="304800"/>
            <a:ext cx="9144000" cy="192532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vi-VN" sz="2400" b="1" dirty="0">
                <a:latin typeface="+mj-lt"/>
              </a:rPr>
              <a:t>Cơ học lượng tử</a:t>
            </a:r>
            <a:r>
              <a:rPr lang="vi-VN" sz="2400" dirty="0">
                <a:latin typeface="+mj-lt"/>
              </a:rPr>
              <a:t> (</a:t>
            </a:r>
            <a:r>
              <a:rPr lang="vi-VN" sz="2400" i="1" dirty="0">
                <a:latin typeface="+mj-lt"/>
              </a:rPr>
              <a:t>quantum mechanics</a:t>
            </a:r>
            <a:r>
              <a:rPr lang="vi-VN" sz="2400" dirty="0">
                <a:latin typeface="+mj-lt"/>
              </a:rPr>
              <a:t>) là </a:t>
            </a:r>
            <a:r>
              <a:rPr lang="en-US" sz="2400" dirty="0" err="1">
                <a:latin typeface="+mj-lt"/>
              </a:rPr>
              <a:t>lý</a:t>
            </a:r>
            <a:r>
              <a:rPr lang="en-US" sz="2400" dirty="0">
                <a:latin typeface="+mj-lt"/>
              </a:rPr>
              <a:t> </a:t>
            </a:r>
            <a:r>
              <a:rPr lang="en-US" sz="2400" dirty="0" err="1">
                <a:latin typeface="+mj-lt"/>
              </a:rPr>
              <a:t>thuyết</a:t>
            </a:r>
            <a:r>
              <a:rPr lang="en-US" sz="2400" dirty="0">
                <a:latin typeface="+mj-lt"/>
              </a:rPr>
              <a:t> </a:t>
            </a:r>
            <a:r>
              <a:rPr lang="vi-VN" sz="2400" dirty="0">
                <a:latin typeface="+mj-lt"/>
              </a:rPr>
              <a:t>cơ bản trong vật lý  miêu tả lại các tính chất vật lý của tự nhiên ở</a:t>
            </a:r>
            <a:r>
              <a:rPr lang="en-US" sz="2400" dirty="0">
                <a:latin typeface="+mj-lt"/>
              </a:rPr>
              <a:t> </a:t>
            </a:r>
            <a:r>
              <a:rPr lang="en-US" sz="2400" dirty="0" err="1">
                <a:latin typeface="+mj-lt"/>
              </a:rPr>
              <a:t>hạt</a:t>
            </a:r>
            <a:r>
              <a:rPr lang="en-US" sz="2400" dirty="0">
                <a:latin typeface="+mj-lt"/>
              </a:rPr>
              <a:t> </a:t>
            </a:r>
            <a:r>
              <a:rPr lang="en-US" sz="2400" dirty="0" err="1">
                <a:latin typeface="+mj-lt"/>
              </a:rPr>
              <a:t>có</a:t>
            </a:r>
            <a:r>
              <a:rPr lang="en-US" sz="2400" dirty="0">
                <a:latin typeface="+mj-lt"/>
              </a:rPr>
              <a:t> </a:t>
            </a:r>
            <a:r>
              <a:rPr lang="en-US" sz="2400" dirty="0" err="1">
                <a:latin typeface="+mj-lt"/>
              </a:rPr>
              <a:t>kích</a:t>
            </a:r>
            <a:r>
              <a:rPr lang="en-US" sz="2400" dirty="0">
                <a:latin typeface="+mj-lt"/>
              </a:rPr>
              <a:t> </a:t>
            </a:r>
            <a:r>
              <a:rPr lang="en-US" sz="2400" dirty="0" err="1">
                <a:latin typeface="+mj-lt"/>
              </a:rPr>
              <a:t>th</a:t>
            </a:r>
            <a:r>
              <a:rPr lang="vi-VN" sz="2400" dirty="0">
                <a:latin typeface="+mj-lt"/>
              </a:rPr>
              <a:t>ư</a:t>
            </a:r>
            <a:r>
              <a:rPr lang="en-US" sz="2400" dirty="0" err="1">
                <a:latin typeface="+mj-lt"/>
              </a:rPr>
              <a:t>ớc</a:t>
            </a:r>
            <a:r>
              <a:rPr lang="en-US" sz="2400" dirty="0">
                <a:latin typeface="+mj-lt"/>
              </a:rPr>
              <a:t> </a:t>
            </a:r>
            <a:r>
              <a:rPr lang="en-US" sz="2400" dirty="0" err="1">
                <a:latin typeface="+mj-lt"/>
              </a:rPr>
              <a:t>nhỏ</a:t>
            </a:r>
            <a:r>
              <a:rPr lang="en-US" sz="2400" dirty="0">
                <a:latin typeface="+mj-lt"/>
              </a:rPr>
              <a:t> </a:t>
            </a:r>
            <a:r>
              <a:rPr lang="en-US" sz="2400" dirty="0" err="1">
                <a:latin typeface="+mj-lt"/>
              </a:rPr>
              <a:t>cỡ</a:t>
            </a:r>
            <a:r>
              <a:rPr lang="en-US" sz="2400" dirty="0">
                <a:latin typeface="+mj-lt"/>
              </a:rPr>
              <a:t> </a:t>
            </a:r>
            <a:r>
              <a:rPr lang="en-US" sz="2400" dirty="0" err="1">
                <a:latin typeface="+mj-lt"/>
              </a:rPr>
              <a:t>nguyên</a:t>
            </a:r>
            <a:r>
              <a:rPr lang="en-US" sz="2400" dirty="0">
                <a:latin typeface="+mj-lt"/>
              </a:rPr>
              <a:t> </a:t>
            </a:r>
            <a:r>
              <a:rPr lang="en-US" sz="2400" dirty="0" err="1">
                <a:latin typeface="+mj-lt"/>
              </a:rPr>
              <a:t>tử</a:t>
            </a:r>
            <a:r>
              <a:rPr lang="en-US" sz="2400" dirty="0">
                <a:latin typeface="+mj-lt"/>
              </a:rPr>
              <a:t>, </a:t>
            </a:r>
            <a:r>
              <a:rPr lang="vi-VN" sz="2400" dirty="0">
                <a:latin typeface="+mj-lt"/>
              </a:rPr>
              <a:t>là cơ sở của mọi lý thuyết vật lý lượng tử</a:t>
            </a:r>
            <a:r>
              <a:rPr lang="en-US" sz="2400" dirty="0">
                <a:latin typeface="+mj-lt"/>
              </a:rPr>
              <a:t>: </a:t>
            </a:r>
            <a:r>
              <a:rPr lang="en-US" sz="2400" dirty="0" err="1">
                <a:latin typeface="+mj-lt"/>
              </a:rPr>
              <a:t>hoá</a:t>
            </a:r>
            <a:r>
              <a:rPr lang="en-US" sz="2400" dirty="0">
                <a:latin typeface="+mj-lt"/>
              </a:rPr>
              <a:t> </a:t>
            </a:r>
            <a:r>
              <a:rPr lang="en-US" sz="2400" dirty="0" err="1">
                <a:latin typeface="+mj-lt"/>
              </a:rPr>
              <a:t>học</a:t>
            </a:r>
            <a:r>
              <a:rPr lang="en-US" sz="2400" dirty="0">
                <a:latin typeface="+mj-lt"/>
              </a:rPr>
              <a:t> l</a:t>
            </a:r>
            <a:r>
              <a:rPr lang="vi-VN" sz="2400" dirty="0">
                <a:latin typeface="+mj-lt"/>
              </a:rPr>
              <a:t>ư</a:t>
            </a:r>
            <a:r>
              <a:rPr lang="en-US" sz="2400" dirty="0" err="1">
                <a:latin typeface="+mj-lt"/>
              </a:rPr>
              <a:t>ợng</a:t>
            </a:r>
            <a:r>
              <a:rPr lang="en-US" sz="2400" dirty="0">
                <a:latin typeface="+mj-lt"/>
              </a:rPr>
              <a:t> </a:t>
            </a:r>
            <a:r>
              <a:rPr lang="en-US" sz="2400" dirty="0" err="1">
                <a:latin typeface="+mj-lt"/>
              </a:rPr>
              <a:t>tử</a:t>
            </a:r>
            <a:r>
              <a:rPr lang="en-US" sz="2400" dirty="0">
                <a:latin typeface="+mj-lt"/>
              </a:rPr>
              <a:t>, </a:t>
            </a:r>
            <a:r>
              <a:rPr lang="en-US" sz="2400" dirty="0" err="1">
                <a:latin typeface="+mj-lt"/>
              </a:rPr>
              <a:t>lý</a:t>
            </a:r>
            <a:r>
              <a:rPr lang="en-US" sz="2400" dirty="0">
                <a:latin typeface="+mj-lt"/>
              </a:rPr>
              <a:t> </a:t>
            </a:r>
            <a:r>
              <a:rPr lang="en-US" sz="2400" dirty="0" err="1">
                <a:latin typeface="+mj-lt"/>
              </a:rPr>
              <a:t>thuyết</a:t>
            </a:r>
            <a:r>
              <a:rPr lang="en-US" sz="2400" dirty="0">
                <a:latin typeface="+mj-lt"/>
              </a:rPr>
              <a:t> tr</a:t>
            </a:r>
            <a:r>
              <a:rPr lang="vi-VN" sz="2400" dirty="0">
                <a:latin typeface="+mj-lt"/>
              </a:rPr>
              <a:t>ư</a:t>
            </a:r>
            <a:r>
              <a:rPr lang="en-US" sz="2400" dirty="0" err="1">
                <a:latin typeface="+mj-lt"/>
              </a:rPr>
              <a:t>ờng</a:t>
            </a:r>
            <a:r>
              <a:rPr lang="en-US" sz="2400" dirty="0">
                <a:latin typeface="+mj-lt"/>
              </a:rPr>
              <a:t> </a:t>
            </a:r>
            <a:r>
              <a:rPr lang="en-US" sz="2400" dirty="0" err="1">
                <a:latin typeface="+mj-lt"/>
              </a:rPr>
              <a:t>lượng</a:t>
            </a:r>
            <a:r>
              <a:rPr lang="en-US" sz="2400" dirty="0">
                <a:latin typeface="+mj-lt"/>
              </a:rPr>
              <a:t> </a:t>
            </a:r>
            <a:r>
              <a:rPr lang="en-US" sz="2400" dirty="0" err="1">
                <a:latin typeface="+mj-lt"/>
              </a:rPr>
              <a:t>tử</a:t>
            </a:r>
            <a:r>
              <a:rPr lang="en-US" sz="2400" dirty="0">
                <a:latin typeface="+mj-lt"/>
              </a:rPr>
              <a:t>, </a:t>
            </a:r>
            <a:r>
              <a:rPr lang="en-US" sz="2400" dirty="0" err="1">
                <a:latin typeface="+mj-lt"/>
              </a:rPr>
              <a:t>công</a:t>
            </a:r>
            <a:r>
              <a:rPr lang="en-US" sz="2400" dirty="0">
                <a:latin typeface="+mj-lt"/>
              </a:rPr>
              <a:t> </a:t>
            </a:r>
            <a:r>
              <a:rPr lang="en-US" sz="2400" dirty="0" err="1">
                <a:latin typeface="+mj-lt"/>
              </a:rPr>
              <a:t>nghệ</a:t>
            </a:r>
            <a:r>
              <a:rPr lang="en-US" sz="2400" dirty="0">
                <a:latin typeface="+mj-lt"/>
              </a:rPr>
              <a:t> l</a:t>
            </a:r>
            <a:r>
              <a:rPr lang="vi-VN" sz="2400" dirty="0">
                <a:latin typeface="+mj-lt"/>
              </a:rPr>
              <a:t>ư</a:t>
            </a:r>
            <a:r>
              <a:rPr lang="en-US" sz="2400" dirty="0" err="1">
                <a:latin typeface="+mj-lt"/>
              </a:rPr>
              <a:t>ợng</a:t>
            </a:r>
            <a:r>
              <a:rPr lang="en-US" sz="2400" dirty="0">
                <a:latin typeface="+mj-lt"/>
              </a:rPr>
              <a:t> </a:t>
            </a:r>
            <a:r>
              <a:rPr lang="en-US" sz="2400" dirty="0" err="1">
                <a:latin typeface="+mj-lt"/>
              </a:rPr>
              <a:t>tử</a:t>
            </a:r>
            <a:r>
              <a:rPr lang="en-US" sz="2400" dirty="0">
                <a:latin typeface="+mj-lt"/>
              </a:rPr>
              <a:t> </a:t>
            </a:r>
            <a:r>
              <a:rPr lang="en-US" sz="2400" dirty="0" err="1">
                <a:latin typeface="+mj-lt"/>
              </a:rPr>
              <a:t>và</a:t>
            </a:r>
            <a:r>
              <a:rPr lang="en-US" sz="2400" dirty="0">
                <a:latin typeface="+mj-lt"/>
              </a:rPr>
              <a:t> khoa </a:t>
            </a:r>
            <a:r>
              <a:rPr lang="en-US" sz="2400" dirty="0" err="1">
                <a:latin typeface="+mj-lt"/>
              </a:rPr>
              <a:t>học</a:t>
            </a:r>
            <a:r>
              <a:rPr lang="en-US" sz="2400" dirty="0">
                <a:latin typeface="+mj-lt"/>
              </a:rPr>
              <a:t> </a:t>
            </a:r>
            <a:r>
              <a:rPr lang="en-US" sz="2400" dirty="0" err="1">
                <a:latin typeface="+mj-lt"/>
              </a:rPr>
              <a:t>thông</a:t>
            </a:r>
            <a:r>
              <a:rPr lang="en-US" sz="2400" dirty="0">
                <a:latin typeface="+mj-lt"/>
              </a:rPr>
              <a:t> tin l</a:t>
            </a:r>
            <a:r>
              <a:rPr lang="vi-VN" sz="2400" dirty="0">
                <a:latin typeface="+mj-lt"/>
              </a:rPr>
              <a:t>ư</a:t>
            </a:r>
            <a:r>
              <a:rPr lang="en-US" sz="2400" dirty="0" err="1">
                <a:latin typeface="+mj-lt"/>
              </a:rPr>
              <a:t>ợng</a:t>
            </a:r>
            <a:r>
              <a:rPr lang="en-US" sz="2400" dirty="0">
                <a:latin typeface="+mj-lt"/>
              </a:rPr>
              <a:t> </a:t>
            </a:r>
            <a:r>
              <a:rPr lang="en-US" sz="2400" dirty="0" err="1">
                <a:latin typeface="+mj-lt"/>
              </a:rPr>
              <a:t>tử</a:t>
            </a:r>
            <a:r>
              <a:rPr lang="en-US" sz="2400" dirty="0">
                <a:latin typeface="+mj-lt"/>
              </a:rPr>
              <a:t>.</a:t>
            </a:r>
          </a:p>
        </p:txBody>
      </p:sp>
    </p:spTree>
    <p:extLst>
      <p:ext uri="{BB962C8B-B14F-4D97-AF65-F5344CB8AC3E}">
        <p14:creationId xmlns:p14="http://schemas.microsoft.com/office/powerpoint/2010/main" val="4714691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76200" y="0"/>
            <a:ext cx="9067800" cy="461665"/>
          </a:xfrm>
          <a:prstGeom prst="rect">
            <a:avLst/>
          </a:prstGeom>
          <a:noFill/>
        </p:spPr>
        <p:txBody>
          <a:bodyPr wrap="square" rtlCol="0">
            <a:spAutoFit/>
          </a:bodyPr>
          <a:lstStyle/>
          <a:p>
            <a:pPr algn="ctr"/>
            <a:r>
              <a:rPr lang="en-US" sz="2400" dirty="0">
                <a:solidFill>
                  <a:srgbClr val="FFFF00"/>
                </a:solidFill>
                <a:latin typeface="Times New Roman" pitchFamily="18" charset="0"/>
                <a:cs typeface="Times New Roman" pitchFamily="18" charset="0"/>
              </a:rPr>
              <a:t>§1. LƯỠNG TÍNH SÓNG HẠT CỦA VI HẠT</a:t>
            </a:r>
          </a:p>
        </p:txBody>
      </p:sp>
      <p:sp>
        <p:nvSpPr>
          <p:cNvPr id="6" name="Rectangle 5"/>
          <p:cNvSpPr/>
          <p:nvPr/>
        </p:nvSpPr>
        <p:spPr>
          <a:xfrm>
            <a:off x="76200" y="685800"/>
            <a:ext cx="6202357" cy="461665"/>
          </a:xfrm>
          <a:prstGeom prst="rect">
            <a:avLst/>
          </a:prstGeom>
        </p:spPr>
        <p:txBody>
          <a:bodyPr wrap="square">
            <a:spAutoFit/>
          </a:bodyPr>
          <a:lstStyle/>
          <a:p>
            <a:pPr marL="609600" indent="-609600">
              <a:buFontTx/>
              <a:buNone/>
            </a:pPr>
            <a:r>
              <a:rPr lang="en-US" sz="2400" b="1" dirty="0">
                <a:solidFill>
                  <a:schemeClr val="hlink"/>
                </a:solidFill>
                <a:latin typeface="Times New Roman" pitchFamily="18" charset="0"/>
              </a:rPr>
              <a:t>I. </a:t>
            </a:r>
            <a:r>
              <a:rPr lang="en-US" sz="2400" b="1" dirty="0" err="1">
                <a:solidFill>
                  <a:schemeClr val="hlink"/>
                </a:solidFill>
                <a:latin typeface="Times New Roman" pitchFamily="18" charset="0"/>
              </a:rPr>
              <a:t>Lưỡng</a:t>
            </a:r>
            <a:r>
              <a:rPr lang="en-US" sz="2400" b="1" dirty="0">
                <a:solidFill>
                  <a:schemeClr val="hlink"/>
                </a:solidFill>
                <a:latin typeface="Times New Roman" pitchFamily="18" charset="0"/>
              </a:rPr>
              <a:t> </a:t>
            </a:r>
            <a:r>
              <a:rPr lang="en-US" sz="2400" b="1" dirty="0" err="1">
                <a:solidFill>
                  <a:schemeClr val="hlink"/>
                </a:solidFill>
                <a:latin typeface="Times New Roman" pitchFamily="18" charset="0"/>
              </a:rPr>
              <a:t>tính</a:t>
            </a:r>
            <a:r>
              <a:rPr lang="en-US" sz="2400" b="1" dirty="0">
                <a:solidFill>
                  <a:schemeClr val="hlink"/>
                </a:solidFill>
                <a:latin typeface="Times New Roman" pitchFamily="18" charset="0"/>
              </a:rPr>
              <a:t> </a:t>
            </a:r>
            <a:r>
              <a:rPr lang="en-US" sz="2400" b="1" dirty="0" err="1">
                <a:solidFill>
                  <a:schemeClr val="hlink"/>
                </a:solidFill>
                <a:latin typeface="Times New Roman" pitchFamily="18" charset="0"/>
              </a:rPr>
              <a:t>sóng</a:t>
            </a:r>
            <a:r>
              <a:rPr lang="en-US" sz="2400" b="1" dirty="0">
                <a:solidFill>
                  <a:schemeClr val="hlink"/>
                </a:solidFill>
                <a:latin typeface="Times New Roman" pitchFamily="18" charset="0"/>
              </a:rPr>
              <a:t> </a:t>
            </a:r>
            <a:r>
              <a:rPr lang="en-US" sz="2400" b="1" dirty="0" err="1">
                <a:solidFill>
                  <a:schemeClr val="hlink"/>
                </a:solidFill>
                <a:latin typeface="Times New Roman" pitchFamily="18" charset="0"/>
              </a:rPr>
              <a:t>hạt</a:t>
            </a:r>
            <a:r>
              <a:rPr lang="en-US" sz="2400" b="1" dirty="0">
                <a:solidFill>
                  <a:schemeClr val="hlink"/>
                </a:solidFill>
                <a:latin typeface="Times New Roman" pitchFamily="18" charset="0"/>
              </a:rPr>
              <a:t> </a:t>
            </a:r>
            <a:r>
              <a:rPr lang="en-US" sz="2400" b="1" dirty="0" err="1">
                <a:solidFill>
                  <a:schemeClr val="hlink"/>
                </a:solidFill>
                <a:latin typeface="Times New Roman" pitchFamily="18" charset="0"/>
              </a:rPr>
              <a:t>của</a:t>
            </a:r>
            <a:r>
              <a:rPr lang="en-US" sz="2400" b="1" dirty="0">
                <a:solidFill>
                  <a:schemeClr val="hlink"/>
                </a:solidFill>
                <a:latin typeface="Times New Roman" pitchFamily="18" charset="0"/>
              </a:rPr>
              <a:t> vi </a:t>
            </a:r>
            <a:r>
              <a:rPr lang="en-US" sz="2400" b="1" dirty="0" err="1">
                <a:solidFill>
                  <a:schemeClr val="hlink"/>
                </a:solidFill>
                <a:latin typeface="Times New Roman" pitchFamily="18" charset="0"/>
              </a:rPr>
              <a:t>hạt</a:t>
            </a:r>
            <a:endParaRPr lang="en-US" sz="2400" b="1" dirty="0">
              <a:solidFill>
                <a:schemeClr val="hlink"/>
              </a:solidFill>
              <a:latin typeface="Times New Roman" pitchFamily="18" charset="0"/>
            </a:endParaRPr>
          </a:p>
        </p:txBody>
      </p:sp>
      <p:sp>
        <p:nvSpPr>
          <p:cNvPr id="9" name="Rectangle 8"/>
          <p:cNvSpPr/>
          <p:nvPr/>
        </p:nvSpPr>
        <p:spPr>
          <a:xfrm>
            <a:off x="152401" y="1680865"/>
            <a:ext cx="6103714" cy="461665"/>
          </a:xfrm>
          <a:prstGeom prst="rect">
            <a:avLst/>
          </a:prstGeom>
        </p:spPr>
        <p:txBody>
          <a:bodyPr wrap="square">
            <a:spAutoFit/>
          </a:bodyPr>
          <a:lstStyle/>
          <a:p>
            <a:pPr marL="609600" indent="-609600">
              <a:buFontTx/>
              <a:buNone/>
            </a:pPr>
            <a:r>
              <a:rPr lang="en-US" sz="2400" dirty="0" err="1">
                <a:latin typeface="Times New Roman" pitchFamily="18" charset="0"/>
              </a:rPr>
              <a:t>Phương</a:t>
            </a:r>
            <a:r>
              <a:rPr lang="en-US" sz="2400" dirty="0">
                <a:latin typeface="Times New Roman" pitchFamily="18" charset="0"/>
              </a:rPr>
              <a:t> </a:t>
            </a:r>
            <a:r>
              <a:rPr lang="en-US" sz="2400" dirty="0" err="1">
                <a:latin typeface="Times New Roman" pitchFamily="18" charset="0"/>
              </a:rPr>
              <a:t>trình</a:t>
            </a:r>
            <a:r>
              <a:rPr lang="en-US" sz="2400" dirty="0">
                <a:latin typeface="Times New Roman" pitchFamily="18" charset="0"/>
              </a:rPr>
              <a:t> </a:t>
            </a:r>
            <a:r>
              <a:rPr lang="en-US" sz="2400" dirty="0" err="1">
                <a:latin typeface="Times New Roman" pitchFamily="18" charset="0"/>
              </a:rPr>
              <a:t>dao</a:t>
            </a:r>
            <a:r>
              <a:rPr lang="en-US" sz="2400" dirty="0">
                <a:latin typeface="Times New Roman" pitchFamily="18" charset="0"/>
              </a:rPr>
              <a:t> </a:t>
            </a:r>
            <a:r>
              <a:rPr lang="en-US" sz="2400" dirty="0" err="1">
                <a:latin typeface="Times New Roman" pitchFamily="18" charset="0"/>
              </a:rPr>
              <a:t>động</a:t>
            </a:r>
            <a:r>
              <a:rPr lang="en-US" sz="2400" dirty="0">
                <a:latin typeface="Times New Roman" pitchFamily="18" charset="0"/>
              </a:rPr>
              <a:t> </a:t>
            </a:r>
            <a:r>
              <a:rPr lang="en-US" sz="2400" dirty="0" err="1">
                <a:latin typeface="Times New Roman" pitchFamily="18" charset="0"/>
              </a:rPr>
              <a:t>sáng</a:t>
            </a:r>
            <a:r>
              <a:rPr lang="en-US" sz="2400" dirty="0">
                <a:latin typeface="Times New Roman" pitchFamily="18" charset="0"/>
              </a:rPr>
              <a:t> </a:t>
            </a:r>
            <a:r>
              <a:rPr lang="en-US" sz="2400" dirty="0" err="1">
                <a:latin typeface="Times New Roman" pitchFamily="18" charset="0"/>
              </a:rPr>
              <a:t>tại</a:t>
            </a:r>
            <a:r>
              <a:rPr lang="en-US" sz="2400" dirty="0">
                <a:latin typeface="Times New Roman" pitchFamily="18" charset="0"/>
              </a:rPr>
              <a:t> O:</a:t>
            </a:r>
          </a:p>
        </p:txBody>
      </p:sp>
      <p:graphicFrame>
        <p:nvGraphicFramePr>
          <p:cNvPr id="10" name="Object 9"/>
          <p:cNvGraphicFramePr>
            <a:graphicFrameLocks noChangeAspect="1"/>
          </p:cNvGraphicFramePr>
          <p:nvPr>
            <p:extLst>
              <p:ext uri="{D42A27DB-BD31-4B8C-83A1-F6EECF244321}">
                <p14:modId xmlns:p14="http://schemas.microsoft.com/office/powerpoint/2010/main" val="3911837430"/>
              </p:ext>
            </p:extLst>
          </p:nvPr>
        </p:nvGraphicFramePr>
        <p:xfrm>
          <a:off x="1065213" y="2286000"/>
          <a:ext cx="3535362" cy="377825"/>
        </p:xfrm>
        <a:graphic>
          <a:graphicData uri="http://schemas.openxmlformats.org/presentationml/2006/ole">
            <mc:AlternateContent xmlns:mc="http://schemas.openxmlformats.org/markup-compatibility/2006">
              <mc:Choice xmlns:v="urn:schemas-microsoft-com:vml" Requires="v">
                <p:oleObj spid="_x0000_s20692" name="Equation" r:id="rId3" imgW="1828800" imgH="203040" progId="Equation.3">
                  <p:embed/>
                </p:oleObj>
              </mc:Choice>
              <mc:Fallback>
                <p:oleObj name="Equation" r:id="rId3" imgW="1828800" imgH="203040" progId="Equation.3">
                  <p:embed/>
                  <p:pic>
                    <p:nvPicPr>
                      <p:cNvPr id="0" name=""/>
                      <p:cNvPicPr>
                        <a:picLocks noChangeAspect="1" noChangeArrowheads="1"/>
                      </p:cNvPicPr>
                      <p:nvPr/>
                    </p:nvPicPr>
                    <p:blipFill>
                      <a:blip r:embed="rId4"/>
                      <a:srcRect/>
                      <a:stretch>
                        <a:fillRect/>
                      </a:stretch>
                    </p:blipFill>
                    <p:spPr bwMode="auto">
                      <a:xfrm>
                        <a:off x="1065213" y="2286000"/>
                        <a:ext cx="3535362" cy="377825"/>
                      </a:xfrm>
                      <a:prstGeom prst="rect">
                        <a:avLst/>
                      </a:prstGeom>
                      <a:noFill/>
                      <a:ln>
                        <a:noFill/>
                      </a:ln>
                    </p:spPr>
                  </p:pic>
                </p:oleObj>
              </mc:Fallback>
            </mc:AlternateContent>
          </a:graphicData>
        </a:graphic>
      </p:graphicFrame>
      <p:sp>
        <p:nvSpPr>
          <p:cNvPr id="11" name="Rectangle 10"/>
          <p:cNvSpPr/>
          <p:nvPr/>
        </p:nvSpPr>
        <p:spPr>
          <a:xfrm>
            <a:off x="152400" y="2892179"/>
            <a:ext cx="8991599" cy="461665"/>
          </a:xfrm>
          <a:prstGeom prst="rect">
            <a:avLst/>
          </a:prstGeom>
        </p:spPr>
        <p:txBody>
          <a:bodyPr wrap="square">
            <a:spAutoFit/>
          </a:bodyPr>
          <a:lstStyle/>
          <a:p>
            <a:pPr>
              <a:buFontTx/>
              <a:buNone/>
            </a:pPr>
            <a:r>
              <a:rPr lang="en-US" sz="2400" dirty="0" err="1">
                <a:latin typeface="Times New Roman" pitchFamily="18" charset="0"/>
              </a:rPr>
              <a:t>Phương</a:t>
            </a:r>
            <a:r>
              <a:rPr lang="en-US" sz="2400" dirty="0">
                <a:latin typeface="Times New Roman" pitchFamily="18" charset="0"/>
              </a:rPr>
              <a:t> </a:t>
            </a:r>
            <a:r>
              <a:rPr lang="en-US" sz="2400" dirty="0" err="1">
                <a:latin typeface="Times New Roman" pitchFamily="18" charset="0"/>
              </a:rPr>
              <a:t>trình</a:t>
            </a:r>
            <a:r>
              <a:rPr lang="en-US" sz="2400" dirty="0">
                <a:latin typeface="Times New Roman" pitchFamily="18" charset="0"/>
              </a:rPr>
              <a:t> </a:t>
            </a:r>
            <a:r>
              <a:rPr lang="en-US" sz="2400" dirty="0" err="1">
                <a:latin typeface="Times New Roman" pitchFamily="18" charset="0"/>
              </a:rPr>
              <a:t>dao</a:t>
            </a:r>
            <a:r>
              <a:rPr lang="en-US" sz="2400" dirty="0">
                <a:latin typeface="Times New Roman" pitchFamily="18" charset="0"/>
              </a:rPr>
              <a:t> </a:t>
            </a:r>
            <a:r>
              <a:rPr lang="en-US" sz="2400" dirty="0" err="1">
                <a:latin typeface="Times New Roman" pitchFamily="18" charset="0"/>
              </a:rPr>
              <a:t>động</a:t>
            </a:r>
            <a:r>
              <a:rPr lang="en-US" sz="2400" dirty="0">
                <a:latin typeface="Times New Roman" pitchFamily="18" charset="0"/>
              </a:rPr>
              <a:t> </a:t>
            </a:r>
            <a:r>
              <a:rPr lang="en-US" sz="2400" dirty="0" err="1">
                <a:latin typeface="Times New Roman" pitchFamily="18" charset="0"/>
              </a:rPr>
              <a:t>sáng</a:t>
            </a:r>
            <a:r>
              <a:rPr lang="en-US" sz="2400" dirty="0">
                <a:latin typeface="Times New Roman" pitchFamily="18" charset="0"/>
              </a:rPr>
              <a:t> </a:t>
            </a:r>
            <a:r>
              <a:rPr lang="en-US" sz="2400" dirty="0" err="1">
                <a:latin typeface="Times New Roman" pitchFamily="18" charset="0"/>
              </a:rPr>
              <a:t>tại</a:t>
            </a:r>
            <a:r>
              <a:rPr lang="en-US" sz="2400" dirty="0">
                <a:latin typeface="Times New Roman" pitchFamily="18" charset="0"/>
              </a:rPr>
              <a:t> </a:t>
            </a:r>
            <a:r>
              <a:rPr lang="en-US" sz="2400" dirty="0" err="1">
                <a:latin typeface="Times New Roman" pitchFamily="18" charset="0"/>
              </a:rPr>
              <a:t>mọi</a:t>
            </a:r>
            <a:r>
              <a:rPr lang="en-US" sz="2400" dirty="0">
                <a:latin typeface="Times New Roman" pitchFamily="18" charset="0"/>
              </a:rPr>
              <a:t> </a:t>
            </a:r>
            <a:r>
              <a:rPr lang="en-US" sz="2400" dirty="0" err="1">
                <a:latin typeface="Times New Roman" pitchFamily="18" charset="0"/>
              </a:rPr>
              <a:t>điểm</a:t>
            </a:r>
            <a:r>
              <a:rPr lang="en-US" sz="2400" dirty="0">
                <a:latin typeface="Times New Roman" pitchFamily="18" charset="0"/>
              </a:rPr>
              <a:t> </a:t>
            </a:r>
            <a:r>
              <a:rPr lang="en-US" sz="2400" dirty="0" err="1">
                <a:latin typeface="Times New Roman" pitchFamily="18" charset="0"/>
              </a:rPr>
              <a:t>trên</a:t>
            </a:r>
            <a:r>
              <a:rPr lang="en-US" sz="2400" dirty="0">
                <a:latin typeface="Times New Roman" pitchFamily="18" charset="0"/>
              </a:rPr>
              <a:t> </a:t>
            </a:r>
            <a:r>
              <a:rPr lang="en-US" sz="2400" dirty="0" err="1">
                <a:latin typeface="Times New Roman" pitchFamily="18" charset="0"/>
              </a:rPr>
              <a:t>mặt</a:t>
            </a:r>
            <a:r>
              <a:rPr lang="en-US" sz="2400" dirty="0">
                <a:latin typeface="Times New Roman" pitchFamily="18" charset="0"/>
              </a:rPr>
              <a:t> </a:t>
            </a:r>
            <a:r>
              <a:rPr lang="en-US" sz="2400" dirty="0" err="1">
                <a:latin typeface="Times New Roman" pitchFamily="18" charset="0"/>
              </a:rPr>
              <a:t>sóng</a:t>
            </a:r>
            <a:r>
              <a:rPr lang="en-US" sz="2400" dirty="0">
                <a:latin typeface="Times New Roman" pitchFamily="18" charset="0"/>
              </a:rPr>
              <a:t> qua M:</a:t>
            </a:r>
          </a:p>
        </p:txBody>
      </p:sp>
      <p:graphicFrame>
        <p:nvGraphicFramePr>
          <p:cNvPr id="12" name="Object 11"/>
          <p:cNvGraphicFramePr>
            <a:graphicFrameLocks noChangeAspect="1"/>
          </p:cNvGraphicFramePr>
          <p:nvPr>
            <p:extLst>
              <p:ext uri="{D42A27DB-BD31-4B8C-83A1-F6EECF244321}">
                <p14:modId xmlns:p14="http://schemas.microsoft.com/office/powerpoint/2010/main" val="3827437799"/>
              </p:ext>
            </p:extLst>
          </p:nvPr>
        </p:nvGraphicFramePr>
        <p:xfrm>
          <a:off x="2326833" y="3581400"/>
          <a:ext cx="5276850" cy="812800"/>
        </p:xfrm>
        <a:graphic>
          <a:graphicData uri="http://schemas.openxmlformats.org/presentationml/2006/ole">
            <mc:AlternateContent xmlns:mc="http://schemas.openxmlformats.org/markup-compatibility/2006">
              <mc:Choice xmlns:v="urn:schemas-microsoft-com:vml" Requires="v">
                <p:oleObj spid="_x0000_s20693" name="Equation" r:id="rId5" imgW="2971800" imgH="457200" progId="Equation.3">
                  <p:embed/>
                </p:oleObj>
              </mc:Choice>
              <mc:Fallback>
                <p:oleObj name="Equation" r:id="rId5" imgW="2971800" imgH="457200" progId="Equation.3">
                  <p:embed/>
                  <p:pic>
                    <p:nvPicPr>
                      <p:cNvPr id="0" name=""/>
                      <p:cNvPicPr>
                        <a:picLocks noChangeAspect="1" noChangeArrowheads="1"/>
                      </p:cNvPicPr>
                      <p:nvPr/>
                    </p:nvPicPr>
                    <p:blipFill>
                      <a:blip r:embed="rId6"/>
                      <a:srcRect/>
                      <a:stretch>
                        <a:fillRect/>
                      </a:stretch>
                    </p:blipFill>
                    <p:spPr bwMode="auto">
                      <a:xfrm>
                        <a:off x="2326833" y="3581400"/>
                        <a:ext cx="5276850"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Rectangle 12"/>
          <p:cNvSpPr/>
          <p:nvPr/>
        </p:nvSpPr>
        <p:spPr>
          <a:xfrm>
            <a:off x="76200" y="4622290"/>
            <a:ext cx="8458200" cy="461665"/>
          </a:xfrm>
          <a:prstGeom prst="rect">
            <a:avLst/>
          </a:prstGeom>
        </p:spPr>
        <p:txBody>
          <a:bodyPr wrap="square">
            <a:spAutoFit/>
          </a:bodyPr>
          <a:lstStyle/>
          <a:p>
            <a:pPr>
              <a:buFont typeface="Wingdings" pitchFamily="2" charset="2"/>
              <a:buNone/>
            </a:pPr>
            <a:r>
              <a:rPr lang="en-US" sz="2400" dirty="0" err="1">
                <a:latin typeface="Times New Roman" pitchFamily="18" charset="0"/>
              </a:rPr>
              <a:t>Gọi</a:t>
            </a:r>
            <a:r>
              <a:rPr lang="en-US" sz="2400" dirty="0">
                <a:latin typeface="Times New Roman" pitchFamily="18" charset="0"/>
              </a:rPr>
              <a:t> n </a:t>
            </a:r>
            <a:r>
              <a:rPr lang="en-US" sz="2400" dirty="0" err="1">
                <a:latin typeface="Times New Roman" pitchFamily="18" charset="0"/>
              </a:rPr>
              <a:t>là</a:t>
            </a:r>
            <a:r>
              <a:rPr lang="en-US" sz="2400" dirty="0">
                <a:latin typeface="Times New Roman" pitchFamily="18" charset="0"/>
              </a:rPr>
              <a:t> </a:t>
            </a:r>
            <a:r>
              <a:rPr lang="en-US" sz="2400" dirty="0" err="1">
                <a:latin typeface="Times New Roman" pitchFamily="18" charset="0"/>
              </a:rPr>
              <a:t>véc</a:t>
            </a:r>
            <a:r>
              <a:rPr lang="en-US" sz="2400" dirty="0">
                <a:latin typeface="Times New Roman" pitchFamily="18" charset="0"/>
              </a:rPr>
              <a:t> </a:t>
            </a:r>
            <a:r>
              <a:rPr lang="en-US" sz="2400" dirty="0" err="1">
                <a:latin typeface="Times New Roman" pitchFamily="18" charset="0"/>
              </a:rPr>
              <a:t>tơ</a:t>
            </a:r>
            <a:r>
              <a:rPr lang="en-US" sz="2400" dirty="0">
                <a:latin typeface="Times New Roman" pitchFamily="18" charset="0"/>
              </a:rPr>
              <a:t> </a:t>
            </a:r>
            <a:r>
              <a:rPr lang="en-US" sz="2400" dirty="0" err="1">
                <a:latin typeface="Times New Roman" pitchFamily="18" charset="0"/>
              </a:rPr>
              <a:t>đơn</a:t>
            </a:r>
            <a:r>
              <a:rPr lang="en-US" sz="2400" dirty="0">
                <a:latin typeface="Times New Roman" pitchFamily="18" charset="0"/>
              </a:rPr>
              <a:t> </a:t>
            </a:r>
            <a:r>
              <a:rPr lang="en-US" sz="2400" dirty="0" err="1">
                <a:latin typeface="Times New Roman" pitchFamily="18" charset="0"/>
              </a:rPr>
              <a:t>vị</a:t>
            </a:r>
            <a:r>
              <a:rPr lang="en-US" sz="2400" dirty="0">
                <a:latin typeface="Times New Roman" pitchFamily="18" charset="0"/>
              </a:rPr>
              <a:t> </a:t>
            </a:r>
            <a:r>
              <a:rPr lang="en-US" sz="2400" dirty="0" err="1">
                <a:latin typeface="Times New Roman" pitchFamily="18" charset="0"/>
              </a:rPr>
              <a:t>theo</a:t>
            </a:r>
            <a:r>
              <a:rPr lang="en-US" sz="2400" dirty="0">
                <a:latin typeface="Times New Roman" pitchFamily="18" charset="0"/>
              </a:rPr>
              <a:t> </a:t>
            </a:r>
            <a:r>
              <a:rPr lang="en-US" sz="2400" dirty="0" err="1">
                <a:latin typeface="Times New Roman" pitchFamily="18" charset="0"/>
              </a:rPr>
              <a:t>phương</a:t>
            </a:r>
            <a:r>
              <a:rPr lang="en-US" sz="2400" dirty="0">
                <a:latin typeface="Times New Roman" pitchFamily="18" charset="0"/>
              </a:rPr>
              <a:t> </a:t>
            </a:r>
            <a:r>
              <a:rPr lang="en-US" sz="2400" dirty="0" err="1">
                <a:latin typeface="Times New Roman" pitchFamily="18" charset="0"/>
              </a:rPr>
              <a:t>truyền</a:t>
            </a:r>
            <a:r>
              <a:rPr lang="en-US" sz="2400" dirty="0">
                <a:latin typeface="Times New Roman" pitchFamily="18" charset="0"/>
              </a:rPr>
              <a:t> </a:t>
            </a:r>
            <a:r>
              <a:rPr lang="en-US" sz="2400" dirty="0" err="1">
                <a:latin typeface="Times New Roman" pitchFamily="18" charset="0"/>
              </a:rPr>
              <a:t>sóng</a:t>
            </a:r>
            <a:r>
              <a:rPr lang="en-US" sz="2400" dirty="0">
                <a:latin typeface="Times New Roman" pitchFamily="18" charset="0"/>
              </a:rPr>
              <a:t>, ta </a:t>
            </a:r>
            <a:r>
              <a:rPr lang="en-US" sz="2400" dirty="0" err="1">
                <a:latin typeface="Times New Roman" pitchFamily="18" charset="0"/>
              </a:rPr>
              <a:t>có</a:t>
            </a:r>
            <a:r>
              <a:rPr lang="en-US" sz="2400" dirty="0">
                <a:latin typeface="Times New Roman" pitchFamily="18" charset="0"/>
              </a:rPr>
              <a:t>:</a:t>
            </a:r>
          </a:p>
        </p:txBody>
      </p:sp>
      <p:graphicFrame>
        <p:nvGraphicFramePr>
          <p:cNvPr id="14" name="Object 13"/>
          <p:cNvGraphicFramePr>
            <a:graphicFrameLocks noChangeAspect="1"/>
          </p:cNvGraphicFramePr>
          <p:nvPr>
            <p:extLst>
              <p:ext uri="{D42A27DB-BD31-4B8C-83A1-F6EECF244321}">
                <p14:modId xmlns:p14="http://schemas.microsoft.com/office/powerpoint/2010/main" val="665528027"/>
              </p:ext>
            </p:extLst>
          </p:nvPr>
        </p:nvGraphicFramePr>
        <p:xfrm>
          <a:off x="6940550" y="4584700"/>
          <a:ext cx="1960563" cy="454025"/>
        </p:xfrm>
        <a:graphic>
          <a:graphicData uri="http://schemas.openxmlformats.org/presentationml/2006/ole">
            <mc:AlternateContent xmlns:mc="http://schemas.openxmlformats.org/markup-compatibility/2006">
              <mc:Choice xmlns:v="urn:schemas-microsoft-com:vml" Requires="v">
                <p:oleObj spid="_x0000_s20694" name="Equation" r:id="rId7" imgW="990360" imgH="228600" progId="Equation.3">
                  <p:embed/>
                </p:oleObj>
              </mc:Choice>
              <mc:Fallback>
                <p:oleObj name="Equation" r:id="rId7" imgW="990360" imgH="228600" progId="Equation.3">
                  <p:embed/>
                  <p:pic>
                    <p:nvPicPr>
                      <p:cNvPr id="0" name=""/>
                      <p:cNvPicPr>
                        <a:picLocks noChangeAspect="1" noChangeArrowheads="1"/>
                      </p:cNvPicPr>
                      <p:nvPr/>
                    </p:nvPicPr>
                    <p:blipFill>
                      <a:blip r:embed="rId8"/>
                      <a:srcRect/>
                      <a:stretch>
                        <a:fillRect/>
                      </a:stretch>
                    </p:blipFill>
                    <p:spPr bwMode="auto">
                      <a:xfrm>
                        <a:off x="6940550" y="4584700"/>
                        <a:ext cx="1960563" cy="454025"/>
                      </a:xfrm>
                      <a:prstGeom prst="rect">
                        <a:avLst/>
                      </a:prstGeom>
                      <a:noFill/>
                      <a:ln>
                        <a:noFill/>
                      </a:ln>
                    </p:spPr>
                  </p:pic>
                </p:oleObj>
              </mc:Fallback>
            </mc:AlternateContent>
          </a:graphicData>
        </a:graphic>
      </p:graphicFrame>
      <p:graphicFrame>
        <p:nvGraphicFramePr>
          <p:cNvPr id="16" name="Object 15"/>
          <p:cNvGraphicFramePr>
            <a:graphicFrameLocks noChangeAspect="1"/>
          </p:cNvGraphicFramePr>
          <p:nvPr>
            <p:extLst>
              <p:ext uri="{D42A27DB-BD31-4B8C-83A1-F6EECF244321}">
                <p14:modId xmlns:p14="http://schemas.microsoft.com/office/powerpoint/2010/main" val="923905666"/>
              </p:ext>
            </p:extLst>
          </p:nvPr>
        </p:nvGraphicFramePr>
        <p:xfrm>
          <a:off x="696913" y="5664200"/>
          <a:ext cx="3252787" cy="1023938"/>
        </p:xfrm>
        <a:graphic>
          <a:graphicData uri="http://schemas.openxmlformats.org/presentationml/2006/ole">
            <mc:AlternateContent xmlns:mc="http://schemas.openxmlformats.org/markup-compatibility/2006">
              <mc:Choice xmlns:v="urn:schemas-microsoft-com:vml" Requires="v">
                <p:oleObj spid="_x0000_s20695" name="Equation" r:id="rId9" imgW="1790640" imgH="558720" progId="Equation.3">
                  <p:embed/>
                </p:oleObj>
              </mc:Choice>
              <mc:Fallback>
                <p:oleObj name="Equation" r:id="rId9" imgW="1790640" imgH="558720" progId="Equation.3">
                  <p:embed/>
                  <p:pic>
                    <p:nvPicPr>
                      <p:cNvPr id="0" name=""/>
                      <p:cNvPicPr>
                        <a:picLocks noChangeAspect="1" noChangeArrowheads="1"/>
                      </p:cNvPicPr>
                      <p:nvPr/>
                    </p:nvPicPr>
                    <p:blipFill>
                      <a:blip r:embed="rId10"/>
                      <a:srcRect/>
                      <a:stretch>
                        <a:fillRect/>
                      </a:stretch>
                    </p:blipFill>
                    <p:spPr bwMode="auto">
                      <a:xfrm>
                        <a:off x="696913" y="5664200"/>
                        <a:ext cx="3252787" cy="1023938"/>
                      </a:xfrm>
                      <a:prstGeom prst="rect">
                        <a:avLst/>
                      </a:prstGeom>
                      <a:noFill/>
                      <a:ln w="9525">
                        <a:noFill/>
                        <a:miter lim="800000"/>
                        <a:headEnd/>
                        <a:tailEnd/>
                      </a:ln>
                    </p:spPr>
                  </p:pic>
                </p:oleObj>
              </mc:Fallback>
            </mc:AlternateContent>
          </a:graphicData>
        </a:graphic>
      </p:graphicFrame>
      <p:graphicFrame>
        <p:nvGraphicFramePr>
          <p:cNvPr id="2" name="Object 1"/>
          <p:cNvGraphicFramePr>
            <a:graphicFrameLocks noChangeAspect="1"/>
          </p:cNvGraphicFramePr>
          <p:nvPr>
            <p:extLst>
              <p:ext uri="{D42A27DB-BD31-4B8C-83A1-F6EECF244321}">
                <p14:modId xmlns:p14="http://schemas.microsoft.com/office/powerpoint/2010/main" val="3876435971"/>
              </p:ext>
            </p:extLst>
          </p:nvPr>
        </p:nvGraphicFramePr>
        <p:xfrm>
          <a:off x="4076700" y="5791200"/>
          <a:ext cx="3686175" cy="838200"/>
        </p:xfrm>
        <a:graphic>
          <a:graphicData uri="http://schemas.openxmlformats.org/presentationml/2006/ole">
            <mc:AlternateContent xmlns:mc="http://schemas.openxmlformats.org/markup-compatibility/2006">
              <mc:Choice xmlns:v="urn:schemas-microsoft-com:vml" Requires="v">
                <p:oleObj spid="_x0000_s20696" name="Equation" r:id="rId11" imgW="1917360" imgH="431640" progId="Equation.3">
                  <p:embed/>
                </p:oleObj>
              </mc:Choice>
              <mc:Fallback>
                <p:oleObj name="Equation" r:id="rId11" imgW="1917360" imgH="431640" progId="Equation.3">
                  <p:embed/>
                  <p:pic>
                    <p:nvPicPr>
                      <p:cNvPr id="0" name=""/>
                      <p:cNvPicPr>
                        <a:picLocks noChangeAspect="1" noChangeArrowheads="1"/>
                      </p:cNvPicPr>
                      <p:nvPr/>
                    </p:nvPicPr>
                    <p:blipFill>
                      <a:blip r:embed="rId12"/>
                      <a:srcRect/>
                      <a:stretch>
                        <a:fillRect/>
                      </a:stretch>
                    </p:blipFill>
                    <p:spPr bwMode="auto">
                      <a:xfrm>
                        <a:off x="4076700" y="5791200"/>
                        <a:ext cx="3686175" cy="838200"/>
                      </a:xfrm>
                      <a:prstGeom prst="rect">
                        <a:avLst/>
                      </a:prstGeom>
                      <a:noFill/>
                      <a:ln w="9525">
                        <a:noFill/>
                        <a:miter lim="800000"/>
                        <a:headEnd/>
                        <a:tailEnd/>
                      </a:ln>
                    </p:spPr>
                  </p:pic>
                </p:oleObj>
              </mc:Fallback>
            </mc:AlternateContent>
          </a:graphicData>
        </a:graphic>
      </p:graphicFrame>
      <p:pic>
        <p:nvPicPr>
          <p:cNvPr id="3" name="Picture 2"/>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5943600" y="1271233"/>
            <a:ext cx="1895740" cy="819264"/>
          </a:xfrm>
          <a:prstGeom prst="rect">
            <a:avLst/>
          </a:prstGeom>
        </p:spPr>
      </p:pic>
      <p:pic>
        <p:nvPicPr>
          <p:cNvPr id="17" name="Picture 16"/>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6160444" y="980951"/>
            <a:ext cx="2886478" cy="1038370"/>
          </a:xfrm>
          <a:prstGeom prst="rect">
            <a:avLst/>
          </a:prstGeom>
        </p:spPr>
      </p:pic>
      <p:pic>
        <p:nvPicPr>
          <p:cNvPr id="18" name="Picture 17"/>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5466826" y="722933"/>
            <a:ext cx="3677174" cy="1791922"/>
          </a:xfrm>
          <a:prstGeom prst="rect">
            <a:avLst/>
          </a:prstGeom>
        </p:spPr>
      </p:pic>
      <p:pic>
        <p:nvPicPr>
          <p:cNvPr id="19" name="Picture 18"/>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5466826" y="685800"/>
            <a:ext cx="3753374" cy="1829055"/>
          </a:xfrm>
          <a:prstGeom prst="rect">
            <a:avLst/>
          </a:prstGeom>
        </p:spPr>
      </p:pic>
    </p:spTree>
    <p:extLst>
      <p:ext uri="{BB962C8B-B14F-4D97-AF65-F5344CB8AC3E}">
        <p14:creationId xmlns:p14="http://schemas.microsoft.com/office/powerpoint/2010/main" val="1805528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down)">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down)">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wipe(down)">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wipe(down)">
                                      <p:cBhvr>
                                        <p:cTn id="27" dur="5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down)">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ipe(down)">
                                      <p:cBhvr>
                                        <p:cTn id="37" dur="5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wipe(down)">
                                      <p:cBhvr>
                                        <p:cTn id="42" dur="50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down)">
                                      <p:cBhvr>
                                        <p:cTn id="47" dur="50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wipe(down)">
                                      <p:cBhvr>
                                        <p:cTn id="52" dur="500"/>
                                        <p:tgtEl>
                                          <p:spTgt spid="14"/>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nodeType="click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wipe(down)">
                                      <p:cBhvr>
                                        <p:cTn id="57" dur="500"/>
                                        <p:tgtEl>
                                          <p:spTgt spid="16"/>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nodeType="clickEffect">
                                  <p:stCondLst>
                                    <p:cond delay="0"/>
                                  </p:stCondLst>
                                  <p:childTnLst>
                                    <p:set>
                                      <p:cBhvr>
                                        <p:cTn id="61" dur="1" fill="hold">
                                          <p:stCondLst>
                                            <p:cond delay="0"/>
                                          </p:stCondLst>
                                        </p:cTn>
                                        <p:tgtEl>
                                          <p:spTgt spid="2"/>
                                        </p:tgtEl>
                                        <p:attrNameLst>
                                          <p:attrName>style.visibility</p:attrName>
                                        </p:attrNameLst>
                                      </p:cBhvr>
                                      <p:to>
                                        <p:strVal val="visible"/>
                                      </p:to>
                                    </p:set>
                                    <p:animEffect transition="in" filter="wipe(down)">
                                      <p:cBhvr>
                                        <p:cTn id="6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76200" y="0"/>
            <a:ext cx="9067800" cy="461665"/>
          </a:xfrm>
          <a:prstGeom prst="rect">
            <a:avLst/>
          </a:prstGeom>
          <a:noFill/>
        </p:spPr>
        <p:txBody>
          <a:bodyPr wrap="square" rtlCol="0">
            <a:spAutoFit/>
          </a:bodyPr>
          <a:lstStyle/>
          <a:p>
            <a:pPr algn="ctr"/>
            <a:r>
              <a:rPr lang="en-US" sz="2400" dirty="0">
                <a:solidFill>
                  <a:srgbClr val="FFFF00"/>
                </a:solidFill>
                <a:latin typeface="Times New Roman" pitchFamily="18" charset="0"/>
                <a:cs typeface="Times New Roman" pitchFamily="18" charset="0"/>
              </a:rPr>
              <a:t>§1. LƯỠNG TÍNH SÓNG HẠT CỦA VI HẠT</a:t>
            </a:r>
          </a:p>
        </p:txBody>
      </p:sp>
      <p:graphicFrame>
        <p:nvGraphicFramePr>
          <p:cNvPr id="3" name="Object 2"/>
          <p:cNvGraphicFramePr>
            <a:graphicFrameLocks noChangeAspect="1"/>
          </p:cNvGraphicFramePr>
          <p:nvPr>
            <p:extLst>
              <p:ext uri="{D42A27DB-BD31-4B8C-83A1-F6EECF244321}">
                <p14:modId xmlns:p14="http://schemas.microsoft.com/office/powerpoint/2010/main" val="2327228527"/>
              </p:ext>
            </p:extLst>
          </p:nvPr>
        </p:nvGraphicFramePr>
        <p:xfrm>
          <a:off x="1562100" y="1752600"/>
          <a:ext cx="1549400" cy="781050"/>
        </p:xfrm>
        <a:graphic>
          <a:graphicData uri="http://schemas.openxmlformats.org/presentationml/2006/ole">
            <mc:AlternateContent xmlns:mc="http://schemas.openxmlformats.org/markup-compatibility/2006">
              <mc:Choice xmlns:v="urn:schemas-microsoft-com:vml" Requires="v">
                <p:oleObj spid="_x0000_s2266" name="Equation" r:id="rId3" imgW="774360" imgH="393480" progId="Equation.3">
                  <p:embed/>
                </p:oleObj>
              </mc:Choice>
              <mc:Fallback>
                <p:oleObj name="Equation" r:id="rId3" imgW="774360" imgH="393480" progId="Equation.3">
                  <p:embed/>
                  <p:pic>
                    <p:nvPicPr>
                      <p:cNvPr id="0" name="Object 10"/>
                      <p:cNvPicPr>
                        <a:picLocks noChangeAspect="1" noChangeArrowheads="1"/>
                      </p:cNvPicPr>
                      <p:nvPr/>
                    </p:nvPicPr>
                    <p:blipFill>
                      <a:blip r:embed="rId4"/>
                      <a:srcRect/>
                      <a:stretch>
                        <a:fillRect/>
                      </a:stretch>
                    </p:blipFill>
                    <p:spPr bwMode="auto">
                      <a:xfrm>
                        <a:off x="1562100" y="1752600"/>
                        <a:ext cx="1549400"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3611081502"/>
              </p:ext>
            </p:extLst>
          </p:nvPr>
        </p:nvGraphicFramePr>
        <p:xfrm>
          <a:off x="3935413" y="1752600"/>
          <a:ext cx="3319462" cy="779463"/>
        </p:xfrm>
        <a:graphic>
          <a:graphicData uri="http://schemas.openxmlformats.org/presentationml/2006/ole">
            <mc:AlternateContent xmlns:mc="http://schemas.openxmlformats.org/markup-compatibility/2006">
              <mc:Choice xmlns:v="urn:schemas-microsoft-com:vml" Requires="v">
                <p:oleObj spid="_x0000_s2267" name="Equation" r:id="rId5" imgW="1815840" imgH="431640" progId="Equation.3">
                  <p:embed/>
                </p:oleObj>
              </mc:Choice>
              <mc:Fallback>
                <p:oleObj name="Equation" r:id="rId5" imgW="1815840" imgH="431640" progId="Equation.3">
                  <p:embed/>
                  <p:pic>
                    <p:nvPicPr>
                      <p:cNvPr id="0" name="Object 13"/>
                      <p:cNvPicPr>
                        <a:picLocks noChangeAspect="1" noChangeArrowheads="1"/>
                      </p:cNvPicPr>
                      <p:nvPr/>
                    </p:nvPicPr>
                    <p:blipFill>
                      <a:blip r:embed="rId6"/>
                      <a:srcRect/>
                      <a:stretch>
                        <a:fillRect/>
                      </a:stretch>
                    </p:blipFill>
                    <p:spPr bwMode="auto">
                      <a:xfrm>
                        <a:off x="3935413" y="1752600"/>
                        <a:ext cx="3319462" cy="779463"/>
                      </a:xfrm>
                      <a:prstGeom prst="rect">
                        <a:avLst/>
                      </a:prstGeom>
                      <a:noFill/>
                      <a:ln w="9525">
                        <a:solidFill>
                          <a:schemeClr val="folHlink"/>
                        </a:solidFill>
                        <a:miter lim="800000"/>
                        <a:headEnd/>
                        <a:tailEnd/>
                      </a:ln>
                    </p:spPr>
                  </p:pic>
                </p:oleObj>
              </mc:Fallback>
            </mc:AlternateContent>
          </a:graphicData>
        </a:graphic>
      </p:graphicFrame>
      <p:graphicFrame>
        <p:nvGraphicFramePr>
          <p:cNvPr id="8" name="Object 7"/>
          <p:cNvGraphicFramePr>
            <a:graphicFrameLocks noChangeAspect="1"/>
          </p:cNvGraphicFramePr>
          <p:nvPr>
            <p:extLst>
              <p:ext uri="{D42A27DB-BD31-4B8C-83A1-F6EECF244321}">
                <p14:modId xmlns:p14="http://schemas.microsoft.com/office/powerpoint/2010/main" val="1006100240"/>
              </p:ext>
            </p:extLst>
          </p:nvPr>
        </p:nvGraphicFramePr>
        <p:xfrm>
          <a:off x="1393825" y="3917950"/>
          <a:ext cx="5719763" cy="1062038"/>
        </p:xfrm>
        <a:graphic>
          <a:graphicData uri="http://schemas.openxmlformats.org/presentationml/2006/ole">
            <mc:AlternateContent xmlns:mc="http://schemas.openxmlformats.org/markup-compatibility/2006">
              <mc:Choice xmlns:v="urn:schemas-microsoft-com:vml" Requires="v">
                <p:oleObj spid="_x0000_s2268" name="Equation" r:id="rId7" imgW="2361960" imgH="444240" progId="Equation.3">
                  <p:embed/>
                </p:oleObj>
              </mc:Choice>
              <mc:Fallback>
                <p:oleObj name="Equation" r:id="rId7" imgW="2361960" imgH="444240" progId="Equation.3">
                  <p:embed/>
                  <p:pic>
                    <p:nvPicPr>
                      <p:cNvPr id="0" name="Object 13"/>
                      <p:cNvPicPr>
                        <a:picLocks noChangeAspect="1" noChangeArrowheads="1"/>
                      </p:cNvPicPr>
                      <p:nvPr/>
                    </p:nvPicPr>
                    <p:blipFill>
                      <a:blip r:embed="rId8"/>
                      <a:srcRect/>
                      <a:stretch>
                        <a:fillRect/>
                      </a:stretch>
                    </p:blipFill>
                    <p:spPr bwMode="auto">
                      <a:xfrm>
                        <a:off x="1393825" y="3917950"/>
                        <a:ext cx="5719763" cy="1062038"/>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Rectangle 8"/>
          <p:cNvSpPr/>
          <p:nvPr/>
        </p:nvSpPr>
        <p:spPr>
          <a:xfrm>
            <a:off x="381000" y="3105835"/>
            <a:ext cx="8686800" cy="461665"/>
          </a:xfrm>
          <a:prstGeom prst="rect">
            <a:avLst/>
          </a:prstGeom>
        </p:spPr>
        <p:txBody>
          <a:bodyPr wrap="square">
            <a:spAutoFit/>
          </a:bodyPr>
          <a:lstStyle/>
          <a:p>
            <a:r>
              <a:rPr lang="en-US" sz="2400" dirty="0" err="1">
                <a:latin typeface="Times New Roman" pitchFamily="18" charset="0"/>
              </a:rPr>
              <a:t>Hàm</a:t>
            </a:r>
            <a:r>
              <a:rPr lang="en-US" sz="2400" dirty="0">
                <a:latin typeface="Times New Roman" pitchFamily="18" charset="0"/>
              </a:rPr>
              <a:t> </a:t>
            </a:r>
            <a:r>
              <a:rPr lang="en-US" sz="2400" dirty="0" err="1">
                <a:latin typeface="Times New Roman" pitchFamily="18" charset="0"/>
              </a:rPr>
              <a:t>sóng</a:t>
            </a:r>
            <a:r>
              <a:rPr lang="en-US" sz="2400" dirty="0">
                <a:latin typeface="Times New Roman" pitchFamily="18" charset="0"/>
              </a:rPr>
              <a:t> </a:t>
            </a:r>
            <a:r>
              <a:rPr lang="en-US" sz="2400" dirty="0" err="1">
                <a:latin typeface="Times New Roman" pitchFamily="18" charset="0"/>
              </a:rPr>
              <a:t>ký</a:t>
            </a:r>
            <a:r>
              <a:rPr lang="en-US" sz="2400" dirty="0">
                <a:latin typeface="Times New Roman" pitchFamily="18" charset="0"/>
              </a:rPr>
              <a:t> </a:t>
            </a:r>
            <a:r>
              <a:rPr lang="en-US" sz="2400" dirty="0" err="1">
                <a:latin typeface="Times New Roman" pitchFamily="18" charset="0"/>
              </a:rPr>
              <a:t>hiệu</a:t>
            </a:r>
            <a:r>
              <a:rPr lang="en-US" sz="2400" dirty="0">
                <a:latin typeface="Times New Roman" pitchFamily="18" charset="0"/>
              </a:rPr>
              <a:t> </a:t>
            </a:r>
            <a:r>
              <a:rPr lang="el-GR" sz="2400" dirty="0">
                <a:latin typeface="Times New Roman" pitchFamily="18" charset="0"/>
                <a:cs typeface="Times New Roman" pitchFamily="18" charset="0"/>
              </a:rPr>
              <a:t>ψ</a:t>
            </a:r>
            <a:r>
              <a:rPr lang="en-US" sz="2400" dirty="0">
                <a:latin typeface="Times New Roman" pitchFamily="18" charset="0"/>
                <a:cs typeface="Times New Roman" pitchFamily="18" charset="0"/>
              </a:rPr>
              <a:t>: </a:t>
            </a:r>
          </a:p>
        </p:txBody>
      </p:sp>
    </p:spTree>
    <p:extLst>
      <p:ext uri="{BB962C8B-B14F-4D97-AF65-F5344CB8AC3E}">
        <p14:creationId xmlns:p14="http://schemas.microsoft.com/office/powerpoint/2010/main" val="646959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down)">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down)">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76200" y="0"/>
            <a:ext cx="9067800" cy="461665"/>
          </a:xfrm>
          <a:prstGeom prst="rect">
            <a:avLst/>
          </a:prstGeom>
          <a:noFill/>
        </p:spPr>
        <p:txBody>
          <a:bodyPr wrap="square" rtlCol="0">
            <a:spAutoFit/>
          </a:bodyPr>
          <a:lstStyle/>
          <a:p>
            <a:pPr algn="ctr"/>
            <a:r>
              <a:rPr lang="en-US" sz="2400" dirty="0">
                <a:solidFill>
                  <a:srgbClr val="FFFF00"/>
                </a:solidFill>
                <a:latin typeface="Times New Roman" pitchFamily="18" charset="0"/>
                <a:cs typeface="Times New Roman" pitchFamily="18" charset="0"/>
              </a:rPr>
              <a:t>§1. LƯỠNG TÍNH SÓNG HẠT CỦA VI HẠT</a:t>
            </a:r>
          </a:p>
        </p:txBody>
      </p:sp>
      <p:sp>
        <p:nvSpPr>
          <p:cNvPr id="2" name="Rectangle 1"/>
          <p:cNvSpPr/>
          <p:nvPr/>
        </p:nvSpPr>
        <p:spPr>
          <a:xfrm>
            <a:off x="76200" y="609600"/>
            <a:ext cx="8991600" cy="461665"/>
          </a:xfrm>
          <a:prstGeom prst="rect">
            <a:avLst/>
          </a:prstGeom>
        </p:spPr>
        <p:txBody>
          <a:bodyPr wrap="square">
            <a:spAutoFit/>
          </a:bodyPr>
          <a:lstStyle/>
          <a:p>
            <a:pPr>
              <a:buFont typeface="Wingdings" pitchFamily="2" charset="2"/>
              <a:buNone/>
            </a:pPr>
            <a:r>
              <a:rPr lang="en-US" sz="2400" b="1" dirty="0">
                <a:solidFill>
                  <a:schemeClr val="hlink"/>
                </a:solidFill>
                <a:latin typeface="Times New Roman" pitchFamily="18" charset="0"/>
              </a:rPr>
              <a:t>II. </a:t>
            </a:r>
            <a:r>
              <a:rPr lang="en-US" sz="2400" b="1" dirty="0" err="1">
                <a:solidFill>
                  <a:schemeClr val="hlink"/>
                </a:solidFill>
                <a:latin typeface="Times New Roman" pitchFamily="18" charset="0"/>
              </a:rPr>
              <a:t>Giả</a:t>
            </a:r>
            <a:r>
              <a:rPr lang="en-US" sz="2400" b="1" dirty="0">
                <a:solidFill>
                  <a:schemeClr val="hlink"/>
                </a:solidFill>
                <a:latin typeface="Times New Roman" pitchFamily="18" charset="0"/>
              </a:rPr>
              <a:t> </a:t>
            </a:r>
            <a:r>
              <a:rPr lang="en-US" sz="2400" b="1" dirty="0" err="1">
                <a:solidFill>
                  <a:schemeClr val="hlink"/>
                </a:solidFill>
                <a:latin typeface="Times New Roman" pitchFamily="18" charset="0"/>
              </a:rPr>
              <a:t>thuyết</a:t>
            </a:r>
            <a:r>
              <a:rPr lang="en-US" sz="2400" b="1" dirty="0">
                <a:solidFill>
                  <a:schemeClr val="hlink"/>
                </a:solidFill>
                <a:latin typeface="Times New Roman" pitchFamily="18" charset="0"/>
              </a:rPr>
              <a:t> De Broglie </a:t>
            </a:r>
            <a:r>
              <a:rPr lang="en-US" sz="2400" b="1" dirty="0" err="1">
                <a:solidFill>
                  <a:schemeClr val="hlink"/>
                </a:solidFill>
                <a:latin typeface="Times New Roman" pitchFamily="18" charset="0"/>
              </a:rPr>
              <a:t>về</a:t>
            </a:r>
            <a:r>
              <a:rPr lang="en-US" sz="2400" b="1" dirty="0">
                <a:solidFill>
                  <a:schemeClr val="hlink"/>
                </a:solidFill>
                <a:latin typeface="Times New Roman" pitchFamily="18" charset="0"/>
              </a:rPr>
              <a:t> </a:t>
            </a:r>
            <a:r>
              <a:rPr lang="en-US" sz="2400" b="1" dirty="0" err="1">
                <a:solidFill>
                  <a:schemeClr val="hlink"/>
                </a:solidFill>
                <a:latin typeface="Times New Roman" pitchFamily="18" charset="0"/>
              </a:rPr>
              <a:t>lưỡng</a:t>
            </a:r>
            <a:r>
              <a:rPr lang="en-US" sz="2400" b="1" dirty="0">
                <a:solidFill>
                  <a:schemeClr val="hlink"/>
                </a:solidFill>
                <a:latin typeface="Times New Roman" pitchFamily="18" charset="0"/>
              </a:rPr>
              <a:t> </a:t>
            </a:r>
            <a:r>
              <a:rPr lang="en-US" sz="2400" b="1" dirty="0" err="1">
                <a:solidFill>
                  <a:schemeClr val="hlink"/>
                </a:solidFill>
                <a:latin typeface="Times New Roman" pitchFamily="18" charset="0"/>
              </a:rPr>
              <a:t>tính</a:t>
            </a:r>
            <a:r>
              <a:rPr lang="en-US" sz="2400" b="1" dirty="0">
                <a:solidFill>
                  <a:schemeClr val="hlink"/>
                </a:solidFill>
                <a:latin typeface="Times New Roman" pitchFamily="18" charset="0"/>
              </a:rPr>
              <a:t> </a:t>
            </a:r>
            <a:r>
              <a:rPr lang="en-US" sz="2400" b="1" dirty="0" err="1">
                <a:solidFill>
                  <a:schemeClr val="hlink"/>
                </a:solidFill>
                <a:latin typeface="Times New Roman" pitchFamily="18" charset="0"/>
              </a:rPr>
              <a:t>sóng</a:t>
            </a:r>
            <a:r>
              <a:rPr lang="en-US" sz="2400" b="1" dirty="0">
                <a:solidFill>
                  <a:schemeClr val="hlink"/>
                </a:solidFill>
                <a:latin typeface="Times New Roman" pitchFamily="18" charset="0"/>
              </a:rPr>
              <a:t> </a:t>
            </a:r>
            <a:r>
              <a:rPr lang="en-US" sz="2400" b="1" dirty="0" err="1">
                <a:solidFill>
                  <a:schemeClr val="hlink"/>
                </a:solidFill>
                <a:latin typeface="Times New Roman" pitchFamily="18" charset="0"/>
              </a:rPr>
              <a:t>hạt</a:t>
            </a:r>
            <a:r>
              <a:rPr lang="en-US" sz="2400" b="1" dirty="0">
                <a:solidFill>
                  <a:schemeClr val="hlink"/>
                </a:solidFill>
                <a:latin typeface="Times New Roman" pitchFamily="18" charset="0"/>
              </a:rPr>
              <a:t> </a:t>
            </a:r>
            <a:r>
              <a:rPr lang="en-US" sz="2400" b="1" dirty="0" err="1">
                <a:solidFill>
                  <a:schemeClr val="hlink"/>
                </a:solidFill>
                <a:latin typeface="Times New Roman" pitchFamily="18" charset="0"/>
              </a:rPr>
              <a:t>của</a:t>
            </a:r>
            <a:r>
              <a:rPr lang="en-US" sz="2400" b="1" dirty="0">
                <a:solidFill>
                  <a:schemeClr val="hlink"/>
                </a:solidFill>
                <a:latin typeface="Times New Roman" pitchFamily="18" charset="0"/>
              </a:rPr>
              <a:t> vi  </a:t>
            </a:r>
            <a:r>
              <a:rPr lang="en-US" sz="2400" b="1" dirty="0" err="1">
                <a:solidFill>
                  <a:schemeClr val="hlink"/>
                </a:solidFill>
                <a:latin typeface="Times New Roman" pitchFamily="18" charset="0"/>
              </a:rPr>
              <a:t>hạt</a:t>
            </a:r>
            <a:endParaRPr lang="en-US" sz="2400" b="1" dirty="0">
              <a:solidFill>
                <a:schemeClr val="hlink"/>
              </a:solidFill>
              <a:latin typeface="Times New Roman" pitchFamily="18" charset="0"/>
            </a:endParaRPr>
          </a:p>
        </p:txBody>
      </p:sp>
      <p:sp>
        <p:nvSpPr>
          <p:cNvPr id="3" name="Rectangle 2"/>
          <p:cNvSpPr/>
          <p:nvPr/>
        </p:nvSpPr>
        <p:spPr>
          <a:xfrm>
            <a:off x="152400" y="1071266"/>
            <a:ext cx="8915400" cy="830997"/>
          </a:xfrm>
          <a:prstGeom prst="rect">
            <a:avLst/>
          </a:prstGeom>
        </p:spPr>
        <p:txBody>
          <a:bodyPr wrap="square">
            <a:spAutoFit/>
          </a:bodyPr>
          <a:lstStyle/>
          <a:p>
            <a:pPr>
              <a:buFont typeface="Wingdings" pitchFamily="2" charset="2"/>
              <a:buNone/>
            </a:pPr>
            <a:r>
              <a:rPr lang="en-US" sz="2400" i="1" dirty="0" err="1">
                <a:solidFill>
                  <a:srgbClr val="FF0000"/>
                </a:solidFill>
                <a:latin typeface="Times New Roman" pitchFamily="18" charset="0"/>
              </a:rPr>
              <a:t>Một</a:t>
            </a:r>
            <a:r>
              <a:rPr lang="en-US" sz="2400" i="1" dirty="0">
                <a:solidFill>
                  <a:srgbClr val="FF0000"/>
                </a:solidFill>
                <a:latin typeface="Times New Roman" pitchFamily="18" charset="0"/>
              </a:rPr>
              <a:t> vi </a:t>
            </a:r>
            <a:r>
              <a:rPr lang="en-US" sz="2400" i="1" dirty="0" err="1">
                <a:solidFill>
                  <a:srgbClr val="FF0000"/>
                </a:solidFill>
                <a:latin typeface="Times New Roman" pitchFamily="18" charset="0"/>
              </a:rPr>
              <a:t>hạt</a:t>
            </a:r>
            <a:r>
              <a:rPr lang="en-US" sz="2400" i="1" dirty="0">
                <a:solidFill>
                  <a:srgbClr val="FF0000"/>
                </a:solidFill>
                <a:latin typeface="Times New Roman" pitchFamily="18" charset="0"/>
              </a:rPr>
              <a:t> </a:t>
            </a:r>
            <a:r>
              <a:rPr lang="en-US" sz="2400" i="1" dirty="0" err="1">
                <a:solidFill>
                  <a:srgbClr val="0070C0"/>
                </a:solidFill>
                <a:latin typeface="Times New Roman" pitchFamily="18" charset="0"/>
              </a:rPr>
              <a:t>tự</a:t>
            </a:r>
            <a:r>
              <a:rPr lang="en-US" sz="2400" i="1" dirty="0">
                <a:solidFill>
                  <a:srgbClr val="0070C0"/>
                </a:solidFill>
                <a:latin typeface="Times New Roman" pitchFamily="18" charset="0"/>
              </a:rPr>
              <a:t> do </a:t>
            </a:r>
            <a:r>
              <a:rPr lang="en-US" sz="2400" i="1" dirty="0" err="1">
                <a:solidFill>
                  <a:srgbClr val="FF0000"/>
                </a:solidFill>
                <a:latin typeface="Times New Roman" pitchFamily="18" charset="0"/>
              </a:rPr>
              <a:t>có</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năng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lượng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xác</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định</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động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lượng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xác</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định</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thì</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tương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ứng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với</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một</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sóng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phẳng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đơn</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sắc</a:t>
            </a:r>
            <a:r>
              <a:rPr lang="en-US" sz="2400" i="1" dirty="0">
                <a:solidFill>
                  <a:srgbClr val="FF0000"/>
                </a:solidFill>
                <a:latin typeface="Times New Roman" pitchFamily="18" charset="0"/>
              </a:rPr>
              <a:t>.</a:t>
            </a:r>
          </a:p>
        </p:txBody>
      </p:sp>
      <p:sp>
        <p:nvSpPr>
          <p:cNvPr id="6" name="Rectangle 5"/>
          <p:cNvSpPr/>
          <p:nvPr/>
        </p:nvSpPr>
        <p:spPr>
          <a:xfrm>
            <a:off x="228600" y="1981200"/>
            <a:ext cx="5509745" cy="461665"/>
          </a:xfrm>
          <a:prstGeom prst="rect">
            <a:avLst/>
          </a:prstGeom>
        </p:spPr>
        <p:txBody>
          <a:bodyPr wrap="square">
            <a:spAutoFit/>
          </a:bodyPr>
          <a:lstStyle/>
          <a:p>
            <a:pPr>
              <a:buFont typeface="Wingdings" pitchFamily="2" charset="2"/>
              <a:buNone/>
            </a:pPr>
            <a:r>
              <a:rPr lang="en-US" sz="2400" i="1" dirty="0" err="1">
                <a:solidFill>
                  <a:srgbClr val="0070C0"/>
                </a:solidFill>
                <a:latin typeface="Times New Roman" pitchFamily="18" charset="0"/>
              </a:rPr>
              <a:t>Năng</a:t>
            </a:r>
            <a:r>
              <a:rPr lang="en-US" sz="2400" i="1" dirty="0">
                <a:solidFill>
                  <a:srgbClr val="0070C0"/>
                </a:solidFill>
                <a:latin typeface="Times New Roman" pitchFamily="18" charset="0"/>
              </a:rPr>
              <a:t> </a:t>
            </a:r>
            <a:r>
              <a:rPr lang="en-US" sz="2400" i="1" dirty="0" err="1">
                <a:solidFill>
                  <a:srgbClr val="0070C0"/>
                </a:solidFill>
                <a:latin typeface="Times New Roman" pitchFamily="18" charset="0"/>
              </a:rPr>
              <a:t>lượng</a:t>
            </a:r>
            <a:r>
              <a:rPr lang="en-US" sz="2400" i="1" dirty="0">
                <a:solidFill>
                  <a:srgbClr val="0070C0"/>
                </a:solidFill>
                <a:latin typeface="Times New Roman" pitchFamily="18" charset="0"/>
              </a:rPr>
              <a:t> </a:t>
            </a:r>
            <a:r>
              <a:rPr lang="en-US" sz="2400" i="1" dirty="0" err="1">
                <a:solidFill>
                  <a:srgbClr val="0070C0"/>
                </a:solidFill>
                <a:latin typeface="Times New Roman" pitchFamily="18" charset="0"/>
              </a:rPr>
              <a:t>của</a:t>
            </a:r>
            <a:r>
              <a:rPr lang="en-US" sz="2400" i="1" dirty="0">
                <a:solidFill>
                  <a:srgbClr val="0070C0"/>
                </a:solidFill>
                <a:latin typeface="Times New Roman" pitchFamily="18" charset="0"/>
              </a:rPr>
              <a:t> vi </a:t>
            </a:r>
            <a:r>
              <a:rPr lang="en-US" sz="2400" i="1" dirty="0" err="1">
                <a:solidFill>
                  <a:srgbClr val="0070C0"/>
                </a:solidFill>
                <a:latin typeface="Times New Roman" pitchFamily="18" charset="0"/>
              </a:rPr>
              <a:t>hạt</a:t>
            </a:r>
            <a:r>
              <a:rPr lang="en-US" sz="2400" i="1" dirty="0">
                <a:solidFill>
                  <a:srgbClr val="0070C0"/>
                </a:solidFill>
                <a:latin typeface="Times New Roman" pitchFamily="18" charset="0"/>
              </a:rPr>
              <a:t>:</a:t>
            </a:r>
          </a:p>
        </p:txBody>
      </p:sp>
      <p:graphicFrame>
        <p:nvGraphicFramePr>
          <p:cNvPr id="7" name="Object 6"/>
          <p:cNvGraphicFramePr>
            <a:graphicFrameLocks noChangeAspect="1"/>
          </p:cNvGraphicFramePr>
          <p:nvPr>
            <p:extLst>
              <p:ext uri="{D42A27DB-BD31-4B8C-83A1-F6EECF244321}">
                <p14:modId xmlns:p14="http://schemas.microsoft.com/office/powerpoint/2010/main" val="1621160670"/>
              </p:ext>
            </p:extLst>
          </p:nvPr>
        </p:nvGraphicFramePr>
        <p:xfrm>
          <a:off x="3511550" y="2590800"/>
          <a:ext cx="1025525" cy="404813"/>
        </p:xfrm>
        <a:graphic>
          <a:graphicData uri="http://schemas.openxmlformats.org/presentationml/2006/ole">
            <mc:AlternateContent xmlns:mc="http://schemas.openxmlformats.org/markup-compatibility/2006">
              <mc:Choice xmlns:v="urn:schemas-microsoft-com:vml" Requires="v">
                <p:oleObj spid="_x0000_s3273" name="Equation" r:id="rId3" imgW="507960" imgH="203040" progId="Equation.3">
                  <p:embed/>
                </p:oleObj>
              </mc:Choice>
              <mc:Fallback>
                <p:oleObj name="Equation" r:id="rId3" imgW="507960" imgH="203040" progId="Equation.3">
                  <p:embed/>
                  <p:pic>
                    <p:nvPicPr>
                      <p:cNvPr id="0" name="Object 4"/>
                      <p:cNvPicPr>
                        <a:picLocks noChangeAspect="1" noChangeArrowheads="1"/>
                      </p:cNvPicPr>
                      <p:nvPr/>
                    </p:nvPicPr>
                    <p:blipFill>
                      <a:blip r:embed="rId4"/>
                      <a:srcRect/>
                      <a:stretch>
                        <a:fillRect/>
                      </a:stretch>
                    </p:blipFill>
                    <p:spPr bwMode="auto">
                      <a:xfrm>
                        <a:off x="3511550" y="2590800"/>
                        <a:ext cx="1025525" cy="404813"/>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7"/>
          <p:cNvSpPr/>
          <p:nvPr/>
        </p:nvSpPr>
        <p:spPr>
          <a:xfrm>
            <a:off x="381000" y="3241376"/>
            <a:ext cx="3062057" cy="461665"/>
          </a:xfrm>
          <a:prstGeom prst="rect">
            <a:avLst/>
          </a:prstGeom>
        </p:spPr>
        <p:txBody>
          <a:bodyPr wrap="none">
            <a:spAutoFit/>
          </a:bodyPr>
          <a:lstStyle/>
          <a:p>
            <a:pPr>
              <a:buFont typeface="Wingdings" pitchFamily="2" charset="2"/>
              <a:buNone/>
            </a:pPr>
            <a:r>
              <a:rPr lang="en-US" sz="2400" i="1" dirty="0" err="1">
                <a:solidFill>
                  <a:srgbClr val="0070C0"/>
                </a:solidFill>
                <a:latin typeface="Times New Roman" pitchFamily="18" charset="0"/>
              </a:rPr>
              <a:t>Động</a:t>
            </a:r>
            <a:r>
              <a:rPr lang="en-US" sz="2400" i="1" dirty="0">
                <a:solidFill>
                  <a:srgbClr val="0070C0"/>
                </a:solidFill>
                <a:latin typeface="Times New Roman" pitchFamily="18" charset="0"/>
              </a:rPr>
              <a:t> </a:t>
            </a:r>
            <a:r>
              <a:rPr lang="en-US" sz="2400" i="1" dirty="0" err="1">
                <a:solidFill>
                  <a:srgbClr val="0070C0"/>
                </a:solidFill>
                <a:latin typeface="Times New Roman" pitchFamily="18" charset="0"/>
              </a:rPr>
              <a:t>lượng</a:t>
            </a:r>
            <a:r>
              <a:rPr lang="en-US" sz="2400" i="1" dirty="0">
                <a:solidFill>
                  <a:srgbClr val="0070C0"/>
                </a:solidFill>
                <a:latin typeface="Times New Roman" pitchFamily="18" charset="0"/>
              </a:rPr>
              <a:t> </a:t>
            </a:r>
            <a:r>
              <a:rPr lang="en-US" sz="2400" i="1" dirty="0" err="1">
                <a:solidFill>
                  <a:srgbClr val="0070C0"/>
                </a:solidFill>
                <a:latin typeface="Times New Roman" pitchFamily="18" charset="0"/>
              </a:rPr>
              <a:t>của</a:t>
            </a:r>
            <a:r>
              <a:rPr lang="en-US" sz="2400" i="1" dirty="0">
                <a:solidFill>
                  <a:srgbClr val="0070C0"/>
                </a:solidFill>
                <a:latin typeface="Times New Roman" pitchFamily="18" charset="0"/>
              </a:rPr>
              <a:t> vi </a:t>
            </a:r>
            <a:r>
              <a:rPr lang="en-US" sz="2400" i="1" dirty="0" err="1">
                <a:solidFill>
                  <a:srgbClr val="0070C0"/>
                </a:solidFill>
                <a:latin typeface="Times New Roman" pitchFamily="18" charset="0"/>
              </a:rPr>
              <a:t>hạt</a:t>
            </a:r>
            <a:r>
              <a:rPr lang="en-US" sz="2400" i="1" dirty="0">
                <a:solidFill>
                  <a:srgbClr val="0070C0"/>
                </a:solidFill>
                <a:latin typeface="Times New Roman" pitchFamily="18" charset="0"/>
              </a:rPr>
              <a:t>:</a:t>
            </a:r>
          </a:p>
        </p:txBody>
      </p:sp>
      <p:graphicFrame>
        <p:nvGraphicFramePr>
          <p:cNvPr id="9" name="Object 8"/>
          <p:cNvGraphicFramePr>
            <a:graphicFrameLocks noChangeAspect="1"/>
          </p:cNvGraphicFramePr>
          <p:nvPr>
            <p:extLst>
              <p:ext uri="{D42A27DB-BD31-4B8C-83A1-F6EECF244321}">
                <p14:modId xmlns:p14="http://schemas.microsoft.com/office/powerpoint/2010/main" val="2867050968"/>
              </p:ext>
            </p:extLst>
          </p:nvPr>
        </p:nvGraphicFramePr>
        <p:xfrm>
          <a:off x="3554413" y="3886200"/>
          <a:ext cx="1033462" cy="857250"/>
        </p:xfrm>
        <a:graphic>
          <a:graphicData uri="http://schemas.openxmlformats.org/presentationml/2006/ole">
            <mc:AlternateContent xmlns:mc="http://schemas.openxmlformats.org/markup-compatibility/2006">
              <mc:Choice xmlns:v="urn:schemas-microsoft-com:vml" Requires="v">
                <p:oleObj spid="_x0000_s3274" name="Equation" r:id="rId5" imgW="469800" imgH="393480" progId="Equation.3">
                  <p:embed/>
                </p:oleObj>
              </mc:Choice>
              <mc:Fallback>
                <p:oleObj name="Equation" r:id="rId5" imgW="469800" imgH="393480" progId="Equation.3">
                  <p:embed/>
                  <p:pic>
                    <p:nvPicPr>
                      <p:cNvPr id="0" name="Object 7"/>
                      <p:cNvPicPr>
                        <a:picLocks noChangeAspect="1" noChangeArrowheads="1"/>
                      </p:cNvPicPr>
                      <p:nvPr/>
                    </p:nvPicPr>
                    <p:blipFill>
                      <a:blip r:embed="rId6"/>
                      <a:srcRect/>
                      <a:stretch>
                        <a:fillRect/>
                      </a:stretch>
                    </p:blipFill>
                    <p:spPr bwMode="auto">
                      <a:xfrm>
                        <a:off x="3554413" y="3886200"/>
                        <a:ext cx="1033462" cy="857250"/>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Rectangle 9"/>
          <p:cNvSpPr/>
          <p:nvPr/>
        </p:nvSpPr>
        <p:spPr>
          <a:xfrm>
            <a:off x="304800" y="4876800"/>
            <a:ext cx="4972643" cy="461665"/>
          </a:xfrm>
          <a:prstGeom prst="rect">
            <a:avLst/>
          </a:prstGeom>
        </p:spPr>
        <p:txBody>
          <a:bodyPr wrap="none">
            <a:spAutoFit/>
          </a:bodyPr>
          <a:lstStyle/>
          <a:p>
            <a:r>
              <a:rPr lang="en-US" sz="2400" i="1" dirty="0" err="1">
                <a:solidFill>
                  <a:srgbClr val="0070C0"/>
                </a:solidFill>
                <a:latin typeface="Times New Roman" pitchFamily="18" charset="0"/>
              </a:rPr>
              <a:t>Hàm</a:t>
            </a:r>
            <a:r>
              <a:rPr lang="en-US" sz="2400" i="1" dirty="0">
                <a:solidFill>
                  <a:srgbClr val="0070C0"/>
                </a:solidFill>
                <a:latin typeface="Times New Roman" pitchFamily="18" charset="0"/>
              </a:rPr>
              <a:t> </a:t>
            </a:r>
            <a:r>
              <a:rPr lang="en-US" sz="2400" i="1" dirty="0" err="1">
                <a:solidFill>
                  <a:srgbClr val="0070C0"/>
                </a:solidFill>
                <a:latin typeface="Times New Roman" pitchFamily="18" charset="0"/>
              </a:rPr>
              <a:t>sóng</a:t>
            </a:r>
            <a:r>
              <a:rPr lang="en-US" sz="2400" i="1" dirty="0">
                <a:solidFill>
                  <a:srgbClr val="0070C0"/>
                </a:solidFill>
                <a:latin typeface="Times New Roman" pitchFamily="18" charset="0"/>
              </a:rPr>
              <a:t> De Broglie </a:t>
            </a:r>
            <a:r>
              <a:rPr lang="en-US" sz="2400" i="1" dirty="0" err="1">
                <a:solidFill>
                  <a:srgbClr val="0070C0"/>
                </a:solidFill>
                <a:latin typeface="Times New Roman" pitchFamily="18" charset="0"/>
              </a:rPr>
              <a:t>của</a:t>
            </a:r>
            <a:r>
              <a:rPr lang="en-US" sz="2400" i="1" dirty="0">
                <a:solidFill>
                  <a:srgbClr val="0070C0"/>
                </a:solidFill>
                <a:latin typeface="Times New Roman" pitchFamily="18" charset="0"/>
              </a:rPr>
              <a:t> vi </a:t>
            </a:r>
            <a:r>
              <a:rPr lang="en-US" sz="2400" i="1" dirty="0" err="1">
                <a:solidFill>
                  <a:srgbClr val="0070C0"/>
                </a:solidFill>
                <a:latin typeface="Times New Roman" pitchFamily="18" charset="0"/>
              </a:rPr>
              <a:t>hạt</a:t>
            </a:r>
            <a:r>
              <a:rPr lang="en-US" sz="2400" i="1" dirty="0">
                <a:solidFill>
                  <a:srgbClr val="0070C0"/>
                </a:solidFill>
                <a:latin typeface="Times New Roman" pitchFamily="18" charset="0"/>
              </a:rPr>
              <a:t> </a:t>
            </a:r>
            <a:r>
              <a:rPr lang="en-US" sz="2400" i="1" dirty="0" err="1">
                <a:solidFill>
                  <a:srgbClr val="FF0000"/>
                </a:solidFill>
                <a:latin typeface="Times New Roman" pitchFamily="18" charset="0"/>
              </a:rPr>
              <a:t>tự</a:t>
            </a:r>
            <a:r>
              <a:rPr lang="en-US" sz="2400" i="1" dirty="0">
                <a:solidFill>
                  <a:srgbClr val="FF0000"/>
                </a:solidFill>
                <a:latin typeface="Times New Roman" pitchFamily="18" charset="0"/>
              </a:rPr>
              <a:t> do:</a:t>
            </a:r>
            <a:endParaRPr lang="en-US" sz="2400" dirty="0">
              <a:solidFill>
                <a:srgbClr val="FF0000"/>
              </a:solidFill>
            </a:endParaRPr>
          </a:p>
        </p:txBody>
      </p:sp>
      <p:graphicFrame>
        <p:nvGraphicFramePr>
          <p:cNvPr id="11" name="Object 10"/>
          <p:cNvGraphicFramePr>
            <a:graphicFrameLocks noChangeAspect="1"/>
          </p:cNvGraphicFramePr>
          <p:nvPr>
            <p:extLst>
              <p:ext uri="{D42A27DB-BD31-4B8C-83A1-F6EECF244321}">
                <p14:modId xmlns:p14="http://schemas.microsoft.com/office/powerpoint/2010/main" val="2583762394"/>
              </p:ext>
            </p:extLst>
          </p:nvPr>
        </p:nvGraphicFramePr>
        <p:xfrm>
          <a:off x="2597150" y="5459413"/>
          <a:ext cx="3465513" cy="944562"/>
        </p:xfrm>
        <a:graphic>
          <a:graphicData uri="http://schemas.openxmlformats.org/presentationml/2006/ole">
            <mc:AlternateContent xmlns:mc="http://schemas.openxmlformats.org/markup-compatibility/2006">
              <mc:Choice xmlns:v="urn:schemas-microsoft-com:vml" Requires="v">
                <p:oleObj spid="_x0000_s3275" name="Equation" r:id="rId7" imgW="1562040" imgH="431640" progId="Equation.3">
                  <p:embed/>
                </p:oleObj>
              </mc:Choice>
              <mc:Fallback>
                <p:oleObj name="Equation" r:id="rId7" imgW="1562040" imgH="431640" progId="Equation.3">
                  <p:embed/>
                  <p:pic>
                    <p:nvPicPr>
                      <p:cNvPr id="0" name="Object 10"/>
                      <p:cNvPicPr>
                        <a:picLocks noChangeAspect="1" noChangeArrowheads="1"/>
                      </p:cNvPicPr>
                      <p:nvPr/>
                    </p:nvPicPr>
                    <p:blipFill>
                      <a:blip r:embed="rId8"/>
                      <a:srcRect/>
                      <a:stretch>
                        <a:fillRect/>
                      </a:stretch>
                    </p:blipFill>
                    <p:spPr bwMode="auto">
                      <a:xfrm>
                        <a:off x="2597150" y="5459413"/>
                        <a:ext cx="3465513" cy="944562"/>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646959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down)">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down)">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down)">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down)">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wipe(down)">
                                      <p:cBhvr>
                                        <p:cTn id="3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8" grpId="0"/>
      <p:bldP spid="1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https://upload.wikimedia.org/wikipedia/commons/d/d2/Broglie_Big.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4" descr="https://upload.wikimedia.org/wikipedia/commons/d/d2/Broglie_Big.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88921" y="533400"/>
            <a:ext cx="3810000" cy="4838700"/>
          </a:xfrm>
          <a:prstGeom prst="rect">
            <a:avLst/>
          </a:prstGeom>
        </p:spPr>
      </p:pic>
      <p:sp>
        <p:nvSpPr>
          <p:cNvPr id="7" name="TextBox 6"/>
          <p:cNvSpPr txBox="1"/>
          <p:nvPr/>
        </p:nvSpPr>
        <p:spPr>
          <a:xfrm>
            <a:off x="2743200" y="5562600"/>
            <a:ext cx="3581400" cy="646331"/>
          </a:xfrm>
          <a:prstGeom prst="rect">
            <a:avLst/>
          </a:prstGeom>
          <a:noFill/>
        </p:spPr>
        <p:txBody>
          <a:bodyPr wrap="square" rtlCol="0">
            <a:spAutoFit/>
          </a:bodyPr>
          <a:lstStyle/>
          <a:p>
            <a:pPr algn="ctr"/>
            <a:r>
              <a:rPr lang="en-US"/>
              <a:t>Louis de Broglie (Pháp)</a:t>
            </a:r>
          </a:p>
          <a:p>
            <a:pPr algn="ctr"/>
            <a:r>
              <a:rPr lang="en-US"/>
              <a:t>1892 - 1987</a:t>
            </a:r>
          </a:p>
        </p:txBody>
      </p:sp>
    </p:spTree>
    <p:extLst>
      <p:ext uri="{BB962C8B-B14F-4D97-AF65-F5344CB8AC3E}">
        <p14:creationId xmlns:p14="http://schemas.microsoft.com/office/powerpoint/2010/main" val="14772545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76200" y="0"/>
            <a:ext cx="9067800" cy="830997"/>
          </a:xfrm>
          <a:prstGeom prst="rect">
            <a:avLst/>
          </a:prstGeom>
          <a:noFill/>
        </p:spPr>
        <p:txBody>
          <a:bodyPr wrap="square" rtlCol="0">
            <a:spAutoFit/>
          </a:bodyPr>
          <a:lstStyle/>
          <a:p>
            <a:pPr algn="ctr"/>
            <a:r>
              <a:rPr lang="en-US" sz="2400" dirty="0">
                <a:solidFill>
                  <a:srgbClr val="FFFF00"/>
                </a:solidFill>
                <a:latin typeface="Times New Roman" pitchFamily="18" charset="0"/>
                <a:cs typeface="Times New Roman" pitchFamily="18" charset="0"/>
              </a:rPr>
              <a:t>§2. </a:t>
            </a:r>
            <a:r>
              <a:rPr lang="en-US" sz="2400" b="1" dirty="0">
                <a:solidFill>
                  <a:srgbClr val="FFFF00"/>
                </a:solidFill>
                <a:latin typeface="Times New Roman" pitchFamily="18" charset="0"/>
              </a:rPr>
              <a:t>HỆ THỨC BẤT ĐỊNH HEISENBERG</a:t>
            </a:r>
          </a:p>
          <a:p>
            <a:pPr algn="ctr"/>
            <a:r>
              <a:rPr lang="en-US" sz="2400" dirty="0">
                <a:solidFill>
                  <a:srgbClr val="FFFF00"/>
                </a:solidFill>
                <a:latin typeface="Times New Roman" pitchFamily="18" charset="0"/>
                <a:cs typeface="Times New Roman" pitchFamily="18" charset="0"/>
              </a:rPr>
              <a:t>. </a:t>
            </a:r>
          </a:p>
        </p:txBody>
      </p:sp>
      <p:pic>
        <p:nvPicPr>
          <p:cNvPr id="7" name="Picture 4" descr="hinh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19750" y="793750"/>
            <a:ext cx="3448050" cy="233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76200" y="830997"/>
            <a:ext cx="5334000" cy="830997"/>
          </a:xfrm>
          <a:prstGeom prst="rect">
            <a:avLst/>
          </a:prstGeom>
        </p:spPr>
        <p:txBody>
          <a:bodyPr wrap="square">
            <a:spAutoFit/>
          </a:bodyPr>
          <a:lstStyle/>
          <a:p>
            <a:pPr>
              <a:buFont typeface="Wingdings" pitchFamily="2" charset="2"/>
              <a:buNone/>
            </a:pPr>
            <a:r>
              <a:rPr lang="en-US" sz="2400" dirty="0" err="1">
                <a:latin typeface="Times New Roman" pitchFamily="18" charset="0"/>
              </a:rPr>
              <a:t>Xét</a:t>
            </a:r>
            <a:r>
              <a:rPr lang="en-US" sz="2400" dirty="0">
                <a:latin typeface="Times New Roman" pitchFamily="18" charset="0"/>
              </a:rPr>
              <a:t> </a:t>
            </a:r>
            <a:r>
              <a:rPr lang="en-US" sz="2400" dirty="0" err="1">
                <a:latin typeface="Times New Roman" pitchFamily="18" charset="0"/>
              </a:rPr>
              <a:t>sự</a:t>
            </a:r>
            <a:r>
              <a:rPr lang="en-US" sz="2400" dirty="0">
                <a:latin typeface="Times New Roman" pitchFamily="18" charset="0"/>
              </a:rPr>
              <a:t> </a:t>
            </a:r>
            <a:r>
              <a:rPr lang="en-US" sz="2400" dirty="0" err="1">
                <a:latin typeface="Times New Roman" pitchFamily="18" charset="0"/>
              </a:rPr>
              <a:t>nhiễu</a:t>
            </a:r>
            <a:r>
              <a:rPr lang="en-US" sz="2400" dirty="0">
                <a:latin typeface="Times New Roman" pitchFamily="18" charset="0"/>
              </a:rPr>
              <a:t> </a:t>
            </a:r>
            <a:r>
              <a:rPr lang="en-US" sz="2400" dirty="0" err="1">
                <a:latin typeface="Times New Roman" pitchFamily="18" charset="0"/>
              </a:rPr>
              <a:t>xạ</a:t>
            </a:r>
            <a:r>
              <a:rPr lang="en-US" sz="2400" dirty="0">
                <a:latin typeface="Times New Roman" pitchFamily="18" charset="0"/>
              </a:rPr>
              <a:t> </a:t>
            </a:r>
            <a:r>
              <a:rPr lang="en-US" sz="2400" dirty="0" err="1">
                <a:latin typeface="Times New Roman" pitchFamily="18" charset="0"/>
              </a:rPr>
              <a:t>của</a:t>
            </a:r>
            <a:r>
              <a:rPr lang="en-US" sz="2400" dirty="0">
                <a:latin typeface="Times New Roman" pitchFamily="18" charset="0"/>
              </a:rPr>
              <a:t> </a:t>
            </a:r>
            <a:r>
              <a:rPr lang="en-US" sz="2400" dirty="0" err="1">
                <a:latin typeface="Times New Roman" pitchFamily="18" charset="0"/>
              </a:rPr>
              <a:t>chùm</a:t>
            </a:r>
            <a:r>
              <a:rPr lang="en-US" sz="2400" dirty="0">
                <a:latin typeface="Times New Roman" pitchFamily="18" charset="0"/>
              </a:rPr>
              <a:t> vi </a:t>
            </a:r>
            <a:r>
              <a:rPr lang="en-US" sz="2400" dirty="0" err="1">
                <a:latin typeface="Times New Roman" pitchFamily="18" charset="0"/>
              </a:rPr>
              <a:t>hạt</a:t>
            </a:r>
            <a:r>
              <a:rPr lang="en-US" sz="2400" dirty="0">
                <a:latin typeface="Times New Roman" pitchFamily="18" charset="0"/>
              </a:rPr>
              <a:t> qua </a:t>
            </a:r>
            <a:r>
              <a:rPr lang="en-US" sz="2400" dirty="0" err="1">
                <a:latin typeface="Times New Roman" pitchFamily="18" charset="0"/>
              </a:rPr>
              <a:t>khe</a:t>
            </a:r>
            <a:r>
              <a:rPr lang="en-US" sz="2400" dirty="0">
                <a:latin typeface="Times New Roman" pitchFamily="18" charset="0"/>
              </a:rPr>
              <a:t> </a:t>
            </a:r>
            <a:r>
              <a:rPr lang="en-US" sz="2400" dirty="0" err="1">
                <a:latin typeface="Times New Roman" pitchFamily="18" charset="0"/>
              </a:rPr>
              <a:t>hẹp</a:t>
            </a:r>
            <a:r>
              <a:rPr lang="en-US" sz="2400" dirty="0">
                <a:latin typeface="Times New Roman" pitchFamily="18" charset="0"/>
              </a:rPr>
              <a:t> </a:t>
            </a:r>
            <a:r>
              <a:rPr lang="en-US" sz="2400" dirty="0" err="1">
                <a:latin typeface="Times New Roman" pitchFamily="18" charset="0"/>
              </a:rPr>
              <a:t>độ</a:t>
            </a:r>
            <a:r>
              <a:rPr lang="en-US" sz="2400" dirty="0">
                <a:latin typeface="Times New Roman" pitchFamily="18" charset="0"/>
              </a:rPr>
              <a:t> </a:t>
            </a:r>
            <a:r>
              <a:rPr lang="en-US" sz="2400" dirty="0" err="1">
                <a:latin typeface="Times New Roman" pitchFamily="18" charset="0"/>
              </a:rPr>
              <a:t>rộng</a:t>
            </a:r>
            <a:r>
              <a:rPr lang="en-US" sz="2400" dirty="0">
                <a:latin typeface="Times New Roman" pitchFamily="18" charset="0"/>
              </a:rPr>
              <a:t> b. </a:t>
            </a:r>
          </a:p>
        </p:txBody>
      </p:sp>
      <p:sp>
        <p:nvSpPr>
          <p:cNvPr id="3" name="Rectangle 2"/>
          <p:cNvSpPr/>
          <p:nvPr/>
        </p:nvSpPr>
        <p:spPr>
          <a:xfrm>
            <a:off x="228600" y="2590800"/>
            <a:ext cx="6629400" cy="461665"/>
          </a:xfrm>
          <a:prstGeom prst="rect">
            <a:avLst/>
          </a:prstGeom>
        </p:spPr>
        <p:txBody>
          <a:bodyPr wrap="square">
            <a:spAutoFit/>
          </a:bodyPr>
          <a:lstStyle/>
          <a:p>
            <a:pPr>
              <a:buFont typeface="Wingdings" pitchFamily="2" charset="2"/>
              <a:buNone/>
            </a:pPr>
            <a:r>
              <a:rPr lang="en-US" sz="2400" i="1" dirty="0" err="1">
                <a:solidFill>
                  <a:srgbClr val="FF0000"/>
                </a:solidFill>
                <a:latin typeface="Times New Roman" pitchFamily="18" charset="0"/>
              </a:rPr>
              <a:t>Độ</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bất</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định</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về</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tọa</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độ</a:t>
            </a:r>
            <a:r>
              <a:rPr lang="en-US" sz="2400" i="1" dirty="0">
                <a:solidFill>
                  <a:srgbClr val="FF0000"/>
                </a:solidFill>
                <a:latin typeface="Times New Roman" pitchFamily="18" charset="0"/>
              </a:rPr>
              <a:t> </a:t>
            </a:r>
            <a:r>
              <a:rPr lang="en-US" sz="2400" i="1" dirty="0">
                <a:solidFill>
                  <a:schemeClr val="tx2"/>
                </a:solidFill>
                <a:latin typeface="Times New Roman" pitchFamily="18" charset="0"/>
              </a:rPr>
              <a:t>: </a:t>
            </a:r>
            <a:r>
              <a:rPr lang="el-GR" sz="2400" i="1" dirty="0">
                <a:solidFill>
                  <a:srgbClr val="00B050"/>
                </a:solidFill>
                <a:latin typeface="Times New Roman" pitchFamily="18" charset="0"/>
                <a:cs typeface="Times New Roman" pitchFamily="18" charset="0"/>
              </a:rPr>
              <a:t>Δ</a:t>
            </a:r>
            <a:r>
              <a:rPr lang="en-US" sz="2400" i="1" dirty="0">
                <a:solidFill>
                  <a:srgbClr val="00B050"/>
                </a:solidFill>
                <a:latin typeface="Times New Roman" pitchFamily="18" charset="0"/>
                <a:cs typeface="Times New Roman" pitchFamily="18" charset="0"/>
              </a:rPr>
              <a:t>x </a:t>
            </a:r>
            <a:r>
              <a:rPr lang="el-GR" sz="2400" i="1" dirty="0">
                <a:solidFill>
                  <a:srgbClr val="00B050"/>
                </a:solidFill>
                <a:latin typeface="Times New Roman" pitchFamily="18" charset="0"/>
                <a:cs typeface="Times New Roman" pitchFamily="18" charset="0"/>
              </a:rPr>
              <a:t>≈</a:t>
            </a:r>
            <a:r>
              <a:rPr lang="en-US" sz="2400" i="1" dirty="0">
                <a:solidFill>
                  <a:srgbClr val="00B050"/>
                </a:solidFill>
                <a:latin typeface="Times New Roman" pitchFamily="18" charset="0"/>
                <a:cs typeface="Times New Roman" pitchFamily="18" charset="0"/>
              </a:rPr>
              <a:t> b</a:t>
            </a:r>
            <a:endParaRPr lang="el-GR" sz="2400" i="1" dirty="0">
              <a:solidFill>
                <a:srgbClr val="00B050"/>
              </a:solidFill>
              <a:latin typeface="Times New Roman" pitchFamily="18" charset="0"/>
              <a:cs typeface="Times New Roman" pitchFamily="18" charset="0"/>
            </a:endParaRPr>
          </a:p>
        </p:txBody>
      </p:sp>
      <p:sp>
        <p:nvSpPr>
          <p:cNvPr id="8" name="Rectangle 7"/>
          <p:cNvSpPr/>
          <p:nvPr/>
        </p:nvSpPr>
        <p:spPr>
          <a:xfrm>
            <a:off x="76200" y="3124200"/>
            <a:ext cx="6629400" cy="461665"/>
          </a:xfrm>
          <a:prstGeom prst="rect">
            <a:avLst/>
          </a:prstGeom>
        </p:spPr>
        <p:txBody>
          <a:bodyPr wrap="square">
            <a:spAutoFit/>
          </a:bodyPr>
          <a:lstStyle/>
          <a:p>
            <a:pPr>
              <a:buFont typeface="Wingdings" pitchFamily="2" charset="2"/>
              <a:buNone/>
            </a:pPr>
            <a:r>
              <a:rPr lang="en-US" sz="2400" dirty="0" err="1">
                <a:latin typeface="Times New Roman" pitchFamily="18" charset="0"/>
              </a:rPr>
              <a:t>Hình</a:t>
            </a:r>
            <a:r>
              <a:rPr lang="en-US" sz="2400" dirty="0">
                <a:latin typeface="Times New Roman" pitchFamily="18" charset="0"/>
              </a:rPr>
              <a:t> </a:t>
            </a:r>
            <a:r>
              <a:rPr lang="en-US" sz="2400" dirty="0" err="1">
                <a:latin typeface="Times New Roman" pitchFamily="18" charset="0"/>
              </a:rPr>
              <a:t>chiếu</a:t>
            </a:r>
            <a:r>
              <a:rPr lang="en-US" sz="2400" dirty="0">
                <a:latin typeface="Times New Roman" pitchFamily="18" charset="0"/>
              </a:rPr>
              <a:t> </a:t>
            </a:r>
            <a:r>
              <a:rPr lang="en-US" sz="2400" dirty="0" err="1">
                <a:latin typeface="Times New Roman" pitchFamily="18" charset="0"/>
              </a:rPr>
              <a:t>véc</a:t>
            </a:r>
            <a:r>
              <a:rPr lang="en-US" sz="2400" dirty="0">
                <a:latin typeface="Times New Roman" pitchFamily="18" charset="0"/>
              </a:rPr>
              <a:t> </a:t>
            </a:r>
            <a:r>
              <a:rPr lang="en-US" sz="2400" dirty="0" err="1">
                <a:latin typeface="Times New Roman" pitchFamily="18" charset="0"/>
              </a:rPr>
              <a:t>tơ</a:t>
            </a:r>
            <a:r>
              <a:rPr lang="en-US" sz="2400" dirty="0">
                <a:latin typeface="Times New Roman" pitchFamily="18" charset="0"/>
              </a:rPr>
              <a:t> </a:t>
            </a:r>
            <a:r>
              <a:rPr lang="en-US" sz="2400" dirty="0" err="1">
                <a:latin typeface="Times New Roman" pitchFamily="18" charset="0"/>
              </a:rPr>
              <a:t>động</a:t>
            </a:r>
            <a:r>
              <a:rPr lang="en-US" sz="2400" dirty="0">
                <a:latin typeface="Times New Roman" pitchFamily="18" charset="0"/>
              </a:rPr>
              <a:t> </a:t>
            </a:r>
            <a:r>
              <a:rPr lang="en-US" sz="2400" dirty="0" err="1">
                <a:latin typeface="Times New Roman" pitchFamily="18" charset="0"/>
              </a:rPr>
              <a:t>lượng</a:t>
            </a:r>
            <a:r>
              <a:rPr lang="en-US" sz="2400" dirty="0">
                <a:latin typeface="Times New Roman" pitchFamily="18" charset="0"/>
              </a:rPr>
              <a:t> </a:t>
            </a:r>
            <a:r>
              <a:rPr lang="en-US" sz="2400" dirty="0" err="1">
                <a:latin typeface="Times New Roman" pitchFamily="18" charset="0"/>
              </a:rPr>
              <a:t>theo</a:t>
            </a:r>
            <a:r>
              <a:rPr lang="en-US" sz="2400" dirty="0">
                <a:latin typeface="Times New Roman" pitchFamily="18" charset="0"/>
              </a:rPr>
              <a:t> </a:t>
            </a:r>
            <a:r>
              <a:rPr lang="en-US" sz="2400" dirty="0" err="1">
                <a:latin typeface="Times New Roman" pitchFamily="18" charset="0"/>
              </a:rPr>
              <a:t>trục</a:t>
            </a:r>
            <a:r>
              <a:rPr lang="en-US" sz="2400" dirty="0">
                <a:latin typeface="Times New Roman" pitchFamily="18" charset="0"/>
              </a:rPr>
              <a:t> x:</a:t>
            </a:r>
          </a:p>
        </p:txBody>
      </p:sp>
      <p:sp>
        <p:nvSpPr>
          <p:cNvPr id="9" name="Rectangle 8"/>
          <p:cNvSpPr/>
          <p:nvPr/>
        </p:nvSpPr>
        <p:spPr>
          <a:xfrm>
            <a:off x="5410200" y="3124200"/>
            <a:ext cx="1776448" cy="461665"/>
          </a:xfrm>
          <a:prstGeom prst="rect">
            <a:avLst/>
          </a:prstGeom>
        </p:spPr>
        <p:txBody>
          <a:bodyPr wrap="none">
            <a:spAutoFit/>
          </a:bodyPr>
          <a:lstStyle/>
          <a:p>
            <a:pPr>
              <a:buFont typeface="Wingdings" pitchFamily="2" charset="2"/>
              <a:buNone/>
            </a:pPr>
            <a:r>
              <a:rPr lang="en-US" sz="2400" dirty="0">
                <a:latin typeface="Times New Roman" pitchFamily="18" charset="0"/>
              </a:rPr>
              <a:t>0</a:t>
            </a:r>
            <a:r>
              <a:rPr lang="en-US" sz="2400" i="1" dirty="0">
                <a:latin typeface="Times New Roman" pitchFamily="18" charset="0"/>
                <a:cs typeface="Times New Roman" pitchFamily="18" charset="0"/>
              </a:rPr>
              <a:t>≤ </a:t>
            </a:r>
            <a:r>
              <a:rPr lang="en-US" sz="2400" i="1" dirty="0" err="1">
                <a:latin typeface="Times New Roman" pitchFamily="18" charset="0"/>
                <a:cs typeface="Times New Roman" pitchFamily="18" charset="0"/>
              </a:rPr>
              <a:t>p</a:t>
            </a:r>
            <a:r>
              <a:rPr lang="en-US" sz="2400" i="1" baseline="-25000" dirty="0" err="1">
                <a:latin typeface="Times New Roman" pitchFamily="18" charset="0"/>
                <a:cs typeface="Times New Roman" pitchFamily="18" charset="0"/>
              </a:rPr>
              <a:t>x</a:t>
            </a:r>
            <a:r>
              <a:rPr lang="en-US" sz="2400" i="1" dirty="0">
                <a:latin typeface="Times New Roman" pitchFamily="18" charset="0"/>
                <a:cs typeface="Times New Roman" pitchFamily="18" charset="0"/>
              </a:rPr>
              <a:t>≤ </a:t>
            </a:r>
            <a:r>
              <a:rPr lang="en-US" sz="2400" i="1" dirty="0" err="1">
                <a:latin typeface="Times New Roman" pitchFamily="18" charset="0"/>
                <a:cs typeface="Times New Roman" pitchFamily="18" charset="0"/>
              </a:rPr>
              <a:t>psin</a:t>
            </a:r>
            <a:r>
              <a:rPr lang="el-GR" sz="2400" i="1" dirty="0">
                <a:latin typeface="Times New Roman" pitchFamily="18" charset="0"/>
                <a:cs typeface="Times New Roman" pitchFamily="18" charset="0"/>
              </a:rPr>
              <a:t>φ</a:t>
            </a:r>
          </a:p>
        </p:txBody>
      </p:sp>
      <p:sp>
        <p:nvSpPr>
          <p:cNvPr id="10" name="Rectangle 9"/>
          <p:cNvSpPr/>
          <p:nvPr/>
        </p:nvSpPr>
        <p:spPr>
          <a:xfrm>
            <a:off x="76200" y="2057400"/>
            <a:ext cx="6629400" cy="461665"/>
          </a:xfrm>
          <a:prstGeom prst="rect">
            <a:avLst/>
          </a:prstGeom>
        </p:spPr>
        <p:txBody>
          <a:bodyPr wrap="square">
            <a:spAutoFit/>
          </a:bodyPr>
          <a:lstStyle/>
          <a:p>
            <a:pPr>
              <a:buFont typeface="Wingdings" pitchFamily="2" charset="2"/>
              <a:buNone/>
            </a:pPr>
            <a:r>
              <a:rPr lang="en-US" sz="2400" dirty="0" err="1">
                <a:latin typeface="Times New Roman" pitchFamily="18" charset="0"/>
              </a:rPr>
              <a:t>Tọa</a:t>
            </a:r>
            <a:r>
              <a:rPr lang="en-US" sz="2400" dirty="0">
                <a:latin typeface="Times New Roman" pitchFamily="18" charset="0"/>
              </a:rPr>
              <a:t> </a:t>
            </a:r>
            <a:r>
              <a:rPr lang="en-US" sz="2400" dirty="0" err="1">
                <a:latin typeface="Times New Roman" pitchFamily="18" charset="0"/>
              </a:rPr>
              <a:t>độ</a:t>
            </a:r>
            <a:r>
              <a:rPr lang="en-US" sz="2400" dirty="0">
                <a:latin typeface="Times New Roman" pitchFamily="18" charset="0"/>
              </a:rPr>
              <a:t> </a:t>
            </a:r>
            <a:r>
              <a:rPr lang="en-US" sz="2400" dirty="0" err="1">
                <a:latin typeface="Times New Roman" pitchFamily="18" charset="0"/>
              </a:rPr>
              <a:t>của</a:t>
            </a:r>
            <a:r>
              <a:rPr lang="en-US" sz="2400" dirty="0">
                <a:latin typeface="Times New Roman" pitchFamily="18" charset="0"/>
              </a:rPr>
              <a:t> </a:t>
            </a:r>
            <a:r>
              <a:rPr lang="en-US" sz="2400" dirty="0" err="1">
                <a:latin typeface="Times New Roman" pitchFamily="18" charset="0"/>
              </a:rPr>
              <a:t>hạt</a:t>
            </a:r>
            <a:r>
              <a:rPr lang="en-US" sz="2400" dirty="0">
                <a:latin typeface="Times New Roman" pitchFamily="18" charset="0"/>
              </a:rPr>
              <a:t> </a:t>
            </a:r>
            <a:r>
              <a:rPr lang="en-US" sz="2400" dirty="0" err="1">
                <a:latin typeface="Times New Roman" pitchFamily="18" charset="0"/>
              </a:rPr>
              <a:t>khi</a:t>
            </a:r>
            <a:r>
              <a:rPr lang="en-US" sz="2400" dirty="0">
                <a:latin typeface="Times New Roman" pitchFamily="18" charset="0"/>
              </a:rPr>
              <a:t> </a:t>
            </a:r>
            <a:r>
              <a:rPr lang="en-US" sz="2400" dirty="0" err="1">
                <a:latin typeface="Times New Roman" pitchFamily="18" charset="0"/>
              </a:rPr>
              <a:t>đi</a:t>
            </a:r>
            <a:r>
              <a:rPr lang="en-US" sz="2400" dirty="0">
                <a:latin typeface="Times New Roman" pitchFamily="18" charset="0"/>
              </a:rPr>
              <a:t> qua </a:t>
            </a:r>
            <a:r>
              <a:rPr lang="en-US" sz="2400" dirty="0" err="1">
                <a:latin typeface="Times New Roman" pitchFamily="18" charset="0"/>
              </a:rPr>
              <a:t>khe</a:t>
            </a:r>
            <a:r>
              <a:rPr lang="en-US" sz="2400" dirty="0">
                <a:latin typeface="Times New Roman" pitchFamily="18" charset="0"/>
              </a:rPr>
              <a:t> </a:t>
            </a:r>
            <a:r>
              <a:rPr lang="en-US" sz="2400" dirty="0" err="1">
                <a:latin typeface="Times New Roman" pitchFamily="18" charset="0"/>
              </a:rPr>
              <a:t>hẹp</a:t>
            </a:r>
            <a:r>
              <a:rPr lang="en-US" sz="2400" dirty="0">
                <a:latin typeface="Times New Roman" pitchFamily="18" charset="0"/>
              </a:rPr>
              <a:t>:</a:t>
            </a:r>
          </a:p>
        </p:txBody>
      </p:sp>
      <p:sp>
        <p:nvSpPr>
          <p:cNvPr id="11" name="Rectangle 10"/>
          <p:cNvSpPr/>
          <p:nvPr/>
        </p:nvSpPr>
        <p:spPr>
          <a:xfrm>
            <a:off x="4409911" y="2077778"/>
            <a:ext cx="1136850" cy="461665"/>
          </a:xfrm>
          <a:prstGeom prst="rect">
            <a:avLst/>
          </a:prstGeom>
        </p:spPr>
        <p:txBody>
          <a:bodyPr wrap="none">
            <a:spAutoFit/>
          </a:bodyPr>
          <a:lstStyle/>
          <a:p>
            <a:pPr>
              <a:buFont typeface="Wingdings" pitchFamily="2" charset="2"/>
              <a:buNone/>
            </a:pPr>
            <a:r>
              <a:rPr lang="en-US" sz="2400" i="1" dirty="0">
                <a:latin typeface="Times New Roman" pitchFamily="18" charset="0"/>
              </a:rPr>
              <a:t>0</a:t>
            </a:r>
            <a:r>
              <a:rPr lang="en-US" sz="2400" i="1" dirty="0">
                <a:latin typeface="Times New Roman" pitchFamily="18" charset="0"/>
                <a:cs typeface="Times New Roman" pitchFamily="18" charset="0"/>
              </a:rPr>
              <a:t>≤ x≤ b</a:t>
            </a:r>
            <a:endParaRPr lang="el-GR" sz="2400" i="1" dirty="0">
              <a:latin typeface="Times New Roman" pitchFamily="18" charset="0"/>
              <a:cs typeface="Times New Roman" pitchFamily="18" charset="0"/>
            </a:endParaRPr>
          </a:p>
        </p:txBody>
      </p:sp>
      <p:sp>
        <p:nvSpPr>
          <p:cNvPr id="12" name="Rectangle 11"/>
          <p:cNvSpPr/>
          <p:nvPr/>
        </p:nvSpPr>
        <p:spPr>
          <a:xfrm>
            <a:off x="0" y="3733800"/>
            <a:ext cx="8839200" cy="461665"/>
          </a:xfrm>
          <a:prstGeom prst="rect">
            <a:avLst/>
          </a:prstGeom>
        </p:spPr>
        <p:txBody>
          <a:bodyPr wrap="square">
            <a:spAutoFit/>
          </a:bodyPr>
          <a:lstStyle/>
          <a:p>
            <a:pPr>
              <a:buFont typeface="Wingdings" pitchFamily="2" charset="2"/>
              <a:buNone/>
            </a:pPr>
            <a:r>
              <a:rPr lang="en-US" sz="2400" i="1" dirty="0" err="1">
                <a:solidFill>
                  <a:srgbClr val="FF0000"/>
                </a:solidFill>
                <a:latin typeface="Times New Roman" pitchFamily="18" charset="0"/>
              </a:rPr>
              <a:t>Độ</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bất</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định</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về</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hình</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chiếu</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động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lượng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theo</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trục</a:t>
            </a:r>
            <a:r>
              <a:rPr lang="en-US" sz="2400" i="1" dirty="0">
                <a:solidFill>
                  <a:srgbClr val="FF0000"/>
                </a:solidFill>
                <a:latin typeface="Times New Roman" pitchFamily="18" charset="0"/>
              </a:rPr>
              <a:t> x:</a:t>
            </a:r>
          </a:p>
        </p:txBody>
      </p:sp>
      <p:sp>
        <p:nvSpPr>
          <p:cNvPr id="13" name="Rectangle 12"/>
          <p:cNvSpPr/>
          <p:nvPr/>
        </p:nvSpPr>
        <p:spPr>
          <a:xfrm>
            <a:off x="6209778" y="3745523"/>
            <a:ext cx="1616148" cy="461665"/>
          </a:xfrm>
          <a:prstGeom prst="rect">
            <a:avLst/>
          </a:prstGeom>
        </p:spPr>
        <p:txBody>
          <a:bodyPr wrap="none">
            <a:spAutoFit/>
          </a:bodyPr>
          <a:lstStyle/>
          <a:p>
            <a:pPr>
              <a:buFont typeface="Wingdings" pitchFamily="2" charset="2"/>
              <a:buNone/>
            </a:pPr>
            <a:r>
              <a:rPr lang="el-GR" sz="2400" i="1" dirty="0">
                <a:solidFill>
                  <a:srgbClr val="00B050"/>
                </a:solidFill>
                <a:latin typeface="Times New Roman" pitchFamily="18" charset="0"/>
                <a:cs typeface="Times New Roman" pitchFamily="18" charset="0"/>
              </a:rPr>
              <a:t>Δ</a:t>
            </a:r>
            <a:r>
              <a:rPr lang="en-US" sz="2400" i="1" dirty="0" err="1">
                <a:solidFill>
                  <a:srgbClr val="00B050"/>
                </a:solidFill>
                <a:latin typeface="Times New Roman" pitchFamily="18" charset="0"/>
                <a:cs typeface="Times New Roman" pitchFamily="18" charset="0"/>
              </a:rPr>
              <a:t>p</a:t>
            </a:r>
            <a:r>
              <a:rPr lang="en-US" sz="2400" i="1" baseline="-25000" dirty="0" err="1">
                <a:solidFill>
                  <a:srgbClr val="00B050"/>
                </a:solidFill>
                <a:latin typeface="Times New Roman" pitchFamily="18" charset="0"/>
                <a:cs typeface="Times New Roman" pitchFamily="18" charset="0"/>
              </a:rPr>
              <a:t>x</a:t>
            </a:r>
            <a:r>
              <a:rPr lang="en-US" sz="2400" i="1" dirty="0">
                <a:solidFill>
                  <a:srgbClr val="00B050"/>
                </a:solidFill>
                <a:latin typeface="Times New Roman" pitchFamily="18" charset="0"/>
                <a:cs typeface="Times New Roman" pitchFamily="18" charset="0"/>
              </a:rPr>
              <a:t> ≈ </a:t>
            </a:r>
            <a:r>
              <a:rPr lang="en-US" sz="2400" i="1" dirty="0" err="1">
                <a:solidFill>
                  <a:srgbClr val="00B050"/>
                </a:solidFill>
                <a:latin typeface="Times New Roman" pitchFamily="18" charset="0"/>
                <a:cs typeface="Times New Roman" pitchFamily="18" charset="0"/>
              </a:rPr>
              <a:t>psin</a:t>
            </a:r>
            <a:r>
              <a:rPr lang="el-GR" sz="2400" i="1" dirty="0">
                <a:solidFill>
                  <a:srgbClr val="00B050"/>
                </a:solidFill>
                <a:latin typeface="Times New Roman" pitchFamily="18" charset="0"/>
                <a:cs typeface="Times New Roman" pitchFamily="18" charset="0"/>
              </a:rPr>
              <a:t>φ</a:t>
            </a:r>
            <a:endParaRPr lang="el-GR" sz="2400" i="1" baseline="-25000" dirty="0">
              <a:solidFill>
                <a:srgbClr val="00B050"/>
              </a:solidFill>
              <a:latin typeface="Times New Roman" pitchFamily="18" charset="0"/>
              <a:cs typeface="Times New Roman" pitchFamily="18" charset="0"/>
            </a:endParaRPr>
          </a:p>
        </p:txBody>
      </p:sp>
      <p:sp>
        <p:nvSpPr>
          <p:cNvPr id="14" name="Rectangle 13"/>
          <p:cNvSpPr/>
          <p:nvPr/>
        </p:nvSpPr>
        <p:spPr>
          <a:xfrm>
            <a:off x="133574" y="4242357"/>
            <a:ext cx="8934226" cy="461665"/>
          </a:xfrm>
          <a:prstGeom prst="rect">
            <a:avLst/>
          </a:prstGeom>
        </p:spPr>
        <p:txBody>
          <a:bodyPr wrap="square">
            <a:spAutoFit/>
          </a:bodyPr>
          <a:lstStyle/>
          <a:p>
            <a:pPr>
              <a:buFont typeface="Wingdings" pitchFamily="2" charset="2"/>
              <a:buNone/>
            </a:pPr>
            <a:r>
              <a:rPr lang="en-US" sz="2400" dirty="0" err="1">
                <a:latin typeface="Times New Roman" pitchFamily="18" charset="0"/>
              </a:rPr>
              <a:t>Xét</a:t>
            </a:r>
            <a:r>
              <a:rPr lang="en-US" sz="2400" dirty="0">
                <a:latin typeface="Times New Roman" pitchFamily="18" charset="0"/>
              </a:rPr>
              <a:t> </a:t>
            </a:r>
            <a:r>
              <a:rPr lang="en-US" sz="2400" dirty="0" err="1">
                <a:latin typeface="Times New Roman" pitchFamily="18" charset="0"/>
              </a:rPr>
              <a:t>trường</a:t>
            </a:r>
            <a:r>
              <a:rPr lang="en-US" sz="2400" dirty="0">
                <a:latin typeface="Times New Roman" pitchFamily="18" charset="0"/>
              </a:rPr>
              <a:t> </a:t>
            </a:r>
            <a:r>
              <a:rPr lang="en-US" sz="2400" dirty="0" err="1">
                <a:latin typeface="Times New Roman" pitchFamily="18" charset="0"/>
              </a:rPr>
              <a:t>hợp</a:t>
            </a:r>
            <a:r>
              <a:rPr lang="en-US" sz="2400" dirty="0">
                <a:latin typeface="Times New Roman" pitchFamily="18" charset="0"/>
              </a:rPr>
              <a:t> </a:t>
            </a:r>
            <a:r>
              <a:rPr lang="en-US" sz="2400" dirty="0" err="1">
                <a:latin typeface="Times New Roman" pitchFamily="18" charset="0"/>
              </a:rPr>
              <a:t>các</a:t>
            </a:r>
            <a:r>
              <a:rPr lang="en-US" sz="2400" dirty="0">
                <a:latin typeface="Times New Roman" pitchFamily="18" charset="0"/>
              </a:rPr>
              <a:t> </a:t>
            </a:r>
            <a:r>
              <a:rPr lang="en-US" sz="2400" dirty="0" err="1">
                <a:latin typeface="Times New Roman" pitchFamily="18" charset="0"/>
              </a:rPr>
              <a:t>hạt</a:t>
            </a:r>
            <a:r>
              <a:rPr lang="en-US" sz="2400" dirty="0">
                <a:latin typeface="Times New Roman" pitchFamily="18" charset="0"/>
              </a:rPr>
              <a:t> </a:t>
            </a:r>
            <a:r>
              <a:rPr lang="en-US" sz="2400" dirty="0" err="1">
                <a:latin typeface="Times New Roman" pitchFamily="18" charset="0"/>
              </a:rPr>
              <a:t>rơi</a:t>
            </a:r>
            <a:r>
              <a:rPr lang="en-US" sz="2400" dirty="0">
                <a:latin typeface="Times New Roman" pitchFamily="18" charset="0"/>
              </a:rPr>
              <a:t> </a:t>
            </a:r>
            <a:r>
              <a:rPr lang="en-US" sz="2400" dirty="0" err="1">
                <a:latin typeface="Times New Roman" pitchFamily="18" charset="0"/>
              </a:rPr>
              <a:t>vào</a:t>
            </a:r>
            <a:r>
              <a:rPr lang="en-US" sz="2400" dirty="0">
                <a:latin typeface="Times New Roman" pitchFamily="18" charset="0"/>
              </a:rPr>
              <a:t> </a:t>
            </a:r>
            <a:r>
              <a:rPr lang="en-US" sz="2400" dirty="0" err="1">
                <a:latin typeface="Times New Roman" pitchFamily="18" charset="0"/>
              </a:rPr>
              <a:t>cực</a:t>
            </a:r>
            <a:r>
              <a:rPr lang="en-US" sz="2400" dirty="0">
                <a:latin typeface="Times New Roman" pitchFamily="18" charset="0"/>
              </a:rPr>
              <a:t> </a:t>
            </a:r>
            <a:r>
              <a:rPr lang="en-US" sz="2400" dirty="0" err="1">
                <a:latin typeface="Times New Roman" pitchFamily="18" charset="0"/>
              </a:rPr>
              <a:t>đại</a:t>
            </a:r>
            <a:r>
              <a:rPr lang="en-US" sz="2400" dirty="0">
                <a:latin typeface="Times New Roman" pitchFamily="18" charset="0"/>
              </a:rPr>
              <a:t> </a:t>
            </a:r>
            <a:r>
              <a:rPr lang="en-US" sz="2400" dirty="0" err="1">
                <a:latin typeface="Times New Roman" pitchFamily="18" charset="0"/>
              </a:rPr>
              <a:t>giữa</a:t>
            </a:r>
            <a:r>
              <a:rPr lang="en-US" sz="2400" dirty="0">
                <a:latin typeface="Times New Roman" pitchFamily="18" charset="0"/>
              </a:rPr>
              <a:t>: </a:t>
            </a:r>
            <a:r>
              <a:rPr lang="el-GR" sz="2400" dirty="0">
                <a:latin typeface="Times New Roman" pitchFamily="18" charset="0"/>
                <a:cs typeface="Times New Roman" pitchFamily="18" charset="0"/>
              </a:rPr>
              <a:t>Δ</a:t>
            </a:r>
            <a:r>
              <a:rPr lang="en-US" sz="2400" dirty="0" err="1">
                <a:latin typeface="Times New Roman" pitchFamily="18" charset="0"/>
                <a:cs typeface="Times New Roman" pitchFamily="18" charset="0"/>
              </a:rPr>
              <a:t>p</a:t>
            </a:r>
            <a:r>
              <a:rPr lang="en-US" sz="2400" baseline="-25000" dirty="0" err="1">
                <a:latin typeface="Times New Roman" pitchFamily="18" charset="0"/>
                <a:cs typeface="Times New Roman" pitchFamily="18" charset="0"/>
              </a:rPr>
              <a:t>x</a:t>
            </a:r>
            <a:r>
              <a:rPr lang="en-US" sz="2400" dirty="0">
                <a:latin typeface="Times New Roman" pitchFamily="18" charset="0"/>
                <a:cs typeface="Times New Roman" pitchFamily="18" charset="0"/>
              </a:rPr>
              <a:t> ≈ </a:t>
            </a:r>
            <a:r>
              <a:rPr lang="en-US" sz="2400" dirty="0" err="1">
                <a:latin typeface="Times New Roman" pitchFamily="18" charset="0"/>
                <a:cs typeface="Times New Roman" pitchFamily="18" charset="0"/>
              </a:rPr>
              <a:t>psin</a:t>
            </a:r>
            <a:r>
              <a:rPr lang="el-GR" sz="2400" dirty="0">
                <a:latin typeface="Times New Roman" pitchFamily="18" charset="0"/>
                <a:cs typeface="Times New Roman" pitchFamily="18" charset="0"/>
              </a:rPr>
              <a:t>φ</a:t>
            </a:r>
            <a:r>
              <a:rPr lang="en-US" sz="2400" baseline="-25000" dirty="0">
                <a:latin typeface="Times New Roman" pitchFamily="18" charset="0"/>
                <a:cs typeface="Times New Roman" pitchFamily="18" charset="0"/>
              </a:rPr>
              <a:t>1</a:t>
            </a:r>
          </a:p>
        </p:txBody>
      </p:sp>
      <p:graphicFrame>
        <p:nvGraphicFramePr>
          <p:cNvPr id="15" name="Object 14"/>
          <p:cNvGraphicFramePr>
            <a:graphicFrameLocks noChangeAspect="1"/>
          </p:cNvGraphicFramePr>
          <p:nvPr>
            <p:extLst>
              <p:ext uri="{D42A27DB-BD31-4B8C-83A1-F6EECF244321}">
                <p14:modId xmlns:p14="http://schemas.microsoft.com/office/powerpoint/2010/main" val="3017662510"/>
              </p:ext>
            </p:extLst>
          </p:nvPr>
        </p:nvGraphicFramePr>
        <p:xfrm>
          <a:off x="838200" y="4721607"/>
          <a:ext cx="2352675" cy="804785"/>
        </p:xfrm>
        <a:graphic>
          <a:graphicData uri="http://schemas.openxmlformats.org/presentationml/2006/ole">
            <mc:AlternateContent xmlns:mc="http://schemas.openxmlformats.org/markup-compatibility/2006">
              <mc:Choice xmlns:v="urn:schemas-microsoft-com:vml" Requires="v">
                <p:oleObj spid="_x0000_s4229" name="Equation" r:id="rId4" imgW="1143000" imgH="393480" progId="Equation.3">
                  <p:embed/>
                </p:oleObj>
              </mc:Choice>
              <mc:Fallback>
                <p:oleObj name="Equation" r:id="rId4" imgW="1143000" imgH="393480" progId="Equation.3">
                  <p:embed/>
                  <p:pic>
                    <p:nvPicPr>
                      <p:cNvPr id="0" name="Object 4"/>
                      <p:cNvPicPr>
                        <a:picLocks noChangeAspect="1" noChangeArrowheads="1"/>
                      </p:cNvPicPr>
                      <p:nvPr/>
                    </p:nvPicPr>
                    <p:blipFill>
                      <a:blip r:embed="rId5"/>
                      <a:srcRect/>
                      <a:stretch>
                        <a:fillRect/>
                      </a:stretch>
                    </p:blipFill>
                    <p:spPr bwMode="auto">
                      <a:xfrm>
                        <a:off x="838200" y="4721607"/>
                        <a:ext cx="2352675" cy="804785"/>
                      </a:xfrm>
                      <a:prstGeom prst="rect">
                        <a:avLst/>
                      </a:prstGeom>
                      <a:noFill/>
                      <a:ln>
                        <a:noFill/>
                      </a:ln>
                    </p:spPr>
                  </p:pic>
                </p:oleObj>
              </mc:Fallback>
            </mc:AlternateContent>
          </a:graphicData>
        </a:graphic>
      </p:graphicFrame>
      <p:graphicFrame>
        <p:nvGraphicFramePr>
          <p:cNvPr id="16" name="Object 15"/>
          <p:cNvGraphicFramePr>
            <a:graphicFrameLocks noChangeAspect="1"/>
          </p:cNvGraphicFramePr>
          <p:nvPr>
            <p:extLst>
              <p:ext uri="{D42A27DB-BD31-4B8C-83A1-F6EECF244321}">
                <p14:modId xmlns:p14="http://schemas.microsoft.com/office/powerpoint/2010/main" val="501130429"/>
              </p:ext>
            </p:extLst>
          </p:nvPr>
        </p:nvGraphicFramePr>
        <p:xfrm>
          <a:off x="4425950" y="4924425"/>
          <a:ext cx="1857375" cy="431800"/>
        </p:xfrm>
        <a:graphic>
          <a:graphicData uri="http://schemas.openxmlformats.org/presentationml/2006/ole">
            <mc:AlternateContent xmlns:mc="http://schemas.openxmlformats.org/markup-compatibility/2006">
              <mc:Choice xmlns:v="urn:schemas-microsoft-com:vml" Requires="v">
                <p:oleObj spid="_x0000_s4230" name="Equation" r:id="rId6" imgW="914400" imgH="215640" progId="Equation.3">
                  <p:embed/>
                </p:oleObj>
              </mc:Choice>
              <mc:Fallback>
                <p:oleObj name="Equation" r:id="rId6" imgW="914400" imgH="215640" progId="Equation.3">
                  <p:embed/>
                  <p:pic>
                    <p:nvPicPr>
                      <p:cNvPr id="0" name="Object 7"/>
                      <p:cNvPicPr>
                        <a:picLocks noChangeAspect="1" noChangeArrowheads="1"/>
                      </p:cNvPicPr>
                      <p:nvPr/>
                    </p:nvPicPr>
                    <p:blipFill>
                      <a:blip r:embed="rId7"/>
                      <a:srcRect/>
                      <a:stretch>
                        <a:fillRect/>
                      </a:stretch>
                    </p:blipFill>
                    <p:spPr bwMode="auto">
                      <a:xfrm>
                        <a:off x="4425950" y="4924425"/>
                        <a:ext cx="1857375" cy="431800"/>
                      </a:xfrm>
                      <a:prstGeom prst="rect">
                        <a:avLst/>
                      </a:prstGeom>
                      <a:noFill/>
                      <a:ln w="9525">
                        <a:solidFill>
                          <a:schemeClr val="folHlink"/>
                        </a:solidFill>
                        <a:miter lim="800000"/>
                        <a:headEnd/>
                        <a:tailEnd/>
                      </a:ln>
                    </p:spPr>
                  </p:pic>
                </p:oleObj>
              </mc:Fallback>
            </mc:AlternateContent>
          </a:graphicData>
        </a:graphic>
      </p:graphicFrame>
      <p:sp>
        <p:nvSpPr>
          <p:cNvPr id="17" name="Rectangle 16"/>
          <p:cNvSpPr/>
          <p:nvPr/>
        </p:nvSpPr>
        <p:spPr>
          <a:xfrm>
            <a:off x="76200" y="5426838"/>
            <a:ext cx="1364476" cy="461665"/>
          </a:xfrm>
          <a:prstGeom prst="rect">
            <a:avLst/>
          </a:prstGeom>
        </p:spPr>
        <p:txBody>
          <a:bodyPr wrap="none">
            <a:spAutoFit/>
          </a:bodyPr>
          <a:lstStyle/>
          <a:p>
            <a:pPr>
              <a:buFont typeface="Wingdings" pitchFamily="2" charset="2"/>
              <a:buNone/>
            </a:pPr>
            <a:r>
              <a:rPr lang="en-US" sz="2400" b="1" i="1" dirty="0">
                <a:latin typeface="Times New Roman" pitchFamily="18" charset="0"/>
                <a:cs typeface="Times New Roman" pitchFamily="18" charset="0"/>
              </a:rPr>
              <a:t>Ý </a:t>
            </a:r>
            <a:r>
              <a:rPr lang="en-US" sz="2400" b="1" i="1" dirty="0" err="1">
                <a:latin typeface="Times New Roman" pitchFamily="18" charset="0"/>
                <a:cs typeface="Times New Roman" pitchFamily="18" charset="0"/>
              </a:rPr>
              <a:t>nghĩa</a:t>
            </a:r>
            <a:r>
              <a:rPr lang="en-US" sz="2400" b="1" i="1" dirty="0">
                <a:latin typeface="Times New Roman" pitchFamily="18" charset="0"/>
                <a:cs typeface="Times New Roman" pitchFamily="18" charset="0"/>
              </a:rPr>
              <a:t>:</a:t>
            </a:r>
            <a:r>
              <a:rPr lang="en-US" sz="2400" dirty="0">
                <a:latin typeface="Times New Roman" pitchFamily="18" charset="0"/>
                <a:cs typeface="Times New Roman" pitchFamily="18" charset="0"/>
              </a:rPr>
              <a:t> </a:t>
            </a:r>
          </a:p>
        </p:txBody>
      </p:sp>
      <p:sp>
        <p:nvSpPr>
          <p:cNvPr id="18" name="Rectangle 17"/>
          <p:cNvSpPr/>
          <p:nvPr/>
        </p:nvSpPr>
        <p:spPr>
          <a:xfrm>
            <a:off x="66166" y="5950803"/>
            <a:ext cx="9001634" cy="830997"/>
          </a:xfrm>
          <a:prstGeom prst="rect">
            <a:avLst/>
          </a:prstGeom>
        </p:spPr>
        <p:txBody>
          <a:bodyPr wrap="square">
            <a:spAutoFit/>
          </a:bodyPr>
          <a:lstStyle/>
          <a:p>
            <a:pPr>
              <a:buFont typeface="Wingdings" pitchFamily="2" charset="2"/>
              <a:buNone/>
            </a:pPr>
            <a:r>
              <a:rPr lang="en-US" sz="2400" i="1" dirty="0" err="1">
                <a:solidFill>
                  <a:srgbClr val="FF0000"/>
                </a:solidFill>
                <a:latin typeface="Times New Roman" pitchFamily="18" charset="0"/>
                <a:cs typeface="Times New Roman" pitchFamily="18" charset="0"/>
              </a:rPr>
              <a:t>Vị</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trí</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và</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động</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lượng</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của</a:t>
            </a:r>
            <a:r>
              <a:rPr lang="en-US" sz="2400" i="1" dirty="0">
                <a:solidFill>
                  <a:srgbClr val="FF0000"/>
                </a:solidFill>
                <a:latin typeface="Times New Roman" pitchFamily="18" charset="0"/>
                <a:cs typeface="Times New Roman" pitchFamily="18" charset="0"/>
              </a:rPr>
              <a:t> vi </a:t>
            </a:r>
            <a:r>
              <a:rPr lang="en-US" sz="2400" i="1" dirty="0" err="1">
                <a:solidFill>
                  <a:srgbClr val="FF0000"/>
                </a:solidFill>
                <a:latin typeface="Times New Roman" pitchFamily="18" charset="0"/>
                <a:cs typeface="Times New Roman" pitchFamily="18" charset="0"/>
              </a:rPr>
              <a:t>hạt</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không</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được</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xác</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định</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đồng</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thời</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Quy</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luật</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vận</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động</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của</a:t>
            </a:r>
            <a:r>
              <a:rPr lang="en-US" sz="2400" i="1" dirty="0">
                <a:solidFill>
                  <a:srgbClr val="FF0000"/>
                </a:solidFill>
                <a:latin typeface="Times New Roman" pitchFamily="18" charset="0"/>
                <a:cs typeface="Times New Roman" pitchFamily="18" charset="0"/>
              </a:rPr>
              <a:t> vi </a:t>
            </a:r>
            <a:r>
              <a:rPr lang="en-US" sz="2400" i="1" dirty="0" err="1">
                <a:solidFill>
                  <a:srgbClr val="FF0000"/>
                </a:solidFill>
                <a:latin typeface="Times New Roman" pitchFamily="18" charset="0"/>
                <a:cs typeface="Times New Roman" pitchFamily="18" charset="0"/>
              </a:rPr>
              <a:t>hạt</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theo</a:t>
            </a:r>
            <a:r>
              <a:rPr lang="en-US" sz="2400" i="1" dirty="0">
                <a:solidFill>
                  <a:srgbClr val="FF0000"/>
                </a:solidFill>
                <a:latin typeface="Times New Roman" pitchFamily="18" charset="0"/>
                <a:cs typeface="Times New Roman" pitchFamily="18" charset="0"/>
              </a:rPr>
              <a:t> </a:t>
            </a:r>
            <a:r>
              <a:rPr lang="en-US" sz="2400" i="1" dirty="0" err="1">
                <a:solidFill>
                  <a:srgbClr val="0070C0"/>
                </a:solidFill>
                <a:latin typeface="Times New Roman" pitchFamily="18" charset="0"/>
                <a:cs typeface="Times New Roman" pitchFamily="18" charset="0"/>
              </a:rPr>
              <a:t>quy</a:t>
            </a:r>
            <a:r>
              <a:rPr lang="en-US" sz="2400" i="1" dirty="0">
                <a:solidFill>
                  <a:srgbClr val="0070C0"/>
                </a:solidFill>
                <a:latin typeface="Times New Roman" pitchFamily="18" charset="0"/>
                <a:cs typeface="Times New Roman" pitchFamily="18" charset="0"/>
              </a:rPr>
              <a:t> </a:t>
            </a:r>
            <a:r>
              <a:rPr lang="en-US" sz="2400" i="1" dirty="0" err="1">
                <a:solidFill>
                  <a:srgbClr val="0070C0"/>
                </a:solidFill>
                <a:latin typeface="Times New Roman" pitchFamily="18" charset="0"/>
                <a:cs typeface="Times New Roman" pitchFamily="18" charset="0"/>
              </a:rPr>
              <a:t>luật</a:t>
            </a:r>
            <a:r>
              <a:rPr lang="en-US" sz="2400" i="1" dirty="0">
                <a:solidFill>
                  <a:srgbClr val="0070C0"/>
                </a:solidFill>
                <a:latin typeface="Times New Roman" pitchFamily="18" charset="0"/>
                <a:cs typeface="Times New Roman" pitchFamily="18" charset="0"/>
              </a:rPr>
              <a:t> </a:t>
            </a:r>
            <a:r>
              <a:rPr lang="en-US" sz="2400" i="1" dirty="0" err="1">
                <a:solidFill>
                  <a:srgbClr val="0070C0"/>
                </a:solidFill>
                <a:latin typeface="Times New Roman" pitchFamily="18" charset="0"/>
                <a:cs typeface="Times New Roman" pitchFamily="18" charset="0"/>
              </a:rPr>
              <a:t>thống</a:t>
            </a:r>
            <a:r>
              <a:rPr lang="en-US" sz="2400" i="1" dirty="0">
                <a:solidFill>
                  <a:srgbClr val="0070C0"/>
                </a:solidFill>
                <a:latin typeface="Times New Roman" pitchFamily="18" charset="0"/>
                <a:cs typeface="Times New Roman" pitchFamily="18" charset="0"/>
              </a:rPr>
              <a:t> </a:t>
            </a:r>
            <a:r>
              <a:rPr lang="en-US" sz="2400" i="1" dirty="0" err="1">
                <a:solidFill>
                  <a:srgbClr val="0070C0"/>
                </a:solidFill>
                <a:latin typeface="Times New Roman" pitchFamily="18" charset="0"/>
                <a:cs typeface="Times New Roman" pitchFamily="18" charset="0"/>
              </a:rPr>
              <a:t>kê</a:t>
            </a:r>
            <a:r>
              <a:rPr lang="en-US" sz="2400" i="1" dirty="0">
                <a:solidFill>
                  <a:srgbClr val="0070C0"/>
                </a:solidFill>
                <a:latin typeface="Times New Roman" pitchFamily="18" charset="0"/>
                <a:cs typeface="Times New Roman" pitchFamily="18" charset="0"/>
              </a:rPr>
              <a:t>.</a:t>
            </a:r>
          </a:p>
        </p:txBody>
      </p:sp>
    </p:spTree>
    <p:extLst>
      <p:ext uri="{BB962C8B-B14F-4D97-AF65-F5344CB8AC3E}">
        <p14:creationId xmlns:p14="http://schemas.microsoft.com/office/powerpoint/2010/main" val="646959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arn(inVertical)">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barn(inVertical)">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arn(inVertical)">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barn(inVertical)">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barn(inVertical)">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barn(inVertical)">
                                      <p:cBhvr>
                                        <p:cTn id="37" dur="5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grpId="0"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barn(inVertical)">
                                      <p:cBhvr>
                                        <p:cTn id="42" dur="50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barn(inVertical)">
                                      <p:cBhvr>
                                        <p:cTn id="47" dur="500"/>
                                        <p:tgtEl>
                                          <p:spTgt spid="14"/>
                                        </p:tgtEl>
                                      </p:cBhvr>
                                    </p:animEffect>
                                  </p:childTnLst>
                                </p:cTn>
                              </p:par>
                            </p:childTnLst>
                          </p:cTn>
                        </p:par>
                      </p:childTnLst>
                    </p:cTn>
                  </p:par>
                  <p:par>
                    <p:cTn id="48" fill="hold">
                      <p:stCondLst>
                        <p:cond delay="indefinite"/>
                      </p:stCondLst>
                      <p:childTnLst>
                        <p:par>
                          <p:cTn id="49" fill="hold">
                            <p:stCondLst>
                              <p:cond delay="0"/>
                            </p:stCondLst>
                            <p:childTnLst>
                              <p:par>
                                <p:cTn id="50" presetID="16" presetClass="entr" presetSubtype="21" fill="hold" nodeType="click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barn(inVertical)">
                                      <p:cBhvr>
                                        <p:cTn id="52" dur="500"/>
                                        <p:tgtEl>
                                          <p:spTgt spid="15"/>
                                        </p:tgtEl>
                                      </p:cBhvr>
                                    </p:animEffect>
                                  </p:childTnLst>
                                </p:cTn>
                              </p:par>
                            </p:childTnLst>
                          </p:cTn>
                        </p:par>
                      </p:childTnLst>
                    </p:cTn>
                  </p:par>
                  <p:par>
                    <p:cTn id="53" fill="hold">
                      <p:stCondLst>
                        <p:cond delay="indefinite"/>
                      </p:stCondLst>
                      <p:childTnLst>
                        <p:par>
                          <p:cTn id="54" fill="hold">
                            <p:stCondLst>
                              <p:cond delay="0"/>
                            </p:stCondLst>
                            <p:childTnLst>
                              <p:par>
                                <p:cTn id="55" presetID="16" presetClass="entr" presetSubtype="21" fill="hold" nodeType="click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barn(inVertical)">
                                      <p:cBhvr>
                                        <p:cTn id="57" dur="500"/>
                                        <p:tgtEl>
                                          <p:spTgt spid="16"/>
                                        </p:tgtEl>
                                      </p:cBhvr>
                                    </p:animEffect>
                                  </p:childTnLst>
                                </p:cTn>
                              </p:par>
                            </p:childTnLst>
                          </p:cTn>
                        </p:par>
                      </p:childTnLst>
                    </p:cTn>
                  </p:par>
                  <p:par>
                    <p:cTn id="58" fill="hold">
                      <p:stCondLst>
                        <p:cond delay="indefinite"/>
                      </p:stCondLst>
                      <p:childTnLst>
                        <p:par>
                          <p:cTn id="59" fill="hold">
                            <p:stCondLst>
                              <p:cond delay="0"/>
                            </p:stCondLst>
                            <p:childTnLst>
                              <p:par>
                                <p:cTn id="60" presetID="16" presetClass="entr" presetSubtype="21" fill="hold" grpId="0" nodeType="click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barn(inVertical)">
                                      <p:cBhvr>
                                        <p:cTn id="62" dur="500"/>
                                        <p:tgtEl>
                                          <p:spTgt spid="17"/>
                                        </p:tgtEl>
                                      </p:cBhvr>
                                    </p:animEffect>
                                  </p:childTnLst>
                                </p:cTn>
                              </p:par>
                            </p:childTnLst>
                          </p:cTn>
                        </p:par>
                      </p:childTnLst>
                    </p:cTn>
                  </p:par>
                  <p:par>
                    <p:cTn id="63" fill="hold">
                      <p:stCondLst>
                        <p:cond delay="indefinite"/>
                      </p:stCondLst>
                      <p:childTnLst>
                        <p:par>
                          <p:cTn id="64" fill="hold">
                            <p:stCondLst>
                              <p:cond delay="0"/>
                            </p:stCondLst>
                            <p:childTnLst>
                              <p:par>
                                <p:cTn id="65" presetID="16" presetClass="entr" presetSubtype="21"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animEffect transition="in" filter="barn(inVertical)">
                                      <p:cBhvr>
                                        <p:cTn id="6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8" grpId="0"/>
      <p:bldP spid="9" grpId="0"/>
      <p:bldP spid="10" grpId="0"/>
      <p:bldP spid="11" grpId="0"/>
      <p:bldP spid="12" grpId="0"/>
      <p:bldP spid="13" grpId="0"/>
      <p:bldP spid="14" grpId="0"/>
      <p:bldP spid="17" grpId="0"/>
      <p:bldP spid="1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p:cNvSpPr/>
          <p:nvPr/>
        </p:nvSpPr>
        <p:spPr>
          <a:xfrm>
            <a:off x="152400" y="609600"/>
            <a:ext cx="6705600" cy="830997"/>
          </a:xfrm>
          <a:prstGeom prst="rect">
            <a:avLst/>
          </a:prstGeom>
        </p:spPr>
        <p:txBody>
          <a:bodyPr wrap="square">
            <a:spAutoFit/>
          </a:bodyPr>
          <a:lstStyle/>
          <a:p>
            <a:pPr>
              <a:buFont typeface="Wingdings" pitchFamily="2" charset="2"/>
              <a:buNone/>
            </a:pPr>
            <a:r>
              <a:rPr lang="en-US" sz="2400" b="1" i="1" dirty="0" err="1">
                <a:latin typeface="Times New Roman" pitchFamily="18" charset="0"/>
                <a:cs typeface="Times New Roman" pitchFamily="18" charset="0"/>
              </a:rPr>
              <a:t>Hệ</a:t>
            </a:r>
            <a:r>
              <a:rPr lang="en-US" sz="2400" b="1" i="1" dirty="0">
                <a:latin typeface="Times New Roman" pitchFamily="18" charset="0"/>
                <a:cs typeface="Times New Roman" pitchFamily="18" charset="0"/>
              </a:rPr>
              <a:t> </a:t>
            </a:r>
            <a:r>
              <a:rPr lang="en-US" sz="2400" b="1" i="1" dirty="0" err="1">
                <a:latin typeface="Times New Roman" pitchFamily="18" charset="0"/>
                <a:cs typeface="Times New Roman" pitchFamily="18" charset="0"/>
              </a:rPr>
              <a:t>thức</a:t>
            </a:r>
            <a:r>
              <a:rPr lang="en-US" sz="2400" b="1" i="1" dirty="0">
                <a:latin typeface="Times New Roman" pitchFamily="18" charset="0"/>
                <a:cs typeface="Times New Roman" pitchFamily="18" charset="0"/>
              </a:rPr>
              <a:t> </a:t>
            </a:r>
            <a:r>
              <a:rPr lang="en-US" sz="2400" b="1" i="1" dirty="0" err="1">
                <a:latin typeface="Times New Roman" pitchFamily="18" charset="0"/>
                <a:cs typeface="Times New Roman" pitchFamily="18" charset="0"/>
              </a:rPr>
              <a:t>bất</a:t>
            </a:r>
            <a:r>
              <a:rPr lang="en-US" sz="2400" b="1" i="1" dirty="0">
                <a:latin typeface="Times New Roman" pitchFamily="18" charset="0"/>
                <a:cs typeface="Times New Roman" pitchFamily="18" charset="0"/>
              </a:rPr>
              <a:t> </a:t>
            </a:r>
            <a:r>
              <a:rPr lang="en-US" sz="2400" b="1" i="1" dirty="0" err="1">
                <a:latin typeface="Times New Roman" pitchFamily="18" charset="0"/>
                <a:cs typeface="Times New Roman" pitchFamily="18" charset="0"/>
              </a:rPr>
              <a:t>định</a:t>
            </a:r>
            <a:r>
              <a:rPr lang="en-US" sz="2400" b="1" i="1" dirty="0">
                <a:latin typeface="Times New Roman" pitchFamily="18" charset="0"/>
                <a:cs typeface="Times New Roman" pitchFamily="18" charset="0"/>
              </a:rPr>
              <a:t> </a:t>
            </a:r>
            <a:r>
              <a:rPr lang="en-US" sz="2400" b="1" i="1" dirty="0" err="1">
                <a:latin typeface="Times New Roman" pitchFamily="18" charset="0"/>
                <a:cs typeface="Times New Roman" pitchFamily="18" charset="0"/>
              </a:rPr>
              <a:t>giữa</a:t>
            </a:r>
            <a:r>
              <a:rPr lang="en-US" sz="2400" b="1" i="1" dirty="0">
                <a:latin typeface="Times New Roman" pitchFamily="18" charset="0"/>
                <a:cs typeface="Times New Roman" pitchFamily="18" charset="0"/>
              </a:rPr>
              <a:t> </a:t>
            </a:r>
            <a:r>
              <a:rPr lang="en-US" sz="2400" b="1" i="1" dirty="0" err="1">
                <a:latin typeface="Times New Roman" pitchFamily="18" charset="0"/>
                <a:cs typeface="Times New Roman" pitchFamily="18" charset="0"/>
              </a:rPr>
              <a:t>năng</a:t>
            </a:r>
            <a:r>
              <a:rPr lang="en-US" sz="2400" b="1" i="1" dirty="0">
                <a:latin typeface="Times New Roman" pitchFamily="18" charset="0"/>
                <a:cs typeface="Times New Roman" pitchFamily="18" charset="0"/>
              </a:rPr>
              <a:t> </a:t>
            </a:r>
            <a:r>
              <a:rPr lang="en-US" sz="2400" b="1" i="1" dirty="0" err="1">
                <a:latin typeface="Times New Roman" pitchFamily="18" charset="0"/>
                <a:cs typeface="Times New Roman" pitchFamily="18" charset="0"/>
              </a:rPr>
              <a:t>lượng</a:t>
            </a:r>
            <a:r>
              <a:rPr lang="en-US" sz="2400" b="1" i="1" dirty="0">
                <a:latin typeface="Times New Roman" pitchFamily="18" charset="0"/>
                <a:cs typeface="Times New Roman" pitchFamily="18" charset="0"/>
              </a:rPr>
              <a:t> </a:t>
            </a:r>
            <a:r>
              <a:rPr lang="en-US" sz="2400" b="1" i="1" dirty="0" err="1">
                <a:latin typeface="Times New Roman" pitchFamily="18" charset="0"/>
                <a:cs typeface="Times New Roman" pitchFamily="18" charset="0"/>
              </a:rPr>
              <a:t>và</a:t>
            </a:r>
            <a:r>
              <a:rPr lang="en-US" sz="2400" b="1" i="1" dirty="0">
                <a:latin typeface="Times New Roman" pitchFamily="18" charset="0"/>
                <a:cs typeface="Times New Roman" pitchFamily="18" charset="0"/>
              </a:rPr>
              <a:t> </a:t>
            </a:r>
            <a:r>
              <a:rPr lang="en-US" sz="2400" b="1" i="1" dirty="0" err="1">
                <a:latin typeface="Times New Roman" pitchFamily="18" charset="0"/>
                <a:cs typeface="Times New Roman" pitchFamily="18" charset="0"/>
              </a:rPr>
              <a:t>thời</a:t>
            </a:r>
            <a:r>
              <a:rPr lang="en-US" sz="2400" b="1" i="1" dirty="0">
                <a:latin typeface="Times New Roman" pitchFamily="18" charset="0"/>
                <a:cs typeface="Times New Roman" pitchFamily="18" charset="0"/>
              </a:rPr>
              <a:t> </a:t>
            </a:r>
            <a:r>
              <a:rPr lang="en-US" sz="2400" b="1" i="1" dirty="0" err="1">
                <a:latin typeface="Times New Roman" pitchFamily="18" charset="0"/>
                <a:cs typeface="Times New Roman" pitchFamily="18" charset="0"/>
              </a:rPr>
              <a:t>gian</a:t>
            </a:r>
            <a:endParaRPr lang="en-US" sz="2400" b="1" i="1" dirty="0">
              <a:latin typeface="Times New Roman" pitchFamily="18" charset="0"/>
              <a:cs typeface="Times New Roman" pitchFamily="18" charset="0"/>
            </a:endParaRPr>
          </a:p>
          <a:p>
            <a:pPr>
              <a:buFont typeface="Wingdings" pitchFamily="2" charset="2"/>
              <a:buNone/>
            </a:pPr>
            <a:r>
              <a:rPr lang="en-US" sz="2400" dirty="0">
                <a:latin typeface="Times New Roman" pitchFamily="18" charset="0"/>
                <a:cs typeface="Times New Roman" pitchFamily="18" charset="0"/>
              </a:rPr>
              <a:t>                   </a:t>
            </a:r>
            <a:r>
              <a:rPr lang="el-GR" sz="2400" i="1" dirty="0">
                <a:solidFill>
                  <a:srgbClr val="00B050"/>
                </a:solidFill>
                <a:latin typeface="Times New Roman" pitchFamily="18" charset="0"/>
                <a:cs typeface="Times New Roman" pitchFamily="18" charset="0"/>
              </a:rPr>
              <a:t>Δ</a:t>
            </a:r>
            <a:r>
              <a:rPr lang="en-US" sz="2400" i="1" dirty="0">
                <a:solidFill>
                  <a:srgbClr val="00B050"/>
                </a:solidFill>
                <a:latin typeface="Times New Roman" pitchFamily="18" charset="0"/>
                <a:cs typeface="Times New Roman" pitchFamily="18" charset="0"/>
              </a:rPr>
              <a:t>E.</a:t>
            </a:r>
            <a:r>
              <a:rPr lang="el-GR" sz="2400" i="1" dirty="0">
                <a:solidFill>
                  <a:srgbClr val="00B050"/>
                </a:solidFill>
                <a:latin typeface="Times New Roman" pitchFamily="18" charset="0"/>
                <a:cs typeface="Times New Roman" pitchFamily="18" charset="0"/>
              </a:rPr>
              <a:t>Δ</a:t>
            </a:r>
            <a:r>
              <a:rPr lang="en-US" sz="2400" i="1" dirty="0">
                <a:solidFill>
                  <a:srgbClr val="00B050"/>
                </a:solidFill>
                <a:latin typeface="Times New Roman" pitchFamily="18" charset="0"/>
                <a:cs typeface="Times New Roman" pitchFamily="18" charset="0"/>
              </a:rPr>
              <a:t>t ≈ h</a:t>
            </a:r>
          </a:p>
        </p:txBody>
      </p:sp>
      <p:sp>
        <p:nvSpPr>
          <p:cNvPr id="3" name="Rectangle 2"/>
          <p:cNvSpPr/>
          <p:nvPr/>
        </p:nvSpPr>
        <p:spPr>
          <a:xfrm>
            <a:off x="152400" y="1524000"/>
            <a:ext cx="8915400" cy="830997"/>
          </a:xfrm>
          <a:prstGeom prst="rect">
            <a:avLst/>
          </a:prstGeom>
        </p:spPr>
        <p:txBody>
          <a:bodyPr wrap="square">
            <a:spAutoFit/>
          </a:bodyPr>
          <a:lstStyle/>
          <a:p>
            <a:pPr algn="just"/>
            <a:r>
              <a:rPr lang="vi-VN" sz="2400" dirty="0">
                <a:latin typeface="+mj-lt"/>
              </a:rPr>
              <a:t>Ý nghĩa: nếu năng l</a:t>
            </a:r>
            <a:r>
              <a:rPr lang="en-US" sz="2400" dirty="0">
                <a:latin typeface="+mj-lt"/>
              </a:rPr>
              <a:t>ư</a:t>
            </a:r>
            <a:r>
              <a:rPr lang="vi-VN" sz="2400" dirty="0">
                <a:latin typeface="+mj-lt"/>
              </a:rPr>
              <a:t>ợng của hệ ở một trạng thái nào đó càng bất định thì thời gian để hệ tồn tại ở trạng thái đó càng ngắn và ng</a:t>
            </a:r>
            <a:r>
              <a:rPr lang="en-US" sz="2400" dirty="0">
                <a:latin typeface="+mj-lt"/>
              </a:rPr>
              <a:t>ư</a:t>
            </a:r>
            <a:r>
              <a:rPr lang="vi-VN" sz="2400" dirty="0">
                <a:latin typeface="+mj-lt"/>
              </a:rPr>
              <a:t>ợc lại, </a:t>
            </a:r>
            <a:endParaRPr lang="en-US" sz="2400" dirty="0">
              <a:latin typeface="+mj-lt"/>
            </a:endParaRPr>
          </a:p>
        </p:txBody>
      </p:sp>
      <p:sp>
        <p:nvSpPr>
          <p:cNvPr id="6" name="TextBox 5"/>
          <p:cNvSpPr txBox="1"/>
          <p:nvPr/>
        </p:nvSpPr>
        <p:spPr>
          <a:xfrm>
            <a:off x="76200" y="0"/>
            <a:ext cx="9067800" cy="830997"/>
          </a:xfrm>
          <a:prstGeom prst="rect">
            <a:avLst/>
          </a:prstGeom>
          <a:noFill/>
        </p:spPr>
        <p:txBody>
          <a:bodyPr wrap="square" rtlCol="0">
            <a:spAutoFit/>
          </a:bodyPr>
          <a:lstStyle/>
          <a:p>
            <a:pPr algn="ctr"/>
            <a:r>
              <a:rPr lang="en-US" sz="2400" dirty="0">
                <a:solidFill>
                  <a:srgbClr val="FFFF00"/>
                </a:solidFill>
                <a:latin typeface="Times New Roman" pitchFamily="18" charset="0"/>
                <a:cs typeface="Times New Roman" pitchFamily="18" charset="0"/>
              </a:rPr>
              <a:t>§2. </a:t>
            </a:r>
            <a:r>
              <a:rPr lang="en-US" sz="2400" b="1" dirty="0">
                <a:solidFill>
                  <a:srgbClr val="FFFF00"/>
                </a:solidFill>
                <a:latin typeface="Times New Roman" pitchFamily="18" charset="0"/>
              </a:rPr>
              <a:t>HỆ THỨC BẤT ĐỊNH HEISENBERG</a:t>
            </a:r>
          </a:p>
          <a:p>
            <a:pPr algn="ctr"/>
            <a:r>
              <a:rPr lang="en-US" sz="2400" dirty="0">
                <a:solidFill>
                  <a:srgbClr val="FFFF00"/>
                </a:solidFill>
                <a:latin typeface="Times New Roman" pitchFamily="18" charset="0"/>
                <a:cs typeface="Times New Roman" pitchFamily="18" charset="0"/>
              </a:rPr>
              <a:t>. </a:t>
            </a:r>
          </a:p>
        </p:txBody>
      </p:sp>
    </p:spTree>
    <p:extLst>
      <p:ext uri="{BB962C8B-B14F-4D97-AF65-F5344CB8AC3E}">
        <p14:creationId xmlns:p14="http://schemas.microsoft.com/office/powerpoint/2010/main" val="646959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38600" y="163882"/>
            <a:ext cx="2597284" cy="4302796"/>
          </a:xfrm>
          <a:prstGeom prst="rect">
            <a:avLst/>
          </a:prstGeom>
        </p:spPr>
      </p:pic>
      <p:sp>
        <p:nvSpPr>
          <p:cNvPr id="5" name="TextBox 4"/>
          <p:cNvSpPr txBox="1"/>
          <p:nvPr/>
        </p:nvSpPr>
        <p:spPr>
          <a:xfrm>
            <a:off x="2971800" y="4648199"/>
            <a:ext cx="4953000" cy="769441"/>
          </a:xfrm>
          <a:prstGeom prst="rect">
            <a:avLst/>
          </a:prstGeom>
          <a:noFill/>
        </p:spPr>
        <p:txBody>
          <a:bodyPr wrap="square" rtlCol="0">
            <a:spAutoFit/>
          </a:bodyPr>
          <a:lstStyle/>
          <a:p>
            <a:pPr algn="ctr"/>
            <a:r>
              <a:rPr lang="en-US" sz="2200">
                <a:latin typeface="Times" pitchFamily="18" charset="0"/>
              </a:rPr>
              <a:t>Werner Heisenberg, Đức</a:t>
            </a:r>
          </a:p>
          <a:p>
            <a:pPr algn="ctr"/>
            <a:r>
              <a:rPr lang="en-US" sz="2200">
                <a:latin typeface="Times" pitchFamily="18" charset="0"/>
              </a:rPr>
              <a:t>1901 - 1976</a:t>
            </a:r>
          </a:p>
        </p:txBody>
      </p:sp>
      <p:sp>
        <p:nvSpPr>
          <p:cNvPr id="6" name="TextBox 5"/>
          <p:cNvSpPr txBox="1"/>
          <p:nvPr/>
        </p:nvSpPr>
        <p:spPr>
          <a:xfrm>
            <a:off x="228600" y="5445204"/>
            <a:ext cx="8839200" cy="1107996"/>
          </a:xfrm>
          <a:prstGeom prst="rect">
            <a:avLst/>
          </a:prstGeom>
          <a:noFill/>
        </p:spPr>
        <p:txBody>
          <a:bodyPr wrap="square" rtlCol="0">
            <a:spAutoFit/>
          </a:bodyPr>
          <a:lstStyle/>
          <a:p>
            <a:pPr algn="just"/>
            <a:r>
              <a:rPr lang="vi-VN" sz="2200">
                <a:latin typeface="+mj-lt"/>
              </a:rPr>
              <a:t>Werner Karl Heisenberg là một nhà vật lý nổi danh của thế kỷ 20. Ông là một trong những người sáng lập ra thuyết cơ học lượng tử và đoạt giải Nobel vật lý năm 1932</a:t>
            </a:r>
            <a:endParaRPr lang="en-US" sz="2200">
              <a:latin typeface="+mj-lt"/>
            </a:endParaRPr>
          </a:p>
        </p:txBody>
      </p:sp>
    </p:spTree>
    <p:extLst>
      <p:ext uri="{BB962C8B-B14F-4D97-AF65-F5344CB8AC3E}">
        <p14:creationId xmlns:p14="http://schemas.microsoft.com/office/powerpoint/2010/main" val="26415855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0" y="71735"/>
            <a:ext cx="9067800" cy="461665"/>
          </a:xfrm>
          <a:prstGeom prst="rect">
            <a:avLst/>
          </a:prstGeom>
          <a:noFill/>
        </p:spPr>
        <p:txBody>
          <a:bodyPr wrap="square" rtlCol="0">
            <a:spAutoFit/>
          </a:bodyPr>
          <a:lstStyle/>
          <a:p>
            <a:pPr algn="ctr"/>
            <a:r>
              <a:rPr lang="en-US" sz="2400" dirty="0">
                <a:solidFill>
                  <a:srgbClr val="FFFF00"/>
                </a:solidFill>
                <a:latin typeface="Times New Roman" pitchFamily="18" charset="0"/>
                <a:cs typeface="Times New Roman" pitchFamily="18" charset="0"/>
              </a:rPr>
              <a:t>§3.</a:t>
            </a:r>
            <a:r>
              <a:rPr lang="en-US" sz="2400" dirty="0">
                <a:solidFill>
                  <a:schemeClr val="tx2"/>
                </a:solidFill>
                <a:latin typeface="Times New Roman" pitchFamily="18" charset="0"/>
              </a:rPr>
              <a:t> </a:t>
            </a:r>
            <a:r>
              <a:rPr lang="en-US" sz="2400" dirty="0">
                <a:solidFill>
                  <a:srgbClr val="FFFF00"/>
                </a:solidFill>
                <a:latin typeface="Times New Roman" pitchFamily="18" charset="0"/>
              </a:rPr>
              <a:t>HÀM SÓNG</a:t>
            </a:r>
            <a:r>
              <a:rPr lang="en-US" sz="2400" dirty="0">
                <a:solidFill>
                  <a:srgbClr val="FFFF00"/>
                </a:solidFill>
                <a:latin typeface="Times New Roman" pitchFamily="18" charset="0"/>
                <a:cs typeface="Times New Roman" pitchFamily="18" charset="0"/>
              </a:rPr>
              <a:t> </a:t>
            </a:r>
          </a:p>
        </p:txBody>
      </p:sp>
      <p:sp>
        <p:nvSpPr>
          <p:cNvPr id="2" name="Rectangle 1"/>
          <p:cNvSpPr/>
          <p:nvPr/>
        </p:nvSpPr>
        <p:spPr>
          <a:xfrm>
            <a:off x="76201" y="685800"/>
            <a:ext cx="5865726" cy="461665"/>
          </a:xfrm>
          <a:prstGeom prst="rect">
            <a:avLst/>
          </a:prstGeom>
        </p:spPr>
        <p:txBody>
          <a:bodyPr wrap="square">
            <a:spAutoFit/>
          </a:bodyPr>
          <a:lstStyle/>
          <a:p>
            <a:pPr>
              <a:buFont typeface="Wingdings" pitchFamily="2" charset="2"/>
              <a:buNone/>
            </a:pPr>
            <a:r>
              <a:rPr lang="en-US" sz="2400" dirty="0" err="1">
                <a:latin typeface="Times New Roman" pitchFamily="18" charset="0"/>
              </a:rPr>
              <a:t>Hàm</a:t>
            </a:r>
            <a:r>
              <a:rPr lang="en-US" sz="2400" dirty="0">
                <a:latin typeface="Times New Roman" pitchFamily="18" charset="0"/>
              </a:rPr>
              <a:t> </a:t>
            </a:r>
            <a:r>
              <a:rPr lang="en-US" sz="2400" dirty="0" err="1">
                <a:latin typeface="Times New Roman" pitchFamily="18" charset="0"/>
              </a:rPr>
              <a:t>sóng</a:t>
            </a:r>
            <a:r>
              <a:rPr lang="en-US" sz="2400" dirty="0">
                <a:latin typeface="Times New Roman" pitchFamily="18" charset="0"/>
              </a:rPr>
              <a:t> </a:t>
            </a:r>
            <a:r>
              <a:rPr lang="en-US" sz="2400" dirty="0" err="1">
                <a:latin typeface="Times New Roman" pitchFamily="18" charset="0"/>
              </a:rPr>
              <a:t>của</a:t>
            </a:r>
            <a:r>
              <a:rPr lang="en-US" sz="2400" dirty="0">
                <a:latin typeface="Times New Roman" pitchFamily="18" charset="0"/>
              </a:rPr>
              <a:t> vi </a:t>
            </a:r>
            <a:r>
              <a:rPr lang="en-US" sz="2400" dirty="0" err="1">
                <a:latin typeface="Times New Roman" pitchFamily="18" charset="0"/>
              </a:rPr>
              <a:t>hạt</a:t>
            </a:r>
            <a:r>
              <a:rPr lang="en-US" sz="2400" dirty="0">
                <a:latin typeface="Times New Roman" pitchFamily="18" charset="0"/>
              </a:rPr>
              <a:t> </a:t>
            </a:r>
            <a:r>
              <a:rPr lang="en-US" sz="2400" dirty="0" err="1">
                <a:solidFill>
                  <a:srgbClr val="0070C0"/>
                </a:solidFill>
                <a:latin typeface="Times New Roman" pitchFamily="18" charset="0"/>
              </a:rPr>
              <a:t>tự</a:t>
            </a:r>
            <a:r>
              <a:rPr lang="en-US" sz="2400" dirty="0">
                <a:solidFill>
                  <a:srgbClr val="0070C0"/>
                </a:solidFill>
                <a:latin typeface="Times New Roman" pitchFamily="18" charset="0"/>
              </a:rPr>
              <a:t>  do:</a:t>
            </a:r>
          </a:p>
        </p:txBody>
      </p:sp>
      <p:graphicFrame>
        <p:nvGraphicFramePr>
          <p:cNvPr id="3" name="Object 2"/>
          <p:cNvGraphicFramePr>
            <a:graphicFrameLocks noChangeAspect="1"/>
          </p:cNvGraphicFramePr>
          <p:nvPr>
            <p:extLst>
              <p:ext uri="{D42A27DB-BD31-4B8C-83A1-F6EECF244321}">
                <p14:modId xmlns:p14="http://schemas.microsoft.com/office/powerpoint/2010/main" val="175409667"/>
              </p:ext>
            </p:extLst>
          </p:nvPr>
        </p:nvGraphicFramePr>
        <p:xfrm>
          <a:off x="496888" y="1147763"/>
          <a:ext cx="3375025" cy="847725"/>
        </p:xfrm>
        <a:graphic>
          <a:graphicData uri="http://schemas.openxmlformats.org/presentationml/2006/ole">
            <mc:AlternateContent xmlns:mc="http://schemas.openxmlformats.org/markup-compatibility/2006">
              <mc:Choice xmlns:v="urn:schemas-microsoft-com:vml" Requires="v">
                <p:oleObj spid="_x0000_s5298" name="Equation" r:id="rId3" imgW="1714320" imgH="431640" progId="Equation.3">
                  <p:embed/>
                </p:oleObj>
              </mc:Choice>
              <mc:Fallback>
                <p:oleObj name="Equation" r:id="rId3" imgW="1714320" imgH="431640" progId="Equation.3">
                  <p:embed/>
                  <p:pic>
                    <p:nvPicPr>
                      <p:cNvPr id="0" name="Object 4"/>
                      <p:cNvPicPr>
                        <a:picLocks noChangeAspect="1" noChangeArrowheads="1"/>
                      </p:cNvPicPr>
                      <p:nvPr/>
                    </p:nvPicPr>
                    <p:blipFill>
                      <a:blip r:embed="rId4"/>
                      <a:srcRect/>
                      <a:stretch>
                        <a:fillRect/>
                      </a:stretch>
                    </p:blipFill>
                    <p:spPr bwMode="auto">
                      <a:xfrm>
                        <a:off x="496888" y="1147763"/>
                        <a:ext cx="3375025" cy="847725"/>
                      </a:xfrm>
                      <a:prstGeom prst="rect">
                        <a:avLst/>
                      </a:prstGeom>
                      <a:noFill/>
                      <a:ln>
                        <a:noFill/>
                      </a:ln>
                    </p:spPr>
                  </p:pic>
                </p:oleObj>
              </mc:Fallback>
            </mc:AlternateContent>
          </a:graphicData>
        </a:graphic>
      </p:graphicFrame>
      <p:graphicFrame>
        <p:nvGraphicFramePr>
          <p:cNvPr id="6" name="Object 5"/>
          <p:cNvGraphicFramePr>
            <a:graphicFrameLocks noChangeAspect="1"/>
          </p:cNvGraphicFramePr>
          <p:nvPr>
            <p:extLst>
              <p:ext uri="{D42A27DB-BD31-4B8C-83A1-F6EECF244321}">
                <p14:modId xmlns:p14="http://schemas.microsoft.com/office/powerpoint/2010/main" val="3848551196"/>
              </p:ext>
            </p:extLst>
          </p:nvPr>
        </p:nvGraphicFramePr>
        <p:xfrm>
          <a:off x="1987550" y="2209800"/>
          <a:ext cx="2281238" cy="522288"/>
        </p:xfrm>
        <a:graphic>
          <a:graphicData uri="http://schemas.openxmlformats.org/presentationml/2006/ole">
            <mc:AlternateContent xmlns:mc="http://schemas.openxmlformats.org/markup-compatibility/2006">
              <mc:Choice xmlns:v="urn:schemas-microsoft-com:vml" Requires="v">
                <p:oleObj spid="_x0000_s5299" name="Equation" r:id="rId5" imgW="1218960" imgH="279360" progId="Equation.3">
                  <p:embed/>
                </p:oleObj>
              </mc:Choice>
              <mc:Fallback>
                <p:oleObj name="Equation" r:id="rId5" imgW="1218960" imgH="279360" progId="Equation.3">
                  <p:embed/>
                  <p:pic>
                    <p:nvPicPr>
                      <p:cNvPr id="0" name="Object 12"/>
                      <p:cNvPicPr>
                        <a:picLocks noChangeAspect="1" noChangeArrowheads="1"/>
                      </p:cNvPicPr>
                      <p:nvPr/>
                    </p:nvPicPr>
                    <p:blipFill>
                      <a:blip r:embed="rId6"/>
                      <a:srcRect/>
                      <a:stretch>
                        <a:fillRect/>
                      </a:stretch>
                    </p:blipFill>
                    <p:spPr bwMode="auto">
                      <a:xfrm>
                        <a:off x="1987550" y="2209800"/>
                        <a:ext cx="2281238"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Rectangle 6"/>
          <p:cNvSpPr/>
          <p:nvPr/>
        </p:nvSpPr>
        <p:spPr>
          <a:xfrm>
            <a:off x="76201" y="2743200"/>
            <a:ext cx="6781799" cy="830997"/>
          </a:xfrm>
          <a:prstGeom prst="rect">
            <a:avLst/>
          </a:prstGeom>
        </p:spPr>
        <p:txBody>
          <a:bodyPr wrap="square">
            <a:spAutoFit/>
          </a:bodyPr>
          <a:lstStyle/>
          <a:p>
            <a:pPr>
              <a:buFont typeface="Wingdings" pitchFamily="2" charset="2"/>
              <a:buNone/>
            </a:pPr>
            <a:r>
              <a:rPr lang="en-US" sz="2400" dirty="0" err="1">
                <a:latin typeface="Times New Roman" pitchFamily="18" charset="0"/>
              </a:rPr>
              <a:t>Xét</a:t>
            </a:r>
            <a:r>
              <a:rPr lang="en-US" sz="2400" dirty="0">
                <a:latin typeface="Times New Roman" pitchFamily="18" charset="0"/>
              </a:rPr>
              <a:t> </a:t>
            </a:r>
            <a:r>
              <a:rPr lang="en-US" sz="2400" dirty="0" err="1">
                <a:latin typeface="Times New Roman" pitchFamily="18" charset="0"/>
              </a:rPr>
              <a:t>chùm</a:t>
            </a:r>
            <a:r>
              <a:rPr lang="en-US" sz="2400" dirty="0">
                <a:latin typeface="Times New Roman" pitchFamily="18" charset="0"/>
              </a:rPr>
              <a:t> </a:t>
            </a:r>
            <a:r>
              <a:rPr lang="en-US" sz="2400" dirty="0" err="1">
                <a:latin typeface="Times New Roman" pitchFamily="18" charset="0"/>
              </a:rPr>
              <a:t>hạt</a:t>
            </a:r>
            <a:r>
              <a:rPr lang="en-US" sz="2400" dirty="0">
                <a:latin typeface="Times New Roman" pitchFamily="18" charset="0"/>
              </a:rPr>
              <a:t> </a:t>
            </a:r>
            <a:r>
              <a:rPr lang="en-US" sz="2400" dirty="0" err="1">
                <a:latin typeface="Times New Roman" pitchFamily="18" charset="0"/>
              </a:rPr>
              <a:t>phôtôn</a:t>
            </a:r>
            <a:r>
              <a:rPr lang="en-US" sz="2400" dirty="0">
                <a:latin typeface="Times New Roman" pitchFamily="18" charset="0"/>
              </a:rPr>
              <a:t> </a:t>
            </a:r>
            <a:r>
              <a:rPr lang="en-US" sz="2400" dirty="0" err="1">
                <a:latin typeface="Times New Roman" pitchFamily="18" charset="0"/>
              </a:rPr>
              <a:t>truyền</a:t>
            </a:r>
            <a:r>
              <a:rPr lang="en-US" sz="2400" dirty="0">
                <a:latin typeface="Times New Roman" pitchFamily="18" charset="0"/>
              </a:rPr>
              <a:t> </a:t>
            </a:r>
            <a:r>
              <a:rPr lang="en-US" sz="2400" dirty="0" err="1">
                <a:latin typeface="Times New Roman" pitchFamily="18" charset="0"/>
              </a:rPr>
              <a:t>trong</a:t>
            </a:r>
            <a:r>
              <a:rPr lang="en-US" sz="2400" dirty="0">
                <a:latin typeface="Times New Roman" pitchFamily="18" charset="0"/>
              </a:rPr>
              <a:t> </a:t>
            </a:r>
            <a:r>
              <a:rPr lang="en-US" sz="2400" dirty="0" err="1">
                <a:latin typeface="Times New Roman" pitchFamily="18" charset="0"/>
              </a:rPr>
              <a:t>không</a:t>
            </a:r>
            <a:r>
              <a:rPr lang="en-US" sz="2400" dirty="0">
                <a:latin typeface="Times New Roman" pitchFamily="18" charset="0"/>
              </a:rPr>
              <a:t> </a:t>
            </a:r>
            <a:r>
              <a:rPr lang="en-US" sz="2400" dirty="0" err="1">
                <a:latin typeface="Times New Roman" pitchFamily="18" charset="0"/>
              </a:rPr>
              <a:t>gian</a:t>
            </a:r>
            <a:r>
              <a:rPr lang="en-US" sz="2400" dirty="0">
                <a:latin typeface="Times New Roman" pitchFamily="18" charset="0"/>
              </a:rPr>
              <a:t> </a:t>
            </a:r>
            <a:r>
              <a:rPr lang="en-US" sz="2400" dirty="0" err="1">
                <a:latin typeface="Times New Roman" pitchFamily="18" charset="0"/>
              </a:rPr>
              <a:t>xung</a:t>
            </a:r>
            <a:r>
              <a:rPr lang="en-US" sz="2400" dirty="0">
                <a:latin typeface="Times New Roman" pitchFamily="18" charset="0"/>
              </a:rPr>
              <a:t> </a:t>
            </a:r>
            <a:r>
              <a:rPr lang="en-US" sz="2400" dirty="0" err="1">
                <a:latin typeface="Times New Roman" pitchFamily="18" charset="0"/>
              </a:rPr>
              <a:t>quanh</a:t>
            </a:r>
            <a:r>
              <a:rPr lang="en-US" sz="2400" dirty="0">
                <a:latin typeface="Times New Roman" pitchFamily="18" charset="0"/>
              </a:rPr>
              <a:t>  </a:t>
            </a:r>
            <a:r>
              <a:rPr lang="en-US" sz="2400" dirty="0" err="1">
                <a:latin typeface="Times New Roman" pitchFamily="18" charset="0"/>
              </a:rPr>
              <a:t>điểm</a:t>
            </a:r>
            <a:r>
              <a:rPr lang="en-US" sz="2400" dirty="0">
                <a:latin typeface="Times New Roman" pitchFamily="18" charset="0"/>
              </a:rPr>
              <a:t> M. </a:t>
            </a:r>
            <a:endParaRPr lang="en-US" sz="2400" dirty="0">
              <a:latin typeface="Times New Roman" pitchFamily="18" charset="0"/>
              <a:cs typeface="Times New Roman" pitchFamily="18" charset="0"/>
            </a:endParaRPr>
          </a:p>
        </p:txBody>
      </p:sp>
      <p:pic>
        <p:nvPicPr>
          <p:cNvPr id="8" name="Picture 7"/>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425639" y="2239154"/>
            <a:ext cx="2642161" cy="1721857"/>
          </a:xfrm>
          <a:prstGeom prst="rect">
            <a:avLst/>
          </a:prstGeom>
        </p:spPr>
      </p:pic>
      <p:sp>
        <p:nvSpPr>
          <p:cNvPr id="9" name="Rectangle 8"/>
          <p:cNvSpPr/>
          <p:nvPr/>
        </p:nvSpPr>
        <p:spPr>
          <a:xfrm>
            <a:off x="76200" y="3657600"/>
            <a:ext cx="3002745" cy="461665"/>
          </a:xfrm>
          <a:prstGeom prst="rect">
            <a:avLst/>
          </a:prstGeom>
        </p:spPr>
        <p:txBody>
          <a:bodyPr wrap="none">
            <a:spAutoFit/>
          </a:bodyPr>
          <a:lstStyle/>
          <a:p>
            <a:r>
              <a:rPr lang="en-US" sz="2400" dirty="0">
                <a:latin typeface="Times New Roman" pitchFamily="18" charset="0"/>
                <a:cs typeface="Times New Roman" pitchFamily="18" charset="0"/>
              </a:rPr>
              <a:t>Theo </a:t>
            </a:r>
            <a:r>
              <a:rPr lang="en-US" sz="2400" dirty="0" err="1">
                <a:latin typeface="Times New Roman" pitchFamily="18" charset="0"/>
                <a:cs typeface="Times New Roman" pitchFamily="18" charset="0"/>
              </a:rPr>
              <a:t>quan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điểm</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sóng</a:t>
            </a:r>
            <a:r>
              <a:rPr lang="en-US" sz="2400" dirty="0">
                <a:latin typeface="Times New Roman" pitchFamily="18" charset="0"/>
                <a:cs typeface="Times New Roman" pitchFamily="18" charset="0"/>
              </a:rPr>
              <a:t>: </a:t>
            </a:r>
            <a:endParaRPr lang="en-US" sz="2400" dirty="0"/>
          </a:p>
        </p:txBody>
      </p:sp>
      <p:sp>
        <p:nvSpPr>
          <p:cNvPr id="10" name="Rectangle 9"/>
          <p:cNvSpPr/>
          <p:nvPr/>
        </p:nvSpPr>
        <p:spPr>
          <a:xfrm>
            <a:off x="2847000" y="3679595"/>
            <a:ext cx="4286751" cy="461665"/>
          </a:xfrm>
          <a:prstGeom prst="rect">
            <a:avLst/>
          </a:prstGeom>
        </p:spPr>
        <p:txBody>
          <a:bodyPr wrap="none">
            <a:spAutoFit/>
          </a:bodyPr>
          <a:lstStyle/>
          <a:p>
            <a:pPr>
              <a:buFont typeface="Wingdings" pitchFamily="2" charset="2"/>
              <a:buNone/>
            </a:pPr>
            <a:r>
              <a:rPr lang="en-US" sz="2400" dirty="0" err="1">
                <a:latin typeface="Times New Roman" pitchFamily="18" charset="0"/>
                <a:cs typeface="Times New Roman" pitchFamily="18" charset="0"/>
              </a:rPr>
              <a:t>Cường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độ</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sáng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tại</a:t>
            </a:r>
            <a:r>
              <a:rPr lang="en-US" sz="2400" dirty="0">
                <a:latin typeface="Times New Roman" pitchFamily="18" charset="0"/>
                <a:cs typeface="Times New Roman" pitchFamily="18" charset="0"/>
              </a:rPr>
              <a:t> M </a:t>
            </a:r>
            <a:r>
              <a:rPr lang="en-US" sz="2400" dirty="0" err="1">
                <a:latin typeface="Times New Roman" pitchFamily="18" charset="0"/>
                <a:cs typeface="Times New Roman" pitchFamily="18" charset="0"/>
              </a:rPr>
              <a:t>tỉ</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lệ</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với</a:t>
            </a:r>
            <a:r>
              <a:rPr lang="en-US" sz="2400" dirty="0">
                <a:latin typeface="Times New Roman" pitchFamily="18" charset="0"/>
                <a:cs typeface="Times New Roman" pitchFamily="18" charset="0"/>
              </a:rPr>
              <a:t> </a:t>
            </a:r>
            <a:r>
              <a:rPr lang="el-GR" sz="2400" dirty="0">
                <a:latin typeface="Times New Roman" pitchFamily="18" charset="0"/>
                <a:cs typeface="Times New Roman" pitchFamily="18" charset="0"/>
              </a:rPr>
              <a:t>ψ</a:t>
            </a:r>
            <a:r>
              <a:rPr lang="en-US" sz="2400" baseline="-25000" dirty="0">
                <a:latin typeface="Times New Roman" pitchFamily="18" charset="0"/>
                <a:cs typeface="Times New Roman" pitchFamily="18" charset="0"/>
              </a:rPr>
              <a:t>0</a:t>
            </a:r>
            <a:r>
              <a:rPr lang="en-US" sz="2400" baseline="30000" dirty="0">
                <a:latin typeface="Times New Roman" pitchFamily="18" charset="0"/>
                <a:cs typeface="Times New Roman" pitchFamily="18" charset="0"/>
              </a:rPr>
              <a:t>2</a:t>
            </a:r>
            <a:endParaRPr lang="en-US" sz="2400" dirty="0">
              <a:latin typeface="Times New Roman" pitchFamily="18" charset="0"/>
              <a:cs typeface="Times New Roman" pitchFamily="18" charset="0"/>
            </a:endParaRPr>
          </a:p>
        </p:txBody>
      </p:sp>
      <p:sp>
        <p:nvSpPr>
          <p:cNvPr id="11" name="Rectangle 10"/>
          <p:cNvSpPr/>
          <p:nvPr/>
        </p:nvSpPr>
        <p:spPr>
          <a:xfrm>
            <a:off x="76201" y="4150025"/>
            <a:ext cx="2795958" cy="461665"/>
          </a:xfrm>
          <a:prstGeom prst="rect">
            <a:avLst/>
          </a:prstGeom>
        </p:spPr>
        <p:txBody>
          <a:bodyPr wrap="none">
            <a:spAutoFit/>
          </a:bodyPr>
          <a:lstStyle/>
          <a:p>
            <a:r>
              <a:rPr lang="en-US" sz="2400" dirty="0">
                <a:latin typeface="Times New Roman" pitchFamily="18" charset="0"/>
                <a:cs typeface="Times New Roman" pitchFamily="18" charset="0"/>
              </a:rPr>
              <a:t>Theo </a:t>
            </a:r>
            <a:r>
              <a:rPr lang="en-US" sz="2400" dirty="0" err="1">
                <a:latin typeface="Times New Roman" pitchFamily="18" charset="0"/>
                <a:cs typeface="Times New Roman" pitchFamily="18" charset="0"/>
              </a:rPr>
              <a:t>quan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điểm</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hạt</a:t>
            </a:r>
            <a:r>
              <a:rPr lang="en-US" sz="2400" dirty="0">
                <a:latin typeface="Times New Roman" pitchFamily="18" charset="0"/>
                <a:cs typeface="Times New Roman" pitchFamily="18" charset="0"/>
              </a:rPr>
              <a:t>: </a:t>
            </a:r>
            <a:endParaRPr lang="en-US" sz="2400" dirty="0"/>
          </a:p>
        </p:txBody>
      </p:sp>
      <p:sp>
        <p:nvSpPr>
          <p:cNvPr id="12" name="Rectangle 11"/>
          <p:cNvSpPr/>
          <p:nvPr/>
        </p:nvSpPr>
        <p:spPr>
          <a:xfrm>
            <a:off x="76201" y="4533983"/>
            <a:ext cx="8991599" cy="461665"/>
          </a:xfrm>
          <a:prstGeom prst="rect">
            <a:avLst/>
          </a:prstGeom>
        </p:spPr>
        <p:txBody>
          <a:bodyPr wrap="square">
            <a:spAutoFit/>
          </a:bodyPr>
          <a:lstStyle/>
          <a:p>
            <a:pPr>
              <a:buFont typeface="Wingdings" pitchFamily="2" charset="2"/>
              <a:buNone/>
            </a:pPr>
            <a:r>
              <a:rPr lang="en-US" sz="2400" dirty="0" err="1">
                <a:latin typeface="Times New Roman" pitchFamily="18" charset="0"/>
                <a:cs typeface="Times New Roman" pitchFamily="18" charset="0"/>
              </a:rPr>
              <a:t>Cường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độ</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sáng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tại</a:t>
            </a:r>
            <a:r>
              <a:rPr lang="en-US" sz="2400" dirty="0">
                <a:latin typeface="Times New Roman" pitchFamily="18" charset="0"/>
                <a:cs typeface="Times New Roman" pitchFamily="18" charset="0"/>
              </a:rPr>
              <a:t> M </a:t>
            </a:r>
            <a:r>
              <a:rPr lang="en-US" sz="2400" dirty="0" err="1">
                <a:latin typeface="Times New Roman" pitchFamily="18" charset="0"/>
                <a:cs typeface="Times New Roman" pitchFamily="18" charset="0"/>
              </a:rPr>
              <a:t>tỉ</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lệ</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với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số</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hạt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trong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vị</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thể</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tích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bao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quanh</a:t>
            </a:r>
            <a:r>
              <a:rPr lang="en-US" sz="2400" dirty="0">
                <a:latin typeface="Times New Roman" pitchFamily="18" charset="0"/>
                <a:cs typeface="Times New Roman" pitchFamily="18" charset="0"/>
              </a:rPr>
              <a:t> M</a:t>
            </a:r>
          </a:p>
        </p:txBody>
      </p:sp>
      <p:sp>
        <p:nvSpPr>
          <p:cNvPr id="13" name="Rectangle 12"/>
          <p:cNvSpPr/>
          <p:nvPr/>
        </p:nvSpPr>
        <p:spPr>
          <a:xfrm>
            <a:off x="76200" y="4994868"/>
            <a:ext cx="9067799" cy="461665"/>
          </a:xfrm>
          <a:prstGeom prst="rect">
            <a:avLst/>
          </a:prstGeom>
        </p:spPr>
        <p:txBody>
          <a:bodyPr wrap="square">
            <a:spAutoFit/>
          </a:bodyPr>
          <a:lstStyle/>
          <a:p>
            <a:pPr>
              <a:buFont typeface="Wingdings" pitchFamily="2" charset="2"/>
              <a:buNone/>
            </a:pPr>
            <a:r>
              <a:rPr lang="en-US" sz="2400" dirty="0">
                <a:latin typeface="Times New Roman" pitchFamily="18" charset="0"/>
                <a:cs typeface="Times New Roman" pitchFamily="18" charset="0"/>
              </a:rPr>
              <a:t>→</a:t>
            </a:r>
            <a:r>
              <a:rPr lang="en-US" sz="2400" dirty="0" err="1">
                <a:latin typeface="Times New Roman" pitchFamily="18" charset="0"/>
                <a:cs typeface="Times New Roman" pitchFamily="18" charset="0"/>
              </a:rPr>
              <a:t>Số</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hạt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trong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vị</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thể</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tích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bao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quanh</a:t>
            </a:r>
            <a:r>
              <a:rPr lang="en-US" sz="2400" dirty="0">
                <a:latin typeface="Times New Roman" pitchFamily="18" charset="0"/>
                <a:cs typeface="Times New Roman" pitchFamily="18" charset="0"/>
              </a:rPr>
              <a:t> M </a:t>
            </a:r>
            <a:r>
              <a:rPr lang="en-US" sz="2400" dirty="0" err="1">
                <a:latin typeface="Times New Roman" pitchFamily="18" charset="0"/>
                <a:cs typeface="Times New Roman" pitchFamily="18" charset="0"/>
              </a:rPr>
              <a:t>tỉ</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lệ</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với</a:t>
            </a:r>
            <a:r>
              <a:rPr lang="en-US" sz="2400" dirty="0">
                <a:latin typeface="Times New Roman" pitchFamily="18" charset="0"/>
                <a:cs typeface="Times New Roman" pitchFamily="18" charset="0"/>
              </a:rPr>
              <a:t> </a:t>
            </a:r>
            <a:r>
              <a:rPr lang="el-GR" sz="2400" dirty="0">
                <a:latin typeface="Times New Roman" pitchFamily="18" charset="0"/>
                <a:cs typeface="Times New Roman" pitchFamily="18" charset="0"/>
              </a:rPr>
              <a:t>ψ</a:t>
            </a:r>
            <a:r>
              <a:rPr lang="en-US" sz="2400" baseline="-25000" dirty="0">
                <a:latin typeface="Times New Roman" pitchFamily="18" charset="0"/>
                <a:cs typeface="Times New Roman" pitchFamily="18" charset="0"/>
              </a:rPr>
              <a:t>0</a:t>
            </a:r>
            <a:r>
              <a:rPr lang="en-US" sz="2400" baseline="30000" dirty="0">
                <a:latin typeface="Times New Roman" pitchFamily="18" charset="0"/>
                <a:cs typeface="Times New Roman" pitchFamily="18" charset="0"/>
              </a:rPr>
              <a:t>2</a:t>
            </a:r>
          </a:p>
        </p:txBody>
      </p:sp>
      <p:sp>
        <p:nvSpPr>
          <p:cNvPr id="15" name="Rectangle 14"/>
          <p:cNvSpPr/>
          <p:nvPr/>
        </p:nvSpPr>
        <p:spPr>
          <a:xfrm>
            <a:off x="304800" y="5788967"/>
            <a:ext cx="8991598" cy="461665"/>
          </a:xfrm>
          <a:prstGeom prst="rect">
            <a:avLst/>
          </a:prstGeom>
        </p:spPr>
        <p:txBody>
          <a:bodyPr wrap="square">
            <a:spAutoFit/>
          </a:bodyPr>
          <a:lstStyle/>
          <a:p>
            <a:pPr>
              <a:buFont typeface="Wingdings" pitchFamily="2" charset="2"/>
              <a:buNone/>
            </a:pPr>
            <a:r>
              <a:rPr lang="en-US" sz="2400" i="1" dirty="0" err="1">
                <a:solidFill>
                  <a:srgbClr val="FF0000"/>
                </a:solidFill>
                <a:latin typeface="Times New Roman" pitchFamily="18" charset="0"/>
                <a:cs typeface="Times New Roman" pitchFamily="18" charset="0"/>
              </a:rPr>
              <a:t>Vậy</a:t>
            </a:r>
            <a:r>
              <a:rPr lang="en-US" sz="2400" i="1" dirty="0">
                <a:solidFill>
                  <a:srgbClr val="FF0000"/>
                </a:solidFill>
                <a:latin typeface="Times New Roman" pitchFamily="18" charset="0"/>
                <a:cs typeface="Times New Roman" pitchFamily="18" charset="0"/>
              </a:rPr>
              <a:t> </a:t>
            </a:r>
            <a:r>
              <a:rPr lang="el-GR" sz="2400" i="1" dirty="0">
                <a:solidFill>
                  <a:srgbClr val="FF0000"/>
                </a:solidFill>
                <a:latin typeface="Times New Roman" pitchFamily="18" charset="0"/>
                <a:cs typeface="Times New Roman" pitchFamily="18" charset="0"/>
              </a:rPr>
              <a:t>ψ ψ</a:t>
            </a:r>
            <a:r>
              <a:rPr lang="en-US" sz="2400" i="1" dirty="0">
                <a:solidFill>
                  <a:srgbClr val="FF0000"/>
                </a:solidFill>
                <a:latin typeface="Times New Roman" pitchFamily="18" charset="0"/>
                <a:cs typeface="Times New Roman" pitchFamily="18" charset="0"/>
              </a:rPr>
              <a:t>*</a:t>
            </a:r>
            <a:r>
              <a:rPr lang="en-US" sz="2400" i="1" baseline="30000" dirty="0">
                <a:solidFill>
                  <a:srgbClr val="FF0000"/>
                </a:solidFill>
                <a:latin typeface="Times New Roman" pitchFamily="18" charset="0"/>
                <a:cs typeface="Times New Roman" pitchFamily="18" charset="0"/>
              </a:rPr>
              <a:t> </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là</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mật</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độ</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xác</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suất</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tìm</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thấy</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hạt</a:t>
            </a:r>
            <a:endParaRPr lang="en-US" sz="2400" i="1" dirty="0">
              <a:solidFill>
                <a:srgbClr val="FF0000"/>
              </a:solidFill>
              <a:latin typeface="Times New Roman" pitchFamily="18" charset="0"/>
              <a:cs typeface="Times New Roman" pitchFamily="18" charset="0"/>
            </a:endParaRPr>
          </a:p>
        </p:txBody>
      </p:sp>
      <p:graphicFrame>
        <p:nvGraphicFramePr>
          <p:cNvPr id="16" name="Object 15"/>
          <p:cNvGraphicFramePr>
            <a:graphicFrameLocks noChangeAspect="1"/>
          </p:cNvGraphicFramePr>
          <p:nvPr>
            <p:extLst>
              <p:ext uri="{D42A27DB-BD31-4B8C-83A1-F6EECF244321}">
                <p14:modId xmlns:p14="http://schemas.microsoft.com/office/powerpoint/2010/main" val="2445641408"/>
              </p:ext>
            </p:extLst>
          </p:nvPr>
        </p:nvGraphicFramePr>
        <p:xfrm>
          <a:off x="4121742" y="1156860"/>
          <a:ext cx="3049587" cy="847725"/>
        </p:xfrm>
        <a:graphic>
          <a:graphicData uri="http://schemas.openxmlformats.org/presentationml/2006/ole">
            <mc:AlternateContent xmlns:mc="http://schemas.openxmlformats.org/markup-compatibility/2006">
              <mc:Choice xmlns:v="urn:schemas-microsoft-com:vml" Requires="v">
                <p:oleObj spid="_x0000_s5300" name="Equation" r:id="rId8" imgW="1549080" imgH="431640" progId="Equation.3">
                  <p:embed/>
                </p:oleObj>
              </mc:Choice>
              <mc:Fallback>
                <p:oleObj name="Equation" r:id="rId8" imgW="1549080" imgH="431640" progId="Equation.3">
                  <p:embed/>
                  <p:pic>
                    <p:nvPicPr>
                      <p:cNvPr id="0" name="Object 2"/>
                      <p:cNvPicPr>
                        <a:picLocks noChangeAspect="1" noChangeArrowheads="1"/>
                      </p:cNvPicPr>
                      <p:nvPr/>
                    </p:nvPicPr>
                    <p:blipFill>
                      <a:blip r:embed="rId9"/>
                      <a:srcRect/>
                      <a:stretch>
                        <a:fillRect/>
                      </a:stretch>
                    </p:blipFill>
                    <p:spPr bwMode="auto">
                      <a:xfrm>
                        <a:off x="4121742" y="1156860"/>
                        <a:ext cx="3049587"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646959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down)">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down)">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down)">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down)">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down)">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down)">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wipe(down)">
                                      <p:cBhvr>
                                        <p:cTn id="42" dur="5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wipe(down)">
                                      <p:cBhvr>
                                        <p:cTn id="47" dur="500"/>
                                        <p:tgtEl>
                                          <p:spTgt spid="12"/>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wipe(down)">
                                      <p:cBhvr>
                                        <p:cTn id="52" dur="500"/>
                                        <p:tgtEl>
                                          <p:spTgt spid="13"/>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grpId="0" nodeType="click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wipe(down)">
                                      <p:cBhvr>
                                        <p:cTn id="5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0" grpId="0"/>
      <p:bldP spid="11" grpId="0"/>
      <p:bldP spid="12" grpId="0"/>
      <p:bldP spid="13" grpId="0"/>
      <p:bldP spid="1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2754"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0" y="71735"/>
            <a:ext cx="9067800" cy="461665"/>
          </a:xfrm>
          <a:prstGeom prst="rect">
            <a:avLst/>
          </a:prstGeom>
          <a:noFill/>
        </p:spPr>
        <p:txBody>
          <a:bodyPr wrap="square" rtlCol="0">
            <a:spAutoFit/>
          </a:bodyPr>
          <a:lstStyle/>
          <a:p>
            <a:pPr algn="ctr"/>
            <a:r>
              <a:rPr lang="en-US" sz="2400" dirty="0">
                <a:solidFill>
                  <a:srgbClr val="FFFF00"/>
                </a:solidFill>
                <a:latin typeface="Times New Roman" pitchFamily="18" charset="0"/>
                <a:cs typeface="Times New Roman" pitchFamily="18" charset="0"/>
              </a:rPr>
              <a:t>§3.</a:t>
            </a:r>
            <a:r>
              <a:rPr lang="en-US" sz="2400" dirty="0">
                <a:solidFill>
                  <a:schemeClr val="tx2"/>
                </a:solidFill>
                <a:latin typeface="Times New Roman" pitchFamily="18" charset="0"/>
              </a:rPr>
              <a:t> </a:t>
            </a:r>
            <a:r>
              <a:rPr lang="en-US" sz="2400" dirty="0">
                <a:solidFill>
                  <a:srgbClr val="FFFF00"/>
                </a:solidFill>
                <a:latin typeface="Times New Roman" pitchFamily="18" charset="0"/>
              </a:rPr>
              <a:t>HÀM SÓNG</a:t>
            </a:r>
            <a:r>
              <a:rPr lang="en-US" sz="2400" dirty="0">
                <a:solidFill>
                  <a:srgbClr val="FFFF00"/>
                </a:solidFill>
                <a:latin typeface="Times New Roman" pitchFamily="18" charset="0"/>
                <a:cs typeface="Times New Roman" pitchFamily="18" charset="0"/>
              </a:rPr>
              <a:t> </a:t>
            </a:r>
          </a:p>
        </p:txBody>
      </p:sp>
      <p:sp>
        <p:nvSpPr>
          <p:cNvPr id="2" name="Rectangle 1"/>
          <p:cNvSpPr/>
          <p:nvPr/>
        </p:nvSpPr>
        <p:spPr>
          <a:xfrm>
            <a:off x="52755" y="609600"/>
            <a:ext cx="6370650" cy="461665"/>
          </a:xfrm>
          <a:prstGeom prst="rect">
            <a:avLst/>
          </a:prstGeom>
        </p:spPr>
        <p:txBody>
          <a:bodyPr wrap="square">
            <a:spAutoFit/>
          </a:bodyPr>
          <a:lstStyle/>
          <a:p>
            <a:pPr>
              <a:buFont typeface="Wingdings" pitchFamily="2" charset="2"/>
              <a:buNone/>
            </a:pPr>
            <a:r>
              <a:rPr lang="en-US" sz="2400" dirty="0" err="1">
                <a:latin typeface="Times New Roman" pitchFamily="18" charset="0"/>
                <a:cs typeface="Times New Roman" pitchFamily="18" charset="0"/>
              </a:rPr>
              <a:t>Xác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suất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tìm</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thấy</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hạt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trong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thể</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tích</a:t>
            </a:r>
            <a:r>
              <a:rPr lang="en-US" sz="2400" dirty="0">
                <a:latin typeface="Times New Roman" pitchFamily="18" charset="0"/>
                <a:cs typeface="Times New Roman" pitchFamily="18" charset="0"/>
              </a:rPr>
              <a:t> V:</a:t>
            </a:r>
          </a:p>
        </p:txBody>
      </p:sp>
      <p:graphicFrame>
        <p:nvGraphicFramePr>
          <p:cNvPr id="3" name="Object 2"/>
          <p:cNvGraphicFramePr>
            <a:graphicFrameLocks noChangeAspect="1"/>
          </p:cNvGraphicFramePr>
          <p:nvPr>
            <p:extLst>
              <p:ext uri="{D42A27DB-BD31-4B8C-83A1-F6EECF244321}">
                <p14:modId xmlns:p14="http://schemas.microsoft.com/office/powerpoint/2010/main" val="895519915"/>
              </p:ext>
            </p:extLst>
          </p:nvPr>
        </p:nvGraphicFramePr>
        <p:xfrm>
          <a:off x="3733800" y="1219200"/>
          <a:ext cx="1402984" cy="770313"/>
        </p:xfrm>
        <a:graphic>
          <a:graphicData uri="http://schemas.openxmlformats.org/presentationml/2006/ole">
            <mc:AlternateContent xmlns:mc="http://schemas.openxmlformats.org/markup-compatibility/2006">
              <mc:Choice xmlns:v="urn:schemas-microsoft-com:vml" Requires="v">
                <p:oleObj spid="_x0000_s6210" name="Equation" r:id="rId3" imgW="736560" imgH="419040" progId="Equation.3">
                  <p:embed/>
                </p:oleObj>
              </mc:Choice>
              <mc:Fallback>
                <p:oleObj name="Equation" r:id="rId3" imgW="736560" imgH="419040" progId="Equation.3">
                  <p:embed/>
                  <p:pic>
                    <p:nvPicPr>
                      <p:cNvPr id="0" name="Object 4"/>
                      <p:cNvPicPr>
                        <a:picLocks noChangeAspect="1" noChangeArrowheads="1"/>
                      </p:cNvPicPr>
                      <p:nvPr/>
                    </p:nvPicPr>
                    <p:blipFill>
                      <a:blip r:embed="rId4"/>
                      <a:srcRect/>
                      <a:stretch>
                        <a:fillRect/>
                      </a:stretch>
                    </p:blipFill>
                    <p:spPr bwMode="auto">
                      <a:xfrm>
                        <a:off x="3733800" y="1219200"/>
                        <a:ext cx="1402984" cy="770313"/>
                      </a:xfrm>
                      <a:prstGeom prst="rect">
                        <a:avLst/>
                      </a:prstGeom>
                      <a:noFill/>
                      <a:ln w="9525">
                        <a:solidFill>
                          <a:schemeClr val="folHlink"/>
                        </a:solidFill>
                        <a:miter lim="800000"/>
                        <a:headEnd/>
                        <a:tailEnd/>
                      </a:ln>
                    </p:spPr>
                  </p:pic>
                </p:oleObj>
              </mc:Fallback>
            </mc:AlternateContent>
          </a:graphicData>
        </a:graphic>
      </p:graphicFrame>
      <p:sp>
        <p:nvSpPr>
          <p:cNvPr id="7" name="Rectangle 6"/>
          <p:cNvSpPr/>
          <p:nvPr/>
        </p:nvSpPr>
        <p:spPr>
          <a:xfrm>
            <a:off x="52755" y="2133600"/>
            <a:ext cx="5772152" cy="461665"/>
          </a:xfrm>
          <a:prstGeom prst="rect">
            <a:avLst/>
          </a:prstGeom>
        </p:spPr>
        <p:txBody>
          <a:bodyPr wrap="square">
            <a:spAutoFit/>
          </a:bodyPr>
          <a:lstStyle/>
          <a:p>
            <a:pPr>
              <a:buFont typeface="Wingdings" pitchFamily="2" charset="2"/>
              <a:buNone/>
            </a:pPr>
            <a:r>
              <a:rPr lang="en-US" sz="2400" b="1" i="1" dirty="0" err="1">
                <a:latin typeface="Times New Roman" pitchFamily="18" charset="0"/>
              </a:rPr>
              <a:t>Điều</a:t>
            </a:r>
            <a:r>
              <a:rPr lang="en-US" sz="2400" b="1" i="1" dirty="0">
                <a:latin typeface="Times New Roman" pitchFamily="18" charset="0"/>
              </a:rPr>
              <a:t> </a:t>
            </a:r>
            <a:r>
              <a:rPr lang="en-US" sz="2400" b="1" i="1" dirty="0" err="1">
                <a:latin typeface="Times New Roman" pitchFamily="18" charset="0"/>
              </a:rPr>
              <a:t>kiện</a:t>
            </a:r>
            <a:r>
              <a:rPr lang="en-US" sz="2400" b="1" i="1" dirty="0">
                <a:latin typeface="Times New Roman" pitchFamily="18" charset="0"/>
              </a:rPr>
              <a:t> </a:t>
            </a:r>
            <a:r>
              <a:rPr lang="en-US" sz="2400" b="1" i="1" dirty="0" err="1">
                <a:latin typeface="Times New Roman" pitchFamily="18" charset="0"/>
              </a:rPr>
              <a:t>của</a:t>
            </a:r>
            <a:r>
              <a:rPr lang="en-US" sz="2400" b="1" i="1" dirty="0">
                <a:latin typeface="Times New Roman" pitchFamily="18" charset="0"/>
              </a:rPr>
              <a:t> </a:t>
            </a:r>
            <a:r>
              <a:rPr lang="en-US" sz="2400" b="1" i="1" dirty="0" err="1">
                <a:latin typeface="Times New Roman" pitchFamily="18" charset="0"/>
              </a:rPr>
              <a:t>hàm</a:t>
            </a:r>
            <a:r>
              <a:rPr lang="en-US" sz="2400" b="1" i="1" dirty="0">
                <a:latin typeface="Times New Roman" pitchFamily="18" charset="0"/>
              </a:rPr>
              <a:t> </a:t>
            </a:r>
            <a:r>
              <a:rPr lang="en-US" sz="2400" b="1" i="1" dirty="0" err="1">
                <a:latin typeface="Times New Roman" pitchFamily="18" charset="0"/>
              </a:rPr>
              <a:t>sóng</a:t>
            </a:r>
            <a:endParaRPr lang="en-US" sz="2400" b="1" i="1" dirty="0">
              <a:latin typeface="Times New Roman" pitchFamily="18" charset="0"/>
            </a:endParaRPr>
          </a:p>
        </p:txBody>
      </p:sp>
      <p:sp>
        <p:nvSpPr>
          <p:cNvPr id="8" name="Rectangle 7"/>
          <p:cNvSpPr/>
          <p:nvPr/>
        </p:nvSpPr>
        <p:spPr>
          <a:xfrm>
            <a:off x="457200" y="2595265"/>
            <a:ext cx="5346868" cy="461665"/>
          </a:xfrm>
          <a:prstGeom prst="rect">
            <a:avLst/>
          </a:prstGeom>
        </p:spPr>
        <p:txBody>
          <a:bodyPr wrap="square">
            <a:spAutoFit/>
          </a:bodyPr>
          <a:lstStyle/>
          <a:p>
            <a:pPr>
              <a:buFontTx/>
              <a:buChar char="-"/>
            </a:pPr>
            <a:r>
              <a:rPr lang="en-US" sz="2400" dirty="0" err="1">
                <a:latin typeface="Times New Roman" pitchFamily="18" charset="0"/>
              </a:rPr>
              <a:t>Hàm</a:t>
            </a:r>
            <a:r>
              <a:rPr lang="en-US" sz="2400" dirty="0">
                <a:latin typeface="Times New Roman" pitchFamily="18" charset="0"/>
              </a:rPr>
              <a:t> </a:t>
            </a:r>
            <a:r>
              <a:rPr lang="en-US" sz="2400" dirty="0" err="1">
                <a:latin typeface="Times New Roman" pitchFamily="18" charset="0"/>
              </a:rPr>
              <a:t>sóng</a:t>
            </a:r>
            <a:r>
              <a:rPr lang="en-US" sz="2400" dirty="0">
                <a:latin typeface="Times New Roman" pitchFamily="18" charset="0"/>
              </a:rPr>
              <a:t> </a:t>
            </a:r>
            <a:r>
              <a:rPr lang="en-US" sz="2400" dirty="0" err="1">
                <a:latin typeface="Times New Roman" pitchFamily="18" charset="0"/>
              </a:rPr>
              <a:t>phải</a:t>
            </a:r>
            <a:r>
              <a:rPr lang="en-US" sz="2400" dirty="0">
                <a:latin typeface="Times New Roman" pitchFamily="18" charset="0"/>
              </a:rPr>
              <a:t> </a:t>
            </a:r>
            <a:r>
              <a:rPr lang="en-US" sz="2400" dirty="0" err="1">
                <a:latin typeface="Times New Roman" pitchFamily="18" charset="0"/>
              </a:rPr>
              <a:t>hữu</a:t>
            </a:r>
            <a:r>
              <a:rPr lang="en-US" sz="2400" dirty="0">
                <a:latin typeface="Times New Roman" pitchFamily="18" charset="0"/>
              </a:rPr>
              <a:t> </a:t>
            </a:r>
            <a:r>
              <a:rPr lang="en-US" sz="2400" dirty="0" err="1">
                <a:latin typeface="Times New Roman" pitchFamily="18" charset="0"/>
              </a:rPr>
              <a:t>hạn</a:t>
            </a:r>
            <a:endParaRPr lang="en-US" sz="2400" dirty="0">
              <a:latin typeface="Times New Roman" pitchFamily="18" charset="0"/>
            </a:endParaRPr>
          </a:p>
        </p:txBody>
      </p:sp>
      <p:sp>
        <p:nvSpPr>
          <p:cNvPr id="9" name="Rectangle 8"/>
          <p:cNvSpPr/>
          <p:nvPr/>
        </p:nvSpPr>
        <p:spPr>
          <a:xfrm>
            <a:off x="457200" y="3056930"/>
            <a:ext cx="5281145" cy="461665"/>
          </a:xfrm>
          <a:prstGeom prst="rect">
            <a:avLst/>
          </a:prstGeom>
        </p:spPr>
        <p:txBody>
          <a:bodyPr wrap="square">
            <a:spAutoFit/>
          </a:bodyPr>
          <a:lstStyle/>
          <a:p>
            <a:pPr>
              <a:buFontTx/>
              <a:buChar char="-"/>
            </a:pPr>
            <a:r>
              <a:rPr lang="en-US" sz="2400" dirty="0" err="1">
                <a:latin typeface="Times New Roman" pitchFamily="18" charset="0"/>
              </a:rPr>
              <a:t>Hàm</a:t>
            </a:r>
            <a:r>
              <a:rPr lang="en-US" sz="2400" dirty="0">
                <a:latin typeface="Times New Roman" pitchFamily="18" charset="0"/>
              </a:rPr>
              <a:t> </a:t>
            </a:r>
            <a:r>
              <a:rPr lang="en-US" sz="2400" dirty="0" err="1">
                <a:latin typeface="Times New Roman" pitchFamily="18" charset="0"/>
              </a:rPr>
              <a:t>sóng</a:t>
            </a:r>
            <a:r>
              <a:rPr lang="en-US" sz="2400" dirty="0">
                <a:latin typeface="Times New Roman" pitchFamily="18" charset="0"/>
              </a:rPr>
              <a:t> </a:t>
            </a:r>
            <a:r>
              <a:rPr lang="en-US" sz="2400" dirty="0" err="1">
                <a:latin typeface="Times New Roman" pitchFamily="18" charset="0"/>
              </a:rPr>
              <a:t>phải</a:t>
            </a:r>
            <a:r>
              <a:rPr lang="en-US" sz="2400" dirty="0">
                <a:latin typeface="Times New Roman" pitchFamily="18" charset="0"/>
              </a:rPr>
              <a:t> </a:t>
            </a:r>
            <a:r>
              <a:rPr lang="en-US" sz="2400" dirty="0" err="1">
                <a:latin typeface="Times New Roman" pitchFamily="18" charset="0"/>
              </a:rPr>
              <a:t>đơn</a:t>
            </a:r>
            <a:r>
              <a:rPr lang="en-US" sz="2400" dirty="0">
                <a:latin typeface="Times New Roman" pitchFamily="18" charset="0"/>
              </a:rPr>
              <a:t> </a:t>
            </a:r>
            <a:r>
              <a:rPr lang="en-US" sz="2400" dirty="0" err="1">
                <a:latin typeface="Times New Roman" pitchFamily="18" charset="0"/>
              </a:rPr>
              <a:t>trị</a:t>
            </a:r>
            <a:endParaRPr lang="en-US" sz="2400" dirty="0">
              <a:latin typeface="Times New Roman" pitchFamily="18" charset="0"/>
            </a:endParaRPr>
          </a:p>
        </p:txBody>
      </p:sp>
      <p:sp>
        <p:nvSpPr>
          <p:cNvPr id="10" name="Rectangle 9"/>
          <p:cNvSpPr/>
          <p:nvPr/>
        </p:nvSpPr>
        <p:spPr>
          <a:xfrm>
            <a:off x="457200" y="3613666"/>
            <a:ext cx="3139001" cy="461665"/>
          </a:xfrm>
          <a:prstGeom prst="rect">
            <a:avLst/>
          </a:prstGeom>
        </p:spPr>
        <p:txBody>
          <a:bodyPr wrap="none">
            <a:spAutoFit/>
          </a:bodyPr>
          <a:lstStyle/>
          <a:p>
            <a:pPr>
              <a:buFontTx/>
              <a:buChar char="-"/>
            </a:pPr>
            <a:r>
              <a:rPr lang="en-US" sz="2400" dirty="0" err="1">
                <a:latin typeface="Times New Roman" pitchFamily="18" charset="0"/>
              </a:rPr>
              <a:t>Hàm</a:t>
            </a:r>
            <a:r>
              <a:rPr lang="en-US" sz="2400" dirty="0">
                <a:latin typeface="Times New Roman" pitchFamily="18" charset="0"/>
              </a:rPr>
              <a:t> </a:t>
            </a:r>
            <a:r>
              <a:rPr lang="en-US" sz="2400" dirty="0" err="1">
                <a:latin typeface="Times New Roman" pitchFamily="18" charset="0"/>
              </a:rPr>
              <a:t>sóng</a:t>
            </a:r>
            <a:r>
              <a:rPr lang="en-US" sz="2400" dirty="0">
                <a:latin typeface="Times New Roman" pitchFamily="18" charset="0"/>
              </a:rPr>
              <a:t> </a:t>
            </a:r>
            <a:r>
              <a:rPr lang="en-US" sz="2400" dirty="0" err="1">
                <a:latin typeface="Times New Roman" pitchFamily="18" charset="0"/>
              </a:rPr>
              <a:t>phải</a:t>
            </a:r>
            <a:r>
              <a:rPr lang="en-US" sz="2400" dirty="0">
                <a:latin typeface="Times New Roman" pitchFamily="18" charset="0"/>
              </a:rPr>
              <a:t> </a:t>
            </a:r>
            <a:r>
              <a:rPr lang="en-US" sz="2400" dirty="0" err="1">
                <a:latin typeface="Times New Roman" pitchFamily="18" charset="0"/>
              </a:rPr>
              <a:t>liên</a:t>
            </a:r>
            <a:r>
              <a:rPr lang="en-US" sz="2400" dirty="0">
                <a:latin typeface="Times New Roman" pitchFamily="18" charset="0"/>
              </a:rPr>
              <a:t> </a:t>
            </a:r>
            <a:r>
              <a:rPr lang="en-US" sz="2400" dirty="0" err="1">
                <a:latin typeface="Times New Roman" pitchFamily="18" charset="0"/>
              </a:rPr>
              <a:t>tục</a:t>
            </a:r>
            <a:endParaRPr lang="en-US" sz="2400" dirty="0">
              <a:latin typeface="Times New Roman" pitchFamily="18" charset="0"/>
            </a:endParaRPr>
          </a:p>
        </p:txBody>
      </p:sp>
      <p:sp>
        <p:nvSpPr>
          <p:cNvPr id="11" name="Rectangle 10"/>
          <p:cNvSpPr/>
          <p:nvPr/>
        </p:nvSpPr>
        <p:spPr>
          <a:xfrm>
            <a:off x="457200" y="4191000"/>
            <a:ext cx="5219699" cy="461665"/>
          </a:xfrm>
          <a:prstGeom prst="rect">
            <a:avLst/>
          </a:prstGeom>
        </p:spPr>
        <p:txBody>
          <a:bodyPr wrap="none">
            <a:spAutoFit/>
          </a:bodyPr>
          <a:lstStyle/>
          <a:p>
            <a:pPr>
              <a:buFontTx/>
              <a:buChar char="-"/>
            </a:pPr>
            <a:r>
              <a:rPr lang="en-US" sz="2400" dirty="0" err="1">
                <a:latin typeface="Times New Roman" pitchFamily="18" charset="0"/>
              </a:rPr>
              <a:t>Đạo</a:t>
            </a:r>
            <a:r>
              <a:rPr lang="en-US" sz="2400" dirty="0">
                <a:latin typeface="Times New Roman" pitchFamily="18" charset="0"/>
              </a:rPr>
              <a:t> </a:t>
            </a:r>
            <a:r>
              <a:rPr lang="en-US" sz="2400" dirty="0" err="1">
                <a:latin typeface="Times New Roman" pitchFamily="18" charset="0"/>
              </a:rPr>
              <a:t>hàm</a:t>
            </a:r>
            <a:r>
              <a:rPr lang="en-US" sz="2400" dirty="0">
                <a:latin typeface="Times New Roman" pitchFamily="18" charset="0"/>
              </a:rPr>
              <a:t> </a:t>
            </a:r>
            <a:r>
              <a:rPr lang="en-US" sz="2400" dirty="0" err="1">
                <a:latin typeface="Times New Roman" pitchFamily="18" charset="0"/>
              </a:rPr>
              <a:t>bậc</a:t>
            </a:r>
            <a:r>
              <a:rPr lang="en-US" sz="2400" dirty="0">
                <a:latin typeface="Times New Roman" pitchFamily="18" charset="0"/>
              </a:rPr>
              <a:t> </a:t>
            </a:r>
            <a:r>
              <a:rPr lang="en-US" sz="2400" dirty="0" err="1">
                <a:latin typeface="Times New Roman" pitchFamily="18" charset="0"/>
              </a:rPr>
              <a:t>nhất</a:t>
            </a:r>
            <a:r>
              <a:rPr lang="en-US" sz="2400" dirty="0">
                <a:latin typeface="Times New Roman" pitchFamily="18" charset="0"/>
              </a:rPr>
              <a:t> </a:t>
            </a:r>
            <a:r>
              <a:rPr lang="en-US" sz="2400" dirty="0" err="1">
                <a:latin typeface="Times New Roman" pitchFamily="18" charset="0"/>
              </a:rPr>
              <a:t>của</a:t>
            </a:r>
            <a:r>
              <a:rPr lang="en-US" sz="2400" dirty="0">
                <a:latin typeface="Times New Roman" pitchFamily="18" charset="0"/>
              </a:rPr>
              <a:t> </a:t>
            </a:r>
            <a:r>
              <a:rPr lang="en-US" sz="2400" dirty="0" err="1">
                <a:latin typeface="Times New Roman" pitchFamily="18" charset="0"/>
              </a:rPr>
              <a:t>hàm</a:t>
            </a:r>
            <a:r>
              <a:rPr lang="en-US" sz="2400" dirty="0">
                <a:latin typeface="Times New Roman" pitchFamily="18" charset="0"/>
              </a:rPr>
              <a:t> </a:t>
            </a:r>
            <a:r>
              <a:rPr lang="en-US" sz="2400" dirty="0" err="1">
                <a:latin typeface="Times New Roman" pitchFamily="18" charset="0"/>
              </a:rPr>
              <a:t>phải</a:t>
            </a:r>
            <a:r>
              <a:rPr lang="en-US" sz="2400" dirty="0">
                <a:latin typeface="Times New Roman" pitchFamily="18" charset="0"/>
              </a:rPr>
              <a:t> </a:t>
            </a:r>
            <a:r>
              <a:rPr lang="en-US" sz="2400" dirty="0" err="1">
                <a:latin typeface="Times New Roman" pitchFamily="18" charset="0"/>
              </a:rPr>
              <a:t>liên</a:t>
            </a:r>
            <a:r>
              <a:rPr lang="en-US" sz="2400" dirty="0">
                <a:latin typeface="Times New Roman" pitchFamily="18" charset="0"/>
              </a:rPr>
              <a:t> </a:t>
            </a:r>
            <a:r>
              <a:rPr lang="en-US" sz="2400" dirty="0" err="1">
                <a:latin typeface="Times New Roman" pitchFamily="18" charset="0"/>
              </a:rPr>
              <a:t>tục</a:t>
            </a:r>
            <a:endParaRPr lang="en-US" sz="2400" dirty="0">
              <a:latin typeface="Times New Roman" pitchFamily="18" charset="0"/>
            </a:endParaRPr>
          </a:p>
        </p:txBody>
      </p:sp>
    </p:spTree>
    <p:extLst>
      <p:ext uri="{BB962C8B-B14F-4D97-AF65-F5344CB8AC3E}">
        <p14:creationId xmlns:p14="http://schemas.microsoft.com/office/powerpoint/2010/main" val="646959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down)">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down)">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down)">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down)">
                                      <p:cBhvr>
                                        <p:cTn id="2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1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76200" y="0"/>
            <a:ext cx="9067800" cy="830997"/>
          </a:xfrm>
          <a:prstGeom prst="rect">
            <a:avLst/>
          </a:prstGeom>
          <a:noFill/>
        </p:spPr>
        <p:txBody>
          <a:bodyPr wrap="square" rtlCol="0">
            <a:spAutoFit/>
          </a:bodyPr>
          <a:lstStyle/>
          <a:p>
            <a:pPr algn="ctr"/>
            <a:r>
              <a:rPr lang="en-US" sz="2400" dirty="0">
                <a:solidFill>
                  <a:srgbClr val="FFFF00"/>
                </a:solidFill>
                <a:latin typeface="Times New Roman" pitchFamily="18" charset="0"/>
                <a:cs typeface="Times New Roman" pitchFamily="18" charset="0"/>
              </a:rPr>
              <a:t>§4. </a:t>
            </a:r>
            <a:r>
              <a:rPr lang="en-US" sz="2400" b="1" dirty="0">
                <a:solidFill>
                  <a:srgbClr val="FFFF00"/>
                </a:solidFill>
                <a:latin typeface="Times New Roman" pitchFamily="18" charset="0"/>
              </a:rPr>
              <a:t>PHƯƠNG TRÌNH SCHRODINGER</a:t>
            </a:r>
          </a:p>
          <a:p>
            <a:pPr algn="ctr"/>
            <a:endParaRPr lang="en-US" sz="2400" dirty="0">
              <a:solidFill>
                <a:srgbClr val="FFFF00"/>
              </a:solidFill>
              <a:latin typeface="Times New Roman" pitchFamily="18" charset="0"/>
              <a:cs typeface="Times New Roman" pitchFamily="18" charset="0"/>
            </a:endParaRPr>
          </a:p>
        </p:txBody>
      </p:sp>
      <p:sp>
        <p:nvSpPr>
          <p:cNvPr id="2" name="Rectangle 1"/>
          <p:cNvSpPr/>
          <p:nvPr/>
        </p:nvSpPr>
        <p:spPr>
          <a:xfrm>
            <a:off x="76200" y="1138535"/>
            <a:ext cx="5630085" cy="461665"/>
          </a:xfrm>
          <a:prstGeom prst="rect">
            <a:avLst/>
          </a:prstGeom>
        </p:spPr>
        <p:txBody>
          <a:bodyPr wrap="square">
            <a:spAutoFit/>
          </a:bodyPr>
          <a:lstStyle/>
          <a:p>
            <a:pPr>
              <a:buFont typeface="Wingdings" pitchFamily="2" charset="2"/>
              <a:buNone/>
            </a:pPr>
            <a:r>
              <a:rPr lang="en-US" sz="2400" dirty="0" err="1">
                <a:latin typeface="Times New Roman" pitchFamily="18" charset="0"/>
              </a:rPr>
              <a:t>Hàm</a:t>
            </a:r>
            <a:r>
              <a:rPr lang="en-US" sz="2400" dirty="0">
                <a:latin typeface="Times New Roman" pitchFamily="18" charset="0"/>
              </a:rPr>
              <a:t> </a:t>
            </a:r>
            <a:r>
              <a:rPr lang="en-US" sz="2400" dirty="0" err="1">
                <a:latin typeface="Times New Roman" pitchFamily="18" charset="0"/>
              </a:rPr>
              <a:t>sóng</a:t>
            </a:r>
            <a:r>
              <a:rPr lang="en-US" sz="2400" dirty="0">
                <a:latin typeface="Times New Roman" pitchFamily="18" charset="0"/>
              </a:rPr>
              <a:t> De Broglie:</a:t>
            </a:r>
          </a:p>
        </p:txBody>
      </p:sp>
      <p:graphicFrame>
        <p:nvGraphicFramePr>
          <p:cNvPr id="3" name="Object 2"/>
          <p:cNvGraphicFramePr>
            <a:graphicFrameLocks noChangeAspect="1"/>
          </p:cNvGraphicFramePr>
          <p:nvPr>
            <p:extLst>
              <p:ext uri="{D42A27DB-BD31-4B8C-83A1-F6EECF244321}">
                <p14:modId xmlns:p14="http://schemas.microsoft.com/office/powerpoint/2010/main" val="1150573715"/>
              </p:ext>
            </p:extLst>
          </p:nvPr>
        </p:nvGraphicFramePr>
        <p:xfrm>
          <a:off x="1289050" y="1539875"/>
          <a:ext cx="5461000" cy="746125"/>
        </p:xfrm>
        <a:graphic>
          <a:graphicData uri="http://schemas.openxmlformats.org/presentationml/2006/ole">
            <mc:AlternateContent xmlns:mc="http://schemas.openxmlformats.org/markup-compatibility/2006">
              <mc:Choice xmlns:v="urn:schemas-microsoft-com:vml" Requires="v">
                <p:oleObj spid="_x0000_s7363" name="Equation" r:id="rId3" imgW="3136680" imgH="431640" progId="Equation.3">
                  <p:embed/>
                </p:oleObj>
              </mc:Choice>
              <mc:Fallback>
                <p:oleObj name="Equation" r:id="rId3" imgW="3136680" imgH="431640" progId="Equation.3">
                  <p:embed/>
                  <p:pic>
                    <p:nvPicPr>
                      <p:cNvPr id="0" name="Object 4"/>
                      <p:cNvPicPr>
                        <a:picLocks noChangeAspect="1" noChangeArrowheads="1"/>
                      </p:cNvPicPr>
                      <p:nvPr/>
                    </p:nvPicPr>
                    <p:blipFill>
                      <a:blip r:embed="rId4"/>
                      <a:srcRect/>
                      <a:stretch>
                        <a:fillRect/>
                      </a:stretch>
                    </p:blipFill>
                    <p:spPr bwMode="auto">
                      <a:xfrm>
                        <a:off x="1289050" y="1539875"/>
                        <a:ext cx="5461000" cy="746125"/>
                      </a:xfrm>
                      <a:prstGeom prst="rect">
                        <a:avLst/>
                      </a:prstGeom>
                      <a:noFill/>
                      <a:ln>
                        <a:noFill/>
                      </a:ln>
                    </p:spPr>
                  </p:pic>
                </p:oleObj>
              </mc:Fallback>
            </mc:AlternateContent>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29772943"/>
              </p:ext>
            </p:extLst>
          </p:nvPr>
        </p:nvGraphicFramePr>
        <p:xfrm>
          <a:off x="1905000" y="2885181"/>
          <a:ext cx="2374900" cy="772419"/>
        </p:xfrm>
        <a:graphic>
          <a:graphicData uri="http://schemas.openxmlformats.org/presentationml/2006/ole">
            <mc:AlternateContent xmlns:mc="http://schemas.openxmlformats.org/markup-compatibility/2006">
              <mc:Choice xmlns:v="urn:schemas-microsoft-com:vml" Requires="v">
                <p:oleObj spid="_x0000_s7364" name="Equation" r:id="rId5" imgW="1320480" imgH="431640" progId="Equation.3">
                  <p:embed/>
                </p:oleObj>
              </mc:Choice>
              <mc:Fallback>
                <p:oleObj name="Equation" r:id="rId5" imgW="1320480" imgH="431640" progId="Equation.3">
                  <p:embed/>
                  <p:pic>
                    <p:nvPicPr>
                      <p:cNvPr id="0" name="Object 7"/>
                      <p:cNvPicPr>
                        <a:picLocks noChangeAspect="1" noChangeArrowheads="1"/>
                      </p:cNvPicPr>
                      <p:nvPr/>
                    </p:nvPicPr>
                    <p:blipFill>
                      <a:blip r:embed="rId6"/>
                      <a:srcRect/>
                      <a:stretch>
                        <a:fillRect/>
                      </a:stretch>
                    </p:blipFill>
                    <p:spPr bwMode="auto">
                      <a:xfrm>
                        <a:off x="1905000" y="2885181"/>
                        <a:ext cx="2374900" cy="772419"/>
                      </a:xfrm>
                      <a:prstGeom prst="rect">
                        <a:avLst/>
                      </a:prstGeom>
                      <a:noFill/>
                      <a:ln>
                        <a:noFill/>
                      </a:ln>
                    </p:spPr>
                  </p:pic>
                </p:oleObj>
              </mc:Fallback>
            </mc:AlternateContent>
          </a:graphicData>
        </a:graphic>
      </p:graphicFrame>
      <p:graphicFrame>
        <p:nvGraphicFramePr>
          <p:cNvPr id="8" name="Object 7"/>
          <p:cNvGraphicFramePr>
            <a:graphicFrameLocks noChangeAspect="1"/>
          </p:cNvGraphicFramePr>
          <p:nvPr>
            <p:extLst>
              <p:ext uri="{D42A27DB-BD31-4B8C-83A1-F6EECF244321}">
                <p14:modId xmlns:p14="http://schemas.microsoft.com/office/powerpoint/2010/main" val="1831466068"/>
              </p:ext>
            </p:extLst>
          </p:nvPr>
        </p:nvGraphicFramePr>
        <p:xfrm>
          <a:off x="1752600" y="3733800"/>
          <a:ext cx="4167187" cy="806067"/>
        </p:xfrm>
        <a:graphic>
          <a:graphicData uri="http://schemas.openxmlformats.org/presentationml/2006/ole">
            <mc:AlternateContent xmlns:mc="http://schemas.openxmlformats.org/markup-compatibility/2006">
              <mc:Choice xmlns:v="urn:schemas-microsoft-com:vml" Requires="v">
                <p:oleObj spid="_x0000_s7365" name="Equation" r:id="rId7" imgW="2209680" imgH="431640" progId="Equation.3">
                  <p:embed/>
                </p:oleObj>
              </mc:Choice>
              <mc:Fallback>
                <p:oleObj name="Equation" r:id="rId7" imgW="2209680" imgH="431640" progId="Equation.3">
                  <p:embed/>
                  <p:pic>
                    <p:nvPicPr>
                      <p:cNvPr id="0" name="Object 10"/>
                      <p:cNvPicPr>
                        <a:picLocks noChangeAspect="1" noChangeArrowheads="1"/>
                      </p:cNvPicPr>
                      <p:nvPr/>
                    </p:nvPicPr>
                    <p:blipFill>
                      <a:blip r:embed="rId8"/>
                      <a:srcRect/>
                      <a:stretch>
                        <a:fillRect/>
                      </a:stretch>
                    </p:blipFill>
                    <p:spPr bwMode="auto">
                      <a:xfrm>
                        <a:off x="1752600" y="3733800"/>
                        <a:ext cx="4167187" cy="806067"/>
                      </a:xfrm>
                      <a:prstGeom prst="rect">
                        <a:avLst/>
                      </a:prstGeom>
                      <a:noFill/>
                      <a:ln>
                        <a:noFill/>
                      </a:ln>
                    </p:spPr>
                  </p:pic>
                </p:oleObj>
              </mc:Fallback>
            </mc:AlternateContent>
          </a:graphicData>
        </a:graphic>
      </p:graphicFrame>
      <p:sp>
        <p:nvSpPr>
          <p:cNvPr id="9" name="Rectangle 8"/>
          <p:cNvSpPr/>
          <p:nvPr/>
        </p:nvSpPr>
        <p:spPr>
          <a:xfrm>
            <a:off x="0" y="605135"/>
            <a:ext cx="5630085" cy="461665"/>
          </a:xfrm>
          <a:prstGeom prst="rect">
            <a:avLst/>
          </a:prstGeom>
        </p:spPr>
        <p:txBody>
          <a:bodyPr wrap="square">
            <a:spAutoFit/>
          </a:bodyPr>
          <a:lstStyle/>
          <a:p>
            <a:pPr>
              <a:buFont typeface="Wingdings" pitchFamily="2" charset="2"/>
              <a:buNone/>
            </a:pPr>
            <a:r>
              <a:rPr lang="en-US" sz="2400" dirty="0">
                <a:solidFill>
                  <a:srgbClr val="FF0000"/>
                </a:solidFill>
                <a:latin typeface="Times New Roman" pitchFamily="18" charset="0"/>
              </a:rPr>
              <a:t>I. </a:t>
            </a:r>
            <a:r>
              <a:rPr lang="en-US" sz="2400" dirty="0" err="1">
                <a:solidFill>
                  <a:srgbClr val="FF0000"/>
                </a:solidFill>
                <a:latin typeface="Times New Roman" pitchFamily="18" charset="0"/>
              </a:rPr>
              <a:t>Phương</a:t>
            </a:r>
            <a:r>
              <a:rPr lang="en-US" sz="2400" dirty="0">
                <a:solidFill>
                  <a:srgbClr val="FF0000"/>
                </a:solidFill>
                <a:latin typeface="Times New Roman" pitchFamily="18" charset="0"/>
              </a:rPr>
              <a:t> </a:t>
            </a:r>
            <a:r>
              <a:rPr lang="en-US" sz="2400" dirty="0" err="1">
                <a:solidFill>
                  <a:srgbClr val="FF0000"/>
                </a:solidFill>
                <a:latin typeface="Times New Roman" pitchFamily="18" charset="0"/>
              </a:rPr>
              <a:t>trình</a:t>
            </a:r>
            <a:r>
              <a:rPr lang="en-US" sz="2400" dirty="0">
                <a:solidFill>
                  <a:srgbClr val="FF0000"/>
                </a:solidFill>
                <a:latin typeface="Times New Roman" pitchFamily="18" charset="0"/>
              </a:rPr>
              <a:t> Schrodinger</a:t>
            </a:r>
          </a:p>
        </p:txBody>
      </p:sp>
    </p:spTree>
    <p:extLst>
      <p:ext uri="{BB962C8B-B14F-4D97-AF65-F5344CB8AC3E}">
        <p14:creationId xmlns:p14="http://schemas.microsoft.com/office/powerpoint/2010/main" val="646959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down)">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76200" y="0"/>
            <a:ext cx="9067800" cy="830997"/>
          </a:xfrm>
          <a:prstGeom prst="rect">
            <a:avLst/>
          </a:prstGeom>
          <a:noFill/>
        </p:spPr>
        <p:txBody>
          <a:bodyPr wrap="square" rtlCol="0">
            <a:spAutoFit/>
          </a:bodyPr>
          <a:lstStyle/>
          <a:p>
            <a:pPr algn="ctr"/>
            <a:r>
              <a:rPr lang="en-US" sz="2400" dirty="0">
                <a:solidFill>
                  <a:srgbClr val="FFFF00"/>
                </a:solidFill>
                <a:latin typeface="Times New Roman" pitchFamily="18" charset="0"/>
                <a:cs typeface="Times New Roman" pitchFamily="18" charset="0"/>
              </a:rPr>
              <a:t>§4. </a:t>
            </a:r>
            <a:r>
              <a:rPr lang="en-US" sz="2400" b="1" dirty="0">
                <a:solidFill>
                  <a:srgbClr val="FFFF00"/>
                </a:solidFill>
                <a:latin typeface="Times New Roman" pitchFamily="18" charset="0"/>
              </a:rPr>
              <a:t>PHƯƠNG </a:t>
            </a:r>
            <a:r>
              <a:rPr lang="en-US" sz="2400" b="1">
                <a:solidFill>
                  <a:srgbClr val="FFFF00"/>
                </a:solidFill>
                <a:latin typeface="Times New Roman" pitchFamily="18" charset="0"/>
              </a:rPr>
              <a:t>TRÌNH SCHRODINGER</a:t>
            </a:r>
            <a:endParaRPr lang="en-US" sz="2400" b="1" dirty="0">
              <a:solidFill>
                <a:srgbClr val="FFFF00"/>
              </a:solidFill>
              <a:latin typeface="Times New Roman" pitchFamily="18" charset="0"/>
            </a:endParaRPr>
          </a:p>
          <a:p>
            <a:pPr algn="ctr"/>
            <a:endParaRPr lang="en-US" sz="2400" dirty="0">
              <a:solidFill>
                <a:srgbClr val="FFFF00"/>
              </a:solidFill>
              <a:latin typeface="Times New Roman" pitchFamily="18" charset="0"/>
              <a:cs typeface="Times New Roman" pitchFamily="18" charset="0"/>
            </a:endParaRPr>
          </a:p>
        </p:txBody>
      </p:sp>
      <p:graphicFrame>
        <p:nvGraphicFramePr>
          <p:cNvPr id="9" name="Object 8"/>
          <p:cNvGraphicFramePr>
            <a:graphicFrameLocks noChangeAspect="1"/>
          </p:cNvGraphicFramePr>
          <p:nvPr>
            <p:extLst>
              <p:ext uri="{D42A27DB-BD31-4B8C-83A1-F6EECF244321}">
                <p14:modId xmlns:p14="http://schemas.microsoft.com/office/powerpoint/2010/main" val="680562978"/>
              </p:ext>
            </p:extLst>
          </p:nvPr>
        </p:nvGraphicFramePr>
        <p:xfrm>
          <a:off x="2625725" y="3505200"/>
          <a:ext cx="2493963" cy="844550"/>
        </p:xfrm>
        <a:graphic>
          <a:graphicData uri="http://schemas.openxmlformats.org/presentationml/2006/ole">
            <mc:AlternateContent xmlns:mc="http://schemas.openxmlformats.org/markup-compatibility/2006">
              <mc:Choice xmlns:v="urn:schemas-microsoft-com:vml" Requires="v">
                <p:oleObj spid="_x0000_s8521" name="Equation" r:id="rId3" imgW="1358640" imgH="457200" progId="Equation.3">
                  <p:embed/>
                </p:oleObj>
              </mc:Choice>
              <mc:Fallback>
                <p:oleObj name="Equation" r:id="rId3" imgW="1358640" imgH="457200" progId="Equation.3">
                  <p:embed/>
                  <p:pic>
                    <p:nvPicPr>
                      <p:cNvPr id="0" name="Object 9"/>
                      <p:cNvPicPr>
                        <a:picLocks noChangeAspect="1" noChangeArrowheads="1"/>
                      </p:cNvPicPr>
                      <p:nvPr/>
                    </p:nvPicPr>
                    <p:blipFill>
                      <a:blip r:embed="rId4"/>
                      <a:srcRect/>
                      <a:stretch>
                        <a:fillRect/>
                      </a:stretch>
                    </p:blipFill>
                    <p:spPr bwMode="auto">
                      <a:xfrm>
                        <a:off x="2625725" y="3505200"/>
                        <a:ext cx="2493963" cy="844550"/>
                      </a:xfrm>
                      <a:prstGeom prst="rect">
                        <a:avLst/>
                      </a:prstGeom>
                      <a:noFill/>
                      <a:ln>
                        <a:noFill/>
                      </a:ln>
                    </p:spPr>
                  </p:pic>
                </p:oleObj>
              </mc:Fallback>
            </mc:AlternateContent>
          </a:graphicData>
        </a:graphic>
      </p:graphicFrame>
      <p:graphicFrame>
        <p:nvGraphicFramePr>
          <p:cNvPr id="10" name="Object 9"/>
          <p:cNvGraphicFramePr>
            <a:graphicFrameLocks noChangeAspect="1"/>
          </p:cNvGraphicFramePr>
          <p:nvPr>
            <p:extLst>
              <p:ext uri="{D42A27DB-BD31-4B8C-83A1-F6EECF244321}">
                <p14:modId xmlns:p14="http://schemas.microsoft.com/office/powerpoint/2010/main" val="2138934376"/>
              </p:ext>
            </p:extLst>
          </p:nvPr>
        </p:nvGraphicFramePr>
        <p:xfrm>
          <a:off x="2551113" y="4495800"/>
          <a:ext cx="2668587" cy="808038"/>
        </p:xfrm>
        <a:graphic>
          <a:graphicData uri="http://schemas.openxmlformats.org/presentationml/2006/ole">
            <mc:AlternateContent xmlns:mc="http://schemas.openxmlformats.org/markup-compatibility/2006">
              <mc:Choice xmlns:v="urn:schemas-microsoft-com:vml" Requires="v">
                <p:oleObj spid="_x0000_s8522" name="Equation" r:id="rId5" imgW="1384200" imgH="419040" progId="Equation.3">
                  <p:embed/>
                </p:oleObj>
              </mc:Choice>
              <mc:Fallback>
                <p:oleObj name="Equation" r:id="rId5" imgW="1384200" imgH="419040" progId="Equation.3">
                  <p:embed/>
                  <p:pic>
                    <p:nvPicPr>
                      <p:cNvPr id="0" name="Object 12"/>
                      <p:cNvPicPr>
                        <a:picLocks noChangeAspect="1" noChangeArrowheads="1"/>
                      </p:cNvPicPr>
                      <p:nvPr/>
                    </p:nvPicPr>
                    <p:blipFill>
                      <a:blip r:embed="rId6"/>
                      <a:srcRect/>
                      <a:stretch>
                        <a:fillRect/>
                      </a:stretch>
                    </p:blipFill>
                    <p:spPr bwMode="auto">
                      <a:xfrm>
                        <a:off x="2551113" y="4495800"/>
                        <a:ext cx="2668587" cy="808038"/>
                      </a:xfrm>
                      <a:prstGeom prst="rect">
                        <a:avLst/>
                      </a:prstGeom>
                      <a:noFill/>
                      <a:ln>
                        <a:noFill/>
                      </a:ln>
                    </p:spPr>
                  </p:pic>
                </p:oleObj>
              </mc:Fallback>
            </mc:AlternateContent>
          </a:graphicData>
        </a:graphic>
      </p:graphicFrame>
      <p:graphicFrame>
        <p:nvGraphicFramePr>
          <p:cNvPr id="12" name="Object 11"/>
          <p:cNvGraphicFramePr>
            <a:graphicFrameLocks noChangeAspect="1"/>
          </p:cNvGraphicFramePr>
          <p:nvPr>
            <p:extLst>
              <p:ext uri="{D42A27DB-BD31-4B8C-83A1-F6EECF244321}">
                <p14:modId xmlns:p14="http://schemas.microsoft.com/office/powerpoint/2010/main" val="221054973"/>
              </p:ext>
            </p:extLst>
          </p:nvPr>
        </p:nvGraphicFramePr>
        <p:xfrm>
          <a:off x="2520950" y="5562600"/>
          <a:ext cx="5989638" cy="830263"/>
        </p:xfrm>
        <a:graphic>
          <a:graphicData uri="http://schemas.openxmlformats.org/presentationml/2006/ole">
            <mc:AlternateContent xmlns:mc="http://schemas.openxmlformats.org/markup-compatibility/2006">
              <mc:Choice xmlns:v="urn:schemas-microsoft-com:vml" Requires="v">
                <p:oleObj spid="_x0000_s8523" name="Equation" r:id="rId7" imgW="3174840" imgH="444240" progId="Equation.3">
                  <p:embed/>
                </p:oleObj>
              </mc:Choice>
              <mc:Fallback>
                <p:oleObj name="Equation" r:id="rId7" imgW="3174840" imgH="444240" progId="Equation.3">
                  <p:embed/>
                  <p:pic>
                    <p:nvPicPr>
                      <p:cNvPr id="0" name="Object 10"/>
                      <p:cNvPicPr>
                        <a:picLocks noChangeAspect="1" noChangeArrowheads="1"/>
                      </p:cNvPicPr>
                      <p:nvPr/>
                    </p:nvPicPr>
                    <p:blipFill>
                      <a:blip r:embed="rId8"/>
                      <a:srcRect/>
                      <a:stretch>
                        <a:fillRect/>
                      </a:stretch>
                    </p:blipFill>
                    <p:spPr bwMode="auto">
                      <a:xfrm>
                        <a:off x="2520950" y="5562600"/>
                        <a:ext cx="5989638"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Object 12"/>
          <p:cNvGraphicFramePr>
            <a:graphicFrameLocks noChangeAspect="1"/>
          </p:cNvGraphicFramePr>
          <p:nvPr>
            <p:extLst>
              <p:ext uri="{D42A27DB-BD31-4B8C-83A1-F6EECF244321}">
                <p14:modId xmlns:p14="http://schemas.microsoft.com/office/powerpoint/2010/main" val="91925872"/>
              </p:ext>
            </p:extLst>
          </p:nvPr>
        </p:nvGraphicFramePr>
        <p:xfrm>
          <a:off x="2565400" y="2438400"/>
          <a:ext cx="4013200" cy="758825"/>
        </p:xfrm>
        <a:graphic>
          <a:graphicData uri="http://schemas.openxmlformats.org/presentationml/2006/ole">
            <mc:AlternateContent xmlns:mc="http://schemas.openxmlformats.org/markup-compatibility/2006">
              <mc:Choice xmlns:v="urn:schemas-microsoft-com:vml" Requires="v">
                <p:oleObj spid="_x0000_s8524" name="Equation" r:id="rId9" imgW="2234880" imgH="419040" progId="Equation.3">
                  <p:embed/>
                </p:oleObj>
              </mc:Choice>
              <mc:Fallback>
                <p:oleObj name="Equation" r:id="rId9" imgW="2234880" imgH="419040" progId="Equation.3">
                  <p:embed/>
                  <p:pic>
                    <p:nvPicPr>
                      <p:cNvPr id="0" name="Object 6"/>
                      <p:cNvPicPr>
                        <a:picLocks noChangeAspect="1" noChangeArrowheads="1"/>
                      </p:cNvPicPr>
                      <p:nvPr/>
                    </p:nvPicPr>
                    <p:blipFill>
                      <a:blip r:embed="rId10"/>
                      <a:srcRect/>
                      <a:stretch>
                        <a:fillRect/>
                      </a:stretch>
                    </p:blipFill>
                    <p:spPr bwMode="auto">
                      <a:xfrm>
                        <a:off x="2565400" y="2438400"/>
                        <a:ext cx="4013200" cy="75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Object 2"/>
          <p:cNvGraphicFramePr>
            <a:graphicFrameLocks noChangeAspect="1"/>
          </p:cNvGraphicFramePr>
          <p:nvPr>
            <p:extLst>
              <p:ext uri="{D42A27DB-BD31-4B8C-83A1-F6EECF244321}">
                <p14:modId xmlns:p14="http://schemas.microsoft.com/office/powerpoint/2010/main" val="553508116"/>
              </p:ext>
            </p:extLst>
          </p:nvPr>
        </p:nvGraphicFramePr>
        <p:xfrm>
          <a:off x="2605088" y="1447800"/>
          <a:ext cx="2036762" cy="736600"/>
        </p:xfrm>
        <a:graphic>
          <a:graphicData uri="http://schemas.openxmlformats.org/presentationml/2006/ole">
            <mc:AlternateContent xmlns:mc="http://schemas.openxmlformats.org/markup-compatibility/2006">
              <mc:Choice xmlns:v="urn:schemas-microsoft-com:vml" Requires="v">
                <p:oleObj spid="_x0000_s8525" name="Equation" r:id="rId11" imgW="1079280" imgH="393480" progId="Equation.3">
                  <p:embed/>
                </p:oleObj>
              </mc:Choice>
              <mc:Fallback>
                <p:oleObj name="Equation" r:id="rId11" imgW="1079280" imgH="393480" progId="Equation.3">
                  <p:embed/>
                  <p:pic>
                    <p:nvPicPr>
                      <p:cNvPr id="0" name="Object 10"/>
                      <p:cNvPicPr>
                        <a:picLocks noChangeAspect="1" noChangeArrowheads="1"/>
                      </p:cNvPicPr>
                      <p:nvPr/>
                    </p:nvPicPr>
                    <p:blipFill>
                      <a:blip r:embed="rId12"/>
                      <a:srcRect/>
                      <a:stretch>
                        <a:fillRect/>
                      </a:stretch>
                    </p:blipFill>
                    <p:spPr bwMode="auto">
                      <a:xfrm>
                        <a:off x="2605088" y="1447800"/>
                        <a:ext cx="2036762" cy="73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646959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down)">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down)">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down)">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down)">
                                      <p:cBhvr>
                                        <p:cTn id="2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76200" y="0"/>
            <a:ext cx="9067800" cy="830997"/>
          </a:xfrm>
          <a:prstGeom prst="rect">
            <a:avLst/>
          </a:prstGeom>
          <a:noFill/>
        </p:spPr>
        <p:txBody>
          <a:bodyPr wrap="square" rtlCol="0">
            <a:spAutoFit/>
          </a:bodyPr>
          <a:lstStyle/>
          <a:p>
            <a:pPr algn="ctr"/>
            <a:r>
              <a:rPr lang="en-US" sz="2400" dirty="0">
                <a:solidFill>
                  <a:srgbClr val="FFFF00"/>
                </a:solidFill>
                <a:latin typeface="Times New Roman" pitchFamily="18" charset="0"/>
                <a:cs typeface="Times New Roman" pitchFamily="18" charset="0"/>
              </a:rPr>
              <a:t>§4. </a:t>
            </a:r>
            <a:r>
              <a:rPr lang="en-US" sz="2400" b="1" dirty="0">
                <a:solidFill>
                  <a:srgbClr val="FFFF00"/>
                </a:solidFill>
                <a:latin typeface="Times New Roman" pitchFamily="18" charset="0"/>
              </a:rPr>
              <a:t>PHƯƠNG TRÌNH SCHRODINGER</a:t>
            </a:r>
          </a:p>
          <a:p>
            <a:pPr algn="ctr"/>
            <a:endParaRPr lang="en-US" sz="2400" dirty="0">
              <a:solidFill>
                <a:srgbClr val="FFFF00"/>
              </a:solidFill>
              <a:latin typeface="Times New Roman" pitchFamily="18" charset="0"/>
              <a:cs typeface="Times New Roman" pitchFamily="18" charset="0"/>
            </a:endParaRPr>
          </a:p>
        </p:txBody>
      </p:sp>
      <p:sp>
        <p:nvSpPr>
          <p:cNvPr id="2" name="Rectangle 1"/>
          <p:cNvSpPr/>
          <p:nvPr/>
        </p:nvSpPr>
        <p:spPr>
          <a:xfrm>
            <a:off x="110647" y="990600"/>
            <a:ext cx="5635631" cy="461665"/>
          </a:xfrm>
          <a:prstGeom prst="rect">
            <a:avLst/>
          </a:prstGeom>
        </p:spPr>
        <p:txBody>
          <a:bodyPr wrap="square">
            <a:spAutoFit/>
          </a:bodyPr>
          <a:lstStyle/>
          <a:p>
            <a:pPr>
              <a:buFont typeface="Wingdings" pitchFamily="2" charset="2"/>
              <a:buNone/>
            </a:pPr>
            <a:r>
              <a:rPr lang="en-US" sz="2400" dirty="0" err="1">
                <a:latin typeface="Times New Roman" pitchFamily="18" charset="0"/>
              </a:rPr>
              <a:t>Trong</a:t>
            </a:r>
            <a:r>
              <a:rPr lang="en-US" sz="2400" dirty="0">
                <a:latin typeface="Times New Roman" pitchFamily="18" charset="0"/>
              </a:rPr>
              <a:t> </a:t>
            </a:r>
            <a:r>
              <a:rPr lang="en-US" sz="2400" dirty="0" err="1">
                <a:latin typeface="Times New Roman" pitchFamily="18" charset="0"/>
              </a:rPr>
              <a:t>hệ</a:t>
            </a:r>
            <a:r>
              <a:rPr lang="en-US" sz="2400" dirty="0">
                <a:latin typeface="Times New Roman" pitchFamily="18" charset="0"/>
              </a:rPr>
              <a:t> </a:t>
            </a:r>
            <a:r>
              <a:rPr lang="en-US" sz="2400" dirty="0" err="1">
                <a:latin typeface="Times New Roman" pitchFamily="18" charset="0"/>
              </a:rPr>
              <a:t>tọa</a:t>
            </a:r>
            <a:r>
              <a:rPr lang="en-US" sz="2400" dirty="0">
                <a:latin typeface="Times New Roman" pitchFamily="18" charset="0"/>
              </a:rPr>
              <a:t> </a:t>
            </a:r>
            <a:r>
              <a:rPr lang="en-US" sz="2400" dirty="0" err="1">
                <a:latin typeface="Times New Roman" pitchFamily="18" charset="0"/>
              </a:rPr>
              <a:t>độ</a:t>
            </a:r>
            <a:r>
              <a:rPr lang="en-US" sz="2400" dirty="0">
                <a:latin typeface="Times New Roman" pitchFamily="18" charset="0"/>
              </a:rPr>
              <a:t> </a:t>
            </a:r>
            <a:r>
              <a:rPr lang="en-US" sz="2400" dirty="0" err="1">
                <a:latin typeface="Times New Roman" pitchFamily="18" charset="0"/>
              </a:rPr>
              <a:t>Đêcac</a:t>
            </a:r>
            <a:endParaRPr lang="en-US" sz="2400" dirty="0">
              <a:latin typeface="Times New Roman" pitchFamily="18" charset="0"/>
            </a:endParaRPr>
          </a:p>
        </p:txBody>
      </p:sp>
      <p:graphicFrame>
        <p:nvGraphicFramePr>
          <p:cNvPr id="3" name="Object 2"/>
          <p:cNvGraphicFramePr>
            <a:graphicFrameLocks noChangeAspect="1"/>
          </p:cNvGraphicFramePr>
          <p:nvPr>
            <p:extLst>
              <p:ext uri="{D42A27DB-BD31-4B8C-83A1-F6EECF244321}">
                <p14:modId xmlns:p14="http://schemas.microsoft.com/office/powerpoint/2010/main" val="899799595"/>
              </p:ext>
            </p:extLst>
          </p:nvPr>
        </p:nvGraphicFramePr>
        <p:xfrm>
          <a:off x="2270125" y="1752600"/>
          <a:ext cx="3463925" cy="825500"/>
        </p:xfrm>
        <a:graphic>
          <a:graphicData uri="http://schemas.openxmlformats.org/presentationml/2006/ole">
            <mc:AlternateContent xmlns:mc="http://schemas.openxmlformats.org/markup-compatibility/2006">
              <mc:Choice xmlns:v="urn:schemas-microsoft-com:vml" Requires="v">
                <p:oleObj spid="_x0000_s9506" name="Equation" r:id="rId3" imgW="2019240" imgH="482400" progId="Equation.3">
                  <p:embed/>
                </p:oleObj>
              </mc:Choice>
              <mc:Fallback>
                <p:oleObj name="Equation" r:id="rId3" imgW="2019240" imgH="482400" progId="Equation.3">
                  <p:embed/>
                  <p:pic>
                    <p:nvPicPr>
                      <p:cNvPr id="0" name="Object 4"/>
                      <p:cNvPicPr>
                        <a:picLocks noChangeAspect="1" noChangeArrowheads="1"/>
                      </p:cNvPicPr>
                      <p:nvPr/>
                    </p:nvPicPr>
                    <p:blipFill>
                      <a:blip r:embed="rId4"/>
                      <a:srcRect/>
                      <a:stretch>
                        <a:fillRect/>
                      </a:stretch>
                    </p:blipFill>
                    <p:spPr bwMode="auto">
                      <a:xfrm>
                        <a:off x="2270125" y="1752600"/>
                        <a:ext cx="3463925" cy="825500"/>
                      </a:xfrm>
                      <a:prstGeom prst="rect">
                        <a:avLst/>
                      </a:prstGeom>
                      <a:noFill/>
                      <a:ln>
                        <a:noFill/>
                      </a:ln>
                    </p:spPr>
                  </p:pic>
                </p:oleObj>
              </mc:Fallback>
            </mc:AlternateContent>
          </a:graphicData>
        </a:graphic>
      </p:graphicFrame>
      <p:graphicFrame>
        <p:nvGraphicFramePr>
          <p:cNvPr id="8" name="Object 7"/>
          <p:cNvGraphicFramePr>
            <a:graphicFrameLocks noChangeAspect="1"/>
          </p:cNvGraphicFramePr>
          <p:nvPr>
            <p:extLst>
              <p:ext uri="{D42A27DB-BD31-4B8C-83A1-F6EECF244321}">
                <p14:modId xmlns:p14="http://schemas.microsoft.com/office/powerpoint/2010/main" val="3672569712"/>
              </p:ext>
            </p:extLst>
          </p:nvPr>
        </p:nvGraphicFramePr>
        <p:xfrm>
          <a:off x="2574925" y="2971800"/>
          <a:ext cx="2714625" cy="808038"/>
        </p:xfrm>
        <a:graphic>
          <a:graphicData uri="http://schemas.openxmlformats.org/presentationml/2006/ole">
            <mc:AlternateContent xmlns:mc="http://schemas.openxmlformats.org/markup-compatibility/2006">
              <mc:Choice xmlns:v="urn:schemas-microsoft-com:vml" Requires="v">
                <p:oleObj spid="_x0000_s9507" name="Equation" r:id="rId5" imgW="1409400" imgH="419040" progId="Equation.3">
                  <p:embed/>
                </p:oleObj>
              </mc:Choice>
              <mc:Fallback>
                <p:oleObj name="Equation" r:id="rId5" imgW="1409400" imgH="419040" progId="Equation.3">
                  <p:embed/>
                  <p:pic>
                    <p:nvPicPr>
                      <p:cNvPr id="0" name="Object 7"/>
                      <p:cNvPicPr>
                        <a:picLocks noChangeAspect="1" noChangeArrowheads="1"/>
                      </p:cNvPicPr>
                      <p:nvPr/>
                    </p:nvPicPr>
                    <p:blipFill>
                      <a:blip r:embed="rId6"/>
                      <a:srcRect/>
                      <a:stretch>
                        <a:fillRect/>
                      </a:stretch>
                    </p:blipFill>
                    <p:spPr bwMode="auto">
                      <a:xfrm>
                        <a:off x="2574925" y="2971800"/>
                        <a:ext cx="2714625" cy="808038"/>
                      </a:xfrm>
                      <a:prstGeom prst="rect">
                        <a:avLst/>
                      </a:prstGeom>
                      <a:noFill/>
                      <a:ln>
                        <a:noFill/>
                      </a:ln>
                    </p:spPr>
                  </p:pic>
                </p:oleObj>
              </mc:Fallback>
            </mc:AlternateContent>
          </a:graphicData>
        </a:graphic>
      </p:graphicFrame>
      <p:sp>
        <p:nvSpPr>
          <p:cNvPr id="9" name="Rectangle 8"/>
          <p:cNvSpPr/>
          <p:nvPr/>
        </p:nvSpPr>
        <p:spPr>
          <a:xfrm>
            <a:off x="110647" y="3810000"/>
            <a:ext cx="5915419" cy="461665"/>
          </a:xfrm>
          <a:prstGeom prst="rect">
            <a:avLst/>
          </a:prstGeom>
        </p:spPr>
        <p:txBody>
          <a:bodyPr wrap="square">
            <a:spAutoFit/>
          </a:bodyPr>
          <a:lstStyle/>
          <a:p>
            <a:pPr>
              <a:buFont typeface="Wingdings" pitchFamily="2" charset="2"/>
              <a:buNone/>
            </a:pPr>
            <a:r>
              <a:rPr lang="en-US" sz="2400" dirty="0" err="1">
                <a:latin typeface="Times New Roman" pitchFamily="18" charset="0"/>
              </a:rPr>
              <a:t>Gọi</a:t>
            </a:r>
            <a:r>
              <a:rPr lang="en-US" sz="2400" dirty="0">
                <a:latin typeface="Times New Roman" pitchFamily="18" charset="0"/>
              </a:rPr>
              <a:t> </a:t>
            </a:r>
            <a:r>
              <a:rPr lang="en-US" sz="2400" dirty="0" err="1">
                <a:latin typeface="Times New Roman" pitchFamily="18" charset="0"/>
              </a:rPr>
              <a:t>E</a:t>
            </a:r>
            <a:r>
              <a:rPr lang="en-US" sz="2400" baseline="-25000" dirty="0" err="1">
                <a:latin typeface="Times New Roman" pitchFamily="18" charset="0"/>
              </a:rPr>
              <a:t>đ</a:t>
            </a:r>
            <a:r>
              <a:rPr lang="en-US" sz="2400" dirty="0">
                <a:latin typeface="Times New Roman" pitchFamily="18" charset="0"/>
              </a:rPr>
              <a:t> </a:t>
            </a:r>
            <a:r>
              <a:rPr lang="en-US" sz="2400" dirty="0" err="1">
                <a:latin typeface="Times New Roman" pitchFamily="18" charset="0"/>
              </a:rPr>
              <a:t>là</a:t>
            </a:r>
            <a:r>
              <a:rPr lang="en-US" sz="2400" dirty="0">
                <a:latin typeface="Times New Roman" pitchFamily="18" charset="0"/>
              </a:rPr>
              <a:t> </a:t>
            </a:r>
            <a:r>
              <a:rPr lang="en-US" sz="2400" dirty="0" err="1">
                <a:latin typeface="Times New Roman" pitchFamily="18" charset="0"/>
              </a:rPr>
              <a:t>động</a:t>
            </a:r>
            <a:r>
              <a:rPr lang="en-US" sz="2400" dirty="0">
                <a:latin typeface="Times New Roman" pitchFamily="18" charset="0"/>
              </a:rPr>
              <a:t> </a:t>
            </a:r>
            <a:r>
              <a:rPr lang="en-US" sz="2400" dirty="0" err="1">
                <a:latin typeface="Times New Roman" pitchFamily="18" charset="0"/>
              </a:rPr>
              <a:t>năng</a:t>
            </a:r>
            <a:r>
              <a:rPr lang="en-US" sz="2400" dirty="0">
                <a:latin typeface="Times New Roman" pitchFamily="18" charset="0"/>
              </a:rPr>
              <a:t> </a:t>
            </a:r>
            <a:r>
              <a:rPr lang="en-US" sz="2400" dirty="0" err="1">
                <a:latin typeface="Times New Roman" pitchFamily="18" charset="0"/>
              </a:rPr>
              <a:t>của</a:t>
            </a:r>
            <a:r>
              <a:rPr lang="en-US" sz="2400" dirty="0">
                <a:latin typeface="Times New Roman" pitchFamily="18" charset="0"/>
              </a:rPr>
              <a:t> </a:t>
            </a:r>
            <a:r>
              <a:rPr lang="en-US" sz="2400" dirty="0" err="1">
                <a:latin typeface="Times New Roman" pitchFamily="18" charset="0"/>
              </a:rPr>
              <a:t>hạt</a:t>
            </a:r>
            <a:r>
              <a:rPr lang="en-US" sz="2400" dirty="0">
                <a:latin typeface="Times New Roman" pitchFamily="18" charset="0"/>
              </a:rPr>
              <a:t>:</a:t>
            </a:r>
          </a:p>
        </p:txBody>
      </p:sp>
      <p:graphicFrame>
        <p:nvGraphicFramePr>
          <p:cNvPr id="10" name="Object 9"/>
          <p:cNvGraphicFramePr>
            <a:graphicFrameLocks noChangeAspect="1"/>
          </p:cNvGraphicFramePr>
          <p:nvPr>
            <p:extLst>
              <p:ext uri="{D42A27DB-BD31-4B8C-83A1-F6EECF244321}">
                <p14:modId xmlns:p14="http://schemas.microsoft.com/office/powerpoint/2010/main" val="2407752591"/>
              </p:ext>
            </p:extLst>
          </p:nvPr>
        </p:nvGraphicFramePr>
        <p:xfrm>
          <a:off x="2362200" y="4495800"/>
          <a:ext cx="3840163" cy="806450"/>
        </p:xfrm>
        <a:graphic>
          <a:graphicData uri="http://schemas.openxmlformats.org/presentationml/2006/ole">
            <mc:AlternateContent xmlns:mc="http://schemas.openxmlformats.org/markup-compatibility/2006">
              <mc:Choice xmlns:v="urn:schemas-microsoft-com:vml" Requires="v">
                <p:oleObj spid="_x0000_s9508" name="Equation" r:id="rId7" imgW="1993680" imgH="419040" progId="Equation.3">
                  <p:embed/>
                </p:oleObj>
              </mc:Choice>
              <mc:Fallback>
                <p:oleObj name="Equation" r:id="rId7" imgW="1993680" imgH="419040" progId="Equation.3">
                  <p:embed/>
                  <p:pic>
                    <p:nvPicPr>
                      <p:cNvPr id="0" name="Object 10"/>
                      <p:cNvPicPr>
                        <a:picLocks noChangeAspect="1" noChangeArrowheads="1"/>
                      </p:cNvPicPr>
                      <p:nvPr/>
                    </p:nvPicPr>
                    <p:blipFill>
                      <a:blip r:embed="rId8"/>
                      <a:srcRect/>
                      <a:stretch>
                        <a:fillRect/>
                      </a:stretch>
                    </p:blipFill>
                    <p:spPr bwMode="auto">
                      <a:xfrm>
                        <a:off x="2362200" y="4495800"/>
                        <a:ext cx="3840163" cy="806450"/>
                      </a:xfrm>
                      <a:prstGeom prst="rect">
                        <a:avLst/>
                      </a:prstGeom>
                      <a:noFill/>
                      <a:ln>
                        <a:noFill/>
                      </a:ln>
                    </p:spPr>
                  </p:pic>
                </p:oleObj>
              </mc:Fallback>
            </mc:AlternateContent>
          </a:graphicData>
        </a:graphic>
      </p:graphicFrame>
      <p:graphicFrame>
        <p:nvGraphicFramePr>
          <p:cNvPr id="11" name="Object 10"/>
          <p:cNvGraphicFramePr>
            <a:graphicFrameLocks noChangeAspect="1"/>
          </p:cNvGraphicFramePr>
          <p:nvPr>
            <p:extLst>
              <p:ext uri="{D42A27DB-BD31-4B8C-83A1-F6EECF244321}">
                <p14:modId xmlns:p14="http://schemas.microsoft.com/office/powerpoint/2010/main" val="2376925836"/>
              </p:ext>
            </p:extLst>
          </p:nvPr>
        </p:nvGraphicFramePr>
        <p:xfrm>
          <a:off x="2641600" y="5486400"/>
          <a:ext cx="2867025" cy="781050"/>
        </p:xfrm>
        <a:graphic>
          <a:graphicData uri="http://schemas.openxmlformats.org/presentationml/2006/ole">
            <mc:AlternateContent xmlns:mc="http://schemas.openxmlformats.org/markup-compatibility/2006">
              <mc:Choice xmlns:v="urn:schemas-microsoft-com:vml" Requires="v">
                <p:oleObj spid="_x0000_s9509" name="Equation" r:id="rId9" imgW="1447560" imgH="393480" progId="Equation.3">
                  <p:embed/>
                </p:oleObj>
              </mc:Choice>
              <mc:Fallback>
                <p:oleObj name="Equation" r:id="rId9" imgW="1447560" imgH="393480" progId="Equation.3">
                  <p:embed/>
                  <p:pic>
                    <p:nvPicPr>
                      <p:cNvPr id="0" name="Object 13"/>
                      <p:cNvPicPr>
                        <a:picLocks noChangeAspect="1" noChangeArrowheads="1"/>
                      </p:cNvPicPr>
                      <p:nvPr/>
                    </p:nvPicPr>
                    <p:blipFill>
                      <a:blip r:embed="rId10"/>
                      <a:srcRect/>
                      <a:stretch>
                        <a:fillRect/>
                      </a:stretch>
                    </p:blipFill>
                    <p:spPr bwMode="auto">
                      <a:xfrm>
                        <a:off x="2641600" y="5486400"/>
                        <a:ext cx="2867025" cy="781050"/>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646959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down)">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down)">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down)">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down)">
                                      <p:cBhvr>
                                        <p:cTn id="2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76200" y="0"/>
            <a:ext cx="9067800" cy="830997"/>
          </a:xfrm>
          <a:prstGeom prst="rect">
            <a:avLst/>
          </a:prstGeom>
          <a:noFill/>
        </p:spPr>
        <p:txBody>
          <a:bodyPr wrap="square" rtlCol="0">
            <a:spAutoFit/>
          </a:bodyPr>
          <a:lstStyle/>
          <a:p>
            <a:pPr algn="ctr"/>
            <a:r>
              <a:rPr lang="en-US" sz="2400" dirty="0">
                <a:solidFill>
                  <a:srgbClr val="FFFF00"/>
                </a:solidFill>
                <a:latin typeface="Times New Roman" pitchFamily="18" charset="0"/>
                <a:cs typeface="Times New Roman" pitchFamily="18" charset="0"/>
              </a:rPr>
              <a:t>§4. </a:t>
            </a:r>
            <a:r>
              <a:rPr lang="en-US" sz="2400" b="1" dirty="0">
                <a:solidFill>
                  <a:srgbClr val="FFFF00"/>
                </a:solidFill>
                <a:latin typeface="Times New Roman" pitchFamily="18" charset="0"/>
              </a:rPr>
              <a:t>PHƯƠNG TRÌNH SCHRODINGER</a:t>
            </a:r>
          </a:p>
          <a:p>
            <a:pPr algn="ctr"/>
            <a:endParaRPr lang="en-US" sz="2400" dirty="0">
              <a:solidFill>
                <a:srgbClr val="FFFF00"/>
              </a:solidFill>
              <a:latin typeface="Times New Roman" pitchFamily="18" charset="0"/>
              <a:cs typeface="Times New Roman" pitchFamily="18" charset="0"/>
            </a:endParaRPr>
          </a:p>
        </p:txBody>
      </p:sp>
      <p:sp>
        <p:nvSpPr>
          <p:cNvPr id="2" name="Rectangle 1"/>
          <p:cNvSpPr/>
          <p:nvPr/>
        </p:nvSpPr>
        <p:spPr>
          <a:xfrm>
            <a:off x="76200" y="830997"/>
            <a:ext cx="8915400" cy="830997"/>
          </a:xfrm>
          <a:prstGeom prst="rect">
            <a:avLst/>
          </a:prstGeom>
        </p:spPr>
        <p:txBody>
          <a:bodyPr wrap="square">
            <a:spAutoFit/>
          </a:bodyPr>
          <a:lstStyle/>
          <a:p>
            <a:pPr>
              <a:buFont typeface="Wingdings" pitchFamily="2" charset="2"/>
              <a:buNone/>
            </a:pPr>
            <a:r>
              <a:rPr lang="en-US" sz="2400" dirty="0" err="1">
                <a:latin typeface="Times New Roman" pitchFamily="18" charset="0"/>
              </a:rPr>
              <a:t>Nếu</a:t>
            </a:r>
            <a:r>
              <a:rPr lang="en-US" sz="2400" dirty="0">
                <a:latin typeface="Times New Roman" pitchFamily="18" charset="0"/>
              </a:rPr>
              <a:t> </a:t>
            </a:r>
            <a:r>
              <a:rPr lang="en-US" sz="2400" dirty="0" err="1">
                <a:latin typeface="Times New Roman" pitchFamily="18" charset="0"/>
              </a:rPr>
              <a:t>hạt</a:t>
            </a:r>
            <a:r>
              <a:rPr lang="en-US" sz="2400" dirty="0">
                <a:latin typeface="Times New Roman" pitchFamily="18" charset="0"/>
              </a:rPr>
              <a:t> </a:t>
            </a:r>
            <a:r>
              <a:rPr lang="en-US" sz="2400" dirty="0" err="1">
                <a:latin typeface="Times New Roman" pitchFamily="18" charset="0"/>
              </a:rPr>
              <a:t>chuyển</a:t>
            </a:r>
            <a:r>
              <a:rPr lang="en-US" sz="2400" dirty="0">
                <a:latin typeface="Times New Roman" pitchFamily="18" charset="0"/>
              </a:rPr>
              <a:t> </a:t>
            </a:r>
            <a:r>
              <a:rPr lang="en-US" sz="2400" dirty="0" err="1">
                <a:latin typeface="Times New Roman" pitchFamily="18" charset="0"/>
              </a:rPr>
              <a:t>động</a:t>
            </a:r>
            <a:r>
              <a:rPr lang="en-US" sz="2400" dirty="0">
                <a:latin typeface="Times New Roman" pitchFamily="18" charset="0"/>
              </a:rPr>
              <a:t> </a:t>
            </a:r>
            <a:r>
              <a:rPr lang="en-US" sz="2400" err="1">
                <a:latin typeface="Times New Roman" pitchFamily="18" charset="0"/>
              </a:rPr>
              <a:t>trong</a:t>
            </a:r>
            <a:r>
              <a:rPr lang="en-US" sz="2400">
                <a:latin typeface="Times New Roman" pitchFamily="18" charset="0"/>
              </a:rPr>
              <a:t> trường lực </a:t>
            </a:r>
            <a:r>
              <a:rPr lang="en-US" sz="2400" dirty="0" err="1">
                <a:latin typeface="Times New Roman" pitchFamily="18" charset="0"/>
              </a:rPr>
              <a:t>có</a:t>
            </a:r>
            <a:r>
              <a:rPr lang="en-US" sz="2400" dirty="0">
                <a:latin typeface="Times New Roman" pitchFamily="18" charset="0"/>
              </a:rPr>
              <a:t> </a:t>
            </a:r>
            <a:r>
              <a:rPr lang="en-US" sz="2400" dirty="0" err="1">
                <a:latin typeface="Times New Roman" pitchFamily="18" charset="0"/>
              </a:rPr>
              <a:t>thế</a:t>
            </a:r>
            <a:r>
              <a:rPr lang="en-US" sz="2400" dirty="0">
                <a:latin typeface="Times New Roman" pitchFamily="18" charset="0"/>
              </a:rPr>
              <a:t> </a:t>
            </a:r>
            <a:r>
              <a:rPr lang="en-US" sz="2400" dirty="0" err="1">
                <a:latin typeface="Times New Roman" pitchFamily="18" charset="0"/>
              </a:rPr>
              <a:t>năng</a:t>
            </a:r>
            <a:r>
              <a:rPr lang="en-US" sz="2400" dirty="0">
                <a:latin typeface="Times New Roman" pitchFamily="18" charset="0"/>
              </a:rPr>
              <a:t> U </a:t>
            </a:r>
            <a:r>
              <a:rPr lang="en-US" sz="2400" dirty="0" err="1">
                <a:latin typeface="Times New Roman" pitchFamily="18" charset="0"/>
              </a:rPr>
              <a:t>không</a:t>
            </a:r>
            <a:r>
              <a:rPr lang="en-US" sz="2400" dirty="0">
                <a:latin typeface="Times New Roman" pitchFamily="18" charset="0"/>
              </a:rPr>
              <a:t> </a:t>
            </a:r>
            <a:r>
              <a:rPr lang="en-US" sz="2400" dirty="0" err="1">
                <a:latin typeface="Times New Roman" pitchFamily="18" charset="0"/>
              </a:rPr>
              <a:t>phụ</a:t>
            </a:r>
            <a:r>
              <a:rPr lang="en-US" sz="2400" dirty="0">
                <a:latin typeface="Times New Roman" pitchFamily="18" charset="0"/>
              </a:rPr>
              <a:t> </a:t>
            </a:r>
            <a:r>
              <a:rPr lang="en-US" sz="2400" dirty="0" err="1">
                <a:latin typeface="Times New Roman" pitchFamily="18" charset="0"/>
              </a:rPr>
              <a:t>thuộc</a:t>
            </a:r>
            <a:r>
              <a:rPr lang="en-US" sz="2400" dirty="0">
                <a:latin typeface="Times New Roman" pitchFamily="18" charset="0"/>
              </a:rPr>
              <a:t> </a:t>
            </a:r>
            <a:r>
              <a:rPr lang="en-US" sz="2400" dirty="0" err="1">
                <a:latin typeface="Times New Roman" pitchFamily="18" charset="0"/>
              </a:rPr>
              <a:t>vào</a:t>
            </a:r>
            <a:r>
              <a:rPr lang="en-US" sz="2400" dirty="0">
                <a:latin typeface="Times New Roman" pitchFamily="18" charset="0"/>
              </a:rPr>
              <a:t> </a:t>
            </a:r>
            <a:r>
              <a:rPr lang="en-US" sz="2400" dirty="0" err="1">
                <a:latin typeface="Times New Roman" pitchFamily="18" charset="0"/>
              </a:rPr>
              <a:t>thời</a:t>
            </a:r>
            <a:r>
              <a:rPr lang="en-US" sz="2400" dirty="0">
                <a:latin typeface="Times New Roman" pitchFamily="18" charset="0"/>
              </a:rPr>
              <a:t> </a:t>
            </a:r>
            <a:r>
              <a:rPr lang="en-US" sz="2400" dirty="0" err="1">
                <a:latin typeface="Times New Roman" pitchFamily="18" charset="0"/>
              </a:rPr>
              <a:t>gian</a:t>
            </a:r>
            <a:r>
              <a:rPr lang="en-US" sz="2400" dirty="0">
                <a:latin typeface="Times New Roman" pitchFamily="18" charset="0"/>
              </a:rPr>
              <a:t>: </a:t>
            </a:r>
            <a:r>
              <a:rPr lang="en-US" sz="2400" dirty="0" err="1">
                <a:latin typeface="Times New Roman" pitchFamily="18" charset="0"/>
              </a:rPr>
              <a:t>E</a:t>
            </a:r>
            <a:r>
              <a:rPr lang="en-US" sz="2400" baseline="-25000" dirty="0" err="1">
                <a:latin typeface="Times New Roman" pitchFamily="18" charset="0"/>
              </a:rPr>
              <a:t>đ</a:t>
            </a:r>
            <a:r>
              <a:rPr lang="en-US" sz="2400" dirty="0">
                <a:latin typeface="Times New Roman" pitchFamily="18" charset="0"/>
              </a:rPr>
              <a:t> = E – U</a:t>
            </a:r>
          </a:p>
        </p:txBody>
      </p:sp>
      <p:sp>
        <p:nvSpPr>
          <p:cNvPr id="3" name="Rectangle 2"/>
          <p:cNvSpPr/>
          <p:nvPr/>
        </p:nvSpPr>
        <p:spPr>
          <a:xfrm>
            <a:off x="76200" y="1828801"/>
            <a:ext cx="8915400" cy="461665"/>
          </a:xfrm>
          <a:prstGeom prst="rect">
            <a:avLst/>
          </a:prstGeom>
        </p:spPr>
        <p:txBody>
          <a:bodyPr wrap="square">
            <a:spAutoFit/>
          </a:bodyPr>
          <a:lstStyle/>
          <a:p>
            <a:pPr>
              <a:buFont typeface="Wingdings" pitchFamily="2" charset="2"/>
              <a:buNone/>
            </a:pPr>
            <a:r>
              <a:rPr lang="en-US" sz="2400" b="1" i="1" dirty="0" err="1">
                <a:latin typeface="Times New Roman" pitchFamily="18" charset="0"/>
              </a:rPr>
              <a:t>Phương</a:t>
            </a:r>
            <a:r>
              <a:rPr lang="en-US" sz="2400" b="1" i="1" dirty="0">
                <a:latin typeface="Times New Roman" pitchFamily="18" charset="0"/>
              </a:rPr>
              <a:t> </a:t>
            </a:r>
            <a:r>
              <a:rPr lang="en-US" sz="2400" b="1" i="1" dirty="0" err="1">
                <a:latin typeface="Times New Roman" pitchFamily="18" charset="0"/>
              </a:rPr>
              <a:t>trình</a:t>
            </a:r>
            <a:r>
              <a:rPr lang="en-US" sz="2400" b="1" i="1" dirty="0">
                <a:latin typeface="Times New Roman" pitchFamily="18" charset="0"/>
              </a:rPr>
              <a:t> Schrodinger </a:t>
            </a:r>
            <a:r>
              <a:rPr lang="en-US" sz="2400" b="1" i="1" dirty="0" err="1">
                <a:latin typeface="Times New Roman" pitchFamily="18" charset="0"/>
              </a:rPr>
              <a:t>cho</a:t>
            </a:r>
            <a:r>
              <a:rPr lang="en-US" sz="2400" b="1" i="1" dirty="0">
                <a:latin typeface="Times New Roman" pitchFamily="18" charset="0"/>
              </a:rPr>
              <a:t> </a:t>
            </a:r>
            <a:r>
              <a:rPr lang="en-US" sz="2400" b="1" i="1" dirty="0" err="1">
                <a:latin typeface="Times New Roman" pitchFamily="18" charset="0"/>
              </a:rPr>
              <a:t>hạt</a:t>
            </a:r>
            <a:r>
              <a:rPr lang="en-US" sz="2400" b="1" i="1" dirty="0">
                <a:latin typeface="Times New Roman" pitchFamily="18" charset="0"/>
              </a:rPr>
              <a:t> ở </a:t>
            </a:r>
            <a:r>
              <a:rPr lang="en-US" sz="2400" b="1" i="1" dirty="0" err="1">
                <a:latin typeface="Times New Roman" pitchFamily="18" charset="0"/>
              </a:rPr>
              <a:t>trạng</a:t>
            </a:r>
            <a:r>
              <a:rPr lang="en-US" sz="2400" b="1" i="1" dirty="0">
                <a:latin typeface="Times New Roman" pitchFamily="18" charset="0"/>
              </a:rPr>
              <a:t> </a:t>
            </a:r>
            <a:r>
              <a:rPr lang="en-US" sz="2400" b="1" i="1" dirty="0" err="1">
                <a:latin typeface="Times New Roman" pitchFamily="18" charset="0"/>
              </a:rPr>
              <a:t>thái</a:t>
            </a:r>
            <a:r>
              <a:rPr lang="en-US" sz="2400" b="1" i="1" dirty="0">
                <a:latin typeface="Times New Roman" pitchFamily="18" charset="0"/>
              </a:rPr>
              <a:t> </a:t>
            </a:r>
            <a:r>
              <a:rPr lang="en-US" sz="2400" b="1" i="1" dirty="0" err="1">
                <a:latin typeface="Times New Roman" pitchFamily="18" charset="0"/>
              </a:rPr>
              <a:t>dừng</a:t>
            </a:r>
            <a:r>
              <a:rPr lang="en-US" sz="2400" b="1" i="1" dirty="0">
                <a:latin typeface="Times New Roman" pitchFamily="18" charset="0"/>
              </a:rPr>
              <a:t>;</a:t>
            </a:r>
          </a:p>
        </p:txBody>
      </p:sp>
      <p:graphicFrame>
        <p:nvGraphicFramePr>
          <p:cNvPr id="7" name="Object 6"/>
          <p:cNvGraphicFramePr>
            <a:graphicFrameLocks noChangeAspect="1"/>
          </p:cNvGraphicFramePr>
          <p:nvPr>
            <p:extLst>
              <p:ext uri="{D42A27DB-BD31-4B8C-83A1-F6EECF244321}">
                <p14:modId xmlns:p14="http://schemas.microsoft.com/office/powerpoint/2010/main" val="3974528029"/>
              </p:ext>
            </p:extLst>
          </p:nvPr>
        </p:nvGraphicFramePr>
        <p:xfrm>
          <a:off x="2362200" y="2667000"/>
          <a:ext cx="3895725" cy="852488"/>
        </p:xfrm>
        <a:graphic>
          <a:graphicData uri="http://schemas.openxmlformats.org/presentationml/2006/ole">
            <mc:AlternateContent xmlns:mc="http://schemas.openxmlformats.org/markup-compatibility/2006">
              <mc:Choice xmlns:v="urn:schemas-microsoft-com:vml" Requires="v">
                <p:oleObj spid="_x0000_s10305" name="Equation" r:id="rId3" imgW="1917700" imgH="419100" progId="Equation.3">
                  <p:embed/>
                </p:oleObj>
              </mc:Choice>
              <mc:Fallback>
                <p:oleObj name="Equation" r:id="rId3" imgW="1917700" imgH="4191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2200" y="2667000"/>
                        <a:ext cx="3895725" cy="852488"/>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646959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76600" y="152400"/>
            <a:ext cx="2673818" cy="3825951"/>
          </a:xfrm>
          <a:prstGeom prst="rect">
            <a:avLst/>
          </a:prstGeom>
        </p:spPr>
      </p:pic>
      <p:sp>
        <p:nvSpPr>
          <p:cNvPr id="5" name="TextBox 4"/>
          <p:cNvSpPr txBox="1"/>
          <p:nvPr/>
        </p:nvSpPr>
        <p:spPr>
          <a:xfrm>
            <a:off x="3124200" y="3978351"/>
            <a:ext cx="3200400" cy="769441"/>
          </a:xfrm>
          <a:prstGeom prst="rect">
            <a:avLst/>
          </a:prstGeom>
          <a:noFill/>
        </p:spPr>
        <p:txBody>
          <a:bodyPr wrap="square" rtlCol="0">
            <a:spAutoFit/>
          </a:bodyPr>
          <a:lstStyle/>
          <a:p>
            <a:pPr algn="ctr"/>
            <a:r>
              <a:rPr lang="en-US" sz="2200">
                <a:latin typeface="Times" pitchFamily="18" charset="0"/>
              </a:rPr>
              <a:t>Erwin Schrödinger, (Áo)</a:t>
            </a:r>
          </a:p>
          <a:p>
            <a:pPr algn="ctr"/>
            <a:r>
              <a:rPr lang="en-US" sz="2200">
                <a:latin typeface="Times" pitchFamily="18" charset="0"/>
              </a:rPr>
              <a:t>1887- 1961</a:t>
            </a:r>
          </a:p>
        </p:txBody>
      </p:sp>
      <p:sp>
        <p:nvSpPr>
          <p:cNvPr id="6" name="TextBox 5"/>
          <p:cNvSpPr txBox="1"/>
          <p:nvPr/>
        </p:nvSpPr>
        <p:spPr>
          <a:xfrm>
            <a:off x="117709" y="4751967"/>
            <a:ext cx="8991600" cy="1785104"/>
          </a:xfrm>
          <a:prstGeom prst="rect">
            <a:avLst/>
          </a:prstGeom>
          <a:noFill/>
        </p:spPr>
        <p:txBody>
          <a:bodyPr wrap="square" rtlCol="0">
            <a:spAutoFit/>
          </a:bodyPr>
          <a:lstStyle/>
          <a:p>
            <a:pPr algn="just"/>
            <a:r>
              <a:rPr lang="vi-VN" sz="2200" dirty="0">
                <a:latin typeface="+mj-lt"/>
              </a:rPr>
              <a:t>ông nêu ra phương trình sóng mô tả trạng thái của hệ lượng tử (</a:t>
            </a:r>
            <a:r>
              <a:rPr lang="vi-VN" sz="2200" dirty="0">
                <a:solidFill>
                  <a:srgbClr val="FF0000"/>
                </a:solidFill>
                <a:latin typeface="+mj-lt"/>
              </a:rPr>
              <a:t>phương trình Schrödinger phụ thuộc thời gian và dừng</a:t>
            </a:r>
            <a:r>
              <a:rPr lang="vi-VN" sz="2200" dirty="0">
                <a:latin typeface="+mj-lt"/>
              </a:rPr>
              <a:t>) Ngoài ra, ông còn nghiên cứu trong những lĩnh vực khác như:</a:t>
            </a:r>
            <a:r>
              <a:rPr lang="en-US" sz="2200" dirty="0" err="1">
                <a:latin typeface="Times New Roman" pitchFamily="18" charset="0"/>
                <a:cs typeface="Times New Roman" pitchFamily="18" charset="0"/>
              </a:rPr>
              <a:t>cơ</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học</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thống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kê</a:t>
            </a:r>
            <a:r>
              <a:rPr lang="vi-VN" sz="2200" dirty="0">
                <a:latin typeface="+mj-lt"/>
              </a:rPr>
              <a:t> và</a:t>
            </a:r>
            <a:r>
              <a:rPr lang="en-US" sz="2200" dirty="0">
                <a:latin typeface="+mj-lt"/>
              </a:rPr>
              <a:t> </a:t>
            </a:r>
            <a:r>
              <a:rPr lang="en-US" sz="2200" dirty="0" err="1">
                <a:latin typeface="Times New Roman" pitchFamily="18" charset="0"/>
                <a:cs typeface="Times New Roman" pitchFamily="18" charset="0"/>
              </a:rPr>
              <a:t>nhiệt</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động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lực</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học</a:t>
            </a:r>
            <a:r>
              <a:rPr lang="vi-VN" sz="2200" dirty="0">
                <a:latin typeface="+mj-lt"/>
              </a:rPr>
              <a:t>, </a:t>
            </a:r>
            <a:r>
              <a:rPr lang="vi-VN" sz="2200" dirty="0">
                <a:latin typeface="Times New Roman" pitchFamily="18" charset="0"/>
                <a:cs typeface="Times New Roman" pitchFamily="18" charset="0"/>
              </a:rPr>
              <a:t>lý</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thuyết</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điện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môi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điện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động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lực</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học</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thuyết</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tương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đối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rộng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và</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vũ</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trụ</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học</a:t>
            </a:r>
            <a:r>
              <a:rPr lang="vi-VN" sz="2200" dirty="0">
                <a:latin typeface="+mj-lt"/>
              </a:rPr>
              <a:t>, cũng như thử xây dựng một lý thuyết trường thống nhất. </a:t>
            </a:r>
            <a:endParaRPr lang="en-US" sz="2200" dirty="0">
              <a:latin typeface="+mj-lt"/>
            </a:endParaRPr>
          </a:p>
        </p:txBody>
      </p:sp>
    </p:spTree>
    <p:extLst>
      <p:ext uri="{BB962C8B-B14F-4D97-AF65-F5344CB8AC3E}">
        <p14:creationId xmlns:p14="http://schemas.microsoft.com/office/powerpoint/2010/main" val="577654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152400"/>
            <a:ext cx="8763000" cy="430887"/>
          </a:xfrm>
          <a:prstGeom prst="rect">
            <a:avLst/>
          </a:prstGeom>
          <a:noFill/>
        </p:spPr>
        <p:txBody>
          <a:bodyPr wrap="square" rtlCol="0">
            <a:spAutoFit/>
          </a:bodyPr>
          <a:lstStyle/>
          <a:p>
            <a:r>
              <a:rPr lang="en-US" sz="2200">
                <a:solidFill>
                  <a:srgbClr val="FF0000"/>
                </a:solidFill>
                <a:latin typeface="Times" pitchFamily="18" charset="0"/>
              </a:rPr>
              <a:t>Động lượng của vi hạt: </a:t>
            </a:r>
          </a:p>
        </p:txBody>
      </p:sp>
      <p:graphicFrame>
        <p:nvGraphicFramePr>
          <p:cNvPr id="5" name="Object 4"/>
          <p:cNvGraphicFramePr>
            <a:graphicFrameLocks noChangeAspect="1"/>
          </p:cNvGraphicFramePr>
          <p:nvPr>
            <p:extLst>
              <p:ext uri="{D42A27DB-BD31-4B8C-83A1-F6EECF244321}">
                <p14:modId xmlns:p14="http://schemas.microsoft.com/office/powerpoint/2010/main" val="2319505285"/>
              </p:ext>
            </p:extLst>
          </p:nvPr>
        </p:nvGraphicFramePr>
        <p:xfrm>
          <a:off x="2971800" y="685800"/>
          <a:ext cx="1066800" cy="818284"/>
        </p:xfrm>
        <a:graphic>
          <a:graphicData uri="http://schemas.openxmlformats.org/presentationml/2006/ole">
            <mc:AlternateContent xmlns:mc="http://schemas.openxmlformats.org/markup-compatibility/2006">
              <mc:Choice xmlns:v="urn:schemas-microsoft-com:vml" Requires="v">
                <p:oleObj spid="_x0000_s19542" name="Equation" r:id="rId3" imgW="507960" imgH="393480" progId="Equation.3">
                  <p:embed/>
                </p:oleObj>
              </mc:Choice>
              <mc:Fallback>
                <p:oleObj name="Equation" r:id="rId3" imgW="507960" imgH="39348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71800" y="685800"/>
                        <a:ext cx="1066800" cy="818284"/>
                      </a:xfrm>
                      <a:prstGeom prst="rect">
                        <a:avLst/>
                      </a:prstGeom>
                      <a:noFill/>
                      <a:ln w="9525">
                        <a:noFill/>
                        <a:miter lim="800000"/>
                        <a:headEnd/>
                        <a:tailEnd/>
                      </a:ln>
                    </p:spPr>
                  </p:pic>
                </p:oleObj>
              </mc:Fallback>
            </mc:AlternateContent>
          </a:graphicData>
        </a:graphic>
      </p:graphicFrame>
      <p:graphicFrame>
        <p:nvGraphicFramePr>
          <p:cNvPr id="6" name="Object 5"/>
          <p:cNvGraphicFramePr>
            <a:graphicFrameLocks noChangeAspect="1"/>
          </p:cNvGraphicFramePr>
          <p:nvPr>
            <p:extLst>
              <p:ext uri="{D42A27DB-BD31-4B8C-83A1-F6EECF244321}">
                <p14:modId xmlns:p14="http://schemas.microsoft.com/office/powerpoint/2010/main" val="2670664429"/>
              </p:ext>
            </p:extLst>
          </p:nvPr>
        </p:nvGraphicFramePr>
        <p:xfrm>
          <a:off x="3036887" y="2286000"/>
          <a:ext cx="1420813" cy="457200"/>
        </p:xfrm>
        <a:graphic>
          <a:graphicData uri="http://schemas.openxmlformats.org/presentationml/2006/ole">
            <mc:AlternateContent xmlns:mc="http://schemas.openxmlformats.org/markup-compatibility/2006">
              <mc:Choice xmlns:v="urn:schemas-microsoft-com:vml" Requires="v">
                <p:oleObj spid="_x0000_s19543" name="Equation" r:id="rId5" imgW="698400" imgH="228600" progId="Equation.3">
                  <p:embed/>
                </p:oleObj>
              </mc:Choice>
              <mc:Fallback>
                <p:oleObj name="Equation" r:id="rId5" imgW="698400" imgH="228600" progId="Equation.3">
                  <p:embed/>
                  <p:pic>
                    <p:nvPicPr>
                      <p:cNvPr id="0" name=""/>
                      <p:cNvPicPr>
                        <a:picLocks noChangeAspect="1" noChangeArrowheads="1"/>
                      </p:cNvPicPr>
                      <p:nvPr/>
                    </p:nvPicPr>
                    <p:blipFill>
                      <a:blip r:embed="rId6"/>
                      <a:srcRect/>
                      <a:stretch>
                        <a:fillRect/>
                      </a:stretch>
                    </p:blipFill>
                    <p:spPr bwMode="auto">
                      <a:xfrm>
                        <a:off x="3036887" y="2286000"/>
                        <a:ext cx="1420813" cy="457200"/>
                      </a:xfrm>
                      <a:prstGeom prst="rect">
                        <a:avLst/>
                      </a:prstGeom>
                      <a:noFill/>
                      <a:ln w="9525">
                        <a:noFill/>
                        <a:miter lim="800000"/>
                        <a:headEnd/>
                        <a:tailEnd/>
                      </a:ln>
                    </p:spPr>
                  </p:pic>
                </p:oleObj>
              </mc:Fallback>
            </mc:AlternateContent>
          </a:graphicData>
        </a:graphic>
      </p:graphicFrame>
      <p:sp>
        <p:nvSpPr>
          <p:cNvPr id="7" name="TextBox 6"/>
          <p:cNvSpPr txBox="1"/>
          <p:nvPr/>
        </p:nvSpPr>
        <p:spPr>
          <a:xfrm>
            <a:off x="152400" y="1626513"/>
            <a:ext cx="8763000" cy="430887"/>
          </a:xfrm>
          <a:prstGeom prst="rect">
            <a:avLst/>
          </a:prstGeom>
          <a:noFill/>
        </p:spPr>
        <p:txBody>
          <a:bodyPr wrap="square" rtlCol="0">
            <a:spAutoFit/>
          </a:bodyPr>
          <a:lstStyle/>
          <a:p>
            <a:r>
              <a:rPr lang="en-US" sz="2200">
                <a:solidFill>
                  <a:srgbClr val="FF0000"/>
                </a:solidFill>
                <a:latin typeface="Times" pitchFamily="18" charset="0"/>
              </a:rPr>
              <a:t>Hệ thức bất định Heisenberg: </a:t>
            </a:r>
          </a:p>
        </p:txBody>
      </p:sp>
      <p:sp>
        <p:nvSpPr>
          <p:cNvPr id="8" name="Rectangle 7"/>
          <p:cNvSpPr/>
          <p:nvPr/>
        </p:nvSpPr>
        <p:spPr>
          <a:xfrm>
            <a:off x="3124200" y="3042187"/>
            <a:ext cx="1524000" cy="461665"/>
          </a:xfrm>
          <a:prstGeom prst="rect">
            <a:avLst/>
          </a:prstGeom>
        </p:spPr>
        <p:txBody>
          <a:bodyPr wrap="square">
            <a:spAutoFit/>
          </a:bodyPr>
          <a:lstStyle/>
          <a:p>
            <a:pPr>
              <a:buFont typeface="Wingdings" pitchFamily="2" charset="2"/>
              <a:buNone/>
            </a:pPr>
            <a:r>
              <a:rPr lang="el-GR" sz="2400" i="1">
                <a:latin typeface="Times New Roman" pitchFamily="18" charset="0"/>
                <a:cs typeface="Times New Roman" pitchFamily="18" charset="0"/>
              </a:rPr>
              <a:t>Δ</a:t>
            </a:r>
            <a:r>
              <a:rPr lang="en-US" sz="2400" i="1">
                <a:latin typeface="Times New Roman" pitchFamily="18" charset="0"/>
                <a:cs typeface="Times New Roman" pitchFamily="18" charset="0"/>
              </a:rPr>
              <a:t>E.</a:t>
            </a:r>
            <a:r>
              <a:rPr lang="el-GR" sz="2400" i="1">
                <a:latin typeface="Times New Roman" pitchFamily="18" charset="0"/>
                <a:cs typeface="Times New Roman" pitchFamily="18" charset="0"/>
              </a:rPr>
              <a:t>Δ</a:t>
            </a:r>
            <a:r>
              <a:rPr lang="en-US" sz="2400" i="1">
                <a:latin typeface="Times New Roman" pitchFamily="18" charset="0"/>
                <a:cs typeface="Times New Roman" pitchFamily="18" charset="0"/>
              </a:rPr>
              <a:t>t ≈ h</a:t>
            </a:r>
            <a:endParaRPr lang="en-US" sz="2400" i="1" dirty="0">
              <a:latin typeface="Times New Roman" pitchFamily="18" charset="0"/>
              <a:cs typeface="Times New Roman" pitchFamily="18" charset="0"/>
            </a:endParaRPr>
          </a:p>
        </p:txBody>
      </p:sp>
    </p:spTree>
    <p:extLst>
      <p:ext uri="{BB962C8B-B14F-4D97-AF65-F5344CB8AC3E}">
        <p14:creationId xmlns:p14="http://schemas.microsoft.com/office/powerpoint/2010/main" val="808983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down)">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down)">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down)">
                                      <p:cBhvr>
                                        <p:cTn id="2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p:cNvSpPr/>
          <p:nvPr/>
        </p:nvSpPr>
        <p:spPr>
          <a:xfrm>
            <a:off x="76200" y="685800"/>
            <a:ext cx="8915400" cy="1200329"/>
          </a:xfrm>
          <a:prstGeom prst="rect">
            <a:avLst/>
          </a:prstGeom>
        </p:spPr>
        <p:txBody>
          <a:bodyPr wrap="square">
            <a:spAutoFit/>
          </a:bodyPr>
          <a:lstStyle/>
          <a:p>
            <a:r>
              <a:rPr lang="en-US" sz="2400" dirty="0" err="1">
                <a:latin typeface="Times New Roman" pitchFamily="18" charset="0"/>
                <a:cs typeface="Times New Roman" pitchFamily="18" charset="0"/>
              </a:rPr>
              <a:t>Ví</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dụ</a:t>
            </a:r>
            <a:r>
              <a:rPr lang="en-US" sz="2400" dirty="0">
                <a:latin typeface="Times New Roman" pitchFamily="18" charset="0"/>
                <a:cs typeface="Times New Roman" pitchFamily="18" charset="0"/>
              </a:rPr>
              <a:t> 1. </a:t>
            </a:r>
            <a:r>
              <a:rPr lang="en-US" sz="2400" dirty="0" err="1">
                <a:latin typeface="Times New Roman" pitchFamily="18" charset="0"/>
                <a:cs typeface="Times New Roman" pitchFamily="18" charset="0"/>
              </a:rPr>
              <a:t>Electrôn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không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vận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tốc</a:t>
            </a:r>
            <a:r>
              <a:rPr lang="en-US" sz="2400" dirty="0">
                <a:latin typeface="Times New Roman" pitchFamily="18" charset="0"/>
                <a:cs typeface="Times New Roman" pitchFamily="18" charset="0"/>
              </a:rPr>
              <a:t> ban </a:t>
            </a:r>
            <a:r>
              <a:rPr lang="en-US" sz="2400" dirty="0" err="1">
                <a:latin typeface="Times New Roman" pitchFamily="18" charset="0"/>
                <a:cs typeface="Times New Roman" pitchFamily="18" charset="0"/>
              </a:rPr>
              <a:t>đầu</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được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gia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tốc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bởi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một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hiệu</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điện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thế</a:t>
            </a:r>
            <a:r>
              <a:rPr lang="en-US" sz="2400" dirty="0">
                <a:latin typeface="Times New Roman" pitchFamily="18" charset="0"/>
                <a:cs typeface="Times New Roman" pitchFamily="18" charset="0"/>
              </a:rPr>
              <a:t> U. </a:t>
            </a:r>
            <a:r>
              <a:rPr lang="en-US" sz="2400" dirty="0" err="1">
                <a:latin typeface="Times New Roman" pitchFamily="18" charset="0"/>
                <a:cs typeface="Times New Roman" pitchFamily="18" charset="0"/>
              </a:rPr>
              <a:t>Tính</a:t>
            </a:r>
            <a:r>
              <a:rPr lang="en-US" sz="2400" dirty="0">
                <a:latin typeface="Times New Roman" pitchFamily="18" charset="0"/>
                <a:cs typeface="Times New Roman" pitchFamily="18" charset="0"/>
              </a:rPr>
              <a:t> U </a:t>
            </a:r>
            <a:r>
              <a:rPr lang="en-US" sz="2400" dirty="0" err="1">
                <a:latin typeface="Times New Roman" pitchFamily="18" charset="0"/>
                <a:cs typeface="Times New Roman" pitchFamily="18" charset="0"/>
              </a:rPr>
              <a:t>biết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rằng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sau</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khi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gia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tốc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hạt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chuyển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động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ứng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với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bước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sóng</a:t>
            </a:r>
            <a:r>
              <a:rPr lang="en-US" sz="2400" dirty="0">
                <a:latin typeface="Times New Roman" pitchFamily="18" charset="0"/>
                <a:cs typeface="Times New Roman" pitchFamily="18" charset="0"/>
              </a:rPr>
              <a:t> de Broglie 2.10</a:t>
            </a:r>
            <a:r>
              <a:rPr lang="en-US" sz="2400" baseline="30000" dirty="0">
                <a:latin typeface="Times New Roman" pitchFamily="18" charset="0"/>
                <a:cs typeface="Times New Roman" pitchFamily="18" charset="0"/>
              </a:rPr>
              <a:t>-10</a:t>
            </a:r>
            <a:r>
              <a:rPr lang="en-US" sz="2400" dirty="0">
                <a:latin typeface="Times New Roman" pitchFamily="18" charset="0"/>
                <a:cs typeface="Times New Roman" pitchFamily="18" charset="0"/>
              </a:rPr>
              <a:t>m. </a:t>
            </a:r>
          </a:p>
        </p:txBody>
      </p:sp>
      <p:graphicFrame>
        <p:nvGraphicFramePr>
          <p:cNvPr id="6" name="Object 5"/>
          <p:cNvGraphicFramePr>
            <a:graphicFrameLocks noChangeAspect="1"/>
          </p:cNvGraphicFramePr>
          <p:nvPr>
            <p:extLst>
              <p:ext uri="{D42A27DB-BD31-4B8C-83A1-F6EECF244321}">
                <p14:modId xmlns:p14="http://schemas.microsoft.com/office/powerpoint/2010/main" val="508908094"/>
              </p:ext>
            </p:extLst>
          </p:nvPr>
        </p:nvGraphicFramePr>
        <p:xfrm>
          <a:off x="2949575" y="3429000"/>
          <a:ext cx="3321050" cy="914400"/>
        </p:xfrm>
        <a:graphic>
          <a:graphicData uri="http://schemas.openxmlformats.org/presentationml/2006/ole">
            <mc:AlternateContent xmlns:mc="http://schemas.openxmlformats.org/markup-compatibility/2006">
              <mc:Choice xmlns:v="urn:schemas-microsoft-com:vml" Requires="v">
                <p:oleObj spid="_x0000_s15485" name="Equation" r:id="rId3" imgW="1523880" imgH="419040" progId="Equation.3">
                  <p:embed/>
                </p:oleObj>
              </mc:Choice>
              <mc:Fallback>
                <p:oleObj name="Equation" r:id="rId3" imgW="1523880" imgH="419040" progId="Equation.3">
                  <p:embed/>
                  <p:pic>
                    <p:nvPicPr>
                      <p:cNvPr id="0" name="Object 5"/>
                      <p:cNvPicPr>
                        <a:picLocks noChangeAspect="1" noChangeArrowheads="1"/>
                      </p:cNvPicPr>
                      <p:nvPr/>
                    </p:nvPicPr>
                    <p:blipFill>
                      <a:blip r:embed="rId4"/>
                      <a:srcRect/>
                      <a:stretch>
                        <a:fillRect/>
                      </a:stretch>
                    </p:blipFill>
                    <p:spPr bwMode="auto">
                      <a:xfrm>
                        <a:off x="2949575" y="3429000"/>
                        <a:ext cx="3321050" cy="914400"/>
                      </a:xfrm>
                      <a:prstGeom prst="rect">
                        <a:avLst/>
                      </a:prstGeom>
                      <a:noFill/>
                      <a:ln>
                        <a:noFill/>
                      </a:ln>
                      <a:extLst/>
                    </p:spPr>
                  </p:pic>
                </p:oleObj>
              </mc:Fallback>
            </mc:AlternateContent>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3906478981"/>
              </p:ext>
            </p:extLst>
          </p:nvPr>
        </p:nvGraphicFramePr>
        <p:xfrm>
          <a:off x="2762250" y="2209800"/>
          <a:ext cx="3275013" cy="914400"/>
        </p:xfrm>
        <a:graphic>
          <a:graphicData uri="http://schemas.openxmlformats.org/presentationml/2006/ole">
            <mc:AlternateContent xmlns:mc="http://schemas.openxmlformats.org/markup-compatibility/2006">
              <mc:Choice xmlns:v="urn:schemas-microsoft-com:vml" Requires="v">
                <p:oleObj spid="_x0000_s15486" name="Equation" r:id="rId5" imgW="1409400" imgH="393480" progId="Equation.3">
                  <p:embed/>
                </p:oleObj>
              </mc:Choice>
              <mc:Fallback>
                <p:oleObj name="Equation" r:id="rId5" imgW="1409400" imgH="393480" progId="Equation.3">
                  <p:embed/>
                  <p:pic>
                    <p:nvPicPr>
                      <p:cNvPr id="0" name="Object 6"/>
                      <p:cNvPicPr>
                        <a:picLocks noChangeAspect="1" noChangeArrowheads="1"/>
                      </p:cNvPicPr>
                      <p:nvPr/>
                    </p:nvPicPr>
                    <p:blipFill>
                      <a:blip r:embed="rId6"/>
                      <a:srcRect/>
                      <a:stretch>
                        <a:fillRect/>
                      </a:stretch>
                    </p:blipFill>
                    <p:spPr bwMode="auto">
                      <a:xfrm>
                        <a:off x="2762250" y="2209800"/>
                        <a:ext cx="3275013" cy="914400"/>
                      </a:xfrm>
                      <a:prstGeom prst="rect">
                        <a:avLst/>
                      </a:prstGeom>
                      <a:noFill/>
                      <a:ln>
                        <a:noFill/>
                      </a:ln>
                      <a:extLst/>
                    </p:spPr>
                  </p:pic>
                </p:oleObj>
              </mc:Fallback>
            </mc:AlternateContent>
          </a:graphicData>
        </a:graphic>
      </p:graphicFrame>
    </p:spTree>
    <p:extLst>
      <p:ext uri="{BB962C8B-B14F-4D97-AF65-F5344CB8AC3E}">
        <p14:creationId xmlns:p14="http://schemas.microsoft.com/office/powerpoint/2010/main" val="646959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200" y="76200"/>
            <a:ext cx="8991600" cy="1107996"/>
          </a:xfrm>
          <a:prstGeom prst="rect">
            <a:avLst/>
          </a:prstGeom>
        </p:spPr>
        <p:txBody>
          <a:bodyPr wrap="square">
            <a:spAutoFit/>
          </a:bodyPr>
          <a:lstStyle/>
          <a:p>
            <a:r>
              <a:rPr lang="pt-BR" sz="2200" dirty="0">
                <a:latin typeface="Times New Roman" pitchFamily="18" charset="0"/>
                <a:cs typeface="Times New Roman" pitchFamily="18" charset="0"/>
              </a:rPr>
              <a:t>Ví dụ 2. Hạt electron có vận tốc ban đầu bằng không được gia tốc bởi một hiệu điện thế U=  51V và 510 kV. Tìm bước sóng de Broglie của hạt sau khi được gia tốc.</a:t>
            </a:r>
            <a:endParaRPr lang="en-US" sz="2200" dirty="0">
              <a:latin typeface="Times New Roman" pitchFamily="18" charset="0"/>
              <a:cs typeface="Times New Roman" pitchFamily="18" charset="0"/>
            </a:endParaRPr>
          </a:p>
        </p:txBody>
      </p:sp>
      <p:sp>
        <p:nvSpPr>
          <p:cNvPr id="3" name="TextBox 2"/>
          <p:cNvSpPr txBox="1"/>
          <p:nvPr/>
        </p:nvSpPr>
        <p:spPr>
          <a:xfrm>
            <a:off x="82463" y="1295400"/>
            <a:ext cx="8534400" cy="430887"/>
          </a:xfrm>
          <a:prstGeom prst="rect">
            <a:avLst/>
          </a:prstGeom>
          <a:noFill/>
        </p:spPr>
        <p:txBody>
          <a:bodyPr wrap="square" rtlCol="0">
            <a:spAutoFit/>
          </a:bodyPr>
          <a:lstStyle/>
          <a:p>
            <a:r>
              <a:rPr lang="en-US" sz="2200" dirty="0" err="1">
                <a:latin typeface="Times New Roman" pitchFamily="18" charset="0"/>
                <a:cs typeface="Times New Roman" pitchFamily="18" charset="0"/>
              </a:rPr>
              <a:t>Hiệu</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điện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thế</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tăng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tốc</a:t>
            </a:r>
            <a:r>
              <a:rPr lang="en-US" sz="2200" dirty="0">
                <a:latin typeface="Times New Roman" pitchFamily="18" charset="0"/>
                <a:cs typeface="Times New Roman" pitchFamily="18" charset="0"/>
              </a:rPr>
              <a:t>  U = 51 V</a:t>
            </a:r>
          </a:p>
        </p:txBody>
      </p:sp>
      <p:graphicFrame>
        <p:nvGraphicFramePr>
          <p:cNvPr id="6" name="Object 5"/>
          <p:cNvGraphicFramePr>
            <a:graphicFrameLocks noChangeAspect="1"/>
          </p:cNvGraphicFramePr>
          <p:nvPr>
            <p:extLst>
              <p:ext uri="{D42A27DB-BD31-4B8C-83A1-F6EECF244321}">
                <p14:modId xmlns:p14="http://schemas.microsoft.com/office/powerpoint/2010/main" val="1004900429"/>
              </p:ext>
            </p:extLst>
          </p:nvPr>
        </p:nvGraphicFramePr>
        <p:xfrm>
          <a:off x="2579688" y="1905000"/>
          <a:ext cx="2655887" cy="742950"/>
        </p:xfrm>
        <a:graphic>
          <a:graphicData uri="http://schemas.openxmlformats.org/presentationml/2006/ole">
            <mc:AlternateContent xmlns:mc="http://schemas.openxmlformats.org/markup-compatibility/2006">
              <mc:Choice xmlns:v="urn:schemas-microsoft-com:vml" Requires="v">
                <p:oleObj spid="_x0000_s14580" name="Equation" r:id="rId3" imgW="1498320" imgH="419040" progId="Equation.3">
                  <p:embed/>
                </p:oleObj>
              </mc:Choice>
              <mc:Fallback>
                <p:oleObj name="Equation" r:id="rId3" imgW="1498320" imgH="419040" progId="Equation.3">
                  <p:embed/>
                  <p:pic>
                    <p:nvPicPr>
                      <p:cNvPr id="0" name=""/>
                      <p:cNvPicPr/>
                      <p:nvPr/>
                    </p:nvPicPr>
                    <p:blipFill>
                      <a:blip r:embed="rId4"/>
                      <a:stretch>
                        <a:fillRect/>
                      </a:stretch>
                    </p:blipFill>
                    <p:spPr>
                      <a:xfrm>
                        <a:off x="2579688" y="1905000"/>
                        <a:ext cx="2655887" cy="742950"/>
                      </a:xfrm>
                      <a:prstGeom prst="rect">
                        <a:avLst/>
                      </a:prstGeom>
                    </p:spPr>
                  </p:pic>
                </p:oleObj>
              </mc:Fallback>
            </mc:AlternateContent>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1228116087"/>
              </p:ext>
            </p:extLst>
          </p:nvPr>
        </p:nvGraphicFramePr>
        <p:xfrm>
          <a:off x="3276600" y="2667000"/>
          <a:ext cx="996950" cy="630723"/>
        </p:xfrm>
        <a:graphic>
          <a:graphicData uri="http://schemas.openxmlformats.org/presentationml/2006/ole">
            <mc:AlternateContent xmlns:mc="http://schemas.openxmlformats.org/markup-compatibility/2006">
              <mc:Choice xmlns:v="urn:schemas-microsoft-com:vml" Requires="v">
                <p:oleObj spid="_x0000_s14581" name="Equation" r:id="rId5" imgW="622080" imgH="393480" progId="Equation.3">
                  <p:embed/>
                </p:oleObj>
              </mc:Choice>
              <mc:Fallback>
                <p:oleObj name="Equation" r:id="rId5" imgW="622080" imgH="393480" progId="Equation.3">
                  <p:embed/>
                  <p:pic>
                    <p:nvPicPr>
                      <p:cNvPr id="0" name=""/>
                      <p:cNvPicPr/>
                      <p:nvPr/>
                    </p:nvPicPr>
                    <p:blipFill>
                      <a:blip r:embed="rId6"/>
                      <a:stretch>
                        <a:fillRect/>
                      </a:stretch>
                    </p:blipFill>
                    <p:spPr>
                      <a:xfrm>
                        <a:off x="3276600" y="2667000"/>
                        <a:ext cx="996950" cy="630723"/>
                      </a:xfrm>
                      <a:prstGeom prst="rect">
                        <a:avLst/>
                      </a:prstGeom>
                    </p:spPr>
                  </p:pic>
                </p:oleObj>
              </mc:Fallback>
            </mc:AlternateContent>
          </a:graphicData>
        </a:graphic>
      </p:graphicFrame>
      <p:sp>
        <p:nvSpPr>
          <p:cNvPr id="8" name="TextBox 7"/>
          <p:cNvSpPr txBox="1"/>
          <p:nvPr/>
        </p:nvSpPr>
        <p:spPr>
          <a:xfrm>
            <a:off x="115544" y="3387749"/>
            <a:ext cx="8534400" cy="430887"/>
          </a:xfrm>
          <a:prstGeom prst="rect">
            <a:avLst/>
          </a:prstGeom>
          <a:noFill/>
        </p:spPr>
        <p:txBody>
          <a:bodyPr wrap="square" rtlCol="0">
            <a:spAutoFit/>
          </a:bodyPr>
          <a:lstStyle/>
          <a:p>
            <a:r>
              <a:rPr lang="en-US" sz="2200" dirty="0" err="1">
                <a:latin typeface="Times New Roman" pitchFamily="18" charset="0"/>
                <a:cs typeface="Times New Roman" pitchFamily="18" charset="0"/>
              </a:rPr>
              <a:t>Hiệu</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điện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thế</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tăng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tốc</a:t>
            </a:r>
            <a:r>
              <a:rPr lang="en-US" sz="2200" dirty="0">
                <a:latin typeface="Times New Roman" pitchFamily="18" charset="0"/>
                <a:cs typeface="Times New Roman" pitchFamily="18" charset="0"/>
              </a:rPr>
              <a:t>  U = 510 KV</a:t>
            </a:r>
          </a:p>
        </p:txBody>
      </p:sp>
      <p:graphicFrame>
        <p:nvGraphicFramePr>
          <p:cNvPr id="9" name="Object 8"/>
          <p:cNvGraphicFramePr>
            <a:graphicFrameLocks noChangeAspect="1"/>
          </p:cNvGraphicFramePr>
          <p:nvPr>
            <p:extLst>
              <p:ext uri="{D42A27DB-BD31-4B8C-83A1-F6EECF244321}">
                <p14:modId xmlns:p14="http://schemas.microsoft.com/office/powerpoint/2010/main" val="232066014"/>
              </p:ext>
            </p:extLst>
          </p:nvPr>
        </p:nvGraphicFramePr>
        <p:xfrm>
          <a:off x="2540000" y="3657600"/>
          <a:ext cx="4140200" cy="1620838"/>
        </p:xfrm>
        <a:graphic>
          <a:graphicData uri="http://schemas.openxmlformats.org/presentationml/2006/ole">
            <mc:AlternateContent xmlns:mc="http://schemas.openxmlformats.org/markup-compatibility/2006">
              <mc:Choice xmlns:v="urn:schemas-microsoft-com:vml" Requires="v">
                <p:oleObj spid="_x0000_s14582" name="Equation" r:id="rId7" imgW="2336760" imgH="914400" progId="Equation.3">
                  <p:embed/>
                </p:oleObj>
              </mc:Choice>
              <mc:Fallback>
                <p:oleObj name="Equation" r:id="rId7" imgW="2336760" imgH="914400" progId="Equation.3">
                  <p:embed/>
                  <p:pic>
                    <p:nvPicPr>
                      <p:cNvPr id="0" name="Object 5"/>
                      <p:cNvPicPr>
                        <a:picLocks noChangeAspect="1" noChangeArrowheads="1"/>
                      </p:cNvPicPr>
                      <p:nvPr/>
                    </p:nvPicPr>
                    <p:blipFill>
                      <a:blip r:embed="rId8"/>
                      <a:srcRect/>
                      <a:stretch>
                        <a:fillRect/>
                      </a:stretch>
                    </p:blipFill>
                    <p:spPr bwMode="auto">
                      <a:xfrm>
                        <a:off x="2540000" y="3657600"/>
                        <a:ext cx="4140200" cy="162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9"/>
          <p:cNvGraphicFramePr>
            <a:graphicFrameLocks noChangeAspect="1"/>
          </p:cNvGraphicFramePr>
          <p:nvPr>
            <p:extLst>
              <p:ext uri="{D42A27DB-BD31-4B8C-83A1-F6EECF244321}">
                <p14:modId xmlns:p14="http://schemas.microsoft.com/office/powerpoint/2010/main" val="465331768"/>
              </p:ext>
            </p:extLst>
          </p:nvPr>
        </p:nvGraphicFramePr>
        <p:xfrm>
          <a:off x="2944813" y="5092700"/>
          <a:ext cx="3254375" cy="1727200"/>
        </p:xfrm>
        <a:graphic>
          <a:graphicData uri="http://schemas.openxmlformats.org/presentationml/2006/ole">
            <mc:AlternateContent xmlns:mc="http://schemas.openxmlformats.org/markup-compatibility/2006">
              <mc:Choice xmlns:v="urn:schemas-microsoft-com:vml" Requires="v">
                <p:oleObj spid="_x0000_s14583" name="Equation" r:id="rId9" imgW="2031840" imgH="1079280" progId="Equation.3">
                  <p:embed/>
                </p:oleObj>
              </mc:Choice>
              <mc:Fallback>
                <p:oleObj name="Equation" r:id="rId9" imgW="2031840" imgH="1079280" progId="Equation.3">
                  <p:embed/>
                  <p:pic>
                    <p:nvPicPr>
                      <p:cNvPr id="0" name="Object 6"/>
                      <p:cNvPicPr>
                        <a:picLocks noChangeAspect="1" noChangeArrowheads="1"/>
                      </p:cNvPicPr>
                      <p:nvPr/>
                    </p:nvPicPr>
                    <p:blipFill>
                      <a:blip r:embed="rId10"/>
                      <a:srcRect/>
                      <a:stretch>
                        <a:fillRect/>
                      </a:stretch>
                    </p:blipFill>
                    <p:spPr bwMode="auto">
                      <a:xfrm>
                        <a:off x="2944813" y="5092700"/>
                        <a:ext cx="3254375" cy="172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646959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down)">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down)">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down)">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down)">
                                      <p:cBhvr>
                                        <p:cTn id="3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200" y="0"/>
            <a:ext cx="8915400" cy="1200329"/>
          </a:xfrm>
          <a:prstGeom prst="rect">
            <a:avLst/>
          </a:prstGeom>
        </p:spPr>
        <p:txBody>
          <a:bodyPr wrap="square">
            <a:spAutoFit/>
          </a:bodyPr>
          <a:lstStyle/>
          <a:p>
            <a:r>
              <a:rPr lang="pt-BR" sz="2400" dirty="0">
                <a:latin typeface="Times New Roman" pitchFamily="18" charset="0"/>
                <a:cs typeface="Times New Roman" pitchFamily="18" charset="0"/>
              </a:rPr>
              <a:t>Ví dụ 3. Hạt vi mô có độ bất định về động lượng bằng 1% động lượng của nó. Xác định tỷ số giữa độ bất định về vị trí của hạt và bước sóng de Broglie của hạt.</a:t>
            </a:r>
            <a:endParaRPr lang="en-US" sz="2400" dirty="0">
              <a:latin typeface="Times New Roman" pitchFamily="18" charset="0"/>
              <a:cs typeface="Times New Roman" pitchFamily="18" charset="0"/>
            </a:endParaRPr>
          </a:p>
        </p:txBody>
      </p:sp>
      <p:graphicFrame>
        <p:nvGraphicFramePr>
          <p:cNvPr id="3" name="Object 2"/>
          <p:cNvGraphicFramePr>
            <a:graphicFrameLocks noChangeAspect="1"/>
          </p:cNvGraphicFramePr>
          <p:nvPr>
            <p:extLst>
              <p:ext uri="{D42A27DB-BD31-4B8C-83A1-F6EECF244321}">
                <p14:modId xmlns:p14="http://schemas.microsoft.com/office/powerpoint/2010/main" val="2067456271"/>
              </p:ext>
            </p:extLst>
          </p:nvPr>
        </p:nvGraphicFramePr>
        <p:xfrm>
          <a:off x="3729831" y="2057400"/>
          <a:ext cx="1608137" cy="900638"/>
        </p:xfrm>
        <a:graphic>
          <a:graphicData uri="http://schemas.openxmlformats.org/presentationml/2006/ole">
            <mc:AlternateContent xmlns:mc="http://schemas.openxmlformats.org/markup-compatibility/2006">
              <mc:Choice xmlns:v="urn:schemas-microsoft-com:vml" Requires="v">
                <p:oleObj spid="_x0000_s18552" name="Equation" r:id="rId3" imgW="749160" imgH="419040" progId="Equation.3">
                  <p:embed/>
                </p:oleObj>
              </mc:Choice>
              <mc:Fallback>
                <p:oleObj name="Equation" r:id="rId3" imgW="749160" imgH="419040" progId="Equation.3">
                  <p:embed/>
                  <p:pic>
                    <p:nvPicPr>
                      <p:cNvPr id="0" name=""/>
                      <p:cNvPicPr/>
                      <p:nvPr/>
                    </p:nvPicPr>
                    <p:blipFill>
                      <a:blip r:embed="rId4"/>
                      <a:stretch>
                        <a:fillRect/>
                      </a:stretch>
                    </p:blipFill>
                    <p:spPr>
                      <a:xfrm>
                        <a:off x="3729831" y="2057400"/>
                        <a:ext cx="1608137" cy="900638"/>
                      </a:xfrm>
                      <a:prstGeom prst="rect">
                        <a:avLst/>
                      </a:prstGeom>
                    </p:spPr>
                  </p:pic>
                </p:oleObj>
              </mc:Fallback>
            </mc:AlternateContent>
          </a:graphicData>
        </a:graphic>
      </p:graphicFrame>
      <p:graphicFrame>
        <p:nvGraphicFramePr>
          <p:cNvPr id="6" name="Object 5"/>
          <p:cNvGraphicFramePr>
            <a:graphicFrameLocks noChangeAspect="1"/>
          </p:cNvGraphicFramePr>
          <p:nvPr>
            <p:extLst>
              <p:ext uri="{D42A27DB-BD31-4B8C-83A1-F6EECF244321}">
                <p14:modId xmlns:p14="http://schemas.microsoft.com/office/powerpoint/2010/main" val="2655736847"/>
              </p:ext>
            </p:extLst>
          </p:nvPr>
        </p:nvGraphicFramePr>
        <p:xfrm>
          <a:off x="2760663" y="3328988"/>
          <a:ext cx="4230687" cy="811212"/>
        </p:xfrm>
        <a:graphic>
          <a:graphicData uri="http://schemas.openxmlformats.org/presentationml/2006/ole">
            <mc:AlternateContent xmlns:mc="http://schemas.openxmlformats.org/markup-compatibility/2006">
              <mc:Choice xmlns:v="urn:schemas-microsoft-com:vml" Requires="v">
                <p:oleObj spid="_x0000_s18553" name="Equation" r:id="rId5" imgW="2184120" imgH="419040" progId="Equation.3">
                  <p:embed/>
                </p:oleObj>
              </mc:Choice>
              <mc:Fallback>
                <p:oleObj name="Equation" r:id="rId5" imgW="2184120" imgH="419040" progId="Equation.3">
                  <p:embed/>
                  <p:pic>
                    <p:nvPicPr>
                      <p:cNvPr id="0" name=""/>
                      <p:cNvPicPr/>
                      <p:nvPr/>
                    </p:nvPicPr>
                    <p:blipFill>
                      <a:blip r:embed="rId6"/>
                      <a:stretch>
                        <a:fillRect/>
                      </a:stretch>
                    </p:blipFill>
                    <p:spPr>
                      <a:xfrm>
                        <a:off x="2760663" y="3328988"/>
                        <a:ext cx="4230687" cy="811212"/>
                      </a:xfrm>
                      <a:prstGeom prst="rect">
                        <a:avLst/>
                      </a:prstGeom>
                    </p:spPr>
                  </p:pic>
                </p:oleObj>
              </mc:Fallback>
            </mc:AlternateContent>
          </a:graphicData>
        </a:graphic>
      </p:graphicFrame>
    </p:spTree>
    <p:extLst>
      <p:ext uri="{BB962C8B-B14F-4D97-AF65-F5344CB8AC3E}">
        <p14:creationId xmlns:p14="http://schemas.microsoft.com/office/powerpoint/2010/main" val="646959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8991600" cy="1569660"/>
          </a:xfrm>
          <a:prstGeom prst="rect">
            <a:avLst/>
          </a:prstGeom>
          <a:noFill/>
        </p:spPr>
        <p:txBody>
          <a:bodyPr wrap="square" rtlCol="0">
            <a:spAutoFit/>
          </a:bodyPr>
          <a:lstStyle/>
          <a:p>
            <a:pPr algn="just"/>
            <a:r>
              <a:rPr lang="en-US" sz="2400" dirty="0" err="1">
                <a:latin typeface="Times New Roman" pitchFamily="18" charset="0"/>
                <a:cs typeface="Times New Roman" pitchFamily="18" charset="0"/>
              </a:rPr>
              <a:t>Ví</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dụ</a:t>
            </a:r>
            <a:r>
              <a:rPr lang="en-US" sz="2400" dirty="0">
                <a:latin typeface="Times New Roman" pitchFamily="18" charset="0"/>
                <a:cs typeface="Times New Roman" pitchFamily="18" charset="0"/>
              </a:rPr>
              <a:t> 4. </a:t>
            </a:r>
            <a:r>
              <a:rPr lang="vi-VN" sz="2400" dirty="0">
                <a:latin typeface="Times New Roman" pitchFamily="18" charset="0"/>
                <a:cs typeface="Times New Roman" pitchFamily="18" charset="0"/>
              </a:rPr>
              <a:t>Dựa vào hệ thức bất định cho năng l</a:t>
            </a:r>
            <a:r>
              <a:rPr lang="en-US" sz="2400" dirty="0">
                <a:latin typeface="Times New Roman" pitchFamily="18" charset="0"/>
                <a:cs typeface="Times New Roman" pitchFamily="18" charset="0"/>
              </a:rPr>
              <a:t>ư</a:t>
            </a:r>
            <a:r>
              <a:rPr lang="vi-VN" sz="2400" dirty="0">
                <a:latin typeface="Times New Roman" pitchFamily="18" charset="0"/>
                <a:cs typeface="Times New Roman" pitchFamily="18" charset="0"/>
              </a:rPr>
              <a:t>ợng </a:t>
            </a:r>
            <a:r>
              <a:rPr lang="en-US" sz="2400" dirty="0">
                <a:latin typeface="Times New Roman" pitchFamily="18" charset="0"/>
                <a:cs typeface="Times New Roman" pitchFamily="18" charset="0"/>
              </a:rPr>
              <a:t>ư</a:t>
            </a:r>
            <a:r>
              <a:rPr lang="vi-VN" sz="2400" dirty="0">
                <a:latin typeface="Times New Roman" pitchFamily="18" charset="0"/>
                <a:cs typeface="Times New Roman" pitchFamily="18" charset="0"/>
              </a:rPr>
              <a:t>ớc l</a:t>
            </a:r>
            <a:r>
              <a:rPr lang="en-US" sz="2400" dirty="0">
                <a:latin typeface="Times New Roman" pitchFamily="18" charset="0"/>
                <a:cs typeface="Times New Roman" pitchFamily="18" charset="0"/>
              </a:rPr>
              <a:t>ư</a:t>
            </a:r>
            <a:r>
              <a:rPr lang="vi-VN" sz="2400" dirty="0">
                <a:latin typeface="Times New Roman" pitchFamily="18" charset="0"/>
                <a:cs typeface="Times New Roman" pitchFamily="18" charset="0"/>
              </a:rPr>
              <a:t>ợng độ rộng của mức năng l</a:t>
            </a:r>
            <a:r>
              <a:rPr lang="en-US" sz="2400" dirty="0">
                <a:latin typeface="Times New Roman" pitchFamily="18" charset="0"/>
                <a:cs typeface="Times New Roman" pitchFamily="18" charset="0"/>
              </a:rPr>
              <a:t>ư</a:t>
            </a:r>
            <a:r>
              <a:rPr lang="vi-VN" sz="2400" dirty="0">
                <a:latin typeface="Times New Roman" pitchFamily="18" charset="0"/>
                <a:cs typeface="Times New Roman" pitchFamily="18" charset="0"/>
              </a:rPr>
              <a:t>ợng electron trong nguyên tử hyđrô ở trạng thái </a:t>
            </a:r>
            <a:endParaRPr lang="en-US" sz="2400" dirty="0">
              <a:latin typeface="Times New Roman" pitchFamily="18" charset="0"/>
              <a:cs typeface="Times New Roman" pitchFamily="18" charset="0"/>
            </a:endParaRPr>
          </a:p>
          <a:p>
            <a:pPr algn="just"/>
            <a:r>
              <a:rPr lang="en-US" sz="2400" dirty="0">
                <a:latin typeface="Times New Roman" pitchFamily="18" charset="0"/>
                <a:cs typeface="Times New Roman" pitchFamily="18" charset="0"/>
              </a:rPr>
              <a:t>a.</a:t>
            </a:r>
            <a:r>
              <a:rPr lang="vi-VN" sz="2400" dirty="0">
                <a:latin typeface="Times New Roman" pitchFamily="18" charset="0"/>
                <a:cs typeface="Times New Roman" pitchFamily="18" charset="0"/>
              </a:rPr>
              <a:t>Cơ bản (n = 1) </a:t>
            </a:r>
            <a:endParaRPr lang="en-US" sz="2400" dirty="0">
              <a:latin typeface="Times New Roman" pitchFamily="18" charset="0"/>
              <a:cs typeface="Times New Roman" pitchFamily="18" charset="0"/>
            </a:endParaRPr>
          </a:p>
          <a:p>
            <a:pPr algn="just"/>
            <a:r>
              <a:rPr lang="vi-VN" sz="2400" dirty="0">
                <a:latin typeface="Times New Roman" pitchFamily="18" charset="0"/>
                <a:cs typeface="Times New Roman" pitchFamily="18" charset="0"/>
              </a:rPr>
              <a:t>b. Kích thích với thời gian sống ∆t ~ 10</a:t>
            </a:r>
            <a:r>
              <a:rPr lang="vi-VN" sz="2400" baseline="30000" dirty="0">
                <a:latin typeface="Times New Roman" pitchFamily="18" charset="0"/>
                <a:cs typeface="Times New Roman" pitchFamily="18" charset="0"/>
              </a:rPr>
              <a:t>-8</a:t>
            </a:r>
            <a:r>
              <a:rPr lang="vi-VN" sz="2400" dirty="0">
                <a:latin typeface="Times New Roman" pitchFamily="18" charset="0"/>
                <a:cs typeface="Times New Roman" pitchFamily="18" charset="0"/>
              </a:rPr>
              <a:t>s </a:t>
            </a:r>
            <a:endParaRPr lang="en-US" sz="2400" dirty="0">
              <a:latin typeface="Times New Roman" pitchFamily="18" charset="0"/>
              <a:cs typeface="Times New Roman" pitchFamily="18" charset="0"/>
            </a:endParaRPr>
          </a:p>
        </p:txBody>
      </p:sp>
      <p:sp>
        <p:nvSpPr>
          <p:cNvPr id="3" name="TextBox 2"/>
          <p:cNvSpPr txBox="1"/>
          <p:nvPr/>
        </p:nvSpPr>
        <p:spPr>
          <a:xfrm>
            <a:off x="152400" y="1828800"/>
            <a:ext cx="8610600" cy="430887"/>
          </a:xfrm>
          <a:prstGeom prst="rect">
            <a:avLst/>
          </a:prstGeom>
          <a:noFill/>
        </p:spPr>
        <p:txBody>
          <a:bodyPr wrap="square" rtlCol="0">
            <a:spAutoFit/>
          </a:bodyPr>
          <a:lstStyle/>
          <a:p>
            <a:r>
              <a:rPr lang="en-US" sz="2200" dirty="0">
                <a:latin typeface="Times New Roman" pitchFamily="18" charset="0"/>
                <a:cs typeface="Times New Roman" pitchFamily="18" charset="0"/>
              </a:rPr>
              <a:t>a. </a:t>
            </a:r>
            <a:r>
              <a:rPr lang="en-US" sz="2200" dirty="0" err="1">
                <a:latin typeface="Times New Roman" pitchFamily="18" charset="0"/>
                <a:cs typeface="Times New Roman" pitchFamily="18" charset="0"/>
              </a:rPr>
              <a:t>Trạng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thái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cơ</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bản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là</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trạng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thái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bền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vững</a:t>
            </a:r>
            <a:r>
              <a:rPr lang="en-US" sz="2200" dirty="0">
                <a:latin typeface="Times New Roman" pitchFamily="18" charset="0"/>
                <a:cs typeface="Times New Roman" pitchFamily="18" charset="0"/>
              </a:rPr>
              <a:t>, do </a:t>
            </a:r>
            <a:r>
              <a:rPr lang="en-US" sz="2200" dirty="0" err="1">
                <a:latin typeface="Times New Roman" pitchFamily="18" charset="0"/>
                <a:cs typeface="Times New Roman" pitchFamily="18" charset="0"/>
              </a:rPr>
              <a:t>đó</a:t>
            </a:r>
            <a:r>
              <a:rPr lang="en-US" sz="2200" dirty="0">
                <a:latin typeface="Times New Roman" pitchFamily="18" charset="0"/>
                <a:cs typeface="Times New Roman" pitchFamily="18" charset="0"/>
              </a:rPr>
              <a:t> </a:t>
            </a:r>
          </a:p>
        </p:txBody>
      </p:sp>
      <p:graphicFrame>
        <p:nvGraphicFramePr>
          <p:cNvPr id="4" name="Object 3"/>
          <p:cNvGraphicFramePr>
            <a:graphicFrameLocks noChangeAspect="1"/>
          </p:cNvGraphicFramePr>
          <p:nvPr>
            <p:extLst>
              <p:ext uri="{D42A27DB-BD31-4B8C-83A1-F6EECF244321}">
                <p14:modId xmlns:p14="http://schemas.microsoft.com/office/powerpoint/2010/main" val="1244046727"/>
              </p:ext>
            </p:extLst>
          </p:nvPr>
        </p:nvGraphicFramePr>
        <p:xfrm>
          <a:off x="5867400" y="1885493"/>
          <a:ext cx="946150" cy="317500"/>
        </p:xfrm>
        <a:graphic>
          <a:graphicData uri="http://schemas.openxmlformats.org/presentationml/2006/ole">
            <mc:AlternateContent xmlns:mc="http://schemas.openxmlformats.org/markup-compatibility/2006">
              <mc:Choice xmlns:v="urn:schemas-microsoft-com:vml" Requires="v">
                <p:oleObj spid="_x0000_s21581" name="Equation" r:id="rId3" imgW="520560" imgH="177480" progId="Equation.3">
                  <p:embed/>
                </p:oleObj>
              </mc:Choice>
              <mc:Fallback>
                <p:oleObj name="Equation" r:id="rId3" imgW="520560" imgH="177480" progId="Equation.3">
                  <p:embed/>
                  <p:pic>
                    <p:nvPicPr>
                      <p:cNvPr id="0" name=""/>
                      <p:cNvPicPr/>
                      <p:nvPr/>
                    </p:nvPicPr>
                    <p:blipFill>
                      <a:blip r:embed="rId4"/>
                      <a:stretch>
                        <a:fillRect/>
                      </a:stretch>
                    </p:blipFill>
                    <p:spPr>
                      <a:xfrm>
                        <a:off x="5867400" y="1885493"/>
                        <a:ext cx="946150" cy="317500"/>
                      </a:xfrm>
                      <a:prstGeom prst="rect">
                        <a:avLst/>
                      </a:prstGeom>
                    </p:spPr>
                  </p:pic>
                </p:oleObj>
              </mc:Fallback>
            </mc:AlternateContent>
          </a:graphicData>
        </a:graphic>
      </p:graphicFrame>
      <p:graphicFrame>
        <p:nvGraphicFramePr>
          <p:cNvPr id="5" name="Object 4"/>
          <p:cNvGraphicFramePr>
            <a:graphicFrameLocks noChangeAspect="1"/>
          </p:cNvGraphicFramePr>
          <p:nvPr>
            <p:extLst>
              <p:ext uri="{D42A27DB-BD31-4B8C-83A1-F6EECF244321}">
                <p14:modId xmlns:p14="http://schemas.microsoft.com/office/powerpoint/2010/main" val="1910155238"/>
              </p:ext>
            </p:extLst>
          </p:nvPr>
        </p:nvGraphicFramePr>
        <p:xfrm>
          <a:off x="2468562" y="2506662"/>
          <a:ext cx="2255838" cy="312738"/>
        </p:xfrm>
        <a:graphic>
          <a:graphicData uri="http://schemas.openxmlformats.org/presentationml/2006/ole">
            <mc:AlternateContent xmlns:mc="http://schemas.openxmlformats.org/markup-compatibility/2006">
              <mc:Choice xmlns:v="urn:schemas-microsoft-com:vml" Requires="v">
                <p:oleObj spid="_x0000_s21582" name="Equation" r:id="rId5" imgW="1282680" imgH="177480" progId="Equation.3">
                  <p:embed/>
                </p:oleObj>
              </mc:Choice>
              <mc:Fallback>
                <p:oleObj name="Equation" r:id="rId5" imgW="1282680" imgH="177480" progId="Equation.3">
                  <p:embed/>
                  <p:pic>
                    <p:nvPicPr>
                      <p:cNvPr id="0" name=""/>
                      <p:cNvPicPr>
                        <a:picLocks noChangeAspect="1" noChangeArrowheads="1"/>
                      </p:cNvPicPr>
                      <p:nvPr/>
                    </p:nvPicPr>
                    <p:blipFill>
                      <a:blip r:embed="rId6"/>
                      <a:srcRect/>
                      <a:stretch>
                        <a:fillRect/>
                      </a:stretch>
                    </p:blipFill>
                    <p:spPr bwMode="auto">
                      <a:xfrm>
                        <a:off x="2468562" y="2506662"/>
                        <a:ext cx="2255838"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TextBox 5"/>
          <p:cNvSpPr txBox="1"/>
          <p:nvPr/>
        </p:nvSpPr>
        <p:spPr>
          <a:xfrm>
            <a:off x="304800" y="3200400"/>
            <a:ext cx="6705600" cy="707886"/>
          </a:xfrm>
          <a:prstGeom prst="rect">
            <a:avLst/>
          </a:prstGeom>
          <a:noFill/>
        </p:spPr>
        <p:txBody>
          <a:bodyPr wrap="square" rtlCol="0">
            <a:spAutoFit/>
          </a:bodyPr>
          <a:lstStyle/>
          <a:p>
            <a:r>
              <a:rPr lang="vi-VN" sz="2200" dirty="0">
                <a:latin typeface="Times New Roman" pitchFamily="18" charset="0"/>
                <a:cs typeface="Times New Roman" pitchFamily="18" charset="0"/>
              </a:rPr>
              <a:t>b. Kích thích với thời gian sống ∆t ~ 10</a:t>
            </a:r>
            <a:r>
              <a:rPr lang="vi-VN" sz="2200" baseline="30000" dirty="0">
                <a:latin typeface="Times New Roman" pitchFamily="18" charset="0"/>
                <a:cs typeface="Times New Roman" pitchFamily="18" charset="0"/>
              </a:rPr>
              <a:t>-8</a:t>
            </a:r>
            <a:r>
              <a:rPr lang="vi-VN" sz="2200" dirty="0">
                <a:latin typeface="Times New Roman" pitchFamily="18" charset="0"/>
                <a:cs typeface="Times New Roman" pitchFamily="18" charset="0"/>
              </a:rPr>
              <a:t>s </a:t>
            </a:r>
            <a:endParaRPr lang="en-US" sz="2200" dirty="0">
              <a:latin typeface="Times New Roman" pitchFamily="18" charset="0"/>
              <a:cs typeface="Times New Roman" pitchFamily="18" charset="0"/>
            </a:endParaRPr>
          </a:p>
          <a:p>
            <a:endParaRPr lang="en-US" dirty="0"/>
          </a:p>
        </p:txBody>
      </p:sp>
      <p:graphicFrame>
        <p:nvGraphicFramePr>
          <p:cNvPr id="7" name="Object 6"/>
          <p:cNvGraphicFramePr>
            <a:graphicFrameLocks noChangeAspect="1"/>
          </p:cNvGraphicFramePr>
          <p:nvPr>
            <p:extLst>
              <p:ext uri="{D42A27DB-BD31-4B8C-83A1-F6EECF244321}">
                <p14:modId xmlns:p14="http://schemas.microsoft.com/office/powerpoint/2010/main" val="183349621"/>
              </p:ext>
            </p:extLst>
          </p:nvPr>
        </p:nvGraphicFramePr>
        <p:xfrm>
          <a:off x="2478088" y="3719513"/>
          <a:ext cx="2635250" cy="692150"/>
        </p:xfrm>
        <a:graphic>
          <a:graphicData uri="http://schemas.openxmlformats.org/presentationml/2006/ole">
            <mc:AlternateContent xmlns:mc="http://schemas.openxmlformats.org/markup-compatibility/2006">
              <mc:Choice xmlns:v="urn:schemas-microsoft-com:vml" Requires="v">
                <p:oleObj spid="_x0000_s21583" name="Equation" r:id="rId7" imgW="1498320" imgH="393480" progId="Equation.3">
                  <p:embed/>
                </p:oleObj>
              </mc:Choice>
              <mc:Fallback>
                <p:oleObj name="Equation" r:id="rId7" imgW="1498320" imgH="393480" progId="Equation.3">
                  <p:embed/>
                  <p:pic>
                    <p:nvPicPr>
                      <p:cNvPr id="0" name=""/>
                      <p:cNvPicPr>
                        <a:picLocks noChangeAspect="1" noChangeArrowheads="1"/>
                      </p:cNvPicPr>
                      <p:nvPr/>
                    </p:nvPicPr>
                    <p:blipFill>
                      <a:blip r:embed="rId8"/>
                      <a:srcRect/>
                      <a:stretch>
                        <a:fillRect/>
                      </a:stretch>
                    </p:blipFill>
                    <p:spPr bwMode="auto">
                      <a:xfrm>
                        <a:off x="2478088" y="3719513"/>
                        <a:ext cx="2635250"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4117806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down)">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down)">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down)">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down)">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2739</TotalTime>
  <Words>1215</Words>
  <Application>Microsoft Office PowerPoint</Application>
  <PresentationFormat>On-screen Show (4:3)</PresentationFormat>
  <Paragraphs>83</Paragraphs>
  <Slides>21</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21</vt:i4>
      </vt:variant>
    </vt:vector>
  </HeadingPairs>
  <TitlesOfParts>
    <vt:vector size="28" baseType="lpstr">
      <vt:lpstr>Arial</vt:lpstr>
      <vt:lpstr>Calibri</vt:lpstr>
      <vt:lpstr>Times</vt:lpstr>
      <vt:lpstr>Times New Roman</vt:lpstr>
      <vt:lpstr>Wingdings</vt:lpstr>
      <vt:lpstr>Office Theme</vt:lpstr>
      <vt:lpstr>Equation</vt:lpstr>
      <vt:lpstr>CHƯƠNG 8 CƠ HỌC LƯỢNG TỬ</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CHƯƠNG 8</dc:title>
  <cp:lastModifiedBy>Administrator</cp:lastModifiedBy>
  <cp:revision>84</cp:revision>
  <dcterms:created xsi:type="dcterms:W3CDTF">2020-05-21T08:43:20Z</dcterms:created>
  <dcterms:modified xsi:type="dcterms:W3CDTF">2025-04-03T12:24:57Z</dcterms:modified>
</cp:coreProperties>
</file>